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28f07db8f84b78" /><Relationship Type="http://schemas.openxmlformats.org/officeDocument/2006/relationships/extended-properties" Target="/docProps/app.xml" Id="Re3f690ef5f4c4d50" /><Relationship Type="http://schemas.openxmlformats.org/officeDocument/2006/relationships/officeDocument" Target="/ppt/presentation.xml" Id="R7664dad602fc446e" /></Relationships>
</file>

<file path=ppt/presentation.xml><?xml version="1.0" encoding="utf-8"?>
<p:presentation xmlns:p="http://schemas.openxmlformats.org/presentationml/2006/main">
  <p:sldMasterIdLst>
    <p:sldMasterId xmlns:r="http://schemas.openxmlformats.org/officeDocument/2006/relationships" id="2147483648" r:id="Re3ae0c83bd7b4091"/>
  </p:sldMasterIdLst>
  <p:notesMasterIdLst>
    <p:notesMasterId xmlns:r="http://schemas.openxmlformats.org/officeDocument/2006/relationships" r:id="R66bab79ca4104f8c"/>
  </p:notesMasterIdLst>
  <p:sldIdLst>
    <p:sldId xmlns:r="http://schemas.openxmlformats.org/officeDocument/2006/relationships" id="256" r:id="Re1d70c11603047e0"/>
    <p:sldId xmlns:r="http://schemas.openxmlformats.org/officeDocument/2006/relationships" id="257" r:id="R72eb5519538945dc"/>
    <p:sldId xmlns:r="http://schemas.openxmlformats.org/officeDocument/2006/relationships" id="258" r:id="Rb5fc994a174e43dc"/>
    <p:sldId xmlns:r="http://schemas.openxmlformats.org/officeDocument/2006/relationships" id="259" r:id="R9847f06e55634a07"/>
    <p:sldId xmlns:r="http://schemas.openxmlformats.org/officeDocument/2006/relationships" id="260" r:id="R82ebd35b31df4363"/>
    <p:sldId xmlns:r="http://schemas.openxmlformats.org/officeDocument/2006/relationships" id="261" r:id="Ra805d73050ea469f"/>
    <p:sldId xmlns:r="http://schemas.openxmlformats.org/officeDocument/2006/relationships" id="262" r:id="Rcc52ee1bd4c84e91"/>
    <p:sldId xmlns:r="http://schemas.openxmlformats.org/officeDocument/2006/relationships" id="263" r:id="R2b6cfdf0c7614aab"/>
    <p:sldId xmlns:r="http://schemas.openxmlformats.org/officeDocument/2006/relationships" id="264" r:id="R1a7f75b9f05f4c89"/>
    <p:sldId xmlns:r="http://schemas.openxmlformats.org/officeDocument/2006/relationships" id="265" r:id="Red9d48e3a10b4643"/>
    <p:sldId xmlns:r="http://schemas.openxmlformats.org/officeDocument/2006/relationships" id="266" r:id="Rc7488b2dde124af6"/>
    <p:sldId xmlns:r="http://schemas.openxmlformats.org/officeDocument/2006/relationships" id="267" r:id="Re8678e43c58e4c04"/>
    <p:sldId xmlns:r="http://schemas.openxmlformats.org/officeDocument/2006/relationships" id="268" r:id="Rd9d8af73f192431f"/>
    <p:sldId xmlns:r="http://schemas.openxmlformats.org/officeDocument/2006/relationships" id="269" r:id="Rd8c05c247c044d6c"/>
    <p:sldId xmlns:r="http://schemas.openxmlformats.org/officeDocument/2006/relationships" id="270" r:id="R8e7b796fc4534b50"/>
    <p:sldId xmlns:r="http://schemas.openxmlformats.org/officeDocument/2006/relationships" id="271" r:id="Rdf9c59e664d14704"/>
    <p:sldId xmlns:r="http://schemas.openxmlformats.org/officeDocument/2006/relationships" id="272" r:id="Rd324f136392c456a"/>
    <p:sldId xmlns:r="http://schemas.openxmlformats.org/officeDocument/2006/relationships" id="273" r:id="Rba0bb5b78c3347a1"/>
    <p:sldId xmlns:r="http://schemas.openxmlformats.org/officeDocument/2006/relationships" id="274" r:id="Rb00aa748639a48b5"/>
    <p:sldId xmlns:r="http://schemas.openxmlformats.org/officeDocument/2006/relationships" id="275" r:id="R0849b8a1cdbd4aaf"/>
    <p:sldId xmlns:r="http://schemas.openxmlformats.org/officeDocument/2006/relationships" id="276" r:id="Rb0d6fe8a50114e19"/>
    <p:sldId xmlns:r="http://schemas.openxmlformats.org/officeDocument/2006/relationships" id="277" r:id="Rb44f5dc337b04496"/>
    <p:sldId xmlns:r="http://schemas.openxmlformats.org/officeDocument/2006/relationships" id="278" r:id="R27f270051af74cc8"/>
    <p:sldId xmlns:r="http://schemas.openxmlformats.org/officeDocument/2006/relationships" id="279" r:id="Ree1bdf2b656b4675"/>
    <p:sldId xmlns:r="http://schemas.openxmlformats.org/officeDocument/2006/relationships" id="280" r:id="R4e5f4e689b57461b"/>
    <p:sldId xmlns:r="http://schemas.openxmlformats.org/officeDocument/2006/relationships" id="281" r:id="R3ebf22691e654746"/>
    <p:sldId xmlns:r="http://schemas.openxmlformats.org/officeDocument/2006/relationships" id="282" r:id="Rba9bc6ade58c4785"/>
    <p:sldId xmlns:r="http://schemas.openxmlformats.org/officeDocument/2006/relationships" id="283" r:id="R1992a1e4ed9a4fea"/>
    <p:sldId xmlns:r="http://schemas.openxmlformats.org/officeDocument/2006/relationships" id="284" r:id="R7a90788a522c4136"/>
    <p:sldId xmlns:r="http://schemas.openxmlformats.org/officeDocument/2006/relationships" id="285" r:id="R45ef6d0d70284f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48cd735f884556" /><Relationship Type="http://schemas.openxmlformats.org/officeDocument/2006/relationships/slideMaster" Target="/ppt/slideMasters/slideMaster1.xml" Id="Re3ae0c83bd7b4091" /><Relationship Type="http://schemas.openxmlformats.org/officeDocument/2006/relationships/notesMaster" Target="/ppt/notesMasters/notesMaster1.xml" Id="R66bab79ca4104f8c" /><Relationship Type="http://schemas.openxmlformats.org/officeDocument/2006/relationships/presProps" Target="/ppt/presProps.xml" Id="R29bb84d141794412" /><Relationship Type="http://schemas.openxmlformats.org/officeDocument/2006/relationships/tableStyles" Target="/ppt/tableStyles.xml" Id="Rd2608408625444e2" /><Relationship Type="http://schemas.openxmlformats.org/officeDocument/2006/relationships/slide" Target="/ppt/slides/slide1.xml" Id="Re1d70c11603047e0" /><Relationship Type="http://schemas.openxmlformats.org/officeDocument/2006/relationships/slide" Target="/ppt/slides/slide2.xml" Id="R72eb5519538945dc" /><Relationship Type="http://schemas.openxmlformats.org/officeDocument/2006/relationships/slide" Target="/ppt/slides/slide3.xml" Id="Rb5fc994a174e43dc" /><Relationship Type="http://schemas.openxmlformats.org/officeDocument/2006/relationships/slide" Target="/ppt/slides/slide4.xml" Id="R9847f06e55634a07" /><Relationship Type="http://schemas.openxmlformats.org/officeDocument/2006/relationships/slide" Target="/ppt/slides/slide5.xml" Id="R82ebd35b31df4363" /><Relationship Type="http://schemas.openxmlformats.org/officeDocument/2006/relationships/slide" Target="/ppt/slides/slide6.xml" Id="Ra805d73050ea469f" /><Relationship Type="http://schemas.openxmlformats.org/officeDocument/2006/relationships/slide" Target="/ppt/slides/slide7.xml" Id="Rcc52ee1bd4c84e91" /><Relationship Type="http://schemas.openxmlformats.org/officeDocument/2006/relationships/slide" Target="/ppt/slides/slide8.xml" Id="R2b6cfdf0c7614aab" /><Relationship Type="http://schemas.openxmlformats.org/officeDocument/2006/relationships/slide" Target="/ppt/slides/slide9.xml" Id="R1a7f75b9f05f4c89" /><Relationship Type="http://schemas.openxmlformats.org/officeDocument/2006/relationships/slide" Target="/ppt/slides/slide10.xml" Id="Red9d48e3a10b4643" /><Relationship Type="http://schemas.openxmlformats.org/officeDocument/2006/relationships/slide" Target="/ppt/slides/slide11.xml" Id="Rc7488b2dde124af6" /><Relationship Type="http://schemas.openxmlformats.org/officeDocument/2006/relationships/slide" Target="/ppt/slides/slide12.xml" Id="Re8678e43c58e4c04" /><Relationship Type="http://schemas.openxmlformats.org/officeDocument/2006/relationships/slide" Target="/ppt/slides/slide13.xml" Id="Rd9d8af73f192431f" /><Relationship Type="http://schemas.openxmlformats.org/officeDocument/2006/relationships/slide" Target="/ppt/slides/slide14.xml" Id="Rd8c05c247c044d6c" /><Relationship Type="http://schemas.openxmlformats.org/officeDocument/2006/relationships/slide" Target="/ppt/slides/slide15.xml" Id="R8e7b796fc4534b50" /><Relationship Type="http://schemas.openxmlformats.org/officeDocument/2006/relationships/slide" Target="/ppt/slides/slide16.xml" Id="Rdf9c59e664d14704" /><Relationship Type="http://schemas.openxmlformats.org/officeDocument/2006/relationships/slide" Target="/ppt/slides/slide17.xml" Id="Rd324f136392c456a" /><Relationship Type="http://schemas.openxmlformats.org/officeDocument/2006/relationships/slide" Target="/ppt/slides/slide18.xml" Id="Rba0bb5b78c3347a1" /><Relationship Type="http://schemas.openxmlformats.org/officeDocument/2006/relationships/slide" Target="/ppt/slides/slide19.xml" Id="Rb00aa748639a48b5" /><Relationship Type="http://schemas.openxmlformats.org/officeDocument/2006/relationships/slide" Target="/ppt/slides/slide20.xml" Id="R0849b8a1cdbd4aaf" /><Relationship Type="http://schemas.openxmlformats.org/officeDocument/2006/relationships/slide" Target="/ppt/slides/slide21.xml" Id="Rb0d6fe8a50114e19" /><Relationship Type="http://schemas.openxmlformats.org/officeDocument/2006/relationships/slide" Target="/ppt/slides/slide22.xml" Id="Rb44f5dc337b04496" /><Relationship Type="http://schemas.openxmlformats.org/officeDocument/2006/relationships/slide" Target="/ppt/slides/slide23.xml" Id="R27f270051af74cc8" /><Relationship Type="http://schemas.openxmlformats.org/officeDocument/2006/relationships/slide" Target="/ppt/slides/slide24.xml" Id="Ree1bdf2b656b4675" /><Relationship Type="http://schemas.openxmlformats.org/officeDocument/2006/relationships/slide" Target="/ppt/slides/slide25.xml" Id="R4e5f4e689b57461b" /><Relationship Type="http://schemas.openxmlformats.org/officeDocument/2006/relationships/slide" Target="/ppt/slides/slide26.xml" Id="R3ebf22691e654746" /><Relationship Type="http://schemas.openxmlformats.org/officeDocument/2006/relationships/slide" Target="/ppt/slides/slide27.xml" Id="Rba9bc6ade58c4785" /><Relationship Type="http://schemas.openxmlformats.org/officeDocument/2006/relationships/slide" Target="/ppt/slides/slide28.xml" Id="R1992a1e4ed9a4fea" /><Relationship Type="http://schemas.openxmlformats.org/officeDocument/2006/relationships/slide" Target="/ppt/slides/slide29.xml" Id="R7a90788a522c4136" /><Relationship Type="http://schemas.openxmlformats.org/officeDocument/2006/relationships/slide" Target="/ppt/slides/slide30.xml" Id="R45ef6d0d70284f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d6707d0bc44f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2412540790497c" /><Relationship Type="http://schemas.openxmlformats.org/officeDocument/2006/relationships/notesMaster" Target="/ppt/notesMasters/notesMaster1.xml" Id="R4153f366ba914b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15c17d108c4f56" /><Relationship Type="http://schemas.openxmlformats.org/officeDocument/2006/relationships/notesMaster" Target="/ppt/notesMasters/notesMaster1.xml" Id="Rc7777611d19d4d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f6680023ec4c5e" /><Relationship Type="http://schemas.openxmlformats.org/officeDocument/2006/relationships/notesMaster" Target="/ppt/notesMasters/notesMaster1.xml" Id="R3839e11313d9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6e990d744e472e" /><Relationship Type="http://schemas.openxmlformats.org/officeDocument/2006/relationships/notesMaster" Target="/ppt/notesMasters/notesMaster1.xml" Id="R1d7d5bef61ef4f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6940045ffb4508" /><Relationship Type="http://schemas.openxmlformats.org/officeDocument/2006/relationships/notesMaster" Target="/ppt/notesMasters/notesMaster1.xml" Id="R3ef7bb36132a4e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89947bebcc48ba" /><Relationship Type="http://schemas.openxmlformats.org/officeDocument/2006/relationships/notesMaster" Target="/ppt/notesMasters/notesMaster1.xml" Id="R169a9e1d39df4d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1a2ae391254b80" /><Relationship Type="http://schemas.openxmlformats.org/officeDocument/2006/relationships/notesMaster" Target="/ppt/notesMasters/notesMaster1.xml" Id="R01ba07c6290f4e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c11fc860624a4a" /><Relationship Type="http://schemas.openxmlformats.org/officeDocument/2006/relationships/notesMaster" Target="/ppt/notesMasters/notesMaster1.xml" Id="R433750c9e1b64c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53598eb8b347eb" /><Relationship Type="http://schemas.openxmlformats.org/officeDocument/2006/relationships/notesMaster" Target="/ppt/notesMasters/notesMaster1.xml" Id="Rf9f59441631e4f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13f77f09dd4890" /><Relationship Type="http://schemas.openxmlformats.org/officeDocument/2006/relationships/notesMaster" Target="/ppt/notesMasters/notesMaster1.xml" Id="R540f0344556e4c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b9bdd19e634d7e" /><Relationship Type="http://schemas.openxmlformats.org/officeDocument/2006/relationships/notesMaster" Target="/ppt/notesMasters/notesMaster1.xml" Id="Rdf3b19697a584e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26aeadc2554f47" /><Relationship Type="http://schemas.openxmlformats.org/officeDocument/2006/relationships/notesMaster" Target="/ppt/notesMasters/notesMaster1.xml" Id="Rd49f7342b93d41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2be3e634274ba6" /><Relationship Type="http://schemas.openxmlformats.org/officeDocument/2006/relationships/notesMaster" Target="/ppt/notesMasters/notesMaster1.xml" Id="Rf662e30cdc3e44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1add8ec6164515" /><Relationship Type="http://schemas.openxmlformats.org/officeDocument/2006/relationships/notesMaster" Target="/ppt/notesMasters/notesMaster1.xml" Id="R383a7d80edfc44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3f5740182c4c05" /><Relationship Type="http://schemas.openxmlformats.org/officeDocument/2006/relationships/notesMaster" Target="/ppt/notesMasters/notesMaster1.xml" Id="R6f68617ea51a4b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5e3a8bb2d242c8" /><Relationship Type="http://schemas.openxmlformats.org/officeDocument/2006/relationships/notesMaster" Target="/ppt/notesMasters/notesMaster1.xml" Id="R1507cf93dfed4a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aabf38e3bd47cc" /><Relationship Type="http://schemas.openxmlformats.org/officeDocument/2006/relationships/notesMaster" Target="/ppt/notesMasters/notesMaster1.xml" Id="Rac1005a0c70748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4679fa54284261" /><Relationship Type="http://schemas.openxmlformats.org/officeDocument/2006/relationships/notesMaster" Target="/ppt/notesMasters/notesMaster1.xml" Id="Rbb10828de8d647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e5b390a8814ca0" /><Relationship Type="http://schemas.openxmlformats.org/officeDocument/2006/relationships/notesMaster" Target="/ppt/notesMasters/notesMaster1.xml" Id="Re8a270de8b8c40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ac7aa12f364555" /><Relationship Type="http://schemas.openxmlformats.org/officeDocument/2006/relationships/notesMaster" Target="/ppt/notesMasters/notesMaster1.xml" Id="R3ab083be328b48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2a55930bf74a2a" /><Relationship Type="http://schemas.openxmlformats.org/officeDocument/2006/relationships/notesMaster" Target="/ppt/notesMasters/notesMaster1.xml" Id="R11825e68865242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23bbdefaf34f64" /><Relationship Type="http://schemas.openxmlformats.org/officeDocument/2006/relationships/notesMaster" Target="/ppt/notesMasters/notesMaster1.xml" Id="R8498398191e04e7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8765385d7e42ca" /><Relationship Type="http://schemas.openxmlformats.org/officeDocument/2006/relationships/notesMaster" Target="/ppt/notesMasters/notesMaster1.xml" Id="R672f96bc47004d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4650f0dd354791" /><Relationship Type="http://schemas.openxmlformats.org/officeDocument/2006/relationships/notesMaster" Target="/ppt/notesMasters/notesMaster1.xml" Id="R4ab422bfe7894c8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d61fa29c654253" /><Relationship Type="http://schemas.openxmlformats.org/officeDocument/2006/relationships/notesMaster" Target="/ppt/notesMasters/notesMaster1.xml" Id="Rffcf4f429f0e45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5bd956b889b4bca" /><Relationship Type="http://schemas.openxmlformats.org/officeDocument/2006/relationships/notesMaster" Target="/ppt/notesMasters/notesMaster1.xml" Id="Rdffce859b5c84f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500f1855b04503" /><Relationship Type="http://schemas.openxmlformats.org/officeDocument/2006/relationships/notesMaster" Target="/ppt/notesMasters/notesMaster1.xml" Id="Rb6823a34ed3848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2a1dd289cb4efc" /><Relationship Type="http://schemas.openxmlformats.org/officeDocument/2006/relationships/notesMaster" Target="/ppt/notesMasters/notesMaster1.xml" Id="R29f0a3e34265415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1f4b60c8a4b4c0f" /><Relationship Type="http://schemas.openxmlformats.org/officeDocument/2006/relationships/notesMaster" Target="/ppt/notesMasters/notesMaster1.xml" Id="R3040fbd3521041a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265190cc641464e" /><Relationship Type="http://schemas.openxmlformats.org/officeDocument/2006/relationships/notesMaster" Target="/ppt/notesMasters/notesMaster1.xml" Id="Reffe82812cb542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Al-Mizaan Jamal. This dissertation asks a simple but important question: what happens when an intrusion detector learns one attack pattern and the attacker later behaves differently? I investigate that question using RPL, the routing protocol used by constrained Internet of Things networks. I built and validated attack scenarios in Contiki-NG and Cooja, converted their behaviour into a controlled dataset, tested static transfer and supervised adaptation, added a Sybil identity attack, and finally used a local language model to explain the measured evidence. The title remains focused on explanation under concept drift. The Cooja work is the controlled cybersecurity environment that makes that explanation problem measurable.</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Workspace/dissertation_overleaf_v1/chapters/01_introduction.tex</a:t>
            </a:r>
          </a:p>
          <a:p xmlns:a="http://schemas.openxmlformats.org/drawingml/2006/main">
            <a:r>
              <a:t>- /Users/mizzy/Downloads/dissertation_full_handover_2026-08-29.md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easiest way to understand concept drift is to think about pattern matching. A detector learns from the past. In the green box, it sees Blackhole behaviour, where packets disappear after an attacker starts dropping forwarded traffic. In the red box, the malicious behaviour changes. A Sinkhole may continue forwarding but advertise an attractive rank, while a Sybil node pretends to be several identities. The old detector can then miss the attack because the evidence no longer looks like the pattern it learned. In this dissertation I create that change deliberately by training on one attack family and testing on another. This is a controlled concept-drift scenario, not proof that all real-world drift behaves the same way. The next slide explains why the LLM-focused project required this controlled experimental environment.</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Workspace/dissertation_results_summary_v1/core_argument.md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the question of whether a language model could explain anomaly detection under concept drift. Before an LLM can explain anything reliably, it needs real structured evidence. That created the need for a controlled cybersecurity experiment. I therefore used Contiki-NG and Cooja to generate repeatable routing attacks, known activation times and matched controls. The IDS then converts those observations into predictions, recall, F1, feature shifts and drift alerts. Only after that does the language model receive the structured evidence and produce a readable explanation. Point to the three statements at the bottom. The detector makes the classification. The experimental pipeline produces the evidence. The LLM explains that evidence. It does not inspect Cooja by itself and it does not replace the IDS. Next I will show the paper that shaped the adaptive-detection idea.</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Workspace/dissertation_results_summary_v1/llm_layer_summary.md</a:t>
            </a:r>
          </a:p>
          <a:p xmlns:a="http://schemas.openxmlformats.org/drawingml/2006/main">
            <a:r>
              <a:t>- /Users/mizzy/Dissertation Cooja Work/rpl-dis-flood/experiments/90 Raw Reproducibility Workspace/llm_explanations_v2/README.md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paper that shaped the dissertation. The figure on the left shows changing malicious activities arranged as attack profiles over time. That is the idea I adapted. I did not reproduce the complete NetSim adversarial reinforcement-learning system or copy its Algorithms 1 and 2. Instead, I mapped the research question into a smaller and more auditable Cooja experiment. Multiple RPL attack families replace the paper's changing profiles. Contiki logs and routing state replace the NetSim observation stream. Whole-seed adaptation tests recovery after the attack mechanism changes. I also implemented standard DDM and DQN or DDQN principles in narrower extensions, with my own Cooja-derived states, actions, reward design and evaluation protocol. SVELTE separately motivated the importance of protocol-aware routing evidence. The honest claim is a Cooja-based extension of the underlying drift and adaptation question. Next I will explain the RPL mechanisms being changed.</a:t>
            </a:r>
          </a:p>
          <a:p xmlns:a="http://schemas.openxmlformats.org/drawingml/2006/main">
            <a:r>
              <a:t/>
            </a:r>
          </a:p>
          <a:p xmlns:a="http://schemas.openxmlformats.org/drawingml/2006/main">
            <a:r>
              <a:t>[Sources]</a:t>
            </a:r>
          </a:p>
          <a:p xmlns:a="http://schemas.openxmlformats.org/drawingml/2006/main">
            <a:r>
              <a:t>- /Users/mizzy/Documents/Dissertation/diss papers/Adversarial_RL-Based_IDS_for_Evolving_Data_Environment_in_6LoWPAN.pdf</a:t>
            </a:r>
          </a:p>
          <a:p xmlns:a="http://schemas.openxmlformats.org/drawingml/2006/main">
            <a:r>
              <a:t>- /Users/mizzy/Downloads/2013-Elsevier-SVELTE realtime ID in the IoT.pdf</a:t>
            </a:r>
          </a:p>
          <a:p xmlns:a="http://schemas.openxmlformats.org/drawingml/2006/main">
            <a:r>
              <a:t>- /Users/mizzy/Dissertation Cooja Work/rpl-dis-flood/experiments/90 Raw Reproducibility Workspace/gope_dataset/paper_alignment.md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RPL is the IPv6 routing protocol used by constrained low-power networks. It organises nodes into a Destination-Oriented Directed Acyclic Graph, or DODAG, leading toward a root. The easiest way to think about rank is that it describes a node's relative position in that graph. Nodes exchange DIO control messages to advertise routing information, and DIS messages to request it. The attack families in this project change different parts of that process. Blackhole and Grayhole affect forwarding. Sinkhole and Increase Rank manipulate route attraction. DIS Flood and DIO Suppression change control traffic. Worst Parent changes parent choice. Wormhole changes the apparent path. Sybil changes identity. Point to the four callouts. This diversity is exactly why one feature representation may work for one attack and fail on another. The next slide shows how all of those mechanisms enter the experimental system.</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Workspace/dissertation_results_summary_v1/attack_coverage_table.csv</a:t>
            </a:r>
          </a:p>
          <a:p xmlns:a="http://schemas.openxmlformats.org/drawingml/2006/main">
            <a:r>
              <a:t>- /Users/mizzy/Dissertation Cooja Work/rpl-dis-flood/experiments/90 Raw Reproducibility Workspace/dissertation_overleaf_v1/chapters/02_literature_review.tex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map of the whole dissertation. On the left, Cooja executes the Contiki-NG applications and modified RPL behaviour. Each completed attack has a matched control and five seeds. The simulator produces logs, radio traces and routing events. Those are converted into sixty-second windows while preserving which complete run and seed each row came from. The middle stage tests static cross-attack transfer, whole-seed adaptation and online change detection. The final stage packages the measured evidence for a local Qwen model running through Ollama. The nine labels at the bottom are the completed campaign, not a proposed list. The key separation is shown in the final sentence. Detection, drift monitoring and explanation are distinct tasks. The next slide explains the timing and leakage control that make the evaluation defensible.</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Workspace/dissertation_results_summary_v1/results_summary.md</a:t>
            </a:r>
          </a:p>
          <a:p xmlns:a="http://schemas.openxmlformats.org/drawingml/2006/main">
            <a:r>
              <a:t>- /Users/mizzy/Dissertation Cooja Work/rpl-dis-flood/experiments/90 Raw Reproducibility Workspace/final_simulated_dataset_v1/evaluation_protocol.md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baseline scenario runs for five hundred and forty simulated seconds. The attack begins at two hundred and forty seconds, after the network has had time to form routes. I then extract sixty-second feature windows. The important methodological point is the split shown at the bottom. Each simulation produces several related rows. A random row split could place some windows from seed 123456 in training and other windows from the same run in testing. That would let the model benefit from run-specific behaviour and make the score optimistic. I therefore keep each complete seed on one side of the split. During adaptation, the model receives one or more complete target-attack seeds and is evaluated on different unseen seeds. Point to the green correct split. That whole-seed rule is central to the credibility of the results shown later. Before training any model, however, I first verified that the attacks themselves were executing.</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Workspace/final_simulated_dataset_v1/evaluation_protocol.md</a:t>
            </a:r>
          </a:p>
          <a:p xmlns:a="http://schemas.openxmlformats.org/drawingml/2006/main">
            <a:r>
              <a:t>- /Users/mizzy/Dissertation Cooja Work/rpl-dis-flood/experiments/90 Raw Reproducibility Workspace/dissertation_results_summary_v1/attack_coverage_table.csv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making any machine-learning claim, I checked that each attack activated and produced the intended protocol-level effect. The left side shows the real Cooja environment with sixteen motes and the log listener. On the right are preserved lines from completed runs. The Blackhole hook begins dropping forwarded packets after four minutes. The Sinkhole advertises rank 128 while preserving its internal rank of 256. The Sybil node rotates the source identity used for outgoing DIO messages, here showing fd00::f001. These markers validate the implementation and establish ground truth, but they are not included as predictive features. Across nine families there are forty-five attack and forty-five matched control runs. This step matters because a labelled dataset is only meaningful if the label corresponds to behaviour that actually occurred. The next slide shows how these raw events become the IDS dataset.</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Workspace/blackhole/final_corrected_240s_540s/runs/BH_ATTACK_N16_SEED123456/COOJA.testlog</a:t>
            </a:r>
          </a:p>
          <a:p xmlns:a="http://schemas.openxmlformats.org/drawingml/2006/main">
            <a:r>
              <a:t>- /Users/mizzy/Dissertation Cooja Work/rpl-dis-flood/experiments/90 Raw Reproducibility Workspace/sinkhole/final_corrected_240s_540s/runs/SH_ATTACK_N16_SEED123456/COOJA.testlog</a:t>
            </a:r>
          </a:p>
          <a:p xmlns:a="http://schemas.openxmlformats.org/drawingml/2006/main">
            <a:r>
              <a:t>- /Users/mizzy/Dissertation Cooja Work/rpl-dis-flood/experiments/90 Raw Reproducibility Workspace/sybil_attack_v1/runs/SYBIL_ATTACK_N16_SEED567890/COOJA.testlog</a:t>
            </a:r>
          </a:p>
          <a:p xmlns:a="http://schemas.openxmlformats.org/drawingml/2006/main">
            <a:r>
              <a:t>- /Users/mizzy/Dissertation Cooja Work/rpl-dis-flood/experiments/90 Raw Reproducibility Workspace/dissertation_results_summary_v1/attack_coverage_table.csv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follows one sixty-second observation from raw evidence to model input. Cooja produces packet and routing events. The extractor groups those events into fixed windows and computes traffic, control-message, rank, parent and identity measurements. A label describes whether that window belongs to normal operation or the post-activation attack period. The family, seed, mode and attack markers remain in the dataset for provenance and validation, but they are not predictors. The frozen dataset contains eight hundred and ten windows from ninety complete run groups. It has eighty-four columns, of which fifty-seven are generic predictive features. Sixteen attack-marker or provenance fields are explicitly excluded from the model. This design makes it possible to audit exactly where a row came from without allowing the classifier to read the answer. With that foundation in place, the next slide presents the central static-transfer result.</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Workspace/final_simulated_dataset_v1/data_dictionary.md</a:t>
            </a:r>
          </a:p>
          <a:p xmlns:a="http://schemas.openxmlformats.org/drawingml/2006/main">
            <a:r>
              <a:t>- /Users/mizzy/Dissertation Cooja Work/rpl-dis-flood/experiments/90 Raw Reproducibility Workspace/final_simulated_dataset_v1/evaluation_protocol.md</a:t>
            </a:r>
          </a:p>
          <a:p xmlns:a="http://schemas.openxmlformats.org/drawingml/2006/main">
            <a:r>
              <a:t>- /Users/mizzy/Dissertation Cooja Work/rpl-dis-flood/experiments/90 Raw Reproducibility Workspace/final_simulated_dataset_v1/audit/dataset_quality_audit.md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heatmap is the central concept-drift result. Each row is the attack family used for training, and each column is a different family used for testing. The colour represents held-out F1, which balances precision and recall. Recall tells us how many attack windows were actually detected. Forty-eight of the seventy-two off-diagonal CART combinations have zero attack recall, meaning the detector missed every attack window in those changed environments. Only six pairs reach F1 of at least zero point eight. The mean cross-attack F1 is zero point one eight two. Accuracy alone would hide part of this failure because control and pre-attack windows are labelled normal. The correct conclusion is that static cross-attack transfer is brittle under this controlled distribution shift. It is not a claim that CART can never work, and it is not proof about every form of field drift. The next slide explains why feature representation changed one of the most important conclusions.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Workspace/dissertation_final_figures_v2/tables/cross_attack_cart_f1.csv</a:t>
            </a:r>
          </a:p>
          <a:p xmlns:a="http://schemas.openxmlformats.org/drawingml/2006/main">
            <a:r>
              <a:t>- /Users/mizzy/Dissertation Cooja Work/rpl-dis-flood/experiments/90 Raw Reproducibility Workspace/dissertation_results_summary_v1/concept_drift_key_metrics.csv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most important methodological correction in the project. The early Blackhole-to-Sinkhole experiment used coarse traffic and radio features. Static F1 was zero, and even after three Sinkhole seeds the F1 was only zero point zero nine eight. The reason is mechanical: Blackhole changes forwarding, while Sinkhole changes advertised rank and route attraction. Retraining cannot recover information that the feature set never records. I therefore added persistent low-rank, parent and routing-state evidence. With those features, one complete Sinkhole seed raises held-out F1 to zero point eight one three, and three seeds raise it to zero point nine seven three with recall zero point nine five and no false positives in this campaign. Point from the red side to the green side. The lesson is not that retraining always works. Adaptation works when the representation exposes the new mechanism. The next slide asks how much target data is needed across all nine families.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Workspace/results/master_results_summary.csv</a:t>
            </a:r>
          </a:p>
          <a:p xmlns:a="http://schemas.openxmlformats.org/drawingml/2006/main">
            <a:r>
              <a:t>- /Users/mizzy/Dissertation Cooja Work/rpl-dis-flood/experiments/90 Raw Reproducibility Workspace/routing_features_v1/results/RESULTS_INTERPRETATION.md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Whole-seed adaptation asks how much labelled evidence from the changed environment is required. At zero target seeds, the model only knows the source attack and mean F1 is zero point one eight two two. Adding one complete target seed produces the largest recovery, increasing mean F1 to zero point eight two five eight. Two seeds reach zero point eight six six four, and three reach zero point eight seven nine two. The evaluation always uses different complete target seeds, so this is not training and testing on windows from the same simulation. The curve supports rapid average recovery, but it does not mean every source-target pair improves monotonically. Some pairs remain unstable or fail completely, especially when the features still do not distinguish the changed mechanism. I would therefore describe this as strong average supervised recovery with important pair-specific limitations. The next slide focuses on Sybil, the identity-based extension that creates a deliberately different attack surface.</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Workspace/dissertation_results_summary_v1/adaptation_key_metrics.csv</a:t>
            </a:r>
          </a:p>
          <a:p xmlns:a="http://schemas.openxmlformats.org/drawingml/2006/main">
            <a:r>
              <a:t>- /Users/mizzy/Dissertation Cooja Work/rpl-dis-flood/experiments/90 Raw Reproducibility Workspace/cross_attack_adaptation_with_sybil_v1/cross_attack_adaptation_summary.csv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Sybil attack means one real node pretends to be several different identities. Before activation, node sixteen uses one normal source identity. After activation, it rotates virtual IPv6 identities in outgoing RPL DIO messages. This attack was selected because it changes the evidence surface. A forwarding or rank detector can appear healthy while identity consistency has changed. Static models trained on other families transfer poorly to Sybil, with mean target F1 zero point two one eight. After one complete Sybil adaptation seed, held-out F1 rises to zero point nine six eight. I also implemented a transparent identity monitor. It alerts on all fifty post-activation attack windows and on none of the forty-five control windows in this controlled address plan. That monitor is not a universal deployed Sybil defence. It is a mechanism-specific observable that demonstrates why identity evidence matters. The contribution is the implementation and evaluation within this Cooja drift framework, not the invention of Sybil attacks. The next slide separates online change detection from adaptation.</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Workspace/dissertation_results_summary_v1/sybil_contribution_summary.md</a:t>
            </a:r>
          </a:p>
          <a:p xmlns:a="http://schemas.openxmlformats.org/drawingml/2006/main">
            <a:r>
              <a:t>- /Users/mizzy/Dissertation Cooja Work/rpl-dis-flood/experiments/90 Raw Reproducibility Workspace/adversarial_rl_sybil_v1/results/sybil_identity_monitor_summary.csv</a:t>
            </a:r>
          </a:p>
          <a:p xmlns:a="http://schemas.openxmlformats.org/drawingml/2006/main">
            <a:r>
              <a:t>- /Users/mizzy/Dissertation Cooja Work/rpl-dis-flood/experiments/90 Raw Reproducibility Workspace/dissertation_results_summary_v1/adaptation_key_metrics.csv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CUSUM and DDM answer a different question from adaptation: when should the system suspect that something has changed? CUSUM, or cumulative sum control, watches a measurement over time and alerts when the change becomes consistently too large to look normal. Here it watches the low-rank routing-state signal. DDM, or Drift Detection Method, watches the classifier's mistakes, so it depends on delayed labels and reacts later. Across five Sinkhole attacks and five controls, both detectors alert on all attacks and no controls. CUSUM alerts in the first post-activation window, while DDM alerts one sixty-second window later. The sample is small and controlled, so the zero control-alert rate is not a field false-alarm estimate. The result shows that mechanism-aware telemetry can provide an earlier trigger than waiting for the classifier's labelled error rate to deteriorate. Next I test whether the main adaptation result survives changed radio conditions and compare its direction with the supplied external data.</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Workspace/dissertation_final_figures_v2/tables/online_drift_detection_summary.csv</a:t>
            </a:r>
          </a:p>
          <a:p xmlns:a="http://schemas.openxmlformats.org/drawingml/2006/main">
            <a:r>
              <a:t>- /Users/mizzy/Dissertation Cooja Work/rpl-dis-flood/experiments/90 Raw Reproducibility Workspace/routing_features_v1/results/drift_detector_summary.csv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robustness campaign adds sixty simulations with attacker relocation and a lossy radio model. After three target seeds, adapted F1 remains near one across Blackhole, Sinkhole and Sybil. The weakest condition is lossy-radio Sybil at F1 zero point nine three seven, with false-positive rate zero point zero four six. This supports robustness within the evaluated simulator conditions, not physical deployment generalisation. I also analysed the supplied Gope dataset separately. A Gaussian model trained on Blackhole and tested on Sinkhole achieves recall zero point zero four seven and F1 zero point zero eight eight, showing the same direction of weak cross-attack transfer. Those values must not be ranked directly against Cooja because the simulator, schema, labels and split units differ. Together, the results support the transfer problem while keeping the validity boundary explicit. The next slide reports three more complex extensions, including negative results.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Workspace/dissertation_final_figures_v2/tables/robustness_static_vs_adapted.csv</a:t>
            </a:r>
          </a:p>
          <a:p xmlns:a="http://schemas.openxmlformats.org/drawingml/2006/main">
            <a:r>
              <a:t>- /Users/mizzy/Dissertation Cooja Work/rpl-dis-flood/experiments/90 Raw Reproducibility Workspace/results/master_results_summary.csv</a:t>
            </a:r>
          </a:p>
          <a:p xmlns:a="http://schemas.openxmlformats.org/drawingml/2006/main">
            <a:r>
              <a:t>- /Users/mizzy/Dissertation Cooja Work/rpl-dis-flood/experiments/90 Raw Reproducibility Workspace/gope_dataset/paper_alignment.md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extensions produced important negative results. First, the trust layer turned routing observations into interpretable forwarding, rank, control and route signals, but it did not change CART F1. It is therefore presented as diagnostic evidence, not a performance improvement. Second, the active Sinkhole defence rejected suspicious routes too aggressively. Application responses fell by about seventy-nine percent, radio transmissions increased by over five hundred percent, and the network switched parent hundreds of times. Detection confidence alone is not enough for safe routing intervention. Third, the isolated DQN and DDQN controllers selected update actions on recorded Cooja-derived streams. DDQN improved over DQN, but neither beat the simple always-incremental baseline. This is not the full live adversarial system from Gope et al. These results strengthen the dissertation because they show where intuitive extensions fail and why operational cost matters. The next slide returns to the local language-model explanation layer.</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Workspace/trust_layer_v1/results/trust_vs_baseline_comparison.csv</a:t>
            </a:r>
          </a:p>
          <a:p xmlns:a="http://schemas.openxmlformats.org/drawingml/2006/main">
            <a:r>
              <a:t>- /Users/mizzy/Dissertation Cooja Work/rpl-dis-flood/experiments/90 Raw Reproducibility Workspace/dissertation_final_figures_v2/tables/sinkhole_defence_operational_cost.csv</a:t>
            </a:r>
          </a:p>
          <a:p xmlns:a="http://schemas.openxmlformats.org/drawingml/2006/main">
            <a:r>
              <a:t>- /Users/mizzy/Dissertation Cooja Work/rpl-dis-flood/experiments/90 Raw Reproducibility Workspace/adversarial_rl_sybil_v1/results/adversarial_rl/held_out_summary.csv</a:t>
            </a:r>
          </a:p>
          <a:p xmlns:a="http://schemas.openxmlformats.org/drawingml/2006/main">
            <a:r>
              <a:t>- /Users/mizzy/Dissertation Cooja Work/rpl-dis-flood/experiments/90 Raw Reproducibility Workspace/adversarial_rl_sybil_v1/docs/model_scope.md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explanation layer runs Qwen two point five, three billion parameters, through Ollama on the same computer. It does not receive thousands of raw Cooja lines. It receives a structured evidence package containing feature changes, IDS results, drift alerts, adaptation outcomes and limitations. The example here is based on the real Sinkhole case. The model identifies the increase in low-rank observations and the lower non-root rank, describes possible drift, assigns medium confidence and asks for further investigation. The distinction at the bottom is central to the dissertation: the IDS makes the detection decision, while the language model explains evidence that already exists. It cannot inspect Cooja independently and it is not allowed to invent measurements. The next slide evaluates the nine generated explanations and states exactly what that evaluation does and does not prove.</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Workspace/llm_explanations_v2/outputs/ollama_explanations.jsonl</a:t>
            </a:r>
          </a:p>
          <a:p xmlns:a="http://schemas.openxmlformats.org/drawingml/2006/main">
            <a:r>
              <a:t>- /Users/mizzy/Dissertation Cooja Work/rpl-dis-flood/experiments/90 Raw Reproducibility Workspace/llm_explanations_v2/evaluation/scored_ollama_full/summary.json</a:t>
            </a:r>
          </a:p>
          <a:p xmlns:a="http://schemas.openxmlformats.org/drawingml/2006/main">
            <a:r>
              <a:t>- /Users/mizzy/Dissertation Cooja Work/rpl-dis-flood/experiments/90 Raw Reproducibility Workspace/llm_explanations_v2/evaluation/scored_ollama_full/case_scores.csv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actual evaluation of the local explanation layer. I generated one explanation for each of the nine attack-family cases. All nine outputs conformed to the required schema. The project's automatic rubric gave a mean evidence-alignment score of seven point seven eight out of ten, and its unsupported-claim rules raised no flags. These results support a limited claim: the local model can convert the supplied IDS and drift evidence into a consistently structured explanation without obvious unsupported additions under this rule set. They do not demonstrate analyst usefulness, complete factual correctness or deployment reliability. The screening is deterministic and transparent, but it cannot recognise every subtle protocol error. A blinded human evaluation with security analysts would therefore be the correct next step. If I perform the live demonstration after this slide, I will briefly show a validated Cooja attack marker, then run one local Qwen explanation in Visual Studio Code. I will keep the demonstration under five minutes and use the preserved recordings and nine-case output if either application is slow.</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Workspace/presentation_demo_pack_v1/recording_checklist.md</a:t>
            </a:r>
          </a:p>
          <a:p xmlns:a="http://schemas.openxmlformats.org/drawingml/2006/main">
            <a:r>
              <a:t>- /Users/mizzy/Dissertation Cooja Work/rpl-dis-flood/experiments/90 Raw Reproducibility Workspace/presentation_demo_pack_v1/terminal_commands.md</a:t>
            </a:r>
          </a:p>
          <a:p xmlns:a="http://schemas.openxmlformats.org/drawingml/2006/main">
            <a:r>
              <a:t>- /Users/mizzy/Dissertation Cooja Work/rpl-dis-flood/experiments/90 Raw Reproducibility Workspace/llm_explanations_v2/outputs/ollama_explanations.jsonl</a:t>
            </a:r>
          </a:p>
          <a:p xmlns:a="http://schemas.openxmlformats.org/drawingml/2006/main">
            <a:r>
              <a:t>- /Users/mizzy/Dissertation Cooja Work/rpl-dis-flood/experiments/90 Raw Reproducibility Workspace/llm_explanations_v2/evaluation/scored_ollama_full/summary.json</a:t>
            </a:r>
          </a:p>
          <a:p xmlns:a="http://schemas.openxmlformats.org/drawingml/2006/main">
            <a:r>
              <a:t>- /Users/mizzy/Dissertation Cooja Work/rpl-dis-flood/experiments/90 Raw Reproducibility Workspace/llm_explanations_v2/evaluation/scored_ollama_full/case_scores.csv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summarises how the research improved through failure analysis. The first Sinkhole adaptation attempt failed because the representation was too coarse, so I added routing-state evidence. I identified that random window splitting could leak related rows, so all evaluations preserve complete seeds. Trust features did not improve predictive F1, so I narrowed the claim to diagnostic interpretation. The active defence caused major network disruption, so I report it as a failed prototype and derive requirements for hysteresis, confidence and route stability. The DQN and DDQN controllers did not beat always-incremental updating, so I keep the simpler baseline as the stronger result. These are not side notes. They show that the project changed its method and its claims in response to evidence. That critical correction process is part of the dissertation contribution. The final slide now states only what the completed evidence supports.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Workspace/dissertation_overleaf_v1/chapters/06_discussion.tex</a:t>
            </a:r>
          </a:p>
          <a:p xmlns:a="http://schemas.openxmlformats.org/drawingml/2006/main">
            <a:r>
              <a:t>- /Users/mizzy/Dissertation Cooja Work/rpl-dis-flood/experiments/90 Raw Reproducibility Workspace/dissertation_overleaf_v1/chapters/07_limitations.tex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five conclusions. First, static cross-attack transfer is brittle: forty-eight of seventy-two CART pairs miss every attack window. Second, feature representation determines whether adaptation is even possible. Third, adding one complete target seed gives the largest average recovery, although some pairs remain unstable. Fourth, Sybil provides a distinct identity-based surface and becomes strongly detectable after limited supervised adaptation or through a transparent identity-specific monitor. Fifth, the local language model can turn structured evidence into a readable explanation, but it is not the detector and its automatic score is not a human usefulness study. The project is simulation-based and does not claim physical deployment performance or a full reproduction of Gope et al.'s adversarial RL architecture. The central conclusion is shown at the bottom: changing attacks require both adaptive detection and understandable evidence. Thank you. I welcome your questions.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Workspace/dissertation_results_summary_v1/results_summary.md</a:t>
            </a:r>
          </a:p>
          <a:p xmlns:a="http://schemas.openxmlformats.org/drawingml/2006/main">
            <a:r>
              <a:t>- /Users/mizzy/Dissertation Cooja Work/rpl-dis-flood/experiments/90 Raw Reproducibility Workspace/dissertation_results_summary_v1/core_argument.md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summarises the complete baseline simulation campaign. The nine families deliberately cover different RPL evidence surfaces: forwarding, rank, control traffic, route choice, path manipulation and identity. Every family has five attack runs and five matched controls, giving ninety validated simulations in total. The same seed set is used on both sides of each attack-control comparison. The important point is that the dataset is not nine names attached to one generic anomaly. Each implementation changes a specific protocol mechanism, and each mechanism was checked using preserved Cooja markers and behavioural evidence. Sybil is highlighted because it extends the campaign from routing behaviour into identity consistency. The table supports coverage and reproducibility, but it does not imply that all possible RPL attacks or deployment conditions were tested.</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Workspace/dissertation_results_summary_v1/attack_coverage_table.csv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checks whether the static-transfer conclusion is an artefact of choosing CART. CART is the stronger of the two models, but forty-eight of seventy-two cross-attack pairs still have zero attack recall and mean F1 is only zero point one eight two two. The Gaussian model performs even worse, with sixty-six zero-recall pairs and mean F1 zero point zero three six two. Because both models fail in the same direction, the central result is not limited to one classifier. However, this is not an exhaustive model benchmark. The purpose is to test the stability of the cross-attack conclusion with a transparent tree model and a different distributional baseline, not to claim that every possible IDS would fail identically.</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Workspace/dissertation_results_summary_v1/concept_drift_key_metrics.csv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adaptation curve reports an average, so this table shows why that average must be qualified. Some pairs recover immediately, such as Blackhole to DIS Flood. Others improve only after two seeds, such as Blackhole to Sinkhole. Blackhole to Wormhole is non-monotonic, and DIO Suppression to Sybil becomes weaker as more target seeds are added. DIS Flood to DIO Suppression remains at F1 zero throughout, while Grayhole to Blackhole transfers perfectly because their forwarding-loss mechanisms are similar. The scientific conclusion is therefore not that more target data guarantees monotonic improvement. Adaptation depends on mechanism overlap, feature visibility and the small set of available whole runs. The aggregate recovery is strong, but pair-specific behaviour remains heterogeneous.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Workspace/cross_attack_adaptation_with_sybil_v1/cross_attack_adaptation_summary.csv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the identity mechanism from simple traffic volume. The control runs contain no spoof-identity markers. The low-rate and high-rate variants produce twenty-nine and two hundred and ninety-nine markers respectively, while mean radio transmissions rise only modestly from eight thousand nine hundred and eighty-four to nine thousand three hundred and one. That means the clearest evidence is not a large flood but repeated inconsistency in the DIO source identity. The transparent identity monitor detects all fifty post-activation attack windows and raises no alert in forty-five controls under the controlled address plan. This is a strong internal result, but it is not a universal Sybil defence because legitimate address changes, mobility or a different identity scheme could change the false-positive behaviour.</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Workspace/adversarial_rl_sybil_v1/results/sybil_rate_campaign_metrics.csv</a:t>
            </a:r>
          </a:p>
          <a:p xmlns:a="http://schemas.openxmlformats.org/drawingml/2006/main">
            <a:r>
              <a:t>- /Users/mizzy/Dissertation Cooja Work/rpl-dis-flood/experiments/90 Raw Reproducibility Workspace/adversarial_rl_sybil_v1/results/sybil_identity_monitor_summary.csv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CUSUM and DDM monitor different signals. CUSUM watches the mechanism-aware low-rank routing-state stream and can therefore react as soon as that observable changes. DDM watches the classifier's error sequence, which requires labels or delayed feedback. In five held-out Sinkhole attacks and five controls, both methods detect every attack and raise no control alert, but CUSUM reacts in the first post-activation window while DDM reacts one sixty-second window later. This result demonstrates the value of monitoring relevant telemetry directly. It does not establish a field false-alarm rate because the sample is small, controlled and based on one attack family. Detection also remains separate from the decision about how or when to adapt the classifier.</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Workspace/dissertation_final_figures_v2/tables/online_drift_detection_summary.csv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robustness campaign adds sixty simulations across attacker relocation and a lossy radio model. Static F1 is generally weak, whereas three-seed adaptation reaches one point zero for Blackhole and Sinkhole in both conditions. Relocated Sybil reaches zero point nine nine five, and lossy Sybil is the weakest adapted case at zero point nine three seven with false-positive rate zero point zero four six. This supports the claim that the supervised recovery pattern is not confined to one exact placement or ideal radio setting. It remains a simulator robustness result. There are no physical motes, calibrated interference sources, mobility traces or hardware resource measurements, so these values must not be presented as deployment performance.</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Workspace/dissertation_final_figures_v2/tables/robustness_static_vs_adapted.csv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shows that adding the engineered trust fields does not change CART F1 in either the static or three-seed condition. The trust layer therefore provides interpretable forwarding, rank, control and route indicators, but no measured predictive gain over the existing features. The right panel evaluates the active Sinkhole response. The ordinary attack leaves application responses close to control, but the defence reduces responses from about four hundred and seventeen to eighty-seven, raises radio transmissions from roughly five thousand two hundred to thirty-five thousand, and causes about six hundred and eighty-two parent switches. The defence recognised a routing concern but reacted too aggressively. A viable future policy would require hysteresis, multi-window confirmation and explicit route-stability constraints before changing parent selection.</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Workspace/trust_layer_v1/results/trust_vs_baseline_comparison.csv</a:t>
            </a:r>
          </a:p>
          <a:p xmlns:a="http://schemas.openxmlformats.org/drawingml/2006/main">
            <a:r>
              <a:t>- /Users/mizzy/Dissertation Cooja Work/rpl-dis-flood/experiments/90 Raw Reproducibility Workspace/dissertation_final_figures_v2/tables/sinkhole_defence_operational_cost.csv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reports the isolated reinforcement-learning extension on a seventy-two-window held-out Sybil stream. The static source model misses every attack window. Always performing the incremental update reaches recall zero point five and F1 zero point six six seven. The DQN controller reaches F1 zero point three three three, and DDQN improves to zero point five seven one, but neither exceeds the simple always-incremental policy. The correct conclusion is that the action-selection framework was implemented and evaluated, but the learned controller did not justify its additional complexity in this experiment. This is not a full live adversarial agent embedded in Cooja and it is not an exact reproduction of the Gope architecture. It is a bounded offline extension using recorded Cooja-derived streams.</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Workspace/adversarial_rl_sybil_v1/results/adversarial_rl/held_out_summary.csv</a:t>
            </a:r>
          </a:p>
          <a:p xmlns:a="http://schemas.openxmlformats.org/drawingml/2006/main">
            <a:r>
              <a:t>- /Users/mizzy/Dissertation Cooja Work/rpl-dis-flood/experiments/90 Raw Reproducibility Workspace/adversarial_rl_sybil_v1/docs/model_scope.md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deliberately bounded. It contains the alert identifier, time window, feature changes, IDS outcome, drift signal, adaptation result, trust indicators and known limitations. The attack-family label is hidden from the prompt, so the model must reason from the supplied evidence rather than repeat a named answer. The output is constrained to a fixed JSON schema covering the observed change, likely mechanism, drift implication, confidence, limitations and recommended action. All nine cases were generated locally using Qwen two point five, three billion parameters, through Ollama. The automatic screening confirms structure and evidence alignment, but schema validity does not guarantee precise protocol language. Human analyst evaluation remains necessary before claiming usefulness or factual reliability.</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Workspace/llm_explanations_v2/evidence/case_index.csv</a:t>
            </a:r>
          </a:p>
          <a:p xmlns:a="http://schemas.openxmlformats.org/drawingml/2006/main">
            <a:r>
              <a:t>- /Users/mizzy/Dissertation Cooja Work/rpl-dis-flood/experiments/90 Raw Reproducibility Workspace/llm_explanations_v2/outputs/ollama_explanations.jsonl</a:t>
            </a:r>
          </a:p>
          <a:p xmlns:a="http://schemas.openxmlformats.org/drawingml/2006/main">
            <a:r>
              <a:t>- /Users/mizzy/Dissertation Cooja Work/rpl-dis-flood/experiments/90 Raw Reproducibility Workspace/llm_explanations_v2/evaluation/scored_ollama_full/summary.json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validity boundary is simulation. The study does not measure physical radio interference, hardware energy use, memory consumption or network lifetime. The baseline topology contains sixteen nodes, five seeds per condition and one main attack activation time. Cross-attack testing creates a controlled and repeatable distribution change, but it is not naturally observed operational drift. Strong adaptation can depend on features engineered to expose the implemented mechanism. The external Gope analysis supports the same direction of weak transfer, but the two datasets cannot be ranked directly because their simulators, schemas and split units differ. Finally, the LLM evaluation covers nine automatically screened cases rather than a blinded analyst study. Future work should therefore prioritise larger mixed-attack campaigns, mobility, stable mitigation policies and human evaluation of explanation quality.</a:t>
            </a:r>
          </a:p>
          <a:p xmlns:a="http://schemas.openxmlformats.org/drawingml/2006/main">
            <a:r>
              <a:t/>
            </a:r>
          </a:p>
          <a:p xmlns:a="http://schemas.openxmlformats.org/drawingml/2006/main">
            <a:r>
              <a:t>[Sources]</a:t>
            </a:r>
          </a:p>
          <a:p xmlns:a="http://schemas.openxmlformats.org/drawingml/2006/main">
            <a:r>
              <a:t>- /Users/mizzy/Dissertation Cooja Work/rpl-dis-flood/experiments/90 Raw Reproducibility Workspace/dissertation_overleaf_v1/chapters/07_limitations.tex</a:t>
            </a:r>
          </a:p>
          <a:p xmlns:a="http://schemas.openxmlformats.org/drawingml/2006/main">
            <a:r>
              <a:t>- /Users/mizzy/Dissertation Cooja Work/rpl-dis-flood/experiments/90 Raw Reproducibility Workspace/dissertation_overleaf_v1/chapters/07_conclusion.tex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0e69e48ebb4d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67788f55cd401c" /><Relationship Type="http://schemas.openxmlformats.org/officeDocument/2006/relationships/slideLayout" Target="/ppt/slideLayouts/slideLayout1.xml" Id="Rc19de9a333fa44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9de9a333fa44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2a4e9da18b447d" /><Relationship Type="http://schemas.openxmlformats.org/officeDocument/2006/relationships/notesSlide" Target="/ppt/notesSlides/notesSlide1.xml" Id="R6e7e9de8fef649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d9008feffe4406" /><Relationship Type="http://schemas.openxmlformats.org/officeDocument/2006/relationships/notesSlide" Target="/ppt/notesSlides/notesSlide2.xml" Id="R3ae112c13c97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de45a1b1a34a87" /><Relationship Type="http://schemas.openxmlformats.org/officeDocument/2006/relationships/notesSlide" Target="/ppt/notesSlides/notesSlide3.xml" Id="R67b6d8190af040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aa4e006bf047fe" /><Relationship Type="http://schemas.openxmlformats.org/officeDocument/2006/relationships/image" Target="/ppt/media/image.png" Id="Re31b2f3f5f714191" /><Relationship Type="http://schemas.openxmlformats.org/officeDocument/2006/relationships/notesSlide" Target="/ppt/notesSlides/notesSlide4.xml" Id="R11225e4650e943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7418689eca4b22" /><Relationship Type="http://schemas.openxmlformats.org/officeDocument/2006/relationships/notesSlide" Target="/ppt/notesSlides/notesSlide5.xml" Id="Re0649dd48e1a48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3a7ff6e02d461f" /><Relationship Type="http://schemas.openxmlformats.org/officeDocument/2006/relationships/notesSlide" Target="/ppt/notesSlides/notesSlide6.xml" Id="R32bf8f5765af44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6cda62261b4da3" /><Relationship Type="http://schemas.openxmlformats.org/officeDocument/2006/relationships/notesSlide" Target="/ppt/notesSlides/notesSlide7.xml" Id="R2b80bdd0b58b42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aac4bc58a44e92" /><Relationship Type="http://schemas.openxmlformats.org/officeDocument/2006/relationships/image" Target="/ppt/media/image2.png" Id="R9d41c243387b4167" /><Relationship Type="http://schemas.openxmlformats.org/officeDocument/2006/relationships/notesSlide" Target="/ppt/notesSlides/notesSlide8.xml" Id="R9d19c48ef75c4c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ca627bd4f54190" /><Relationship Type="http://schemas.openxmlformats.org/officeDocument/2006/relationships/notesSlide" Target="/ppt/notesSlides/notesSlide9.xml" Id="R4cdcbdaa3f4844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299403247d48b2" /><Relationship Type="http://schemas.openxmlformats.org/officeDocument/2006/relationships/image" Target="/ppt/media/image3.png" Id="Rc567d9295d494f07" /><Relationship Type="http://schemas.openxmlformats.org/officeDocument/2006/relationships/notesSlide" Target="/ppt/notesSlides/notesSlide10.xml" Id="Rcd40f9f4b08046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142f4ac2c8447b" /><Relationship Type="http://schemas.openxmlformats.org/officeDocument/2006/relationships/notesSlide" Target="/ppt/notesSlides/notesSlide11.xml" Id="R54d1c023efc149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176fd8ed3a4c75" /><Relationship Type="http://schemas.openxmlformats.org/officeDocument/2006/relationships/notesSlide" Target="/ppt/notesSlides/notesSlide12.xml" Id="Re9577a8c14d24c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c022c8854a4b11" /><Relationship Type="http://schemas.openxmlformats.org/officeDocument/2006/relationships/notesSlide" Target="/ppt/notesSlides/notesSlide13.xml" Id="Rae444ad170144c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37cd4ff0cf4906" /><Relationship Type="http://schemas.openxmlformats.org/officeDocument/2006/relationships/notesSlide" Target="/ppt/notesSlides/notesSlide14.xml" Id="Rdeff51ab51c948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e01dfc215c4576" /><Relationship Type="http://schemas.openxmlformats.org/officeDocument/2006/relationships/notesSlide" Target="/ppt/notesSlides/notesSlide15.xml" Id="R020e494e4fd444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02b492f4d64362" /><Relationship Type="http://schemas.openxmlformats.org/officeDocument/2006/relationships/notesSlide" Target="/ppt/notesSlides/notesSlide16.xml" Id="R84a76dbc0ca443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12953b8a8244712" /><Relationship Type="http://schemas.openxmlformats.org/officeDocument/2006/relationships/notesSlide" Target="/ppt/notesSlides/notesSlide17.xml" Id="Radbe38386ca74b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b7faede39df40a6" /><Relationship Type="http://schemas.openxmlformats.org/officeDocument/2006/relationships/notesSlide" Target="/ppt/notesSlides/notesSlide18.xml" Id="Rd22b28d3c6c045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5874e20df08432b" /><Relationship Type="http://schemas.openxmlformats.org/officeDocument/2006/relationships/notesSlide" Target="/ppt/notesSlides/notesSlide19.xml" Id="R5613613ce85941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0b6e995a3944ea" /><Relationship Type="http://schemas.openxmlformats.org/officeDocument/2006/relationships/notesSlide" Target="/ppt/notesSlides/notesSlide20.xml" Id="Reae8cfd8586c47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ff170cd22af4a16" /><Relationship Type="http://schemas.openxmlformats.org/officeDocument/2006/relationships/notesSlide" Target="/ppt/notesSlides/notesSlide21.xml" Id="Rcd2f28f3a1fe46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3cf45a2c9e240ac" /><Relationship Type="http://schemas.openxmlformats.org/officeDocument/2006/relationships/notesSlide" Target="/ppt/notesSlides/notesSlide22.xml" Id="Rd115a650bb8849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9e72d9aae7f48b3" /><Relationship Type="http://schemas.openxmlformats.org/officeDocument/2006/relationships/notesSlide" Target="/ppt/notesSlides/notesSlide23.xml" Id="Rb8925ff168704f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95206b7cc2c4955" /><Relationship Type="http://schemas.openxmlformats.org/officeDocument/2006/relationships/notesSlide" Target="/ppt/notesSlides/notesSlide24.xml" Id="Rb5ee8b8a54e845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ce54528142d419d" /><Relationship Type="http://schemas.openxmlformats.org/officeDocument/2006/relationships/notesSlide" Target="/ppt/notesSlides/notesSlide25.xml" Id="R9de1cb7d842546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389ef1768734966" /><Relationship Type="http://schemas.openxmlformats.org/officeDocument/2006/relationships/notesSlide" Target="/ppt/notesSlides/notesSlide26.xml" Id="R5579d0a980414d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24d38a429bc4988" /><Relationship Type="http://schemas.openxmlformats.org/officeDocument/2006/relationships/notesSlide" Target="/ppt/notesSlides/notesSlide27.xml" Id="Rb60e809f24e940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56a4869bdc948e3" /><Relationship Type="http://schemas.openxmlformats.org/officeDocument/2006/relationships/notesSlide" Target="/ppt/notesSlides/notesSlide28.xml" Id="R3cfaafadf35e4e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9795e25f95d42a7" /><Relationship Type="http://schemas.openxmlformats.org/officeDocument/2006/relationships/notesSlide" Target="/ppt/notesSlides/notesSlide29.xml" Id="R7aa39f9778b4427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de188561d9a4d4b" /><Relationship Type="http://schemas.openxmlformats.org/officeDocument/2006/relationships/notesSlide" Target="/ppt/notesSlides/notesSlide30.xml" Id="Rcc90386e4e894969" /></Relationships>
</file>

<file path=ppt/slides/slide1.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45EF54A-B953-4338-9433-3956933FC3EB}"/>
              </a:ext>
            </a:extLst>
          </p:cNvPr>
          <p:cNvSpPr>
            <a:spLocks xmlns:a="http://schemas.openxmlformats.org/drawingml/2006/main" noGrp="1"/>
          </p:cNvSpPr>
          <p:nvPr/>
        </p:nvSpPr>
        <p:spPr>
          <a:xfrm xmlns:a="http://schemas.openxmlformats.org/drawingml/2006/main">
            <a:off x="8858250" y="904875"/>
            <a:ext cx="228600" cy="228600"/>
          </a:xfrm>
          <a:prstGeom xmlns:a="http://schemas.openxmlformats.org/drawingml/2006/main" prst="ellipse">
            <a:avLst/>
          </a:prstGeom>
          <a:solidFill xmlns:a="http://schemas.openxmlformats.org/drawingml/2006/main">
            <a:srgbClr val="22D3EE">
              <a:alpha val="20000"/>
            </a:srgbClr>
          </a:solidFill>
          <a:ln xmlns:a="http://schemas.openxmlformats.org/drawingml/2006/main" w="9525">
            <a:solidFill>
              <a:srgbClr val="22D3EE"/>
            </a:solidFill>
            <a:prstDash val="solid"/>
          </a:ln>
        </p:spPr>
      </p:sp>
      <p:sp>
        <p:nvSpPr>
          <p:cNvPr id="2" name="">
            <a:extLst xmlns:a="http://schemas.openxmlformats.org/drawingml/2006/main">
              <a:ext uri="{FF2B5EF4-FFF2-40B4-BE49-F238E27FC236}">
                <a16:creationId xmlns:a16="http://schemas.microsoft.com/office/drawing/2014/main" id="{A5603B11-5863-4BD8-8A13-76DF19D43138}"/>
              </a:ext>
            </a:extLst>
          </p:cNvPr>
          <p:cNvSpPr>
            <a:spLocks xmlns:a="http://schemas.openxmlformats.org/drawingml/2006/main" noGrp="1"/>
          </p:cNvSpPr>
          <p:nvPr/>
        </p:nvSpPr>
        <p:spPr>
          <a:xfrm xmlns:a="http://schemas.openxmlformats.org/drawingml/2006/main">
            <a:off x="10191750" y="1524000"/>
            <a:ext cx="152400" cy="152400"/>
          </a:xfrm>
          <a:prstGeom xmlns:a="http://schemas.openxmlformats.org/drawingml/2006/main" prst="ellipse">
            <a:avLst/>
          </a:prstGeom>
          <a:solidFill xmlns:a="http://schemas.openxmlformats.org/drawingml/2006/main">
            <a:srgbClr val="F59E0B">
              <a:alpha val="20000"/>
            </a:srgbClr>
          </a:solidFill>
          <a:ln xmlns:a="http://schemas.openxmlformats.org/drawingml/2006/main" w="9525">
            <a:solidFill>
              <a:srgbClr val="F59E0B"/>
            </a:solidFill>
            <a:prstDash val="solid"/>
          </a:ln>
        </p:spPr>
      </p:sp>
      <p:sp>
        <p:nvSpPr>
          <p:cNvPr id="3" name="">
            <a:extLst xmlns:a="http://schemas.openxmlformats.org/drawingml/2006/main">
              <a:ext uri="{FF2B5EF4-FFF2-40B4-BE49-F238E27FC236}">
                <a16:creationId xmlns:a16="http://schemas.microsoft.com/office/drawing/2014/main" id="{D63CA13E-056B-45B6-8D35-B7969C56BA02}"/>
              </a:ext>
            </a:extLst>
          </p:cNvPr>
          <p:cNvSpPr>
            <a:spLocks xmlns:a="http://schemas.openxmlformats.org/drawingml/2006/main" noGrp="1"/>
          </p:cNvSpPr>
          <p:nvPr/>
        </p:nvSpPr>
        <p:spPr>
          <a:xfrm xmlns:a="http://schemas.openxmlformats.org/drawingml/2006/main">
            <a:off x="9620250" y="2428875"/>
            <a:ext cx="180975" cy="180975"/>
          </a:xfrm>
          <a:prstGeom xmlns:a="http://schemas.openxmlformats.org/drawingml/2006/main" prst="ellipse">
            <a:avLst/>
          </a:prstGeom>
          <a:solidFill xmlns:a="http://schemas.openxmlformats.org/drawingml/2006/main">
            <a:srgbClr val="A78BFA">
              <a:alpha val="20000"/>
            </a:srgbClr>
          </a:solidFill>
          <a:ln xmlns:a="http://schemas.openxmlformats.org/drawingml/2006/main" w="9525">
            <a:solidFill>
              <a:srgbClr val="A78BFA"/>
            </a:solidFill>
            <a:prstDash val="solid"/>
          </a:ln>
        </p:spPr>
      </p:sp>
      <p:sp>
        <p:nvSpPr>
          <p:cNvPr id="4" name="">
            <a:extLst xmlns:a="http://schemas.openxmlformats.org/drawingml/2006/main">
              <a:ext uri="{FF2B5EF4-FFF2-40B4-BE49-F238E27FC236}">
                <a16:creationId xmlns:a16="http://schemas.microsoft.com/office/drawing/2014/main" id="{F22A231F-9D0F-401D-B3D9-7B8611451F24}"/>
              </a:ext>
            </a:extLst>
          </p:cNvPr>
          <p:cNvSpPr>
            <a:spLocks xmlns:a="http://schemas.openxmlformats.org/drawingml/2006/main" noGrp="1"/>
          </p:cNvSpPr>
          <p:nvPr/>
        </p:nvSpPr>
        <p:spPr>
          <a:xfrm xmlns:a="http://schemas.openxmlformats.org/drawingml/2006/main">
            <a:off x="10953750" y="3048000"/>
            <a:ext cx="209550" cy="209550"/>
          </a:xfrm>
          <a:prstGeom xmlns:a="http://schemas.openxmlformats.org/drawingml/2006/main" prst="ellipse">
            <a:avLst/>
          </a:prstGeom>
          <a:solidFill xmlns:a="http://schemas.openxmlformats.org/drawingml/2006/main">
            <a:srgbClr val="34D399">
              <a:alpha val="20000"/>
            </a:srgbClr>
          </a:solidFill>
          <a:ln xmlns:a="http://schemas.openxmlformats.org/drawingml/2006/main" w="9525">
            <a:solidFill>
              <a:srgbClr val="34D399"/>
            </a:solidFill>
            <a:prstDash val="solid"/>
          </a:ln>
        </p:spPr>
      </p:sp>
      <p:sp>
        <p:nvSpPr>
          <p:cNvPr id="5" name="">
            <a:extLst xmlns:a="http://schemas.openxmlformats.org/drawingml/2006/main">
              <a:ext uri="{FF2B5EF4-FFF2-40B4-BE49-F238E27FC236}">
                <a16:creationId xmlns:a16="http://schemas.microsoft.com/office/drawing/2014/main" id="{9E1877F0-7A86-4AA3-854B-F65F7AF76BD1}"/>
              </a:ext>
            </a:extLst>
          </p:cNvPr>
          <p:cNvSpPr>
            <a:spLocks xmlns:a="http://schemas.openxmlformats.org/drawingml/2006/main" noGrp="1"/>
          </p:cNvSpPr>
          <p:nvPr/>
        </p:nvSpPr>
        <p:spPr>
          <a:xfrm xmlns:a="http://schemas.openxmlformats.org/drawingml/2006/main">
            <a:off x="8572500" y="3714750"/>
            <a:ext cx="161925" cy="161925"/>
          </a:xfrm>
          <a:prstGeom xmlns:a="http://schemas.openxmlformats.org/drawingml/2006/main" prst="ellipse">
            <a:avLst/>
          </a:prstGeom>
          <a:solidFill xmlns:a="http://schemas.openxmlformats.org/drawingml/2006/main">
            <a:srgbClr val="60A5FA">
              <a:alpha val="20000"/>
            </a:srgbClr>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39B7B7E3-F831-4908-A3BB-4CDA9B8125A9}"/>
              </a:ext>
            </a:extLst>
          </p:cNvPr>
          <p:cNvSpPr>
            <a:spLocks xmlns:a="http://schemas.openxmlformats.org/drawingml/2006/main" noGrp="1"/>
          </p:cNvSpPr>
          <p:nvPr/>
        </p:nvSpPr>
        <p:spPr>
          <a:xfrm xmlns:a="http://schemas.openxmlformats.org/drawingml/2006/main">
            <a:off x="10001250" y="4476750"/>
            <a:ext cx="238125" cy="238125"/>
          </a:xfrm>
          <a:prstGeom xmlns:a="http://schemas.openxmlformats.org/drawingml/2006/main" prst="ellipse">
            <a:avLst/>
          </a:prstGeom>
          <a:solidFill xmlns:a="http://schemas.openxmlformats.org/drawingml/2006/main">
            <a:srgbClr val="FB7185">
              <a:alpha val="20000"/>
            </a:srgbClr>
          </a:solidFill>
          <a:ln xmlns:a="http://schemas.openxmlformats.org/drawingml/2006/main" w="9525">
            <a:solidFill>
              <a:srgbClr val="FB7185"/>
            </a:solidFill>
            <a:prstDash val="solid"/>
          </a:ln>
        </p:spPr>
      </p:sp>
      <p:sp>
        <p:nvSpPr>
          <p:cNvPr id="7" name="">
            <a:extLst xmlns:a="http://schemas.openxmlformats.org/drawingml/2006/main">
              <a:ext uri="{FF2B5EF4-FFF2-40B4-BE49-F238E27FC236}">
                <a16:creationId xmlns:a16="http://schemas.microsoft.com/office/drawing/2014/main" id="{58459F1F-01F7-4F94-8886-DF4EE144DEFF}"/>
              </a:ext>
            </a:extLst>
          </p:cNvPr>
          <p:cNvSpPr>
            <a:spLocks xmlns:a="http://schemas.openxmlformats.org/drawingml/2006/main" noGrp="1"/>
          </p:cNvSpPr>
          <p:nvPr/>
        </p:nvSpPr>
        <p:spPr>
          <a:xfrm xmlns:a="http://schemas.openxmlformats.org/drawingml/2006/main">
            <a:off x="8972550" y="101917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EC2226-982F-4C77-8301-4C5EC36DFBF7}"/>
              </a:ext>
            </a:extLst>
          </p:cNvPr>
          <p:cNvSpPr>
            <a:spLocks xmlns:a="http://schemas.openxmlformats.org/drawingml/2006/main" noGrp="1"/>
          </p:cNvSpPr>
          <p:nvPr/>
        </p:nvSpPr>
        <p:spPr>
          <a:xfrm xmlns:a="http://schemas.openxmlformats.org/drawingml/2006/main">
            <a:off x="10267950" y="16002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5" name=""/>
          <p:cNvCxnSpPr>
            <a:stCxn xmlns:a="http://schemas.openxmlformats.org/drawingml/2006/main" id="7" idx="5"/>
            <a:endCxn xmlns:a="http://schemas.openxmlformats.org/drawingml/2006/main" id="8" idx="1"/>
          </p:cNvCxnSpPr>
          <p:nvPr/>
        </p:nvCxnSpPr>
        <p:spPr>
          <a:xfrm xmlns:a="http://schemas.openxmlformats.org/drawingml/2006/main">
            <a:off x="8988810" y="1035435"/>
            <a:ext cx="1281930" cy="567555"/>
          </a:xfrm>
          <a:prstGeom xmlns:a="http://schemas.openxmlformats.org/drawingml/2006/main" prst="straightConnector1">
            <a:avLst/>
          </a:prstGeom>
          <a:ln xmlns:a="http://schemas.openxmlformats.org/drawingml/2006/main" w="19050">
            <a:solidFill>
              <a:srgbClr val="2C3A49"/>
            </a:solidFill>
            <a:prstDash val="solid"/>
          </a:ln>
        </p:spPr>
      </p:cxnSp>
      <p:sp>
        <p:nvSpPr>
          <p:cNvPr id="10" name="">
            <a:extLst xmlns:a="http://schemas.openxmlformats.org/drawingml/2006/main">
              <a:ext uri="{FF2B5EF4-FFF2-40B4-BE49-F238E27FC236}">
                <a16:creationId xmlns:a16="http://schemas.microsoft.com/office/drawing/2014/main" id="{477D6AA5-E823-4B89-96E9-F6A160C3DBC5}"/>
              </a:ext>
            </a:extLst>
          </p:cNvPr>
          <p:cNvSpPr>
            <a:spLocks xmlns:a="http://schemas.openxmlformats.org/drawingml/2006/main" noGrp="1"/>
          </p:cNvSpPr>
          <p:nvPr/>
        </p:nvSpPr>
        <p:spPr>
          <a:xfrm xmlns:a="http://schemas.openxmlformats.org/drawingml/2006/main">
            <a:off x="10267950" y="16002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ADCE4A3-D429-48FC-8BF0-FF37B2FCD6A3}"/>
              </a:ext>
            </a:extLst>
          </p:cNvPr>
          <p:cNvSpPr>
            <a:spLocks xmlns:a="http://schemas.openxmlformats.org/drawingml/2006/main" noGrp="1"/>
          </p:cNvSpPr>
          <p:nvPr/>
        </p:nvSpPr>
        <p:spPr>
          <a:xfrm xmlns:a="http://schemas.openxmlformats.org/drawingml/2006/main">
            <a:off x="9705975" y="25146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8" name=""/>
          <p:cNvCxnSpPr>
            <a:stCxn xmlns:a="http://schemas.openxmlformats.org/drawingml/2006/main" id="10" idx="3"/>
            <a:endCxn xmlns:a="http://schemas.openxmlformats.org/drawingml/2006/main" id="11" idx="7"/>
          </p:cNvCxnSpPr>
          <p:nvPr/>
        </p:nvCxnSpPr>
        <p:spPr>
          <a:xfrm xmlns:a="http://schemas.openxmlformats.org/drawingml/2006/main" flipH="1">
            <a:off x="9722235" y="1616460"/>
            <a:ext cx="548505" cy="900930"/>
          </a:xfrm>
          <a:prstGeom xmlns:a="http://schemas.openxmlformats.org/drawingml/2006/main" prst="straightConnector1">
            <a:avLst/>
          </a:prstGeom>
          <a:ln xmlns:a="http://schemas.openxmlformats.org/drawingml/2006/main" w="19050">
            <a:solidFill>
              <a:srgbClr val="2C3A49"/>
            </a:solidFill>
            <a:prstDash val="solid"/>
          </a:ln>
        </p:spPr>
      </p:cxnSp>
      <p:sp>
        <p:nvSpPr>
          <p:cNvPr id="13" name="">
            <a:extLst xmlns:a="http://schemas.openxmlformats.org/drawingml/2006/main">
              <a:ext uri="{FF2B5EF4-FFF2-40B4-BE49-F238E27FC236}">
                <a16:creationId xmlns:a16="http://schemas.microsoft.com/office/drawing/2014/main" id="{239C5584-4BEC-479B-9D31-ABDC1B0863D7}"/>
              </a:ext>
            </a:extLst>
          </p:cNvPr>
          <p:cNvSpPr>
            <a:spLocks xmlns:a="http://schemas.openxmlformats.org/drawingml/2006/main" noGrp="1"/>
          </p:cNvSpPr>
          <p:nvPr/>
        </p:nvSpPr>
        <p:spPr>
          <a:xfrm xmlns:a="http://schemas.openxmlformats.org/drawingml/2006/main">
            <a:off x="9705975" y="25146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FC5FF8-A4E9-46F7-B929-9B4ED8778BFB}"/>
              </a:ext>
            </a:extLst>
          </p:cNvPr>
          <p:cNvSpPr>
            <a:spLocks xmlns:a="http://schemas.openxmlformats.org/drawingml/2006/main" noGrp="1"/>
          </p:cNvSpPr>
          <p:nvPr/>
        </p:nvSpPr>
        <p:spPr>
          <a:xfrm xmlns:a="http://schemas.openxmlformats.org/drawingml/2006/main">
            <a:off x="11058525" y="315277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1" name=""/>
          <p:cNvCxnSpPr>
            <a:stCxn xmlns:a="http://schemas.openxmlformats.org/drawingml/2006/main" id="13" idx="5"/>
            <a:endCxn xmlns:a="http://schemas.openxmlformats.org/drawingml/2006/main" id="14" idx="1"/>
          </p:cNvCxnSpPr>
          <p:nvPr/>
        </p:nvCxnSpPr>
        <p:spPr>
          <a:xfrm xmlns:a="http://schemas.openxmlformats.org/drawingml/2006/main">
            <a:off x="9722235" y="2530860"/>
            <a:ext cx="1339080" cy="624705"/>
          </a:xfrm>
          <a:prstGeom xmlns:a="http://schemas.openxmlformats.org/drawingml/2006/main" prst="straightConnector1">
            <a:avLst/>
          </a:prstGeom>
          <a:ln xmlns:a="http://schemas.openxmlformats.org/drawingml/2006/main" w="19050">
            <a:solidFill>
              <a:srgbClr val="2C3A49"/>
            </a:solidFill>
            <a:prstDash val="solid"/>
          </a:ln>
        </p:spPr>
      </p:cxnSp>
      <p:sp>
        <p:nvSpPr>
          <p:cNvPr id="16" name="">
            <a:extLst xmlns:a="http://schemas.openxmlformats.org/drawingml/2006/main">
              <a:ext uri="{FF2B5EF4-FFF2-40B4-BE49-F238E27FC236}">
                <a16:creationId xmlns:a16="http://schemas.microsoft.com/office/drawing/2014/main" id="{0995CCE3-831C-4B45-B816-A34E8BAA9FFC}"/>
              </a:ext>
            </a:extLst>
          </p:cNvPr>
          <p:cNvSpPr>
            <a:spLocks xmlns:a="http://schemas.openxmlformats.org/drawingml/2006/main" noGrp="1"/>
          </p:cNvSpPr>
          <p:nvPr/>
        </p:nvSpPr>
        <p:spPr>
          <a:xfrm xmlns:a="http://schemas.openxmlformats.org/drawingml/2006/main">
            <a:off x="11058525" y="315277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8150BC6-1DE3-4E98-A1CE-22542B39A05E}"/>
              </a:ext>
            </a:extLst>
          </p:cNvPr>
          <p:cNvSpPr>
            <a:spLocks xmlns:a="http://schemas.openxmlformats.org/drawingml/2006/main" noGrp="1"/>
          </p:cNvSpPr>
          <p:nvPr/>
        </p:nvSpPr>
        <p:spPr>
          <a:xfrm xmlns:a="http://schemas.openxmlformats.org/drawingml/2006/main">
            <a:off x="8648700" y="37909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4" name=""/>
          <p:cNvCxnSpPr>
            <a:stCxn xmlns:a="http://schemas.openxmlformats.org/drawingml/2006/main" id="16" idx="2"/>
            <a:endCxn xmlns:a="http://schemas.openxmlformats.org/drawingml/2006/main" id="17" idx="6"/>
          </p:cNvCxnSpPr>
          <p:nvPr/>
        </p:nvCxnSpPr>
        <p:spPr>
          <a:xfrm xmlns:a="http://schemas.openxmlformats.org/drawingml/2006/main" flipH="1">
            <a:off x="8667750" y="3162300"/>
            <a:ext cx="2390775" cy="638175"/>
          </a:xfrm>
          <a:prstGeom xmlns:a="http://schemas.openxmlformats.org/drawingml/2006/main" prst="straightConnector1">
            <a:avLst/>
          </a:prstGeom>
          <a:ln xmlns:a="http://schemas.openxmlformats.org/drawingml/2006/main" w="19050">
            <a:solidFill>
              <a:srgbClr val="2C3A49"/>
            </a:solidFill>
            <a:prstDash val="solid"/>
          </a:ln>
        </p:spPr>
      </p:cxnSp>
      <p:sp>
        <p:nvSpPr>
          <p:cNvPr id="19" name="">
            <a:extLst xmlns:a="http://schemas.openxmlformats.org/drawingml/2006/main">
              <a:ext uri="{FF2B5EF4-FFF2-40B4-BE49-F238E27FC236}">
                <a16:creationId xmlns:a16="http://schemas.microsoft.com/office/drawing/2014/main" id="{3A96CBE4-E502-421A-942D-49B861AA51EE}"/>
              </a:ext>
            </a:extLst>
          </p:cNvPr>
          <p:cNvSpPr>
            <a:spLocks xmlns:a="http://schemas.openxmlformats.org/drawingml/2006/main" noGrp="1"/>
          </p:cNvSpPr>
          <p:nvPr/>
        </p:nvSpPr>
        <p:spPr>
          <a:xfrm xmlns:a="http://schemas.openxmlformats.org/drawingml/2006/main">
            <a:off x="8648700" y="37909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C7528D2-D52E-410C-92A2-3DB5FA8E8F1F}"/>
              </a:ext>
            </a:extLst>
          </p:cNvPr>
          <p:cNvSpPr>
            <a:spLocks xmlns:a="http://schemas.openxmlformats.org/drawingml/2006/main" noGrp="1"/>
          </p:cNvSpPr>
          <p:nvPr/>
        </p:nvSpPr>
        <p:spPr>
          <a:xfrm xmlns:a="http://schemas.openxmlformats.org/drawingml/2006/main">
            <a:off x="10125075" y="45910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7" name=""/>
          <p:cNvCxnSpPr>
            <a:stCxn xmlns:a="http://schemas.openxmlformats.org/drawingml/2006/main" id="19" idx="5"/>
            <a:endCxn xmlns:a="http://schemas.openxmlformats.org/drawingml/2006/main" id="20" idx="1"/>
          </p:cNvCxnSpPr>
          <p:nvPr/>
        </p:nvCxnSpPr>
        <p:spPr>
          <a:xfrm xmlns:a="http://schemas.openxmlformats.org/drawingml/2006/main">
            <a:off x="8664960" y="3807210"/>
            <a:ext cx="1462905" cy="786630"/>
          </a:xfrm>
          <a:prstGeom xmlns:a="http://schemas.openxmlformats.org/drawingml/2006/main" prst="straightConnector1">
            <a:avLst/>
          </a:prstGeom>
          <a:ln xmlns:a="http://schemas.openxmlformats.org/drawingml/2006/main" w="19050">
            <a:solidFill>
              <a:srgbClr val="2C3A49"/>
            </a:solidFill>
            <a:prstDash val="solid"/>
          </a:ln>
        </p:spPr>
      </p:cxnSp>
      <p:sp>
        <p:nvSpPr>
          <p:cNvPr id="22" name="">
            <a:extLst xmlns:a="http://schemas.openxmlformats.org/drawingml/2006/main">
              <a:ext uri="{FF2B5EF4-FFF2-40B4-BE49-F238E27FC236}">
                <a16:creationId xmlns:a16="http://schemas.microsoft.com/office/drawing/2014/main" id="{D6FE4ED7-8C89-4A70-9601-2B2873C9E1D8}"/>
              </a:ext>
            </a:extLst>
          </p:cNvPr>
          <p:cNvSpPr>
            <a:spLocks xmlns:a="http://schemas.openxmlformats.org/drawingml/2006/main" noGrp="1"/>
          </p:cNvSpPr>
          <p:nvPr/>
        </p:nvSpPr>
        <p:spPr>
          <a:xfrm xmlns:a="http://schemas.openxmlformats.org/drawingml/2006/main">
            <a:off x="628650" y="6096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2D3EE"/>
                </a:solidFill>
              </a:defRPr>
            </a:pPr>
            <a:r>
              <a:rPr sz="975" b="1">
                <a:solidFill>
                  <a:srgbClr val="22D3EE"/>
                </a:solidFill>
              </a:rPr>
              <a:t>FINAL MSc DISSERTATION PRESENTATION</a:t>
            </a:r>
          </a:p>
        </p:txBody>
      </p:sp>
      <p:sp>
        <p:nvSpPr>
          <p:cNvPr id="23" name="">
            <a:extLst xmlns:a="http://schemas.openxmlformats.org/drawingml/2006/main">
              <a:ext uri="{FF2B5EF4-FFF2-40B4-BE49-F238E27FC236}">
                <a16:creationId xmlns:a16="http://schemas.microsoft.com/office/drawing/2014/main" id="{BF987B81-C3E0-48A0-AF9A-069684A50A4F}"/>
              </a:ext>
            </a:extLst>
          </p:cNvPr>
          <p:cNvSpPr>
            <a:spLocks xmlns:a="http://schemas.openxmlformats.org/drawingml/2006/main" noGrp="1"/>
          </p:cNvSpPr>
          <p:nvPr/>
        </p:nvSpPr>
        <p:spPr>
          <a:xfrm xmlns:a="http://schemas.openxmlformats.org/drawingml/2006/main">
            <a:off x="628650" y="1066800"/>
            <a:ext cx="7810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225" b="1">
                <a:solidFill>
                  <a:srgbClr val="F7FAFC"/>
                </a:solidFill>
              </a:defRPr>
            </a:pPr>
            <a:r>
              <a:rPr sz="3225" b="1">
                <a:solidFill>
                  <a:srgbClr val="F7FAFC"/>
                </a:solidFill>
              </a:rPr>
              <a:t>Evaluating Large Language Models for</a:t>
            </a:r>
          </a:p>
          <a:p xmlns:a="http://schemas.openxmlformats.org/drawingml/2006/main">
            <a:pPr algn="l">
              <a:defRPr sz="3225" b="1">
                <a:solidFill>
                  <a:srgbClr val="F7FAFC"/>
                </a:solidFill>
              </a:defRPr>
            </a:pPr>
            <a:r>
              <a:rPr sz="3225" b="1">
                <a:solidFill>
                  <a:srgbClr val="F7FAFC"/>
                </a:solidFill>
              </a:rPr>
              <a:t>Explaining Anomaly Detection under</a:t>
            </a:r>
          </a:p>
          <a:p xmlns:a="http://schemas.openxmlformats.org/drawingml/2006/main">
            <a:pPr algn="l">
              <a:defRPr sz="3225" b="1">
                <a:solidFill>
                  <a:srgbClr val="F7FAFC"/>
                </a:solidFill>
              </a:defRPr>
            </a:pPr>
            <a:r>
              <a:rPr sz="3225" b="1">
                <a:solidFill>
                  <a:srgbClr val="F7FAFC"/>
                </a:solidFill>
              </a:rPr>
              <a:t>Concept Drift in Cybersecurity Systems</a:t>
            </a:r>
          </a:p>
        </p:txBody>
      </p:sp>
      <p:sp>
        <p:nvSpPr>
          <p:cNvPr id="24" name="">
            <a:extLst xmlns:a="http://schemas.openxmlformats.org/drawingml/2006/main">
              <a:ext uri="{FF2B5EF4-FFF2-40B4-BE49-F238E27FC236}">
                <a16:creationId xmlns:a16="http://schemas.microsoft.com/office/drawing/2014/main" id="{2C4230E9-CF49-4626-AB84-C1EAFB8AC1FD}"/>
              </a:ext>
            </a:extLst>
          </p:cNvPr>
          <p:cNvSpPr>
            <a:spLocks xmlns:a="http://schemas.openxmlformats.org/drawingml/2006/main" noGrp="1"/>
          </p:cNvSpPr>
          <p:nvPr/>
        </p:nvSpPr>
        <p:spPr>
          <a:xfrm xmlns:a="http://schemas.openxmlformats.org/drawingml/2006/main">
            <a:off x="666750" y="31432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97A3B2"/>
                </a:solidFill>
              </a:defRPr>
            </a:pPr>
            <a:r>
              <a:rPr sz="1500" b="0">
                <a:solidFill>
                  <a:srgbClr val="97A3B2"/>
                </a:solidFill>
              </a:rPr>
              <a:t>A Cooja-based study of evolving RPL attacks, whole-seed adaptation, Sybil identity manipulation and local explanation</a:t>
            </a:r>
          </a:p>
        </p:txBody>
      </p:sp>
      <p:sp>
        <p:nvSpPr>
          <p:cNvPr id="25" name="">
            <a:extLst xmlns:a="http://schemas.openxmlformats.org/drawingml/2006/main">
              <a:ext uri="{FF2B5EF4-FFF2-40B4-BE49-F238E27FC236}">
                <a16:creationId xmlns:a16="http://schemas.microsoft.com/office/drawing/2014/main" id="{0D76196D-D0D1-400E-8DD3-F78AF56FAA57}"/>
              </a:ext>
            </a:extLst>
          </p:cNvPr>
          <p:cNvSpPr>
            <a:spLocks xmlns:a="http://schemas.openxmlformats.org/drawingml/2006/main" noGrp="1"/>
          </p:cNvSpPr>
          <p:nvPr/>
        </p:nvSpPr>
        <p:spPr>
          <a:xfrm xmlns:a="http://schemas.openxmlformats.org/drawingml/2006/main">
            <a:off x="666750" y="4229100"/>
            <a:ext cx="5429250" cy="19050"/>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B8AF037-906A-4484-9CD4-EAB294783499}"/>
              </a:ext>
            </a:extLst>
          </p:cNvPr>
          <p:cNvSpPr>
            <a:spLocks xmlns:a="http://schemas.openxmlformats.org/drawingml/2006/main" noGrp="1"/>
          </p:cNvSpPr>
          <p:nvPr/>
        </p:nvSpPr>
        <p:spPr>
          <a:xfrm xmlns:a="http://schemas.openxmlformats.org/drawingml/2006/main">
            <a:off x="666750" y="45148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7FAFC"/>
                </a:solidFill>
              </a:defRPr>
            </a:pPr>
            <a:r>
              <a:rPr sz="1725" b="1">
                <a:solidFill>
                  <a:srgbClr val="F7FAFC"/>
                </a:solidFill>
              </a:rPr>
              <a:t>AL-MIZAAN JAMAL</a:t>
            </a:r>
          </a:p>
        </p:txBody>
      </p:sp>
      <p:sp>
        <p:nvSpPr>
          <p:cNvPr id="27" name="">
            <a:extLst xmlns:a="http://schemas.openxmlformats.org/drawingml/2006/main">
              <a:ext uri="{FF2B5EF4-FFF2-40B4-BE49-F238E27FC236}">
                <a16:creationId xmlns:a16="http://schemas.microsoft.com/office/drawing/2014/main" id="{1177CB96-2801-4406-8A0D-B277E8A58996}"/>
              </a:ext>
            </a:extLst>
          </p:cNvPr>
          <p:cNvSpPr>
            <a:spLocks xmlns:a="http://schemas.openxmlformats.org/drawingml/2006/main" noGrp="1"/>
          </p:cNvSpPr>
          <p:nvPr/>
        </p:nvSpPr>
        <p:spPr>
          <a:xfrm xmlns:a="http://schemas.openxmlformats.org/drawingml/2006/main">
            <a:off x="666750" y="49149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7A3B2"/>
                </a:solidFill>
              </a:defRPr>
            </a:pPr>
            <a:r>
              <a:rPr sz="1200" b="0">
                <a:solidFill>
                  <a:srgbClr val="97A3B2"/>
                </a:solidFill>
              </a:rPr>
              <a:t>MSc Cybersecurity | University of Sheffield</a:t>
            </a:r>
          </a:p>
        </p:txBody>
      </p:sp>
      <p:sp>
        <p:nvSpPr>
          <p:cNvPr id="28" name="">
            <a:extLst xmlns:a="http://schemas.openxmlformats.org/drawingml/2006/main">
              <a:ext uri="{FF2B5EF4-FFF2-40B4-BE49-F238E27FC236}">
                <a16:creationId xmlns:a16="http://schemas.microsoft.com/office/drawing/2014/main" id="{538993E5-35CE-4F6A-8C0B-B8E6861A349D}"/>
              </a:ext>
            </a:extLst>
          </p:cNvPr>
          <p:cNvSpPr>
            <a:spLocks xmlns:a="http://schemas.openxmlformats.org/drawingml/2006/main" noGrp="1"/>
          </p:cNvSpPr>
          <p:nvPr/>
        </p:nvSpPr>
        <p:spPr>
          <a:xfrm xmlns:a="http://schemas.openxmlformats.org/drawingml/2006/main">
            <a:off x="666750" y="5276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Supervisors: Dr Swagato Sanyal and Dr Prosanta Gope</a:t>
            </a:r>
          </a:p>
        </p:txBody>
      </p:sp>
      <p:sp>
        <p:nvSpPr>
          <p:cNvPr id="29" name="">
            <a:extLst xmlns:a="http://schemas.openxmlformats.org/drawingml/2006/main">
              <a:ext uri="{FF2B5EF4-FFF2-40B4-BE49-F238E27FC236}">
                <a16:creationId xmlns:a16="http://schemas.microsoft.com/office/drawing/2014/main" id="{FF11DF32-8EAC-4789-8EA2-814A17ABECCF}"/>
              </a:ext>
            </a:extLst>
          </p:cNvPr>
          <p:cNvSpPr>
            <a:spLocks xmlns:a="http://schemas.openxmlformats.org/drawingml/2006/main" noGrp="1"/>
          </p:cNvSpPr>
          <p:nvPr/>
        </p:nvSpPr>
        <p:spPr>
          <a:xfrm xmlns:a="http://schemas.openxmlformats.org/drawingml/2006/main">
            <a:off x="666750" y="5876925"/>
            <a:ext cx="1238250" cy="266700"/>
          </a:xfrm>
          <a:prstGeom xmlns:a="http://schemas.openxmlformats.org/drawingml/2006/main" prst="roundRect">
            <a:avLst>
              <a:gd name="adj" fmla="val 28571"/>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30" name="">
            <a:extLst xmlns:a="http://schemas.openxmlformats.org/drawingml/2006/main">
              <a:ext uri="{FF2B5EF4-FFF2-40B4-BE49-F238E27FC236}">
                <a16:creationId xmlns:a16="http://schemas.microsoft.com/office/drawing/2014/main" id="{E63ED6A7-E044-4ACD-B2D7-785C7798E9C1}"/>
              </a:ext>
            </a:extLst>
          </p:cNvPr>
          <p:cNvSpPr>
            <a:spLocks xmlns:a="http://schemas.openxmlformats.org/drawingml/2006/main" noGrp="1"/>
          </p:cNvSpPr>
          <p:nvPr/>
        </p:nvSpPr>
        <p:spPr>
          <a:xfrm xmlns:a="http://schemas.openxmlformats.org/drawingml/2006/main">
            <a:off x="742950" y="5876925"/>
            <a:ext cx="1085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2D3EE"/>
                </a:solidFill>
              </a:defRPr>
            </a:pPr>
            <a:r>
              <a:rPr sz="900" b="1">
                <a:solidFill>
                  <a:srgbClr val="22D3EE"/>
                </a:solidFill>
              </a:rPr>
              <a:t>CONTIKI-NG</a:t>
            </a:r>
          </a:p>
        </p:txBody>
      </p:sp>
      <p:sp>
        <p:nvSpPr>
          <p:cNvPr id="31" name="">
            <a:extLst xmlns:a="http://schemas.openxmlformats.org/drawingml/2006/main">
              <a:ext uri="{FF2B5EF4-FFF2-40B4-BE49-F238E27FC236}">
                <a16:creationId xmlns:a16="http://schemas.microsoft.com/office/drawing/2014/main" id="{DF031894-4240-42EC-85E9-3B063EB9573A}"/>
              </a:ext>
            </a:extLst>
          </p:cNvPr>
          <p:cNvSpPr>
            <a:spLocks xmlns:a="http://schemas.openxmlformats.org/drawingml/2006/main" noGrp="1"/>
          </p:cNvSpPr>
          <p:nvPr/>
        </p:nvSpPr>
        <p:spPr>
          <a:xfrm xmlns:a="http://schemas.openxmlformats.org/drawingml/2006/main">
            <a:off x="2038350" y="5876925"/>
            <a:ext cx="9144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32" name="">
            <a:extLst xmlns:a="http://schemas.openxmlformats.org/drawingml/2006/main">
              <a:ext uri="{FF2B5EF4-FFF2-40B4-BE49-F238E27FC236}">
                <a16:creationId xmlns:a16="http://schemas.microsoft.com/office/drawing/2014/main" id="{A846EBBE-6E91-4757-A03E-8E2F59F0AC8D}"/>
              </a:ext>
            </a:extLst>
          </p:cNvPr>
          <p:cNvSpPr>
            <a:spLocks xmlns:a="http://schemas.openxmlformats.org/drawingml/2006/main" noGrp="1"/>
          </p:cNvSpPr>
          <p:nvPr/>
        </p:nvSpPr>
        <p:spPr>
          <a:xfrm xmlns:a="http://schemas.openxmlformats.org/drawingml/2006/main">
            <a:off x="2114550" y="58769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COOJA</a:t>
            </a:r>
          </a:p>
        </p:txBody>
      </p:sp>
      <p:sp>
        <p:nvSpPr>
          <p:cNvPr id="33" name="">
            <a:extLst xmlns:a="http://schemas.openxmlformats.org/drawingml/2006/main">
              <a:ext uri="{FF2B5EF4-FFF2-40B4-BE49-F238E27FC236}">
                <a16:creationId xmlns:a16="http://schemas.microsoft.com/office/drawing/2014/main" id="{A4ECCF9E-4CDD-4930-AAFA-C94D38EFBD57}"/>
              </a:ext>
            </a:extLst>
          </p:cNvPr>
          <p:cNvSpPr>
            <a:spLocks xmlns:a="http://schemas.openxmlformats.org/drawingml/2006/main" noGrp="1"/>
          </p:cNvSpPr>
          <p:nvPr/>
        </p:nvSpPr>
        <p:spPr>
          <a:xfrm xmlns:a="http://schemas.openxmlformats.org/drawingml/2006/main">
            <a:off x="3086100" y="5876925"/>
            <a:ext cx="1466850" cy="266700"/>
          </a:xfrm>
          <a:prstGeom xmlns:a="http://schemas.openxmlformats.org/drawingml/2006/main" prst="roundRect">
            <a:avLst>
              <a:gd name="adj" fmla="val 28571"/>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34" name="">
            <a:extLst xmlns:a="http://schemas.openxmlformats.org/drawingml/2006/main">
              <a:ext uri="{FF2B5EF4-FFF2-40B4-BE49-F238E27FC236}">
                <a16:creationId xmlns:a16="http://schemas.microsoft.com/office/drawing/2014/main" id="{C067F1AF-B824-4FBC-8B8F-9D3C15117EFD}"/>
              </a:ext>
            </a:extLst>
          </p:cNvPr>
          <p:cNvSpPr>
            <a:spLocks xmlns:a="http://schemas.openxmlformats.org/drawingml/2006/main" noGrp="1"/>
          </p:cNvSpPr>
          <p:nvPr/>
        </p:nvSpPr>
        <p:spPr>
          <a:xfrm xmlns:a="http://schemas.openxmlformats.org/drawingml/2006/main">
            <a:off x="3162300" y="5876925"/>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59E0B"/>
                </a:solidFill>
              </a:defRPr>
            </a:pPr>
            <a:r>
              <a:rPr sz="900" b="1">
                <a:solidFill>
                  <a:srgbClr val="F59E0B"/>
                </a:solidFill>
              </a:rPr>
              <a:t>CONCEPT DRIFT</a:t>
            </a:r>
          </a:p>
        </p:txBody>
      </p:sp>
      <p:sp>
        <p:nvSpPr>
          <p:cNvPr id="35" name="">
            <a:extLst xmlns:a="http://schemas.openxmlformats.org/drawingml/2006/main">
              <a:ext uri="{FF2B5EF4-FFF2-40B4-BE49-F238E27FC236}">
                <a16:creationId xmlns:a16="http://schemas.microsoft.com/office/drawing/2014/main" id="{C7D5BBF4-0052-4CB7-8644-7F497A22E76C}"/>
              </a:ext>
            </a:extLst>
          </p:cNvPr>
          <p:cNvSpPr>
            <a:spLocks xmlns:a="http://schemas.openxmlformats.org/drawingml/2006/main" noGrp="1"/>
          </p:cNvSpPr>
          <p:nvPr/>
        </p:nvSpPr>
        <p:spPr>
          <a:xfrm xmlns:a="http://schemas.openxmlformats.org/drawingml/2006/main">
            <a:off x="4686300" y="5876925"/>
            <a:ext cx="1295400" cy="266700"/>
          </a:xfrm>
          <a:prstGeom xmlns:a="http://schemas.openxmlformats.org/drawingml/2006/main" prst="roundRect">
            <a:avLst>
              <a:gd name="adj" fmla="val 28571"/>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36" name="">
            <a:extLst xmlns:a="http://schemas.openxmlformats.org/drawingml/2006/main">
              <a:ext uri="{FF2B5EF4-FFF2-40B4-BE49-F238E27FC236}">
                <a16:creationId xmlns:a16="http://schemas.microsoft.com/office/drawing/2014/main" id="{0F038F09-5034-4F9C-8F23-70218F71ED2F}"/>
              </a:ext>
            </a:extLst>
          </p:cNvPr>
          <p:cNvSpPr>
            <a:spLocks xmlns:a="http://schemas.openxmlformats.org/drawingml/2006/main" noGrp="1"/>
          </p:cNvSpPr>
          <p:nvPr/>
        </p:nvSpPr>
        <p:spPr>
          <a:xfrm xmlns:a="http://schemas.openxmlformats.org/drawingml/2006/main">
            <a:off x="4762500" y="58769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A78BFA"/>
                </a:solidFill>
              </a:defRPr>
            </a:pPr>
            <a:r>
              <a:rPr sz="900" b="1">
                <a:solidFill>
                  <a:srgbClr val="A78BFA"/>
                </a:solidFill>
              </a:rPr>
              <a:t>LOCAL QWEN</a:t>
            </a:r>
          </a:p>
        </p:txBody>
      </p:sp>
    </p:spTree>
    <p:extLst>
      <p:ext uri="{BB962C8B-B14F-4D97-AF65-F5344CB8AC3E}">
        <p14:creationId xmlns:p14="http://schemas.microsoft.com/office/powerpoint/2010/main" val="357346180"/>
      </p:ext>
    </p:extLst>
  </p:cSld>
</p:sld>
</file>

<file path=ppt/slides/slide2.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601E8D6-AFC9-4471-BD19-C49718F58739}"/>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THE PROBLEM</a:t>
            </a:r>
          </a:p>
        </p:txBody>
      </p:sp>
      <p:sp>
        <p:nvSpPr>
          <p:cNvPr id="2" name="">
            <a:extLst xmlns:a="http://schemas.openxmlformats.org/drawingml/2006/main">
              <a:ext uri="{FF2B5EF4-FFF2-40B4-BE49-F238E27FC236}">
                <a16:creationId xmlns:a16="http://schemas.microsoft.com/office/drawing/2014/main" id="{39DD752F-A103-4D85-BAF5-9036C9DCEBE4}"/>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What happens when the attack changes?</a:t>
            </a:r>
          </a:p>
        </p:txBody>
      </p:sp>
      <p:sp>
        <p:nvSpPr>
          <p:cNvPr id="3" name="">
            <a:extLst xmlns:a="http://schemas.openxmlformats.org/drawingml/2006/main">
              <a:ext uri="{FF2B5EF4-FFF2-40B4-BE49-F238E27FC236}">
                <a16:creationId xmlns:a16="http://schemas.microsoft.com/office/drawing/2014/main" id="{2C89FFBB-39F5-416E-A3C8-63208E9F2F67}"/>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422D00-F308-4EB9-BFAB-1AD380FB2FC9}"/>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32F504-B053-46FB-B21A-5C749EC67E0B}"/>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Problem and motivation</a:t>
            </a:r>
          </a:p>
        </p:txBody>
      </p:sp>
      <p:sp>
        <p:nvSpPr>
          <p:cNvPr id="6" name="">
            <a:extLst xmlns:a="http://schemas.openxmlformats.org/drawingml/2006/main">
              <a:ext uri="{FF2B5EF4-FFF2-40B4-BE49-F238E27FC236}">
                <a16:creationId xmlns:a16="http://schemas.microsoft.com/office/drawing/2014/main" id="{D2538DF9-0DB9-48B7-B555-CF0D9DE0FA2D}"/>
              </a:ext>
            </a:extLst>
          </p:cNvPr>
          <p:cNvSpPr>
            <a:spLocks xmlns:a="http://schemas.openxmlformats.org/drawingml/2006/main" noGrp="1"/>
          </p:cNvSpPr>
          <p:nvPr/>
        </p:nvSpPr>
        <p:spPr>
          <a:xfrm xmlns:a="http://schemas.openxmlformats.org/drawingml/2006/main">
            <a:off x="666750" y="1809750"/>
            <a:ext cx="2381250" cy="2381250"/>
          </a:xfrm>
          <a:prstGeom xmlns:a="http://schemas.openxmlformats.org/drawingml/2006/main" prst="roundRect">
            <a:avLst>
              <a:gd name="adj" fmla="val 3200"/>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AE335FAA-60D0-4662-B775-C4B0B044917A}"/>
              </a:ext>
            </a:extLst>
          </p:cNvPr>
          <p:cNvSpPr>
            <a:spLocks xmlns:a="http://schemas.openxmlformats.org/drawingml/2006/main" noGrp="1"/>
          </p:cNvSpPr>
          <p:nvPr/>
        </p:nvSpPr>
        <p:spPr>
          <a:xfrm xmlns:a="http://schemas.openxmlformats.org/drawingml/2006/main">
            <a:off x="1504950" y="2076450"/>
            <a:ext cx="704850" cy="704850"/>
          </a:xfrm>
          <a:prstGeom xmlns:a="http://schemas.openxmlformats.org/drawingml/2006/main" prst="ellipse">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8" name="">
            <a:extLst xmlns:a="http://schemas.openxmlformats.org/drawingml/2006/main">
              <a:ext uri="{FF2B5EF4-FFF2-40B4-BE49-F238E27FC236}">
                <a16:creationId xmlns:a16="http://schemas.microsoft.com/office/drawing/2014/main" id="{709258F3-CA19-404B-BC04-074A6F967AE3}"/>
              </a:ext>
            </a:extLst>
          </p:cNvPr>
          <p:cNvSpPr>
            <a:spLocks xmlns:a="http://schemas.openxmlformats.org/drawingml/2006/main" noGrp="1"/>
          </p:cNvSpPr>
          <p:nvPr/>
        </p:nvSpPr>
        <p:spPr>
          <a:xfrm xmlns:a="http://schemas.openxmlformats.org/drawingml/2006/main">
            <a:off x="838200" y="295275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34D399"/>
                </a:solidFill>
              </a:defRPr>
            </a:pPr>
            <a:r>
              <a:rPr sz="1275" b="1">
                <a:solidFill>
                  <a:srgbClr val="34D399"/>
                </a:solidFill>
              </a:rPr>
              <a:t>TRAINING WORLD</a:t>
            </a:r>
          </a:p>
        </p:txBody>
      </p:sp>
      <p:sp>
        <p:nvSpPr>
          <p:cNvPr id="9" name="">
            <a:extLst xmlns:a="http://schemas.openxmlformats.org/drawingml/2006/main">
              <a:ext uri="{FF2B5EF4-FFF2-40B4-BE49-F238E27FC236}">
                <a16:creationId xmlns:a16="http://schemas.microsoft.com/office/drawing/2014/main" id="{A7BF8074-40C2-4C01-83BF-8A8E3F1E7642}"/>
              </a:ext>
            </a:extLst>
          </p:cNvPr>
          <p:cNvSpPr>
            <a:spLocks xmlns:a="http://schemas.openxmlformats.org/drawingml/2006/main" noGrp="1"/>
          </p:cNvSpPr>
          <p:nvPr/>
        </p:nvSpPr>
        <p:spPr>
          <a:xfrm xmlns:a="http://schemas.openxmlformats.org/drawingml/2006/main">
            <a:off x="857250" y="3305175"/>
            <a:ext cx="2000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Blackhole-like behaviour</a:t>
            </a:r>
          </a:p>
          <a:p xmlns:a="http://schemas.openxmlformats.org/drawingml/2006/main">
            <a:pPr algn="ctr">
              <a:defRPr sz="1125" b="0">
                <a:solidFill>
                  <a:srgbClr val="E5EAF0"/>
                </a:solidFill>
              </a:defRPr>
            </a:pPr>
            <a:r>
              <a:rPr sz="1125" b="0">
                <a:solidFill>
                  <a:srgbClr val="E5EAF0"/>
                </a:solidFill>
              </a:rPr>
              <a:t>Packet delivery collapses</a:t>
            </a:r>
          </a:p>
        </p:txBody>
      </p:sp>
      <p:sp>
        <p:nvSpPr>
          <p:cNvPr id="10" name="">
            <a:extLst xmlns:a="http://schemas.openxmlformats.org/drawingml/2006/main">
              <a:ext uri="{FF2B5EF4-FFF2-40B4-BE49-F238E27FC236}">
                <a16:creationId xmlns:a16="http://schemas.microsoft.com/office/drawing/2014/main" id="{7AC87576-8262-4B04-8187-C960D0BD8403}"/>
              </a:ext>
            </a:extLst>
          </p:cNvPr>
          <p:cNvSpPr>
            <a:spLocks xmlns:a="http://schemas.openxmlformats.org/drawingml/2006/main" noGrp="1"/>
          </p:cNvSpPr>
          <p:nvPr/>
        </p:nvSpPr>
        <p:spPr>
          <a:xfrm xmlns:a="http://schemas.openxmlformats.org/drawingml/2006/main">
            <a:off x="3667125" y="1809750"/>
            <a:ext cx="2381250" cy="2381250"/>
          </a:xfrm>
          <a:prstGeom xmlns:a="http://schemas.openxmlformats.org/drawingml/2006/main" prst="roundRect">
            <a:avLst>
              <a:gd name="adj" fmla="val 3200"/>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8D2BF9C7-DCB0-4B4D-8AA7-9EE84BCE7B87}"/>
              </a:ext>
            </a:extLst>
          </p:cNvPr>
          <p:cNvSpPr>
            <a:spLocks xmlns:a="http://schemas.openxmlformats.org/drawingml/2006/main" noGrp="1"/>
          </p:cNvSpPr>
          <p:nvPr/>
        </p:nvSpPr>
        <p:spPr>
          <a:xfrm xmlns:a="http://schemas.openxmlformats.org/drawingml/2006/main">
            <a:off x="4505325" y="2076450"/>
            <a:ext cx="704850" cy="704850"/>
          </a:xfrm>
          <a:prstGeom xmlns:a="http://schemas.openxmlformats.org/drawingml/2006/main" prst="ellipse">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12" name="">
            <a:extLst xmlns:a="http://schemas.openxmlformats.org/drawingml/2006/main">
              <a:ext uri="{FF2B5EF4-FFF2-40B4-BE49-F238E27FC236}">
                <a16:creationId xmlns:a16="http://schemas.microsoft.com/office/drawing/2014/main" id="{512569EA-C424-4F07-9D7E-D71F440C4ED3}"/>
              </a:ext>
            </a:extLst>
          </p:cNvPr>
          <p:cNvSpPr>
            <a:spLocks xmlns:a="http://schemas.openxmlformats.org/drawingml/2006/main" noGrp="1"/>
          </p:cNvSpPr>
          <p:nvPr/>
        </p:nvSpPr>
        <p:spPr>
          <a:xfrm xmlns:a="http://schemas.openxmlformats.org/drawingml/2006/main">
            <a:off x="3838575" y="295275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B7185"/>
                </a:solidFill>
              </a:defRPr>
            </a:pPr>
            <a:r>
              <a:rPr sz="1275" b="1">
                <a:solidFill>
                  <a:srgbClr val="FB7185"/>
                </a:solidFill>
              </a:rPr>
              <a:t>CHANGED WORLD</a:t>
            </a:r>
          </a:p>
        </p:txBody>
      </p:sp>
      <p:sp>
        <p:nvSpPr>
          <p:cNvPr id="13" name="">
            <a:extLst xmlns:a="http://schemas.openxmlformats.org/drawingml/2006/main">
              <a:ext uri="{FF2B5EF4-FFF2-40B4-BE49-F238E27FC236}">
                <a16:creationId xmlns:a16="http://schemas.microsoft.com/office/drawing/2014/main" id="{A52DFB07-DD8D-42CC-BB81-D425C6CCBEAB}"/>
              </a:ext>
            </a:extLst>
          </p:cNvPr>
          <p:cNvSpPr>
            <a:spLocks xmlns:a="http://schemas.openxmlformats.org/drawingml/2006/main" noGrp="1"/>
          </p:cNvSpPr>
          <p:nvPr/>
        </p:nvSpPr>
        <p:spPr>
          <a:xfrm xmlns:a="http://schemas.openxmlformats.org/drawingml/2006/main">
            <a:off x="3857625" y="3305175"/>
            <a:ext cx="2000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Sinkhole or Sybil</a:t>
            </a:r>
          </a:p>
          <a:p xmlns:a="http://schemas.openxmlformats.org/drawingml/2006/main">
            <a:pPr algn="ctr">
              <a:defRPr sz="1125" b="0">
                <a:solidFill>
                  <a:srgbClr val="E5EAF0"/>
                </a:solidFill>
              </a:defRPr>
            </a:pPr>
            <a:r>
              <a:rPr sz="1125" b="0">
                <a:solidFill>
                  <a:srgbClr val="E5EAF0"/>
                </a:solidFill>
              </a:rPr>
              <a:t>Different mechanism, different evidence</a:t>
            </a:r>
          </a:p>
        </p:txBody>
      </p:sp>
      <p:sp>
        <p:nvSpPr>
          <p:cNvPr id="14" name="">
            <a:extLst xmlns:a="http://schemas.openxmlformats.org/drawingml/2006/main">
              <a:ext uri="{FF2B5EF4-FFF2-40B4-BE49-F238E27FC236}">
                <a16:creationId xmlns:a16="http://schemas.microsoft.com/office/drawing/2014/main" id="{C52F0DDB-E723-42EF-B046-70C2D2A2800B}"/>
              </a:ext>
            </a:extLst>
          </p:cNvPr>
          <p:cNvSpPr>
            <a:spLocks xmlns:a="http://schemas.openxmlformats.org/drawingml/2006/main" noGrp="1"/>
          </p:cNvSpPr>
          <p:nvPr/>
        </p:nvSpPr>
        <p:spPr>
          <a:xfrm xmlns:a="http://schemas.openxmlformats.org/drawingml/2006/main">
            <a:off x="6667500" y="1809750"/>
            <a:ext cx="2095500" cy="2381250"/>
          </a:xfrm>
          <a:prstGeom xmlns:a="http://schemas.openxmlformats.org/drawingml/2006/main" prst="roundRect">
            <a:avLst>
              <a:gd name="adj" fmla="val 3636"/>
            </a:avLst>
          </a:prstGeom>
          <a:solidFill xmlns:a="http://schemas.openxmlformats.org/drawingml/2006/main">
            <a:srgbClr val="121C27"/>
          </a:solidFill>
          <a:ln xmlns:a="http://schemas.openxmlformats.org/drawingml/2006/main" w="9525">
            <a:solidFill>
              <a:srgbClr val="2C3A49"/>
            </a:solidFill>
            <a:prstDash val="solid"/>
          </a:ln>
        </p:spPr>
      </p:sp>
      <p:sp>
        <p:nvSpPr>
          <p:cNvPr id="15" name="">
            <a:extLst xmlns:a="http://schemas.openxmlformats.org/drawingml/2006/main">
              <a:ext uri="{FF2B5EF4-FFF2-40B4-BE49-F238E27FC236}">
                <a16:creationId xmlns:a16="http://schemas.microsoft.com/office/drawing/2014/main" id="{5EE9DA86-02E2-40B9-BA3B-EF686660EBD8}"/>
              </a:ext>
            </a:extLst>
          </p:cNvPr>
          <p:cNvSpPr>
            <a:spLocks xmlns:a="http://schemas.openxmlformats.org/drawingml/2006/main" noGrp="1"/>
          </p:cNvSpPr>
          <p:nvPr/>
        </p:nvSpPr>
        <p:spPr>
          <a:xfrm xmlns:a="http://schemas.openxmlformats.org/drawingml/2006/main">
            <a:off x="7505700" y="2076450"/>
            <a:ext cx="704850" cy="704850"/>
          </a:xfrm>
          <a:prstGeom xmlns:a="http://schemas.openxmlformats.org/drawingml/2006/main" prst="ellipse">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16" name="">
            <a:extLst xmlns:a="http://schemas.openxmlformats.org/drawingml/2006/main">
              <a:ext uri="{FF2B5EF4-FFF2-40B4-BE49-F238E27FC236}">
                <a16:creationId xmlns:a16="http://schemas.microsoft.com/office/drawing/2014/main" id="{93FD5ACF-5D3D-4F6F-9FA9-C8B2A245F9BB}"/>
              </a:ext>
            </a:extLst>
          </p:cNvPr>
          <p:cNvSpPr>
            <a:spLocks xmlns:a="http://schemas.openxmlformats.org/drawingml/2006/main" noGrp="1"/>
          </p:cNvSpPr>
          <p:nvPr/>
        </p:nvSpPr>
        <p:spPr>
          <a:xfrm xmlns:a="http://schemas.openxmlformats.org/drawingml/2006/main">
            <a:off x="6838950" y="29527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9E0B"/>
                </a:solidFill>
              </a:defRPr>
            </a:pPr>
            <a:r>
              <a:rPr sz="1275" b="1">
                <a:solidFill>
                  <a:srgbClr val="F59E0B"/>
                </a:solidFill>
              </a:rPr>
              <a:t>STATIC IDS</a:t>
            </a:r>
          </a:p>
        </p:txBody>
      </p:sp>
      <p:sp>
        <p:nvSpPr>
          <p:cNvPr id="17" name="">
            <a:extLst xmlns:a="http://schemas.openxmlformats.org/drawingml/2006/main">
              <a:ext uri="{FF2B5EF4-FFF2-40B4-BE49-F238E27FC236}">
                <a16:creationId xmlns:a16="http://schemas.microsoft.com/office/drawing/2014/main" id="{89F525BF-81DE-4C90-A67A-B5D4F77A93D3}"/>
              </a:ext>
            </a:extLst>
          </p:cNvPr>
          <p:cNvSpPr>
            <a:spLocks xmlns:a="http://schemas.openxmlformats.org/drawingml/2006/main" noGrp="1"/>
          </p:cNvSpPr>
          <p:nvPr/>
        </p:nvSpPr>
        <p:spPr>
          <a:xfrm xmlns:a="http://schemas.openxmlformats.org/drawingml/2006/main">
            <a:off x="6858000" y="3305175"/>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Old pattern no longer matches</a:t>
            </a:r>
          </a:p>
          <a:p xmlns:a="http://schemas.openxmlformats.org/drawingml/2006/main">
            <a:pPr algn="ctr">
              <a:defRPr sz="1125" b="0">
                <a:solidFill>
                  <a:srgbClr val="E5EAF0"/>
                </a:solidFill>
              </a:defRPr>
            </a:pPr>
            <a:r>
              <a:rPr sz="1125" b="0">
                <a:solidFill>
                  <a:srgbClr val="E5EAF0"/>
                </a:solidFill>
              </a:rPr>
              <a:t>Attacks may be labelled normal</a:t>
            </a:r>
          </a:p>
        </p:txBody>
      </p:sp>
      <p:sp>
        <p:nvSpPr>
          <p:cNvPr id="18" name="">
            <a:extLst xmlns:a="http://schemas.openxmlformats.org/drawingml/2006/main">
              <a:ext uri="{FF2B5EF4-FFF2-40B4-BE49-F238E27FC236}">
                <a16:creationId xmlns:a16="http://schemas.microsoft.com/office/drawing/2014/main" id="{DFE4552D-92BD-49A9-A9BB-07F079C37127}"/>
              </a:ext>
            </a:extLst>
          </p:cNvPr>
          <p:cNvSpPr>
            <a:spLocks xmlns:a="http://schemas.openxmlformats.org/drawingml/2006/main" noGrp="1"/>
          </p:cNvSpPr>
          <p:nvPr/>
        </p:nvSpPr>
        <p:spPr>
          <a:xfrm xmlns:a="http://schemas.openxmlformats.org/drawingml/2006/main">
            <a:off x="9382125" y="1809750"/>
            <a:ext cx="2095500" cy="2381250"/>
          </a:xfrm>
          <a:prstGeom xmlns:a="http://schemas.openxmlformats.org/drawingml/2006/main" prst="roundRect">
            <a:avLst>
              <a:gd name="adj" fmla="val 3636"/>
            </a:avLst>
          </a:prstGeom>
          <a:solidFill xmlns:a="http://schemas.openxmlformats.org/drawingml/2006/main">
            <a:srgbClr val="121C27"/>
          </a:solidFill>
          <a:ln xmlns:a="http://schemas.openxmlformats.org/drawingml/2006/main" w="9525">
            <a:solidFill>
              <a:srgbClr val="2C3A49"/>
            </a:solidFill>
            <a:prstDash val="solid"/>
          </a:ln>
        </p:spPr>
      </p:sp>
      <p:sp>
        <p:nvSpPr>
          <p:cNvPr id="19" name="">
            <a:extLst xmlns:a="http://schemas.openxmlformats.org/drawingml/2006/main">
              <a:ext uri="{FF2B5EF4-FFF2-40B4-BE49-F238E27FC236}">
                <a16:creationId xmlns:a16="http://schemas.microsoft.com/office/drawing/2014/main" id="{E903BD2C-CB00-4E9F-AF03-5B0A7BB29AC5}"/>
              </a:ext>
            </a:extLst>
          </p:cNvPr>
          <p:cNvSpPr>
            <a:spLocks xmlns:a="http://schemas.openxmlformats.org/drawingml/2006/main" noGrp="1"/>
          </p:cNvSpPr>
          <p:nvPr/>
        </p:nvSpPr>
        <p:spPr>
          <a:xfrm xmlns:a="http://schemas.openxmlformats.org/drawingml/2006/main">
            <a:off x="10220325" y="2076450"/>
            <a:ext cx="704850" cy="70485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20" name="">
            <a:extLst xmlns:a="http://schemas.openxmlformats.org/drawingml/2006/main">
              <a:ext uri="{FF2B5EF4-FFF2-40B4-BE49-F238E27FC236}">
                <a16:creationId xmlns:a16="http://schemas.microsoft.com/office/drawing/2014/main" id="{C7843A46-6A11-4569-853D-58FDAE0BA357}"/>
              </a:ext>
            </a:extLst>
          </p:cNvPr>
          <p:cNvSpPr>
            <a:spLocks xmlns:a="http://schemas.openxmlformats.org/drawingml/2006/main" noGrp="1"/>
          </p:cNvSpPr>
          <p:nvPr/>
        </p:nvSpPr>
        <p:spPr>
          <a:xfrm xmlns:a="http://schemas.openxmlformats.org/drawingml/2006/main">
            <a:off x="9553575" y="29527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A78BFA"/>
                </a:solidFill>
              </a:defRPr>
            </a:pPr>
            <a:r>
              <a:rPr sz="1275" b="1">
                <a:solidFill>
                  <a:srgbClr val="A78BFA"/>
                </a:solidFill>
              </a:rPr>
              <a:t>RESPONSE</a:t>
            </a:r>
          </a:p>
        </p:txBody>
      </p:sp>
      <p:sp>
        <p:nvSpPr>
          <p:cNvPr id="21" name="">
            <a:extLst xmlns:a="http://schemas.openxmlformats.org/drawingml/2006/main">
              <a:ext uri="{FF2B5EF4-FFF2-40B4-BE49-F238E27FC236}">
                <a16:creationId xmlns:a16="http://schemas.microsoft.com/office/drawing/2014/main" id="{42F43336-A24D-4304-8580-6CD65341B575}"/>
              </a:ext>
            </a:extLst>
          </p:cNvPr>
          <p:cNvSpPr>
            <a:spLocks xmlns:a="http://schemas.openxmlformats.org/drawingml/2006/main" noGrp="1"/>
          </p:cNvSpPr>
          <p:nvPr/>
        </p:nvSpPr>
        <p:spPr>
          <a:xfrm xmlns:a="http://schemas.openxmlformats.org/drawingml/2006/main">
            <a:off x="9572625" y="3305175"/>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Adapt using new runs</a:t>
            </a:r>
          </a:p>
          <a:p xmlns:a="http://schemas.openxmlformats.org/drawingml/2006/main">
            <a:pPr algn="ctr">
              <a:defRPr sz="1125" b="0">
                <a:solidFill>
                  <a:srgbClr val="E5EAF0"/>
                </a:solidFill>
              </a:defRPr>
            </a:pPr>
            <a:r>
              <a:rPr sz="1125" b="0">
                <a:solidFill>
                  <a:srgbClr val="E5EAF0"/>
                </a:solidFill>
              </a:rPr>
              <a:t>Explain the measured change</a:t>
            </a:r>
          </a:p>
        </p:txBody>
      </p:sp>
      <p:sp>
        <p:nvSpPr>
          <p:cNvPr id="22" name="">
            <a:extLst xmlns:a="http://schemas.openxmlformats.org/drawingml/2006/main">
              <a:ext uri="{FF2B5EF4-FFF2-40B4-BE49-F238E27FC236}">
                <a16:creationId xmlns:a16="http://schemas.microsoft.com/office/drawing/2014/main" id="{E3DE0040-67D8-4213-8FE3-DAFD626B9C54}"/>
              </a:ext>
            </a:extLst>
          </p:cNvPr>
          <p:cNvSpPr>
            <a:spLocks xmlns:a="http://schemas.openxmlformats.org/drawingml/2006/main" noGrp="1"/>
          </p:cNvSpPr>
          <p:nvPr/>
        </p:nvSpPr>
        <p:spPr>
          <a:xfrm xmlns:a="http://schemas.openxmlformats.org/drawingml/2006/main">
            <a:off x="3219450" y="2800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F712EA1-B7A5-4B88-9C17-97F6457223F7}"/>
              </a:ext>
            </a:extLst>
          </p:cNvPr>
          <p:cNvSpPr>
            <a:spLocks xmlns:a="http://schemas.openxmlformats.org/drawingml/2006/main" noGrp="1"/>
          </p:cNvSpPr>
          <p:nvPr/>
        </p:nvSpPr>
        <p:spPr>
          <a:xfrm xmlns:a="http://schemas.openxmlformats.org/drawingml/2006/main">
            <a:off x="6219825" y="2800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B9C745B-E529-43DE-B7BB-D98FF33F819E}"/>
              </a:ext>
            </a:extLst>
          </p:cNvPr>
          <p:cNvSpPr>
            <a:spLocks xmlns:a="http://schemas.openxmlformats.org/drawingml/2006/main" noGrp="1"/>
          </p:cNvSpPr>
          <p:nvPr/>
        </p:nvSpPr>
        <p:spPr>
          <a:xfrm xmlns:a="http://schemas.openxmlformats.org/drawingml/2006/main">
            <a:off x="8934450" y="2800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3C43959-E174-4B4B-A8BF-F854EBB2371E}"/>
              </a:ext>
            </a:extLst>
          </p:cNvPr>
          <p:cNvSpPr>
            <a:spLocks xmlns:a="http://schemas.openxmlformats.org/drawingml/2006/main" noGrp="1"/>
          </p:cNvSpPr>
          <p:nvPr/>
        </p:nvSpPr>
        <p:spPr>
          <a:xfrm xmlns:a="http://schemas.openxmlformats.org/drawingml/2006/main">
            <a:off x="1466850" y="4810125"/>
            <a:ext cx="9239250" cy="800100"/>
          </a:xfrm>
          <a:prstGeom xmlns:a="http://schemas.openxmlformats.org/drawingml/2006/main" prst="roundRect">
            <a:avLst>
              <a:gd name="adj" fmla="val 9524"/>
            </a:avLst>
          </a:prstGeom>
          <a:solidFill xmlns:a="http://schemas.openxmlformats.org/drawingml/2006/main">
            <a:srgbClr val="0E151E"/>
          </a:solidFill>
          <a:ln xmlns:a="http://schemas.openxmlformats.org/drawingml/2006/main" w="9525">
            <a:solidFill>
              <a:srgbClr val="22D3EE"/>
            </a:solidFill>
            <a:prstDash val="solid"/>
          </a:ln>
        </p:spPr>
      </p:sp>
      <p:sp>
        <p:nvSpPr>
          <p:cNvPr id="26" name="">
            <a:extLst xmlns:a="http://schemas.openxmlformats.org/drawingml/2006/main">
              <a:ext uri="{FF2B5EF4-FFF2-40B4-BE49-F238E27FC236}">
                <a16:creationId xmlns:a16="http://schemas.microsoft.com/office/drawing/2014/main" id="{D5EBB27B-B887-430B-8004-6BCABB506DE0}"/>
              </a:ext>
            </a:extLst>
          </p:cNvPr>
          <p:cNvSpPr>
            <a:spLocks xmlns:a="http://schemas.openxmlformats.org/drawingml/2006/main" noGrp="1"/>
          </p:cNvSpPr>
          <p:nvPr/>
        </p:nvSpPr>
        <p:spPr>
          <a:xfrm xmlns:a="http://schemas.openxmlformats.org/drawingml/2006/main">
            <a:off x="1714500" y="4933950"/>
            <a:ext cx="876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7FAFC"/>
                </a:solidFill>
              </a:defRPr>
            </a:pPr>
            <a:r>
              <a:rPr sz="1650" b="1">
                <a:solidFill>
                  <a:srgbClr val="F7FAFC"/>
                </a:solidFill>
              </a:rPr>
              <a:t>Concept drift here means the relationship between the measured features and the attack label has changed.</a:t>
            </a:r>
          </a:p>
        </p:txBody>
      </p:sp>
      <p:sp>
        <p:nvSpPr>
          <p:cNvPr id="27" name="">
            <a:extLst xmlns:a="http://schemas.openxmlformats.org/drawingml/2006/main">
              <a:ext uri="{FF2B5EF4-FFF2-40B4-BE49-F238E27FC236}">
                <a16:creationId xmlns:a16="http://schemas.microsoft.com/office/drawing/2014/main" id="{1A242003-674F-4EC7-BF70-706F10B1DE1B}"/>
              </a:ext>
            </a:extLst>
          </p:cNvPr>
          <p:cNvSpPr>
            <a:spLocks xmlns:a="http://schemas.openxmlformats.org/drawingml/2006/main" noGrp="1"/>
          </p:cNvSpPr>
          <p:nvPr/>
        </p:nvSpPr>
        <p:spPr>
          <a:xfrm xmlns:a="http://schemas.openxmlformats.org/drawingml/2006/main">
            <a:off x="2381250" y="5781675"/>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Controlled cross-attack distribution shift, not a claim about every form of real-world drift</a:t>
            </a:r>
          </a:p>
        </p:txBody>
      </p:sp>
    </p:spTree>
    <p:extLst>
      <p:ext uri="{BB962C8B-B14F-4D97-AF65-F5344CB8AC3E}">
        <p14:creationId xmlns:p14="http://schemas.microsoft.com/office/powerpoint/2010/main" val="18448169"/>
      </p:ext>
    </p:extLst>
  </p:cSld>
</p:sld>
</file>

<file path=ppt/slides/slide3.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AE7B614-FF5A-452C-8590-FF90F1F5CC9A}"/>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RESEARCH LOGIC</a:t>
            </a:r>
          </a:p>
        </p:txBody>
      </p:sp>
      <p:sp>
        <p:nvSpPr>
          <p:cNvPr id="2" name="">
            <a:extLst xmlns:a="http://schemas.openxmlformats.org/drawingml/2006/main">
              <a:ext uri="{FF2B5EF4-FFF2-40B4-BE49-F238E27FC236}">
                <a16:creationId xmlns:a16="http://schemas.microsoft.com/office/drawing/2014/main" id="{B7DE224F-6215-49DC-8795-927F230952CA}"/>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Cooja creates the evidence needed by the LLM question</a:t>
            </a:r>
          </a:p>
        </p:txBody>
      </p:sp>
      <p:sp>
        <p:nvSpPr>
          <p:cNvPr id="3" name="">
            <a:extLst xmlns:a="http://schemas.openxmlformats.org/drawingml/2006/main">
              <a:ext uri="{FF2B5EF4-FFF2-40B4-BE49-F238E27FC236}">
                <a16:creationId xmlns:a16="http://schemas.microsoft.com/office/drawing/2014/main" id="{20E5CC88-B55F-49A3-9A3B-EC534D3A6EDC}"/>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9D0A4C-B0C4-4174-91D3-4A87F1F5EE26}"/>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E59C77-DA0A-42F4-A8BA-37DDE0A64308}"/>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Problem and motivation</a:t>
            </a:r>
          </a:p>
        </p:txBody>
      </p:sp>
      <p:sp>
        <p:nvSpPr>
          <p:cNvPr id="6" name="">
            <a:extLst xmlns:a="http://schemas.openxmlformats.org/drawingml/2006/main">
              <a:ext uri="{FF2B5EF4-FFF2-40B4-BE49-F238E27FC236}">
                <a16:creationId xmlns:a16="http://schemas.microsoft.com/office/drawing/2014/main" id="{34C9D876-8CEB-4025-82E1-9FE9DE35ABFB}"/>
              </a:ext>
            </a:extLst>
          </p:cNvPr>
          <p:cNvSpPr>
            <a:spLocks xmlns:a="http://schemas.openxmlformats.org/drawingml/2006/main" noGrp="1"/>
          </p:cNvSpPr>
          <p:nvPr/>
        </p:nvSpPr>
        <p:spPr>
          <a:xfrm xmlns:a="http://schemas.openxmlformats.org/drawingml/2006/main">
            <a:off x="1543050" y="1504950"/>
            <a:ext cx="590550" cy="59055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7" name="">
            <a:extLst xmlns:a="http://schemas.openxmlformats.org/drawingml/2006/main">
              <a:ext uri="{FF2B5EF4-FFF2-40B4-BE49-F238E27FC236}">
                <a16:creationId xmlns:a16="http://schemas.microsoft.com/office/drawing/2014/main" id="{C9325687-FAF6-4CCB-AB85-0E052626E2BD}"/>
              </a:ext>
            </a:extLst>
          </p:cNvPr>
          <p:cNvSpPr>
            <a:spLocks xmlns:a="http://schemas.openxmlformats.org/drawingml/2006/main" noGrp="1"/>
          </p:cNvSpPr>
          <p:nvPr/>
        </p:nvSpPr>
        <p:spPr>
          <a:xfrm xmlns:a="http://schemas.openxmlformats.org/drawingml/2006/main">
            <a:off x="1543050" y="15049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A78BFA"/>
                </a:solidFill>
              </a:defRPr>
            </a:pPr>
            <a:r>
              <a:rPr sz="1875" b="1">
                <a:solidFill>
                  <a:srgbClr val="A78BFA"/>
                </a:solidFill>
              </a:rPr>
              <a:t>1</a:t>
            </a:r>
          </a:p>
        </p:txBody>
      </p:sp>
      <p:sp>
        <p:nvSpPr>
          <p:cNvPr id="8" name="">
            <a:extLst xmlns:a="http://schemas.openxmlformats.org/drawingml/2006/main">
              <a:ext uri="{FF2B5EF4-FFF2-40B4-BE49-F238E27FC236}">
                <a16:creationId xmlns:a16="http://schemas.microsoft.com/office/drawing/2014/main" id="{0CABBCE8-9DF2-46CB-90E5-CB1124EBFE12}"/>
              </a:ext>
            </a:extLst>
          </p:cNvPr>
          <p:cNvSpPr>
            <a:spLocks xmlns:a="http://schemas.openxmlformats.org/drawingml/2006/main" noGrp="1"/>
          </p:cNvSpPr>
          <p:nvPr/>
        </p:nvSpPr>
        <p:spPr>
          <a:xfrm xmlns:a="http://schemas.openxmlformats.org/drawingml/2006/main">
            <a:off x="857250" y="23050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Original aim</a:t>
            </a:r>
          </a:p>
        </p:txBody>
      </p:sp>
      <p:sp>
        <p:nvSpPr>
          <p:cNvPr id="9" name="">
            <a:extLst xmlns:a="http://schemas.openxmlformats.org/drawingml/2006/main">
              <a:ext uri="{FF2B5EF4-FFF2-40B4-BE49-F238E27FC236}">
                <a16:creationId xmlns:a16="http://schemas.microsoft.com/office/drawing/2014/main" id="{F0702B62-9457-4C8D-A7A1-607496A6726C}"/>
              </a:ext>
            </a:extLst>
          </p:cNvPr>
          <p:cNvSpPr>
            <a:spLocks xmlns:a="http://schemas.openxmlformats.org/drawingml/2006/main" noGrp="1"/>
          </p:cNvSpPr>
          <p:nvPr/>
        </p:nvSpPr>
        <p:spPr>
          <a:xfrm xmlns:a="http://schemas.openxmlformats.org/drawingml/2006/main">
            <a:off x="857250" y="2724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7A3B2"/>
                </a:solidFill>
              </a:defRPr>
            </a:pPr>
            <a:r>
              <a:rPr sz="1125" b="0">
                <a:solidFill>
                  <a:srgbClr val="97A3B2"/>
                </a:solidFill>
              </a:rPr>
              <a:t>Explain anomaly alerts under drift</a:t>
            </a:r>
          </a:p>
        </p:txBody>
      </p:sp>
      <p:sp>
        <p:nvSpPr>
          <p:cNvPr id="10" name="">
            <a:extLst xmlns:a="http://schemas.openxmlformats.org/drawingml/2006/main">
              <a:ext uri="{FF2B5EF4-FFF2-40B4-BE49-F238E27FC236}">
                <a16:creationId xmlns:a16="http://schemas.microsoft.com/office/drawing/2014/main" id="{1D6971EE-CD73-411B-BC81-A6B027BA9609}"/>
              </a:ext>
            </a:extLst>
          </p:cNvPr>
          <p:cNvSpPr>
            <a:spLocks xmlns:a="http://schemas.openxmlformats.org/drawingml/2006/main" noGrp="1"/>
          </p:cNvSpPr>
          <p:nvPr/>
        </p:nvSpPr>
        <p:spPr>
          <a:xfrm xmlns:a="http://schemas.openxmlformats.org/drawingml/2006/main">
            <a:off x="4162425" y="1504950"/>
            <a:ext cx="590550" cy="590550"/>
          </a:xfrm>
          <a:prstGeom xmlns:a="http://schemas.openxmlformats.org/drawingml/2006/main" prst="ellipse">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11" name="">
            <a:extLst xmlns:a="http://schemas.openxmlformats.org/drawingml/2006/main">
              <a:ext uri="{FF2B5EF4-FFF2-40B4-BE49-F238E27FC236}">
                <a16:creationId xmlns:a16="http://schemas.microsoft.com/office/drawing/2014/main" id="{CAAB7FDE-CB37-4B79-A926-85333B932E4E}"/>
              </a:ext>
            </a:extLst>
          </p:cNvPr>
          <p:cNvSpPr>
            <a:spLocks xmlns:a="http://schemas.openxmlformats.org/drawingml/2006/main" noGrp="1"/>
          </p:cNvSpPr>
          <p:nvPr/>
        </p:nvSpPr>
        <p:spPr>
          <a:xfrm xmlns:a="http://schemas.openxmlformats.org/drawingml/2006/main">
            <a:off x="4162425" y="15049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60A5FA"/>
                </a:solidFill>
              </a:defRPr>
            </a:pPr>
            <a:r>
              <a:rPr sz="1875" b="1">
                <a:solidFill>
                  <a:srgbClr val="60A5FA"/>
                </a:solidFill>
              </a:rPr>
              <a:t>2</a:t>
            </a:r>
          </a:p>
        </p:txBody>
      </p:sp>
      <p:sp>
        <p:nvSpPr>
          <p:cNvPr id="12" name="">
            <a:extLst xmlns:a="http://schemas.openxmlformats.org/drawingml/2006/main">
              <a:ext uri="{FF2B5EF4-FFF2-40B4-BE49-F238E27FC236}">
                <a16:creationId xmlns:a16="http://schemas.microsoft.com/office/drawing/2014/main" id="{DC318551-B5FA-43B6-AED9-376F0D3E5535}"/>
              </a:ext>
            </a:extLst>
          </p:cNvPr>
          <p:cNvSpPr>
            <a:spLocks xmlns:a="http://schemas.openxmlformats.org/drawingml/2006/main" noGrp="1"/>
          </p:cNvSpPr>
          <p:nvPr/>
        </p:nvSpPr>
        <p:spPr>
          <a:xfrm xmlns:a="http://schemas.openxmlformats.org/drawingml/2006/main">
            <a:off x="3476625" y="23050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Experimental need</a:t>
            </a:r>
          </a:p>
        </p:txBody>
      </p:sp>
      <p:sp>
        <p:nvSpPr>
          <p:cNvPr id="13" name="">
            <a:extLst xmlns:a="http://schemas.openxmlformats.org/drawingml/2006/main">
              <a:ext uri="{FF2B5EF4-FFF2-40B4-BE49-F238E27FC236}">
                <a16:creationId xmlns:a16="http://schemas.microsoft.com/office/drawing/2014/main" id="{2E1EDA75-B241-4DE6-8FBA-E03B5BA831C1}"/>
              </a:ext>
            </a:extLst>
          </p:cNvPr>
          <p:cNvSpPr>
            <a:spLocks xmlns:a="http://schemas.openxmlformats.org/drawingml/2006/main" noGrp="1"/>
          </p:cNvSpPr>
          <p:nvPr/>
        </p:nvSpPr>
        <p:spPr>
          <a:xfrm xmlns:a="http://schemas.openxmlformats.org/drawingml/2006/main">
            <a:off x="3476625" y="2724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7A3B2"/>
                </a:solidFill>
              </a:defRPr>
            </a:pPr>
            <a:r>
              <a:rPr sz="1125" b="0">
                <a:solidFill>
                  <a:srgbClr val="97A3B2"/>
                </a:solidFill>
              </a:rPr>
              <a:t>Create controlled changing cyber behaviour</a:t>
            </a:r>
          </a:p>
        </p:txBody>
      </p:sp>
      <p:sp>
        <p:nvSpPr>
          <p:cNvPr id="14" name="">
            <a:extLst xmlns:a="http://schemas.openxmlformats.org/drawingml/2006/main">
              <a:ext uri="{FF2B5EF4-FFF2-40B4-BE49-F238E27FC236}">
                <a16:creationId xmlns:a16="http://schemas.microsoft.com/office/drawing/2014/main" id="{DAC4720B-F0AA-44B3-9A18-4F465372303A}"/>
              </a:ext>
            </a:extLst>
          </p:cNvPr>
          <p:cNvSpPr>
            <a:spLocks xmlns:a="http://schemas.openxmlformats.org/drawingml/2006/main" noGrp="1"/>
          </p:cNvSpPr>
          <p:nvPr/>
        </p:nvSpPr>
        <p:spPr>
          <a:xfrm xmlns:a="http://schemas.openxmlformats.org/drawingml/2006/main">
            <a:off x="6781800" y="1504950"/>
            <a:ext cx="590550" cy="59055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15" name="">
            <a:extLst xmlns:a="http://schemas.openxmlformats.org/drawingml/2006/main">
              <a:ext uri="{FF2B5EF4-FFF2-40B4-BE49-F238E27FC236}">
                <a16:creationId xmlns:a16="http://schemas.microsoft.com/office/drawing/2014/main" id="{26230573-240E-48A6-B174-1A827756369B}"/>
              </a:ext>
            </a:extLst>
          </p:cNvPr>
          <p:cNvSpPr>
            <a:spLocks xmlns:a="http://schemas.openxmlformats.org/drawingml/2006/main" noGrp="1"/>
          </p:cNvSpPr>
          <p:nvPr/>
        </p:nvSpPr>
        <p:spPr>
          <a:xfrm xmlns:a="http://schemas.openxmlformats.org/drawingml/2006/main">
            <a:off x="6781800" y="15049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2D3EE"/>
                </a:solidFill>
              </a:defRPr>
            </a:pPr>
            <a:r>
              <a:rPr sz="1875" b="1">
                <a:solidFill>
                  <a:srgbClr val="22D3EE"/>
                </a:solidFill>
              </a:rPr>
              <a:t>3</a:t>
            </a:r>
          </a:p>
        </p:txBody>
      </p:sp>
      <p:sp>
        <p:nvSpPr>
          <p:cNvPr id="16" name="">
            <a:extLst xmlns:a="http://schemas.openxmlformats.org/drawingml/2006/main">
              <a:ext uri="{FF2B5EF4-FFF2-40B4-BE49-F238E27FC236}">
                <a16:creationId xmlns:a16="http://schemas.microsoft.com/office/drawing/2014/main" id="{9D29A15E-2A52-4C9B-B7A0-FC1BA562BA18}"/>
              </a:ext>
            </a:extLst>
          </p:cNvPr>
          <p:cNvSpPr>
            <a:spLocks xmlns:a="http://schemas.openxmlformats.org/drawingml/2006/main" noGrp="1"/>
          </p:cNvSpPr>
          <p:nvPr/>
        </p:nvSpPr>
        <p:spPr>
          <a:xfrm xmlns:a="http://schemas.openxmlformats.org/drawingml/2006/main">
            <a:off x="6096000" y="23050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Cooja contribution</a:t>
            </a:r>
          </a:p>
        </p:txBody>
      </p:sp>
      <p:sp>
        <p:nvSpPr>
          <p:cNvPr id="17" name="">
            <a:extLst xmlns:a="http://schemas.openxmlformats.org/drawingml/2006/main">
              <a:ext uri="{FF2B5EF4-FFF2-40B4-BE49-F238E27FC236}">
                <a16:creationId xmlns:a16="http://schemas.microsoft.com/office/drawing/2014/main" id="{BE297DCB-7DCE-468E-A82C-3D7D2BABC723}"/>
              </a:ext>
            </a:extLst>
          </p:cNvPr>
          <p:cNvSpPr>
            <a:spLocks xmlns:a="http://schemas.openxmlformats.org/drawingml/2006/main" noGrp="1"/>
          </p:cNvSpPr>
          <p:nvPr/>
        </p:nvSpPr>
        <p:spPr>
          <a:xfrm xmlns:a="http://schemas.openxmlformats.org/drawingml/2006/main">
            <a:off x="6096000" y="2724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7A3B2"/>
                </a:solidFill>
              </a:defRPr>
            </a:pPr>
            <a:r>
              <a:rPr sz="1125" b="0">
                <a:solidFill>
                  <a:srgbClr val="97A3B2"/>
                </a:solidFill>
              </a:rPr>
              <a:t>Generate protocol-level RPL evidence</a:t>
            </a:r>
          </a:p>
        </p:txBody>
      </p:sp>
      <p:sp>
        <p:nvSpPr>
          <p:cNvPr id="18" name="">
            <a:extLst xmlns:a="http://schemas.openxmlformats.org/drawingml/2006/main">
              <a:ext uri="{FF2B5EF4-FFF2-40B4-BE49-F238E27FC236}">
                <a16:creationId xmlns:a16="http://schemas.microsoft.com/office/drawing/2014/main" id="{56B9FB53-1CEE-4CF6-9883-60AA0ACBB77B}"/>
              </a:ext>
            </a:extLst>
          </p:cNvPr>
          <p:cNvSpPr>
            <a:spLocks xmlns:a="http://schemas.openxmlformats.org/drawingml/2006/main" noGrp="1"/>
          </p:cNvSpPr>
          <p:nvPr/>
        </p:nvSpPr>
        <p:spPr>
          <a:xfrm xmlns:a="http://schemas.openxmlformats.org/drawingml/2006/main">
            <a:off x="9401175" y="1504950"/>
            <a:ext cx="590550" cy="590550"/>
          </a:xfrm>
          <a:prstGeom xmlns:a="http://schemas.openxmlformats.org/drawingml/2006/main" prst="ellipse">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19" name="">
            <a:extLst xmlns:a="http://schemas.openxmlformats.org/drawingml/2006/main">
              <a:ext uri="{FF2B5EF4-FFF2-40B4-BE49-F238E27FC236}">
                <a16:creationId xmlns:a16="http://schemas.microsoft.com/office/drawing/2014/main" id="{7A56C122-F38C-4284-84DF-05C3CCE7538D}"/>
              </a:ext>
            </a:extLst>
          </p:cNvPr>
          <p:cNvSpPr>
            <a:spLocks xmlns:a="http://schemas.openxmlformats.org/drawingml/2006/main" noGrp="1"/>
          </p:cNvSpPr>
          <p:nvPr/>
        </p:nvSpPr>
        <p:spPr>
          <a:xfrm xmlns:a="http://schemas.openxmlformats.org/drawingml/2006/main">
            <a:off x="9401175" y="15049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59E0B"/>
                </a:solidFill>
              </a:defRPr>
            </a:pPr>
            <a:r>
              <a:rPr sz="1875" b="1">
                <a:solidFill>
                  <a:srgbClr val="F59E0B"/>
                </a:solidFill>
              </a:rPr>
              <a:t>4</a:t>
            </a:r>
          </a:p>
        </p:txBody>
      </p:sp>
      <p:sp>
        <p:nvSpPr>
          <p:cNvPr id="20" name="">
            <a:extLst xmlns:a="http://schemas.openxmlformats.org/drawingml/2006/main">
              <a:ext uri="{FF2B5EF4-FFF2-40B4-BE49-F238E27FC236}">
                <a16:creationId xmlns:a16="http://schemas.microsoft.com/office/drawing/2014/main" id="{B77513E9-AEB9-4C16-98CC-DD49244C4051}"/>
              </a:ext>
            </a:extLst>
          </p:cNvPr>
          <p:cNvSpPr>
            <a:spLocks xmlns:a="http://schemas.openxmlformats.org/drawingml/2006/main" noGrp="1"/>
          </p:cNvSpPr>
          <p:nvPr/>
        </p:nvSpPr>
        <p:spPr>
          <a:xfrm xmlns:a="http://schemas.openxmlformats.org/drawingml/2006/main">
            <a:off x="8715375" y="23050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Explanation layer</a:t>
            </a:r>
          </a:p>
        </p:txBody>
      </p:sp>
      <p:sp>
        <p:nvSpPr>
          <p:cNvPr id="21" name="">
            <a:extLst xmlns:a="http://schemas.openxmlformats.org/drawingml/2006/main">
              <a:ext uri="{FF2B5EF4-FFF2-40B4-BE49-F238E27FC236}">
                <a16:creationId xmlns:a16="http://schemas.microsoft.com/office/drawing/2014/main" id="{EF577E93-55EE-4459-9E05-D5EC77A025F2}"/>
              </a:ext>
            </a:extLst>
          </p:cNvPr>
          <p:cNvSpPr>
            <a:spLocks xmlns:a="http://schemas.openxmlformats.org/drawingml/2006/main" noGrp="1"/>
          </p:cNvSpPr>
          <p:nvPr/>
        </p:nvSpPr>
        <p:spPr>
          <a:xfrm xmlns:a="http://schemas.openxmlformats.org/drawingml/2006/main">
            <a:off x="8715375" y="2724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7A3B2"/>
                </a:solidFill>
              </a:defRPr>
            </a:pPr>
            <a:r>
              <a:rPr sz="1125" b="0">
                <a:solidFill>
                  <a:srgbClr val="97A3B2"/>
                </a:solidFill>
              </a:rPr>
              <a:t>Turn structured results into readable analysis</a:t>
            </a:r>
          </a:p>
        </p:txBody>
      </p:sp>
      <p:sp>
        <p:nvSpPr>
          <p:cNvPr id="22" name="">
            <a:extLst xmlns:a="http://schemas.openxmlformats.org/drawingml/2006/main">
              <a:ext uri="{FF2B5EF4-FFF2-40B4-BE49-F238E27FC236}">
                <a16:creationId xmlns:a16="http://schemas.microsoft.com/office/drawing/2014/main" id="{F7958CAF-51E5-493F-9FD0-B179EF1D8DF5}"/>
              </a:ext>
            </a:extLst>
          </p:cNvPr>
          <p:cNvSpPr>
            <a:spLocks xmlns:a="http://schemas.openxmlformats.org/drawingml/2006/main" noGrp="1"/>
          </p:cNvSpPr>
          <p:nvPr/>
        </p:nvSpPr>
        <p:spPr>
          <a:xfrm xmlns:a="http://schemas.openxmlformats.org/drawingml/2006/main">
            <a:off x="2981325" y="1657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4AB3E0-E9C3-41AE-B0B0-E07074F260A1}"/>
              </a:ext>
            </a:extLst>
          </p:cNvPr>
          <p:cNvSpPr>
            <a:spLocks xmlns:a="http://schemas.openxmlformats.org/drawingml/2006/main" noGrp="1"/>
          </p:cNvSpPr>
          <p:nvPr/>
        </p:nvSpPr>
        <p:spPr>
          <a:xfrm xmlns:a="http://schemas.openxmlformats.org/drawingml/2006/main">
            <a:off x="5600700" y="1657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582E9C6-D4CE-4846-A5E6-ADF299B226E1}"/>
              </a:ext>
            </a:extLst>
          </p:cNvPr>
          <p:cNvSpPr>
            <a:spLocks xmlns:a="http://schemas.openxmlformats.org/drawingml/2006/main" noGrp="1"/>
          </p:cNvSpPr>
          <p:nvPr/>
        </p:nvSpPr>
        <p:spPr>
          <a:xfrm xmlns:a="http://schemas.openxmlformats.org/drawingml/2006/main">
            <a:off x="8220075" y="1657350"/>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3FC77A2-3EFD-4E38-9431-9477538452E0}"/>
              </a:ext>
            </a:extLst>
          </p:cNvPr>
          <p:cNvSpPr>
            <a:spLocks xmlns:a="http://schemas.openxmlformats.org/drawingml/2006/main" noGrp="1"/>
          </p:cNvSpPr>
          <p:nvPr/>
        </p:nvSpPr>
        <p:spPr>
          <a:xfrm xmlns:a="http://schemas.openxmlformats.org/drawingml/2006/main">
            <a:off x="1809750" y="4000500"/>
            <a:ext cx="8572500" cy="19050"/>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0990ED-381E-415B-9ADB-86A629372BAA}"/>
              </a:ext>
            </a:extLst>
          </p:cNvPr>
          <p:cNvSpPr>
            <a:spLocks xmlns:a="http://schemas.openxmlformats.org/drawingml/2006/main" noGrp="1"/>
          </p:cNvSpPr>
          <p:nvPr/>
        </p:nvSpPr>
        <p:spPr>
          <a:xfrm xmlns:a="http://schemas.openxmlformats.org/drawingml/2006/main">
            <a:off x="1762125" y="42862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2D3EE"/>
                </a:solidFill>
              </a:defRPr>
            </a:pPr>
            <a:r>
              <a:rPr sz="1875" b="1">
                <a:solidFill>
                  <a:srgbClr val="22D3EE"/>
                </a:solidFill>
              </a:rPr>
              <a:t>The IDS detects</a:t>
            </a:r>
          </a:p>
        </p:txBody>
      </p:sp>
      <p:sp>
        <p:nvSpPr>
          <p:cNvPr id="27" name="">
            <a:extLst xmlns:a="http://schemas.openxmlformats.org/drawingml/2006/main">
              <a:ext uri="{FF2B5EF4-FFF2-40B4-BE49-F238E27FC236}">
                <a16:creationId xmlns:a16="http://schemas.microsoft.com/office/drawing/2014/main" id="{93F8572D-6220-46B6-9679-D1E2F68B433C}"/>
              </a:ext>
            </a:extLst>
          </p:cNvPr>
          <p:cNvSpPr>
            <a:spLocks xmlns:a="http://schemas.openxmlformats.org/drawingml/2006/main" noGrp="1"/>
          </p:cNvSpPr>
          <p:nvPr/>
        </p:nvSpPr>
        <p:spPr>
          <a:xfrm xmlns:a="http://schemas.openxmlformats.org/drawingml/2006/main">
            <a:off x="4572000" y="4362450"/>
            <a:ext cx="342900" cy="3429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564D03E-CF40-47C1-A6B7-901601A0090A}"/>
              </a:ext>
            </a:extLst>
          </p:cNvPr>
          <p:cNvSpPr>
            <a:spLocks xmlns:a="http://schemas.openxmlformats.org/drawingml/2006/main" noGrp="1"/>
          </p:cNvSpPr>
          <p:nvPr/>
        </p:nvSpPr>
        <p:spPr>
          <a:xfrm xmlns:a="http://schemas.openxmlformats.org/drawingml/2006/main">
            <a:off x="4905375" y="4286250"/>
            <a:ext cx="328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59E0B"/>
                </a:solidFill>
              </a:defRPr>
            </a:pPr>
            <a:r>
              <a:rPr sz="1875" b="1">
                <a:solidFill>
                  <a:srgbClr val="F59E0B"/>
                </a:solidFill>
              </a:rPr>
              <a:t>The pipeline produces evidence</a:t>
            </a:r>
          </a:p>
        </p:txBody>
      </p:sp>
      <p:sp>
        <p:nvSpPr>
          <p:cNvPr id="29" name="">
            <a:extLst xmlns:a="http://schemas.openxmlformats.org/drawingml/2006/main">
              <a:ext uri="{FF2B5EF4-FFF2-40B4-BE49-F238E27FC236}">
                <a16:creationId xmlns:a16="http://schemas.microsoft.com/office/drawing/2014/main" id="{42BFCD08-CC9A-4272-87D5-AB7677098FF7}"/>
              </a:ext>
            </a:extLst>
          </p:cNvPr>
          <p:cNvSpPr>
            <a:spLocks xmlns:a="http://schemas.openxmlformats.org/drawingml/2006/main" noGrp="1"/>
          </p:cNvSpPr>
          <p:nvPr/>
        </p:nvSpPr>
        <p:spPr>
          <a:xfrm xmlns:a="http://schemas.openxmlformats.org/drawingml/2006/main">
            <a:off x="8334375" y="4362450"/>
            <a:ext cx="342900" cy="3429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95CE58C-F58F-444B-8ADB-AD6B852CEDFA}"/>
              </a:ext>
            </a:extLst>
          </p:cNvPr>
          <p:cNvSpPr>
            <a:spLocks xmlns:a="http://schemas.openxmlformats.org/drawingml/2006/main" noGrp="1"/>
          </p:cNvSpPr>
          <p:nvPr/>
        </p:nvSpPr>
        <p:spPr>
          <a:xfrm xmlns:a="http://schemas.openxmlformats.org/drawingml/2006/main">
            <a:off x="8667750" y="42862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A78BFA"/>
                </a:solidFill>
              </a:defRPr>
            </a:pPr>
            <a:r>
              <a:rPr sz="1875" b="1">
                <a:solidFill>
                  <a:srgbClr val="A78BFA"/>
                </a:solidFill>
              </a:rPr>
              <a:t>The LLM explains</a:t>
            </a:r>
          </a:p>
        </p:txBody>
      </p:sp>
      <p:sp>
        <p:nvSpPr>
          <p:cNvPr id="31" name="">
            <a:extLst xmlns:a="http://schemas.openxmlformats.org/drawingml/2006/main">
              <a:ext uri="{FF2B5EF4-FFF2-40B4-BE49-F238E27FC236}">
                <a16:creationId xmlns:a16="http://schemas.microsoft.com/office/drawing/2014/main" id="{6BFDDA61-E41E-40BA-AAE4-7A0605E11001}"/>
              </a:ext>
            </a:extLst>
          </p:cNvPr>
          <p:cNvSpPr>
            <a:spLocks xmlns:a="http://schemas.openxmlformats.org/drawingml/2006/main" noGrp="1"/>
          </p:cNvSpPr>
          <p:nvPr/>
        </p:nvSpPr>
        <p:spPr>
          <a:xfrm xmlns:a="http://schemas.openxmlformats.org/drawingml/2006/main">
            <a:off x="1952625" y="5219700"/>
            <a:ext cx="8286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32" name="">
            <a:extLst xmlns:a="http://schemas.openxmlformats.org/drawingml/2006/main">
              <a:ext uri="{FF2B5EF4-FFF2-40B4-BE49-F238E27FC236}">
                <a16:creationId xmlns:a16="http://schemas.microsoft.com/office/drawing/2014/main" id="{0B64B330-7F0C-4478-A5AF-2620EAECA262}"/>
              </a:ext>
            </a:extLst>
          </p:cNvPr>
          <p:cNvSpPr>
            <a:spLocks xmlns:a="http://schemas.openxmlformats.org/drawingml/2006/main" noGrp="1"/>
          </p:cNvSpPr>
          <p:nvPr/>
        </p:nvSpPr>
        <p:spPr>
          <a:xfrm xmlns:a="http://schemas.openxmlformats.org/drawingml/2006/main">
            <a:off x="2190750" y="532447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5EAF0"/>
                </a:solidFill>
              </a:defRPr>
            </a:pPr>
            <a:r>
              <a:rPr sz="1350" b="1">
                <a:solidFill>
                  <a:srgbClr val="E5EAF0"/>
                </a:solidFill>
              </a:rPr>
              <a:t>Cooja is not a side project. It is the controlled testbed for the dissertation's original explanation problem.</a:t>
            </a:r>
          </a:p>
        </p:txBody>
      </p:sp>
    </p:spTree>
    <p:extLst>
      <p:ext uri="{BB962C8B-B14F-4D97-AF65-F5344CB8AC3E}">
        <p14:creationId xmlns:p14="http://schemas.microsoft.com/office/powerpoint/2010/main" val="1990559684"/>
      </p:ext>
    </p:extLst>
  </p:cSld>
</p:sld>
</file>

<file path=ppt/slides/slide4.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2466D22-A342-4C66-B506-F56D74F5DD5E}"/>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RESEARCH FOUNDATION</a:t>
            </a:r>
          </a:p>
        </p:txBody>
      </p:sp>
      <p:sp>
        <p:nvSpPr>
          <p:cNvPr id="2" name="">
            <a:extLst xmlns:a="http://schemas.openxmlformats.org/drawingml/2006/main">
              <a:ext uri="{FF2B5EF4-FFF2-40B4-BE49-F238E27FC236}">
                <a16:creationId xmlns:a16="http://schemas.microsoft.com/office/drawing/2014/main" id="{2C3C5177-59C7-44D4-98B9-9C6430558E1E}"/>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Gope et al. supplied the adaptive idea, not a template to copy</a:t>
            </a:r>
          </a:p>
        </p:txBody>
      </p:sp>
      <p:sp>
        <p:nvSpPr>
          <p:cNvPr id="3" name="">
            <a:extLst xmlns:a="http://schemas.openxmlformats.org/drawingml/2006/main">
              <a:ext uri="{FF2B5EF4-FFF2-40B4-BE49-F238E27FC236}">
                <a16:creationId xmlns:a16="http://schemas.microsoft.com/office/drawing/2014/main" id="{0C197A26-7BF0-4900-9C1A-3AAF372F745B}"/>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F51AE6-E05D-4639-B7C4-58A46782CFE2}"/>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D50CC3-8109-4D5C-A1D8-3EF6611B654C}"/>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Literature and positioning</a:t>
            </a:r>
          </a:p>
        </p:txBody>
      </p:sp>
      <p:sp>
        <p:nvSpPr>
          <p:cNvPr id="6" name="">
            <a:extLst xmlns:a="http://schemas.openxmlformats.org/drawingml/2006/main">
              <a:ext uri="{FF2B5EF4-FFF2-40B4-BE49-F238E27FC236}">
                <a16:creationId xmlns:a16="http://schemas.microsoft.com/office/drawing/2014/main" id="{8EF93113-0909-477F-8A60-DDED54F7DC1D}"/>
              </a:ext>
            </a:extLst>
          </p:cNvPr>
          <p:cNvSpPr>
            <a:spLocks xmlns:a="http://schemas.openxmlformats.org/drawingml/2006/main" noGrp="1"/>
          </p:cNvSpPr>
          <p:nvPr/>
        </p:nvSpPr>
        <p:spPr>
          <a:xfrm xmlns:a="http://schemas.openxmlformats.org/drawingml/2006/main">
            <a:off x="523875" y="1381125"/>
            <a:ext cx="5162550" cy="3886200"/>
          </a:xfrm>
          <a:prstGeom xmlns:a="http://schemas.openxmlformats.org/drawingml/2006/main" prst="roundRect">
            <a:avLst>
              <a:gd name="adj" fmla="val 1961"/>
            </a:avLst>
          </a:prstGeom>
          <a:solidFill xmlns:a="http://schemas.openxmlformats.org/drawingml/2006/main">
            <a:srgbClr val="FFFFFF"/>
          </a:solidFill>
          <a:ln xmlns:a="http://schemas.openxmlformats.org/drawingml/2006/main" w="9525">
            <a:solidFill>
              <a:srgbClr val="D9DEE5"/>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31b2f3f5f714191"/>
          <a:stretch xmlns:a="http://schemas.openxmlformats.org/drawingml/2006/main"/>
        </p:blipFill>
        <p:spPr>
          <a:xfrm xmlns:a="http://schemas.openxmlformats.org/drawingml/2006/main">
            <a:off x="647700" y="1541196"/>
            <a:ext cx="4914900" cy="340413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E090F8-6ED6-457B-A8EB-AF552A4385F1}"/>
              </a:ext>
            </a:extLst>
          </p:cNvPr>
          <p:cNvSpPr>
            <a:spLocks xmlns:a="http://schemas.openxmlformats.org/drawingml/2006/main" noGrp="1"/>
          </p:cNvSpPr>
          <p:nvPr/>
        </p:nvSpPr>
        <p:spPr>
          <a:xfrm xmlns:a="http://schemas.openxmlformats.org/drawingml/2006/main">
            <a:off x="762000" y="5048250"/>
            <a:ext cx="471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97A3B2"/>
                </a:solidFill>
              </a:defRPr>
            </a:pPr>
            <a:r>
              <a:rPr sz="900" b="0">
                <a:solidFill>
                  <a:srgbClr val="97A3B2"/>
                </a:solidFill>
              </a:rPr>
              <a:t>Pasikhani, Clark and Gope (2022), Figure 4</a:t>
            </a:r>
          </a:p>
        </p:txBody>
      </p:sp>
      <p:sp>
        <p:nvSpPr>
          <p:cNvPr id="9" name="">
            <a:extLst xmlns:a="http://schemas.openxmlformats.org/drawingml/2006/main">
              <a:ext uri="{FF2B5EF4-FFF2-40B4-BE49-F238E27FC236}">
                <a16:creationId xmlns:a16="http://schemas.microsoft.com/office/drawing/2014/main" id="{7098E3FB-1AB8-430A-A70C-E3608729B4BE}"/>
              </a:ext>
            </a:extLst>
          </p:cNvPr>
          <p:cNvSpPr>
            <a:spLocks xmlns:a="http://schemas.openxmlformats.org/drawingml/2006/main" noGrp="1"/>
          </p:cNvSpPr>
          <p:nvPr/>
        </p:nvSpPr>
        <p:spPr>
          <a:xfrm xmlns:a="http://schemas.openxmlformats.org/drawingml/2006/main">
            <a:off x="6191250" y="1409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0A5FA"/>
                </a:solidFill>
              </a:defRPr>
            </a:pPr>
            <a:r>
              <a:rPr sz="825" b="1">
                <a:solidFill>
                  <a:srgbClr val="60A5FA"/>
                </a:solidFill>
              </a:rPr>
              <a:t>PAPER IDEA</a:t>
            </a:r>
          </a:p>
        </p:txBody>
      </p:sp>
      <p:sp>
        <p:nvSpPr>
          <p:cNvPr id="10" name="">
            <a:extLst xmlns:a="http://schemas.openxmlformats.org/drawingml/2006/main">
              <a:ext uri="{FF2B5EF4-FFF2-40B4-BE49-F238E27FC236}">
                <a16:creationId xmlns:a16="http://schemas.microsoft.com/office/drawing/2014/main" id="{0A964F7D-85BC-4110-B012-166499ADE2CF}"/>
              </a:ext>
            </a:extLst>
          </p:cNvPr>
          <p:cNvSpPr>
            <a:spLocks xmlns:a="http://schemas.openxmlformats.org/drawingml/2006/main" noGrp="1"/>
          </p:cNvSpPr>
          <p:nvPr/>
        </p:nvSpPr>
        <p:spPr>
          <a:xfrm xmlns:a="http://schemas.openxmlformats.org/drawingml/2006/main">
            <a:off x="8763000" y="14097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MY COOJA ADAPTATION</a:t>
            </a:r>
          </a:p>
        </p:txBody>
      </p:sp>
      <p:sp>
        <p:nvSpPr>
          <p:cNvPr id="11" name="">
            <a:extLst xmlns:a="http://schemas.openxmlformats.org/drawingml/2006/main">
              <a:ext uri="{FF2B5EF4-FFF2-40B4-BE49-F238E27FC236}">
                <a16:creationId xmlns:a16="http://schemas.microsoft.com/office/drawing/2014/main" id="{56C3291E-7953-4534-87F4-435260F9D4DF}"/>
              </a:ext>
            </a:extLst>
          </p:cNvPr>
          <p:cNvSpPr>
            <a:spLocks xmlns:a="http://schemas.openxmlformats.org/drawingml/2006/main" noGrp="1"/>
          </p:cNvSpPr>
          <p:nvPr/>
        </p:nvSpPr>
        <p:spPr>
          <a:xfrm xmlns:a="http://schemas.openxmlformats.org/drawingml/2006/main">
            <a:off x="6096000" y="18097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Changing attack profiles</a:t>
            </a:r>
          </a:p>
        </p:txBody>
      </p:sp>
      <p:sp>
        <p:nvSpPr>
          <p:cNvPr id="12" name="">
            <a:extLst xmlns:a="http://schemas.openxmlformats.org/drawingml/2006/main">
              <a:ext uri="{FF2B5EF4-FFF2-40B4-BE49-F238E27FC236}">
                <a16:creationId xmlns:a16="http://schemas.microsoft.com/office/drawing/2014/main" id="{55016586-A7A6-4912-B7AB-2C16A08D02E9}"/>
              </a:ext>
            </a:extLst>
          </p:cNvPr>
          <p:cNvSpPr>
            <a:spLocks xmlns:a="http://schemas.openxmlformats.org/drawingml/2006/main" noGrp="1"/>
          </p:cNvSpPr>
          <p:nvPr/>
        </p:nvSpPr>
        <p:spPr>
          <a:xfrm xmlns:a="http://schemas.openxmlformats.org/drawingml/2006/main">
            <a:off x="8439150" y="1885950"/>
            <a:ext cx="247650" cy="2476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294F0E-7FF0-4741-9D40-6ABDD00684F9}"/>
              </a:ext>
            </a:extLst>
          </p:cNvPr>
          <p:cNvSpPr>
            <a:spLocks xmlns:a="http://schemas.openxmlformats.org/drawingml/2006/main" noGrp="1"/>
          </p:cNvSpPr>
          <p:nvPr/>
        </p:nvSpPr>
        <p:spPr>
          <a:xfrm xmlns:a="http://schemas.openxmlformats.org/drawingml/2006/main">
            <a:off x="8810625" y="18097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Nine validated RPL attack families</a:t>
            </a:r>
          </a:p>
        </p:txBody>
      </p:sp>
      <p:sp>
        <p:nvSpPr>
          <p:cNvPr id="14" name="">
            <a:extLst xmlns:a="http://schemas.openxmlformats.org/drawingml/2006/main">
              <a:ext uri="{FF2B5EF4-FFF2-40B4-BE49-F238E27FC236}">
                <a16:creationId xmlns:a16="http://schemas.microsoft.com/office/drawing/2014/main" id="{F2E2149B-6DE5-4FCD-B07F-7B589BA6919C}"/>
              </a:ext>
            </a:extLst>
          </p:cNvPr>
          <p:cNvSpPr>
            <a:spLocks xmlns:a="http://schemas.openxmlformats.org/drawingml/2006/main" noGrp="1"/>
          </p:cNvSpPr>
          <p:nvPr/>
        </p:nvSpPr>
        <p:spPr>
          <a:xfrm xmlns:a="http://schemas.openxmlformats.org/drawingml/2006/main">
            <a:off x="6096000" y="2324100"/>
            <a:ext cx="52863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50E68B6-D506-4E31-B88A-64693C555ECF}"/>
              </a:ext>
            </a:extLst>
          </p:cNvPr>
          <p:cNvSpPr>
            <a:spLocks xmlns:a="http://schemas.openxmlformats.org/drawingml/2006/main" noGrp="1"/>
          </p:cNvSpPr>
          <p:nvPr/>
        </p:nvSpPr>
        <p:spPr>
          <a:xfrm xmlns:a="http://schemas.openxmlformats.org/drawingml/2006/main">
            <a:off x="6096000" y="24765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Adversarial observations</a:t>
            </a:r>
          </a:p>
        </p:txBody>
      </p:sp>
      <p:sp>
        <p:nvSpPr>
          <p:cNvPr id="16" name="">
            <a:extLst xmlns:a="http://schemas.openxmlformats.org/drawingml/2006/main">
              <a:ext uri="{FF2B5EF4-FFF2-40B4-BE49-F238E27FC236}">
                <a16:creationId xmlns:a16="http://schemas.microsoft.com/office/drawing/2014/main" id="{5C24E379-AC18-45DC-B007-B29FAFF54FAC}"/>
              </a:ext>
            </a:extLst>
          </p:cNvPr>
          <p:cNvSpPr>
            <a:spLocks xmlns:a="http://schemas.openxmlformats.org/drawingml/2006/main" noGrp="1"/>
          </p:cNvSpPr>
          <p:nvPr/>
        </p:nvSpPr>
        <p:spPr>
          <a:xfrm xmlns:a="http://schemas.openxmlformats.org/drawingml/2006/main">
            <a:off x="8439150" y="2552700"/>
            <a:ext cx="247650" cy="2476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9379179-9A83-4026-B692-F08002159332}"/>
              </a:ext>
            </a:extLst>
          </p:cNvPr>
          <p:cNvSpPr>
            <a:spLocks xmlns:a="http://schemas.openxmlformats.org/drawingml/2006/main" noGrp="1"/>
          </p:cNvSpPr>
          <p:nvPr/>
        </p:nvSpPr>
        <p:spPr>
          <a:xfrm xmlns:a="http://schemas.openxmlformats.org/drawingml/2006/main">
            <a:off x="8810625" y="2476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Logs, radio traces and routing state</a:t>
            </a:r>
          </a:p>
        </p:txBody>
      </p:sp>
      <p:sp>
        <p:nvSpPr>
          <p:cNvPr id="18" name="">
            <a:extLst xmlns:a="http://schemas.openxmlformats.org/drawingml/2006/main">
              <a:ext uri="{FF2B5EF4-FFF2-40B4-BE49-F238E27FC236}">
                <a16:creationId xmlns:a16="http://schemas.microsoft.com/office/drawing/2014/main" id="{696433C4-AE48-4723-8020-6A280D902327}"/>
              </a:ext>
            </a:extLst>
          </p:cNvPr>
          <p:cNvSpPr>
            <a:spLocks xmlns:a="http://schemas.openxmlformats.org/drawingml/2006/main" noGrp="1"/>
          </p:cNvSpPr>
          <p:nvPr/>
        </p:nvSpPr>
        <p:spPr>
          <a:xfrm xmlns:a="http://schemas.openxmlformats.org/drawingml/2006/main">
            <a:off x="6096000" y="2990850"/>
            <a:ext cx="52863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3ACF6B3-9448-40CE-A629-755F2AE8B735}"/>
              </a:ext>
            </a:extLst>
          </p:cNvPr>
          <p:cNvSpPr>
            <a:spLocks xmlns:a="http://schemas.openxmlformats.org/drawingml/2006/main" noGrp="1"/>
          </p:cNvSpPr>
          <p:nvPr/>
        </p:nvSpPr>
        <p:spPr>
          <a:xfrm xmlns:a="http://schemas.openxmlformats.org/drawingml/2006/main">
            <a:off x="6096000" y="31432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Constructed feature data</a:t>
            </a:r>
          </a:p>
        </p:txBody>
      </p:sp>
      <p:sp>
        <p:nvSpPr>
          <p:cNvPr id="20" name="">
            <a:extLst xmlns:a="http://schemas.openxmlformats.org/drawingml/2006/main">
              <a:ext uri="{FF2B5EF4-FFF2-40B4-BE49-F238E27FC236}">
                <a16:creationId xmlns:a16="http://schemas.microsoft.com/office/drawing/2014/main" id="{7F2F9D1F-3B38-422B-AE51-BC7A9910BD4E}"/>
              </a:ext>
            </a:extLst>
          </p:cNvPr>
          <p:cNvSpPr>
            <a:spLocks xmlns:a="http://schemas.openxmlformats.org/drawingml/2006/main" noGrp="1"/>
          </p:cNvSpPr>
          <p:nvPr/>
        </p:nvSpPr>
        <p:spPr>
          <a:xfrm xmlns:a="http://schemas.openxmlformats.org/drawingml/2006/main">
            <a:off x="8439150" y="3219450"/>
            <a:ext cx="247650" cy="2476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69E382-A45B-41AC-9C47-390E3C9E2B3A}"/>
              </a:ext>
            </a:extLst>
          </p:cNvPr>
          <p:cNvSpPr>
            <a:spLocks xmlns:a="http://schemas.openxmlformats.org/drawingml/2006/main" noGrp="1"/>
          </p:cNvSpPr>
          <p:nvPr/>
        </p:nvSpPr>
        <p:spPr>
          <a:xfrm xmlns:a="http://schemas.openxmlformats.org/drawingml/2006/main">
            <a:off x="8810625" y="3143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810 labelled 60-second windows</a:t>
            </a:r>
          </a:p>
        </p:txBody>
      </p:sp>
      <p:sp>
        <p:nvSpPr>
          <p:cNvPr id="22" name="">
            <a:extLst xmlns:a="http://schemas.openxmlformats.org/drawingml/2006/main">
              <a:ext uri="{FF2B5EF4-FFF2-40B4-BE49-F238E27FC236}">
                <a16:creationId xmlns:a16="http://schemas.microsoft.com/office/drawing/2014/main" id="{071C2AB7-978A-4771-9C03-FE308CA6F336}"/>
              </a:ext>
            </a:extLst>
          </p:cNvPr>
          <p:cNvSpPr>
            <a:spLocks xmlns:a="http://schemas.openxmlformats.org/drawingml/2006/main" noGrp="1"/>
          </p:cNvSpPr>
          <p:nvPr/>
        </p:nvSpPr>
        <p:spPr>
          <a:xfrm xmlns:a="http://schemas.openxmlformats.org/drawingml/2006/main">
            <a:off x="6096000" y="3657600"/>
            <a:ext cx="52863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47AF71-3A31-40D9-A671-3075C0614116}"/>
              </a:ext>
            </a:extLst>
          </p:cNvPr>
          <p:cNvSpPr>
            <a:spLocks xmlns:a="http://schemas.openxmlformats.org/drawingml/2006/main" noGrp="1"/>
          </p:cNvSpPr>
          <p:nvPr/>
        </p:nvSpPr>
        <p:spPr>
          <a:xfrm xmlns:a="http://schemas.openxmlformats.org/drawingml/2006/main">
            <a:off x="6096000" y="38100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Adaptive detection</a:t>
            </a:r>
          </a:p>
        </p:txBody>
      </p:sp>
      <p:sp>
        <p:nvSpPr>
          <p:cNvPr id="24" name="">
            <a:extLst xmlns:a="http://schemas.openxmlformats.org/drawingml/2006/main">
              <a:ext uri="{FF2B5EF4-FFF2-40B4-BE49-F238E27FC236}">
                <a16:creationId xmlns:a16="http://schemas.microsoft.com/office/drawing/2014/main" id="{2AC5AA8E-4507-432A-ABD0-8A719E422935}"/>
              </a:ext>
            </a:extLst>
          </p:cNvPr>
          <p:cNvSpPr>
            <a:spLocks xmlns:a="http://schemas.openxmlformats.org/drawingml/2006/main" noGrp="1"/>
          </p:cNvSpPr>
          <p:nvPr/>
        </p:nvSpPr>
        <p:spPr>
          <a:xfrm xmlns:a="http://schemas.openxmlformats.org/drawingml/2006/main">
            <a:off x="8439150" y="3886200"/>
            <a:ext cx="247650" cy="2476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73B789-EEE8-498B-BBEB-E95B850E664A}"/>
              </a:ext>
            </a:extLst>
          </p:cNvPr>
          <p:cNvSpPr>
            <a:spLocks xmlns:a="http://schemas.openxmlformats.org/drawingml/2006/main" noGrp="1"/>
          </p:cNvSpPr>
          <p:nvPr/>
        </p:nvSpPr>
        <p:spPr>
          <a:xfrm xmlns:a="http://schemas.openxmlformats.org/drawingml/2006/main">
            <a:off x="8810625" y="38100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Static transfer plus whole-seed adaptation</a:t>
            </a:r>
          </a:p>
        </p:txBody>
      </p:sp>
      <p:sp>
        <p:nvSpPr>
          <p:cNvPr id="26" name="">
            <a:extLst xmlns:a="http://schemas.openxmlformats.org/drawingml/2006/main">
              <a:ext uri="{FF2B5EF4-FFF2-40B4-BE49-F238E27FC236}">
                <a16:creationId xmlns:a16="http://schemas.microsoft.com/office/drawing/2014/main" id="{2A5DE032-CDFF-4B23-909B-385E6E2FF156}"/>
              </a:ext>
            </a:extLst>
          </p:cNvPr>
          <p:cNvSpPr>
            <a:spLocks xmlns:a="http://schemas.openxmlformats.org/drawingml/2006/main" noGrp="1"/>
          </p:cNvSpPr>
          <p:nvPr/>
        </p:nvSpPr>
        <p:spPr>
          <a:xfrm xmlns:a="http://schemas.openxmlformats.org/drawingml/2006/main">
            <a:off x="6096000" y="4324350"/>
            <a:ext cx="52863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A242139-C4C0-495E-B4DB-297221352679}"/>
              </a:ext>
            </a:extLst>
          </p:cNvPr>
          <p:cNvSpPr>
            <a:spLocks xmlns:a="http://schemas.openxmlformats.org/drawingml/2006/main" noGrp="1"/>
          </p:cNvSpPr>
          <p:nvPr/>
        </p:nvSpPr>
        <p:spPr>
          <a:xfrm xmlns:a="http://schemas.openxmlformats.org/drawingml/2006/main">
            <a:off x="6096000" y="44767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DDM and RL architecture</a:t>
            </a:r>
          </a:p>
        </p:txBody>
      </p:sp>
      <p:sp>
        <p:nvSpPr>
          <p:cNvPr id="28" name="">
            <a:extLst xmlns:a="http://schemas.openxmlformats.org/drawingml/2006/main">
              <a:ext uri="{FF2B5EF4-FFF2-40B4-BE49-F238E27FC236}">
                <a16:creationId xmlns:a16="http://schemas.microsoft.com/office/drawing/2014/main" id="{D94310AB-D240-4D56-B7C2-04DB31802657}"/>
              </a:ext>
            </a:extLst>
          </p:cNvPr>
          <p:cNvSpPr>
            <a:spLocks xmlns:a="http://schemas.openxmlformats.org/drawingml/2006/main" noGrp="1"/>
          </p:cNvSpPr>
          <p:nvPr/>
        </p:nvSpPr>
        <p:spPr>
          <a:xfrm xmlns:a="http://schemas.openxmlformats.org/drawingml/2006/main">
            <a:off x="8439150" y="4552950"/>
            <a:ext cx="247650" cy="2476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AA212F0-8C9D-494A-B4D7-45D5E64203C8}"/>
              </a:ext>
            </a:extLst>
          </p:cNvPr>
          <p:cNvSpPr>
            <a:spLocks xmlns:a="http://schemas.openxmlformats.org/drawingml/2006/main" noGrp="1"/>
          </p:cNvSpPr>
          <p:nvPr/>
        </p:nvSpPr>
        <p:spPr>
          <a:xfrm xmlns:a="http://schemas.openxmlformats.org/drawingml/2006/main">
            <a:off x="8810625" y="44767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CUSUM/DDM plus a limited offline DQN/DDQN extension</a:t>
            </a:r>
          </a:p>
        </p:txBody>
      </p:sp>
      <p:sp>
        <p:nvSpPr>
          <p:cNvPr id="30" name="">
            <a:extLst xmlns:a="http://schemas.openxmlformats.org/drawingml/2006/main">
              <a:ext uri="{FF2B5EF4-FFF2-40B4-BE49-F238E27FC236}">
                <a16:creationId xmlns:a16="http://schemas.microsoft.com/office/drawing/2014/main" id="{F6970394-18D3-474B-9099-47D8550E16A5}"/>
              </a:ext>
            </a:extLst>
          </p:cNvPr>
          <p:cNvSpPr>
            <a:spLocks xmlns:a="http://schemas.openxmlformats.org/drawingml/2006/main" noGrp="1"/>
          </p:cNvSpPr>
          <p:nvPr/>
        </p:nvSpPr>
        <p:spPr>
          <a:xfrm xmlns:a="http://schemas.openxmlformats.org/drawingml/2006/main">
            <a:off x="6096000" y="4991100"/>
            <a:ext cx="52863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CC5ECD0-30C8-47AC-B2CE-56DBA794FDB2}"/>
              </a:ext>
            </a:extLst>
          </p:cNvPr>
          <p:cNvSpPr>
            <a:spLocks xmlns:a="http://schemas.openxmlformats.org/drawingml/2006/main" noGrp="1"/>
          </p:cNvSpPr>
          <p:nvPr/>
        </p:nvSpPr>
        <p:spPr>
          <a:xfrm xmlns:a="http://schemas.openxmlformats.org/drawingml/2006/main">
            <a:off x="6096000" y="5286375"/>
            <a:ext cx="5286375" cy="590550"/>
          </a:xfrm>
          <a:prstGeom xmlns:a="http://schemas.openxmlformats.org/drawingml/2006/main" prst="roundRect">
            <a:avLst>
              <a:gd name="adj" fmla="val 12903"/>
            </a:avLst>
          </a:prstGeom>
          <a:solidFill xmlns:a="http://schemas.openxmlformats.org/drawingml/2006/main">
            <a:srgbClr val="0E151E"/>
          </a:solidFill>
          <a:ln xmlns:a="http://schemas.openxmlformats.org/drawingml/2006/main" w="9525">
            <a:solidFill>
              <a:srgbClr val="F59E0B"/>
            </a:solidFill>
            <a:prstDash val="solid"/>
          </a:ln>
        </p:spPr>
      </p:sp>
      <p:sp>
        <p:nvSpPr>
          <p:cNvPr id="32" name="">
            <a:extLst xmlns:a="http://schemas.openxmlformats.org/drawingml/2006/main">
              <a:ext uri="{FF2B5EF4-FFF2-40B4-BE49-F238E27FC236}">
                <a16:creationId xmlns:a16="http://schemas.microsoft.com/office/drawing/2014/main" id="{B59E0CB5-376C-485F-9BE8-99F1AEC8D989}"/>
              </a:ext>
            </a:extLst>
          </p:cNvPr>
          <p:cNvSpPr>
            <a:spLocks xmlns:a="http://schemas.openxmlformats.org/drawingml/2006/main" noGrp="1"/>
          </p:cNvSpPr>
          <p:nvPr/>
        </p:nvSpPr>
        <p:spPr>
          <a:xfrm xmlns:a="http://schemas.openxmlformats.org/drawingml/2006/main">
            <a:off x="6286500" y="5391150"/>
            <a:ext cx="490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7FAFC"/>
                </a:solidFill>
              </a:defRPr>
            </a:pPr>
            <a:r>
              <a:rPr sz="1275" b="1">
                <a:solidFill>
                  <a:srgbClr val="F7FAFC"/>
                </a:solidFill>
              </a:rPr>
              <a:t>Inspired by and adapted from the paper. Not an exact NetSim ARL reproduction.</a:t>
            </a:r>
          </a:p>
        </p:txBody>
      </p:sp>
      <p:sp>
        <p:nvSpPr>
          <p:cNvPr id="33" name="">
            <a:extLst xmlns:a="http://schemas.openxmlformats.org/drawingml/2006/main">
              <a:ext uri="{FF2B5EF4-FFF2-40B4-BE49-F238E27FC236}">
                <a16:creationId xmlns:a16="http://schemas.microsoft.com/office/drawing/2014/main" id="{67CC5B1D-8E2D-4FA9-B25A-40BB0790C84A}"/>
              </a:ext>
            </a:extLst>
          </p:cNvPr>
          <p:cNvSpPr>
            <a:spLocks xmlns:a="http://schemas.openxmlformats.org/drawingml/2006/main" noGrp="1"/>
          </p:cNvSpPr>
          <p:nvPr/>
        </p:nvSpPr>
        <p:spPr>
          <a:xfrm xmlns:a="http://schemas.openxmlformats.org/drawingml/2006/main">
            <a:off x="552450" y="6229350"/>
            <a:ext cx="1066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Source: Pasikhani, Clark and Gope, Adversarial RL-Based IDS for Evolving Data Environment in 6LoWPAN, Fig. 4.</a:t>
            </a:r>
          </a:p>
        </p:txBody>
      </p:sp>
    </p:spTree>
    <p:extLst>
      <p:ext uri="{BB962C8B-B14F-4D97-AF65-F5344CB8AC3E}">
        <p14:creationId xmlns:p14="http://schemas.microsoft.com/office/powerpoint/2010/main" val="1264326521"/>
      </p:ext>
    </p:extLst>
  </p:cSld>
</p:sld>
</file>

<file path=ppt/slides/slide5.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662A0F5-D4D8-4F7D-8394-F49CCBEB8283}"/>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RPL IN ONE MINUTE</a:t>
            </a:r>
          </a:p>
        </p:txBody>
      </p:sp>
      <p:sp>
        <p:nvSpPr>
          <p:cNvPr id="2" name="">
            <a:extLst xmlns:a="http://schemas.openxmlformats.org/drawingml/2006/main">
              <a:ext uri="{FF2B5EF4-FFF2-40B4-BE49-F238E27FC236}">
                <a16:creationId xmlns:a16="http://schemas.microsoft.com/office/drawing/2014/main" id="{7F23A4E1-BD89-4855-A0B0-B3EAAC94A82E}"/>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Different RPL attacks manipulate different evidence</a:t>
            </a:r>
          </a:p>
        </p:txBody>
      </p:sp>
      <p:sp>
        <p:nvSpPr>
          <p:cNvPr id="3" name="">
            <a:extLst xmlns:a="http://schemas.openxmlformats.org/drawingml/2006/main">
              <a:ext uri="{FF2B5EF4-FFF2-40B4-BE49-F238E27FC236}">
                <a16:creationId xmlns:a16="http://schemas.microsoft.com/office/drawing/2014/main" id="{EDB84962-D82F-4257-86CE-81FF2E142BB0}"/>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572F1D-D85F-4EF6-9218-77123089EF1A}"/>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B7D5F6-A9FB-4F29-A65E-1B1BDBEEAF23}"/>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Technical context</a:t>
            </a:r>
          </a:p>
        </p:txBody>
      </p:sp>
      <p:sp>
        <p:nvSpPr>
          <p:cNvPr id="6" name="">
            <a:extLst xmlns:a="http://schemas.openxmlformats.org/drawingml/2006/main">
              <a:ext uri="{FF2B5EF4-FFF2-40B4-BE49-F238E27FC236}">
                <a16:creationId xmlns:a16="http://schemas.microsoft.com/office/drawing/2014/main" id="{D5E9EFD2-B2F0-4D41-8D0A-49A08F6D2AA5}"/>
              </a:ext>
            </a:extLst>
          </p:cNvPr>
          <p:cNvSpPr>
            <a:spLocks xmlns:a="http://schemas.openxmlformats.org/drawingml/2006/main" noGrp="1"/>
          </p:cNvSpPr>
          <p:nvPr/>
        </p:nvSpPr>
        <p:spPr>
          <a:xfrm xmlns:a="http://schemas.openxmlformats.org/drawingml/2006/main">
            <a:off x="5429250" y="1381125"/>
            <a:ext cx="1123950" cy="66675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7" name="">
            <a:extLst xmlns:a="http://schemas.openxmlformats.org/drawingml/2006/main">
              <a:ext uri="{FF2B5EF4-FFF2-40B4-BE49-F238E27FC236}">
                <a16:creationId xmlns:a16="http://schemas.microsoft.com/office/drawing/2014/main" id="{0F747718-0BA7-4614-84FC-699FE9976426}"/>
              </a:ext>
            </a:extLst>
          </p:cNvPr>
          <p:cNvSpPr>
            <a:spLocks xmlns:a="http://schemas.openxmlformats.org/drawingml/2006/main" noGrp="1"/>
          </p:cNvSpPr>
          <p:nvPr/>
        </p:nvSpPr>
        <p:spPr>
          <a:xfrm xmlns:a="http://schemas.openxmlformats.org/drawingml/2006/main">
            <a:off x="5429250" y="1381125"/>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2D3EE"/>
                </a:solidFill>
              </a:defRPr>
            </a:pPr>
            <a:r>
              <a:rPr sz="1500" b="1">
                <a:solidFill>
                  <a:srgbClr val="22D3EE"/>
                </a:solidFill>
              </a:rPr>
              <a:t>ROOT</a:t>
            </a:r>
          </a:p>
        </p:txBody>
      </p:sp>
      <p:sp>
        <p:nvSpPr>
          <p:cNvPr id="8" name="">
            <a:extLst xmlns:a="http://schemas.openxmlformats.org/drawingml/2006/main">
              <a:ext uri="{FF2B5EF4-FFF2-40B4-BE49-F238E27FC236}">
                <a16:creationId xmlns:a16="http://schemas.microsoft.com/office/drawing/2014/main" id="{CF711736-FDA6-4954-9C41-8C87F17C9BAD}"/>
              </a:ext>
            </a:extLst>
          </p:cNvPr>
          <p:cNvSpPr>
            <a:spLocks xmlns:a="http://schemas.openxmlformats.org/drawingml/2006/main" noGrp="1"/>
          </p:cNvSpPr>
          <p:nvPr/>
        </p:nvSpPr>
        <p:spPr>
          <a:xfrm xmlns:a="http://schemas.openxmlformats.org/drawingml/2006/main">
            <a:off x="3381375" y="2619375"/>
            <a:ext cx="952500" cy="590550"/>
          </a:xfrm>
          <a:prstGeom xmlns:a="http://schemas.openxmlformats.org/drawingml/2006/main" prst="ellipse">
            <a:avLst/>
          </a:prstGeom>
          <a:solidFill xmlns:a="http://schemas.openxmlformats.org/drawingml/2006/main">
            <a:srgbClr val="172330"/>
          </a:solidFill>
          <a:ln xmlns:a="http://schemas.openxmlformats.org/drawingml/2006/main" w="9525">
            <a:solidFill>
              <a:srgbClr val="60A5FA"/>
            </a:solidFill>
            <a:prstDash val="solid"/>
          </a:ln>
        </p:spPr>
      </p:sp>
      <p:sp>
        <p:nvSpPr>
          <p:cNvPr id="9" name="">
            <a:extLst xmlns:a="http://schemas.openxmlformats.org/drawingml/2006/main">
              <a:ext uri="{FF2B5EF4-FFF2-40B4-BE49-F238E27FC236}">
                <a16:creationId xmlns:a16="http://schemas.microsoft.com/office/drawing/2014/main" id="{A8AC096C-225A-4DB5-A063-A723D24D2E0E}"/>
              </a:ext>
            </a:extLst>
          </p:cNvPr>
          <p:cNvSpPr>
            <a:spLocks xmlns:a="http://schemas.openxmlformats.org/drawingml/2006/main" noGrp="1"/>
          </p:cNvSpPr>
          <p:nvPr/>
        </p:nvSpPr>
        <p:spPr>
          <a:xfrm xmlns:a="http://schemas.openxmlformats.org/drawingml/2006/main">
            <a:off x="3381375" y="2619375"/>
            <a:ext cx="95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7FAFC"/>
                </a:solidFill>
              </a:defRPr>
            </a:pPr>
            <a:r>
              <a:rPr sz="1125" b="1">
                <a:solidFill>
                  <a:srgbClr val="F7FAFC"/>
                </a:solidFill>
              </a:rPr>
              <a:t>PARENT</a:t>
            </a:r>
          </a:p>
        </p:txBody>
      </p:sp>
      <p:sp>
        <p:nvSpPr>
          <p:cNvPr id="10" name="">
            <a:extLst xmlns:a="http://schemas.openxmlformats.org/drawingml/2006/main">
              <a:ext uri="{FF2B5EF4-FFF2-40B4-BE49-F238E27FC236}">
                <a16:creationId xmlns:a16="http://schemas.microsoft.com/office/drawing/2014/main" id="{43ED5F6B-0ABD-47EC-90F0-8683674684DA}"/>
              </a:ext>
            </a:extLst>
          </p:cNvPr>
          <p:cNvSpPr>
            <a:spLocks xmlns:a="http://schemas.openxmlformats.org/drawingml/2006/main" noGrp="1"/>
          </p:cNvSpPr>
          <p:nvPr/>
        </p:nvSpPr>
        <p:spPr>
          <a:xfrm xmlns:a="http://schemas.openxmlformats.org/drawingml/2006/main">
            <a:off x="7477125" y="2619375"/>
            <a:ext cx="952500" cy="590550"/>
          </a:xfrm>
          <a:prstGeom xmlns:a="http://schemas.openxmlformats.org/drawingml/2006/main" prst="ellipse">
            <a:avLst/>
          </a:prstGeom>
          <a:solidFill xmlns:a="http://schemas.openxmlformats.org/drawingml/2006/main">
            <a:srgbClr val="172330"/>
          </a:solidFill>
          <a:ln xmlns:a="http://schemas.openxmlformats.org/drawingml/2006/main" w="9525">
            <a:solidFill>
              <a:srgbClr val="60A5FA"/>
            </a:solidFill>
            <a:prstDash val="solid"/>
          </a:ln>
        </p:spPr>
      </p:sp>
      <p:sp>
        <p:nvSpPr>
          <p:cNvPr id="11" name="">
            <a:extLst xmlns:a="http://schemas.openxmlformats.org/drawingml/2006/main">
              <a:ext uri="{FF2B5EF4-FFF2-40B4-BE49-F238E27FC236}">
                <a16:creationId xmlns:a16="http://schemas.microsoft.com/office/drawing/2014/main" id="{02C46985-F100-4553-9D48-05F81264046A}"/>
              </a:ext>
            </a:extLst>
          </p:cNvPr>
          <p:cNvSpPr>
            <a:spLocks xmlns:a="http://schemas.openxmlformats.org/drawingml/2006/main" noGrp="1"/>
          </p:cNvSpPr>
          <p:nvPr/>
        </p:nvSpPr>
        <p:spPr>
          <a:xfrm xmlns:a="http://schemas.openxmlformats.org/drawingml/2006/main">
            <a:off x="7477125" y="2619375"/>
            <a:ext cx="95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7FAFC"/>
                </a:solidFill>
              </a:defRPr>
            </a:pPr>
            <a:r>
              <a:rPr sz="1125" b="1">
                <a:solidFill>
                  <a:srgbClr val="F7FAFC"/>
                </a:solidFill>
              </a:rPr>
              <a:t>PARENT</a:t>
            </a:r>
          </a:p>
        </p:txBody>
      </p:sp>
      <p:sp>
        <p:nvSpPr>
          <p:cNvPr id="12" name="">
            <a:extLst xmlns:a="http://schemas.openxmlformats.org/drawingml/2006/main">
              <a:ext uri="{FF2B5EF4-FFF2-40B4-BE49-F238E27FC236}">
                <a16:creationId xmlns:a16="http://schemas.microsoft.com/office/drawing/2014/main" id="{21466DE1-D7B1-40A0-AA74-ACDAD7E58F15}"/>
              </a:ext>
            </a:extLst>
          </p:cNvPr>
          <p:cNvSpPr>
            <a:spLocks xmlns:a="http://schemas.openxmlformats.org/drawingml/2006/main" noGrp="1"/>
          </p:cNvSpPr>
          <p:nvPr/>
        </p:nvSpPr>
        <p:spPr>
          <a:xfrm xmlns:a="http://schemas.openxmlformats.org/drawingml/2006/main">
            <a:off x="2286000" y="4143375"/>
            <a:ext cx="838200" cy="533400"/>
          </a:xfrm>
          <a:prstGeom xmlns:a="http://schemas.openxmlformats.org/drawingml/2006/main" prst="ellipse">
            <a:avLst/>
          </a:prstGeom>
          <a:solidFill xmlns:a="http://schemas.openxmlformats.org/drawingml/2006/main">
            <a:srgbClr val="172330"/>
          </a:solidFill>
          <a:ln xmlns:a="http://schemas.openxmlformats.org/drawingml/2006/main" w="9525">
            <a:solidFill>
              <a:srgbClr val="2C3A49"/>
            </a:solidFill>
            <a:prstDash val="solid"/>
          </a:ln>
        </p:spPr>
      </p:sp>
      <p:sp>
        <p:nvSpPr>
          <p:cNvPr id="13" name="">
            <a:extLst xmlns:a="http://schemas.openxmlformats.org/drawingml/2006/main">
              <a:ext uri="{FF2B5EF4-FFF2-40B4-BE49-F238E27FC236}">
                <a16:creationId xmlns:a16="http://schemas.microsoft.com/office/drawing/2014/main" id="{D0581FE0-459B-4A8D-B5F5-D4C8118CAC65}"/>
              </a:ext>
            </a:extLst>
          </p:cNvPr>
          <p:cNvSpPr>
            <a:spLocks xmlns:a="http://schemas.openxmlformats.org/drawingml/2006/main" noGrp="1"/>
          </p:cNvSpPr>
          <p:nvPr/>
        </p:nvSpPr>
        <p:spPr>
          <a:xfrm xmlns:a="http://schemas.openxmlformats.org/drawingml/2006/main">
            <a:off x="2286000" y="4143375"/>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NODE</a:t>
            </a:r>
          </a:p>
        </p:txBody>
      </p:sp>
      <p:sp>
        <p:nvSpPr>
          <p:cNvPr id="14" name="">
            <a:extLst xmlns:a="http://schemas.openxmlformats.org/drawingml/2006/main">
              <a:ext uri="{FF2B5EF4-FFF2-40B4-BE49-F238E27FC236}">
                <a16:creationId xmlns:a16="http://schemas.microsoft.com/office/drawing/2014/main" id="{DFBA93DD-2F1D-4718-A8C9-89392227B27E}"/>
              </a:ext>
            </a:extLst>
          </p:cNvPr>
          <p:cNvSpPr>
            <a:spLocks xmlns:a="http://schemas.openxmlformats.org/drawingml/2006/main" noGrp="1"/>
          </p:cNvSpPr>
          <p:nvPr/>
        </p:nvSpPr>
        <p:spPr>
          <a:xfrm xmlns:a="http://schemas.openxmlformats.org/drawingml/2006/main">
            <a:off x="4572000" y="4000500"/>
            <a:ext cx="1104900" cy="742950"/>
          </a:xfrm>
          <a:prstGeom xmlns:a="http://schemas.openxmlformats.org/drawingml/2006/main" prst="ellipse">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15" name="">
            <a:extLst xmlns:a="http://schemas.openxmlformats.org/drawingml/2006/main">
              <a:ext uri="{FF2B5EF4-FFF2-40B4-BE49-F238E27FC236}">
                <a16:creationId xmlns:a16="http://schemas.microsoft.com/office/drawing/2014/main" id="{F3A04116-E1B7-4976-9228-10B11C1822EB}"/>
              </a:ext>
            </a:extLst>
          </p:cNvPr>
          <p:cNvSpPr>
            <a:spLocks xmlns:a="http://schemas.openxmlformats.org/drawingml/2006/main" noGrp="1"/>
          </p:cNvSpPr>
          <p:nvPr/>
        </p:nvSpPr>
        <p:spPr>
          <a:xfrm xmlns:a="http://schemas.openxmlformats.org/drawingml/2006/main">
            <a:off x="4572000" y="4000500"/>
            <a:ext cx="1104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B7185"/>
                </a:solidFill>
              </a:defRPr>
            </a:pPr>
            <a:r>
              <a:rPr sz="1125" b="1">
                <a:solidFill>
                  <a:srgbClr val="FB7185"/>
                </a:solidFill>
              </a:rPr>
              <a:t>ATTACKER</a:t>
            </a:r>
          </a:p>
        </p:txBody>
      </p:sp>
      <p:sp>
        <p:nvSpPr>
          <p:cNvPr id="16" name="">
            <a:extLst xmlns:a="http://schemas.openxmlformats.org/drawingml/2006/main">
              <a:ext uri="{FF2B5EF4-FFF2-40B4-BE49-F238E27FC236}">
                <a16:creationId xmlns:a16="http://schemas.microsoft.com/office/drawing/2014/main" id="{E28577B6-68E0-4CCF-9247-C171F32F605C}"/>
              </a:ext>
            </a:extLst>
          </p:cNvPr>
          <p:cNvSpPr>
            <a:spLocks xmlns:a="http://schemas.openxmlformats.org/drawingml/2006/main" noGrp="1"/>
          </p:cNvSpPr>
          <p:nvPr/>
        </p:nvSpPr>
        <p:spPr>
          <a:xfrm xmlns:a="http://schemas.openxmlformats.org/drawingml/2006/main">
            <a:off x="7239000" y="4143375"/>
            <a:ext cx="838200" cy="533400"/>
          </a:xfrm>
          <a:prstGeom xmlns:a="http://schemas.openxmlformats.org/drawingml/2006/main" prst="ellipse">
            <a:avLst/>
          </a:prstGeom>
          <a:solidFill xmlns:a="http://schemas.openxmlformats.org/drawingml/2006/main">
            <a:srgbClr val="172330"/>
          </a:solidFill>
          <a:ln xmlns:a="http://schemas.openxmlformats.org/drawingml/2006/main" w="9525">
            <a:solidFill>
              <a:srgbClr val="2C3A49"/>
            </a:solidFill>
            <a:prstDash val="solid"/>
          </a:ln>
        </p:spPr>
      </p:sp>
      <p:sp>
        <p:nvSpPr>
          <p:cNvPr id="17" name="">
            <a:extLst xmlns:a="http://schemas.openxmlformats.org/drawingml/2006/main">
              <a:ext uri="{FF2B5EF4-FFF2-40B4-BE49-F238E27FC236}">
                <a16:creationId xmlns:a16="http://schemas.microsoft.com/office/drawing/2014/main" id="{341A3F2D-C216-4AE9-AD0E-949ACE03FFCB}"/>
              </a:ext>
            </a:extLst>
          </p:cNvPr>
          <p:cNvSpPr>
            <a:spLocks xmlns:a="http://schemas.openxmlformats.org/drawingml/2006/main" noGrp="1"/>
          </p:cNvSpPr>
          <p:nvPr/>
        </p:nvSpPr>
        <p:spPr>
          <a:xfrm xmlns:a="http://schemas.openxmlformats.org/drawingml/2006/main">
            <a:off x="7239000" y="4143375"/>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NODE</a:t>
            </a:r>
          </a:p>
        </p:txBody>
      </p:sp>
      <p:sp>
        <p:nvSpPr>
          <p:cNvPr id="18" name="">
            <a:extLst xmlns:a="http://schemas.openxmlformats.org/drawingml/2006/main">
              <a:ext uri="{FF2B5EF4-FFF2-40B4-BE49-F238E27FC236}">
                <a16:creationId xmlns:a16="http://schemas.microsoft.com/office/drawing/2014/main" id="{B8384C0A-411B-486E-A143-93F8D47C55A0}"/>
              </a:ext>
            </a:extLst>
          </p:cNvPr>
          <p:cNvSpPr>
            <a:spLocks xmlns:a="http://schemas.openxmlformats.org/drawingml/2006/main" noGrp="1"/>
          </p:cNvSpPr>
          <p:nvPr/>
        </p:nvSpPr>
        <p:spPr>
          <a:xfrm xmlns:a="http://schemas.openxmlformats.org/drawingml/2006/main">
            <a:off x="9334500" y="4143375"/>
            <a:ext cx="838200" cy="533400"/>
          </a:xfrm>
          <a:prstGeom xmlns:a="http://schemas.openxmlformats.org/drawingml/2006/main" prst="ellipse">
            <a:avLst/>
          </a:prstGeom>
          <a:solidFill xmlns:a="http://schemas.openxmlformats.org/drawingml/2006/main">
            <a:srgbClr val="172330"/>
          </a:solidFill>
          <a:ln xmlns:a="http://schemas.openxmlformats.org/drawingml/2006/main" w="9525">
            <a:solidFill>
              <a:srgbClr val="2C3A49"/>
            </a:solidFill>
            <a:prstDash val="solid"/>
          </a:ln>
        </p:spPr>
      </p:sp>
      <p:sp>
        <p:nvSpPr>
          <p:cNvPr id="19" name="">
            <a:extLst xmlns:a="http://schemas.openxmlformats.org/drawingml/2006/main">
              <a:ext uri="{FF2B5EF4-FFF2-40B4-BE49-F238E27FC236}">
                <a16:creationId xmlns:a16="http://schemas.microsoft.com/office/drawing/2014/main" id="{A9FAE66A-8E72-4CA6-A160-EFC188D6BAC5}"/>
              </a:ext>
            </a:extLst>
          </p:cNvPr>
          <p:cNvSpPr>
            <a:spLocks xmlns:a="http://schemas.openxmlformats.org/drawingml/2006/main" noGrp="1"/>
          </p:cNvSpPr>
          <p:nvPr/>
        </p:nvSpPr>
        <p:spPr>
          <a:xfrm xmlns:a="http://schemas.openxmlformats.org/drawingml/2006/main">
            <a:off x="9334500" y="4143375"/>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NODE</a:t>
            </a:r>
          </a:p>
        </p:txBody>
      </p:sp>
      <p:cxnSp>
        <p:nvCxnSpPr>
          <p:cNvPr id="62" name=""/>
          <p:cNvCxnSpPr>
            <a:stCxn xmlns:a="http://schemas.openxmlformats.org/drawingml/2006/main" id="8" idx="0"/>
            <a:endCxn xmlns:a="http://schemas.openxmlformats.org/drawingml/2006/main" id="6" idx="4"/>
          </p:cNvCxnSpPr>
          <p:nvPr/>
        </p:nvCxnSpPr>
        <p:spPr>
          <a:xfrm xmlns:a="http://schemas.openxmlformats.org/drawingml/2006/main" flipV="1">
            <a:off x="3857625" y="2047875"/>
            <a:ext cx="2133600" cy="571500"/>
          </a:xfrm>
          <a:prstGeom xmlns:a="http://schemas.openxmlformats.org/drawingml/2006/main" prst="straightConnector1">
            <a:avLst/>
          </a:prstGeom>
          <a:ln xmlns:a="http://schemas.openxmlformats.org/drawingml/2006/main" w="19050">
            <a:solidFill>
              <a:srgbClr val="2C3A49"/>
            </a:solidFill>
            <a:prstDash val="solid"/>
            <a:headEnd type="arrow" w="sm" len="sm"/>
          </a:ln>
        </p:spPr>
      </p:cxnSp>
      <p:cxnSp>
        <p:nvCxnSpPr>
          <p:cNvPr id="63" name=""/>
          <p:cNvCxnSpPr>
            <a:stCxn xmlns:a="http://schemas.openxmlformats.org/drawingml/2006/main" id="10" idx="0"/>
            <a:endCxn xmlns:a="http://schemas.openxmlformats.org/drawingml/2006/main" id="6" idx="4"/>
          </p:cNvCxnSpPr>
          <p:nvPr/>
        </p:nvCxnSpPr>
        <p:spPr>
          <a:xfrm xmlns:a="http://schemas.openxmlformats.org/drawingml/2006/main" flipH="1" flipV="1">
            <a:off x="5991225" y="2047875"/>
            <a:ext cx="1962150" cy="571500"/>
          </a:xfrm>
          <a:prstGeom xmlns:a="http://schemas.openxmlformats.org/drawingml/2006/main" prst="straightConnector1">
            <a:avLst/>
          </a:prstGeom>
          <a:ln xmlns:a="http://schemas.openxmlformats.org/drawingml/2006/main" w="19050">
            <a:solidFill>
              <a:srgbClr val="2C3A49"/>
            </a:solidFill>
            <a:prstDash val="solid"/>
            <a:headEnd type="arrow" w="sm" len="sm"/>
          </a:ln>
        </p:spPr>
      </p:cxnSp>
      <p:cxnSp>
        <p:nvCxnSpPr>
          <p:cNvPr id="64" name=""/>
          <p:cNvCxnSpPr>
            <a:stCxn xmlns:a="http://schemas.openxmlformats.org/drawingml/2006/main" id="12" idx="0"/>
            <a:endCxn xmlns:a="http://schemas.openxmlformats.org/drawingml/2006/main" id="8" idx="4"/>
          </p:cNvCxnSpPr>
          <p:nvPr/>
        </p:nvCxnSpPr>
        <p:spPr>
          <a:xfrm xmlns:a="http://schemas.openxmlformats.org/drawingml/2006/main" flipV="1">
            <a:off x="2705100" y="3209925"/>
            <a:ext cx="1152525" cy="933450"/>
          </a:xfrm>
          <a:prstGeom xmlns:a="http://schemas.openxmlformats.org/drawingml/2006/main" prst="straightConnector1">
            <a:avLst/>
          </a:prstGeom>
          <a:ln xmlns:a="http://schemas.openxmlformats.org/drawingml/2006/main" w="19050">
            <a:solidFill>
              <a:srgbClr val="2C3A49"/>
            </a:solidFill>
            <a:prstDash val="solid"/>
            <a:headEnd type="arrow" w="sm" len="sm"/>
          </a:ln>
        </p:spPr>
      </p:cxnSp>
      <p:cxnSp>
        <p:nvCxnSpPr>
          <p:cNvPr id="65" name=""/>
          <p:cNvCxnSpPr>
            <a:stCxn xmlns:a="http://schemas.openxmlformats.org/drawingml/2006/main" id="14" idx="0"/>
            <a:endCxn xmlns:a="http://schemas.openxmlformats.org/drawingml/2006/main" id="8" idx="4"/>
          </p:cNvCxnSpPr>
          <p:nvPr/>
        </p:nvCxnSpPr>
        <p:spPr>
          <a:xfrm xmlns:a="http://schemas.openxmlformats.org/drawingml/2006/main" flipH="1" flipV="1">
            <a:off x="3857625" y="3209925"/>
            <a:ext cx="1266825" cy="790575"/>
          </a:xfrm>
          <a:prstGeom xmlns:a="http://schemas.openxmlformats.org/drawingml/2006/main" prst="straightConnector1">
            <a:avLst/>
          </a:prstGeom>
          <a:ln xmlns:a="http://schemas.openxmlformats.org/drawingml/2006/main" w="19050">
            <a:solidFill>
              <a:srgbClr val="2C3A49"/>
            </a:solidFill>
            <a:prstDash val="solid"/>
            <a:headEnd type="arrow" w="sm" len="sm"/>
          </a:ln>
        </p:spPr>
      </p:cxnSp>
      <p:cxnSp>
        <p:nvCxnSpPr>
          <p:cNvPr id="66" name=""/>
          <p:cNvCxnSpPr>
            <a:stCxn xmlns:a="http://schemas.openxmlformats.org/drawingml/2006/main" id="16" idx="0"/>
            <a:endCxn xmlns:a="http://schemas.openxmlformats.org/drawingml/2006/main" id="10" idx="4"/>
          </p:cNvCxnSpPr>
          <p:nvPr/>
        </p:nvCxnSpPr>
        <p:spPr>
          <a:xfrm xmlns:a="http://schemas.openxmlformats.org/drawingml/2006/main" flipV="1">
            <a:off x="7658100" y="3209925"/>
            <a:ext cx="295275" cy="933450"/>
          </a:xfrm>
          <a:prstGeom xmlns:a="http://schemas.openxmlformats.org/drawingml/2006/main" prst="straightConnector1">
            <a:avLst/>
          </a:prstGeom>
          <a:ln xmlns:a="http://schemas.openxmlformats.org/drawingml/2006/main" w="19050">
            <a:solidFill>
              <a:srgbClr val="2C3A49"/>
            </a:solidFill>
            <a:prstDash val="solid"/>
            <a:headEnd type="arrow" w="sm" len="sm"/>
          </a:ln>
        </p:spPr>
      </p:cxnSp>
      <p:cxnSp>
        <p:nvCxnSpPr>
          <p:cNvPr id="67" name=""/>
          <p:cNvCxnSpPr>
            <a:stCxn xmlns:a="http://schemas.openxmlformats.org/drawingml/2006/main" id="18" idx="0"/>
            <a:endCxn xmlns:a="http://schemas.openxmlformats.org/drawingml/2006/main" id="10" idx="4"/>
          </p:cNvCxnSpPr>
          <p:nvPr/>
        </p:nvCxnSpPr>
        <p:spPr>
          <a:xfrm xmlns:a="http://schemas.openxmlformats.org/drawingml/2006/main" flipH="1" flipV="1">
            <a:off x="7953375" y="3209925"/>
            <a:ext cx="1800225" cy="933450"/>
          </a:xfrm>
          <a:prstGeom xmlns:a="http://schemas.openxmlformats.org/drawingml/2006/main" prst="straightConnector1">
            <a:avLst/>
          </a:prstGeom>
          <a:ln xmlns:a="http://schemas.openxmlformats.org/drawingml/2006/main" w="19050">
            <a:solidFill>
              <a:srgbClr val="2C3A49"/>
            </a:solidFill>
            <a:prstDash val="solid"/>
            <a:headEnd type="arrow" w="sm" len="sm"/>
          </a:ln>
        </p:spPr>
      </p:cxnSp>
      <p:sp>
        <p:nvSpPr>
          <p:cNvPr id="26" name="">
            <a:extLst xmlns:a="http://schemas.openxmlformats.org/drawingml/2006/main">
              <a:ext uri="{FF2B5EF4-FFF2-40B4-BE49-F238E27FC236}">
                <a16:creationId xmlns:a16="http://schemas.microsoft.com/office/drawing/2014/main" id="{D41A6BAF-8C02-4E86-9B90-62F35D6B2073}"/>
              </a:ext>
            </a:extLst>
          </p:cNvPr>
          <p:cNvSpPr>
            <a:spLocks xmlns:a="http://schemas.openxmlformats.org/drawingml/2006/main" noGrp="1"/>
          </p:cNvSpPr>
          <p:nvPr/>
        </p:nvSpPr>
        <p:spPr>
          <a:xfrm xmlns:a="http://schemas.openxmlformats.org/drawingml/2006/main">
            <a:off x="523875" y="1524000"/>
            <a:ext cx="2238375" cy="876300"/>
          </a:xfrm>
          <a:prstGeom xmlns:a="http://schemas.openxmlformats.org/drawingml/2006/main" prst="roundRect">
            <a:avLst>
              <a:gd name="adj" fmla="val 8696"/>
            </a:avLst>
          </a:prstGeom>
          <a:solidFill xmlns:a="http://schemas.openxmlformats.org/drawingml/2006/main">
            <a:srgbClr val="121C27"/>
          </a:solidFill>
          <a:ln xmlns:a="http://schemas.openxmlformats.org/drawingml/2006/main" w="9525">
            <a:solidFill>
              <a:srgbClr val="2C3A49"/>
            </a:solidFill>
            <a:prstDash val="solid"/>
          </a:ln>
        </p:spPr>
      </p:sp>
      <p:sp>
        <p:nvSpPr>
          <p:cNvPr id="27" name="">
            <a:extLst xmlns:a="http://schemas.openxmlformats.org/drawingml/2006/main">
              <a:ext uri="{FF2B5EF4-FFF2-40B4-BE49-F238E27FC236}">
                <a16:creationId xmlns:a16="http://schemas.microsoft.com/office/drawing/2014/main" id="{3FB7EBE9-D807-499B-99B6-C2073CBAD925}"/>
              </a:ext>
            </a:extLst>
          </p:cNvPr>
          <p:cNvSpPr>
            <a:spLocks xmlns:a="http://schemas.openxmlformats.org/drawingml/2006/main" noGrp="1"/>
          </p:cNvSpPr>
          <p:nvPr/>
        </p:nvSpPr>
        <p:spPr>
          <a:xfrm xmlns:a="http://schemas.openxmlformats.org/drawingml/2006/main">
            <a:off x="523875" y="1524000"/>
            <a:ext cx="47625" cy="876300"/>
          </a:xfrm>
          <a:prstGeom xmlns:a="http://schemas.openxmlformats.org/drawingml/2006/main" prst="rect">
            <a:avLst/>
          </a:prstGeom>
          <a:solidFill xmlns:a="http://schemas.openxmlformats.org/drawingml/2006/main">
            <a:srgbClr val="34D39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C0EB89F-4902-4CD6-85BC-FB6F358422A2}"/>
              </a:ext>
            </a:extLst>
          </p:cNvPr>
          <p:cNvSpPr>
            <a:spLocks xmlns:a="http://schemas.openxmlformats.org/drawingml/2006/main" noGrp="1"/>
          </p:cNvSpPr>
          <p:nvPr/>
        </p:nvSpPr>
        <p:spPr>
          <a:xfrm xmlns:a="http://schemas.openxmlformats.org/drawingml/2006/main">
            <a:off x="733425" y="1638300"/>
            <a:ext cx="1895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Forwarding</a:t>
            </a:r>
          </a:p>
        </p:txBody>
      </p:sp>
      <p:sp>
        <p:nvSpPr>
          <p:cNvPr id="29" name="">
            <a:extLst xmlns:a="http://schemas.openxmlformats.org/drawingml/2006/main">
              <a:ext uri="{FF2B5EF4-FFF2-40B4-BE49-F238E27FC236}">
                <a16:creationId xmlns:a16="http://schemas.microsoft.com/office/drawing/2014/main" id="{74CBFA8C-68FF-4913-8949-FFD2953E3ED0}"/>
              </a:ext>
            </a:extLst>
          </p:cNvPr>
          <p:cNvSpPr>
            <a:spLocks xmlns:a="http://schemas.openxmlformats.org/drawingml/2006/main" noGrp="1"/>
          </p:cNvSpPr>
          <p:nvPr/>
        </p:nvSpPr>
        <p:spPr>
          <a:xfrm xmlns:a="http://schemas.openxmlformats.org/drawingml/2006/main">
            <a:off x="733425" y="1962150"/>
            <a:ext cx="187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Blackhole, Grayhole</a:t>
            </a:r>
          </a:p>
          <a:p xmlns:a="http://schemas.openxmlformats.org/drawingml/2006/main">
            <a:pPr algn="l">
              <a:defRPr sz="1050" b="0">
                <a:solidFill>
                  <a:srgbClr val="97A3B2"/>
                </a:solidFill>
              </a:defRPr>
            </a:pPr>
            <a:r>
              <a:rPr sz="1050" b="0">
                <a:solidFill>
                  <a:srgbClr val="97A3B2"/>
                </a:solidFill>
              </a:rPr>
              <a:t>Delivery and response volume</a:t>
            </a:r>
          </a:p>
        </p:txBody>
      </p:sp>
      <p:sp>
        <p:nvSpPr>
          <p:cNvPr id="30" name="">
            <a:extLst xmlns:a="http://schemas.openxmlformats.org/drawingml/2006/main">
              <a:ext uri="{FF2B5EF4-FFF2-40B4-BE49-F238E27FC236}">
                <a16:creationId xmlns:a16="http://schemas.microsoft.com/office/drawing/2014/main" id="{15D3D6EC-9331-4E82-A123-39093A90E9FC}"/>
              </a:ext>
            </a:extLst>
          </p:cNvPr>
          <p:cNvSpPr>
            <a:spLocks xmlns:a="http://schemas.openxmlformats.org/drawingml/2006/main" noGrp="1"/>
          </p:cNvSpPr>
          <p:nvPr/>
        </p:nvSpPr>
        <p:spPr>
          <a:xfrm xmlns:a="http://schemas.openxmlformats.org/drawingml/2006/main">
            <a:off x="523875" y="5143500"/>
            <a:ext cx="2619375" cy="876300"/>
          </a:xfrm>
          <a:prstGeom xmlns:a="http://schemas.openxmlformats.org/drawingml/2006/main" prst="roundRect">
            <a:avLst>
              <a:gd name="adj" fmla="val 8696"/>
            </a:avLst>
          </a:prstGeom>
          <a:solidFill xmlns:a="http://schemas.openxmlformats.org/drawingml/2006/main">
            <a:srgbClr val="121C27"/>
          </a:solidFill>
          <a:ln xmlns:a="http://schemas.openxmlformats.org/drawingml/2006/main" w="9525">
            <a:solidFill>
              <a:srgbClr val="2C3A49"/>
            </a:solidFill>
            <a:prstDash val="solid"/>
          </a:ln>
        </p:spPr>
      </p:sp>
      <p:sp>
        <p:nvSpPr>
          <p:cNvPr id="31" name="">
            <a:extLst xmlns:a="http://schemas.openxmlformats.org/drawingml/2006/main">
              <a:ext uri="{FF2B5EF4-FFF2-40B4-BE49-F238E27FC236}">
                <a16:creationId xmlns:a16="http://schemas.microsoft.com/office/drawing/2014/main" id="{BB4ABB43-ECD7-4E7E-9552-563F17BB3986}"/>
              </a:ext>
            </a:extLst>
          </p:cNvPr>
          <p:cNvSpPr>
            <a:spLocks xmlns:a="http://schemas.openxmlformats.org/drawingml/2006/main" noGrp="1"/>
          </p:cNvSpPr>
          <p:nvPr/>
        </p:nvSpPr>
        <p:spPr>
          <a:xfrm xmlns:a="http://schemas.openxmlformats.org/drawingml/2006/main">
            <a:off x="523875" y="5143500"/>
            <a:ext cx="47625" cy="8763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9A1ADC0-3209-4482-8569-6D34768864E8}"/>
              </a:ext>
            </a:extLst>
          </p:cNvPr>
          <p:cNvSpPr>
            <a:spLocks xmlns:a="http://schemas.openxmlformats.org/drawingml/2006/main" noGrp="1"/>
          </p:cNvSpPr>
          <p:nvPr/>
        </p:nvSpPr>
        <p:spPr>
          <a:xfrm xmlns:a="http://schemas.openxmlformats.org/drawingml/2006/main">
            <a:off x="733425" y="5257800"/>
            <a:ext cx="2276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Rank and route</a:t>
            </a:r>
          </a:p>
        </p:txBody>
      </p:sp>
      <p:sp>
        <p:nvSpPr>
          <p:cNvPr id="33" name="">
            <a:extLst xmlns:a="http://schemas.openxmlformats.org/drawingml/2006/main">
              <a:ext uri="{FF2B5EF4-FFF2-40B4-BE49-F238E27FC236}">
                <a16:creationId xmlns:a16="http://schemas.microsoft.com/office/drawing/2014/main" id="{3396AABB-73E9-4E5A-8D30-9B98AF35CBAF}"/>
              </a:ext>
            </a:extLst>
          </p:cNvPr>
          <p:cNvSpPr>
            <a:spLocks xmlns:a="http://schemas.openxmlformats.org/drawingml/2006/main" noGrp="1"/>
          </p:cNvSpPr>
          <p:nvPr/>
        </p:nvSpPr>
        <p:spPr>
          <a:xfrm xmlns:a="http://schemas.openxmlformats.org/drawingml/2006/main">
            <a:off x="733425" y="5581650"/>
            <a:ext cx="2257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Sinkhole, Increase Rank, Worst Parent</a:t>
            </a:r>
          </a:p>
          <a:p xmlns:a="http://schemas.openxmlformats.org/drawingml/2006/main">
            <a:pPr algn="l">
              <a:defRPr sz="1050" b="0">
                <a:solidFill>
                  <a:srgbClr val="97A3B2"/>
                </a:solidFill>
              </a:defRPr>
            </a:pPr>
            <a:r>
              <a:rPr sz="1050" b="0">
                <a:solidFill>
                  <a:srgbClr val="97A3B2"/>
                </a:solidFill>
              </a:rPr>
              <a:t>Rank, parent choice and churn</a:t>
            </a:r>
          </a:p>
        </p:txBody>
      </p:sp>
      <p:sp>
        <p:nvSpPr>
          <p:cNvPr id="34" name="">
            <a:extLst xmlns:a="http://schemas.openxmlformats.org/drawingml/2006/main">
              <a:ext uri="{FF2B5EF4-FFF2-40B4-BE49-F238E27FC236}">
                <a16:creationId xmlns:a16="http://schemas.microsoft.com/office/drawing/2014/main" id="{80D278F0-E081-41A7-B80D-B58A47F9EC28}"/>
              </a:ext>
            </a:extLst>
          </p:cNvPr>
          <p:cNvSpPr>
            <a:spLocks xmlns:a="http://schemas.openxmlformats.org/drawingml/2006/main" noGrp="1"/>
          </p:cNvSpPr>
          <p:nvPr/>
        </p:nvSpPr>
        <p:spPr>
          <a:xfrm xmlns:a="http://schemas.openxmlformats.org/drawingml/2006/main">
            <a:off x="9001125" y="1524000"/>
            <a:ext cx="2571750" cy="876300"/>
          </a:xfrm>
          <a:prstGeom xmlns:a="http://schemas.openxmlformats.org/drawingml/2006/main" prst="roundRect">
            <a:avLst>
              <a:gd name="adj" fmla="val 8696"/>
            </a:avLst>
          </a:prstGeom>
          <a:solidFill xmlns:a="http://schemas.openxmlformats.org/drawingml/2006/main">
            <a:srgbClr val="121C27"/>
          </a:solidFill>
          <a:ln xmlns:a="http://schemas.openxmlformats.org/drawingml/2006/main" w="9525">
            <a:solidFill>
              <a:srgbClr val="2C3A49"/>
            </a:solidFill>
            <a:prstDash val="solid"/>
          </a:ln>
        </p:spPr>
      </p:sp>
      <p:sp>
        <p:nvSpPr>
          <p:cNvPr id="35" name="">
            <a:extLst xmlns:a="http://schemas.openxmlformats.org/drawingml/2006/main">
              <a:ext uri="{FF2B5EF4-FFF2-40B4-BE49-F238E27FC236}">
                <a16:creationId xmlns:a16="http://schemas.microsoft.com/office/drawing/2014/main" id="{E7DDF87C-3939-413B-8DA8-2DB6F5FF71C2}"/>
              </a:ext>
            </a:extLst>
          </p:cNvPr>
          <p:cNvSpPr>
            <a:spLocks xmlns:a="http://schemas.openxmlformats.org/drawingml/2006/main" noGrp="1"/>
          </p:cNvSpPr>
          <p:nvPr/>
        </p:nvSpPr>
        <p:spPr>
          <a:xfrm xmlns:a="http://schemas.openxmlformats.org/drawingml/2006/main">
            <a:off x="9001125" y="1524000"/>
            <a:ext cx="47625" cy="87630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E1EB0F8-84F8-4354-8896-719625B72FC3}"/>
              </a:ext>
            </a:extLst>
          </p:cNvPr>
          <p:cNvSpPr>
            <a:spLocks xmlns:a="http://schemas.openxmlformats.org/drawingml/2006/main" noGrp="1"/>
          </p:cNvSpPr>
          <p:nvPr/>
        </p:nvSpPr>
        <p:spPr>
          <a:xfrm xmlns:a="http://schemas.openxmlformats.org/drawingml/2006/main">
            <a:off x="9210675" y="1638300"/>
            <a:ext cx="2228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Control plane</a:t>
            </a:r>
          </a:p>
        </p:txBody>
      </p:sp>
      <p:sp>
        <p:nvSpPr>
          <p:cNvPr id="37" name="">
            <a:extLst xmlns:a="http://schemas.openxmlformats.org/drawingml/2006/main">
              <a:ext uri="{FF2B5EF4-FFF2-40B4-BE49-F238E27FC236}">
                <a16:creationId xmlns:a16="http://schemas.microsoft.com/office/drawing/2014/main" id="{557D620C-319D-4E23-B380-1BAA27AA866B}"/>
              </a:ext>
            </a:extLst>
          </p:cNvPr>
          <p:cNvSpPr>
            <a:spLocks xmlns:a="http://schemas.openxmlformats.org/drawingml/2006/main" noGrp="1"/>
          </p:cNvSpPr>
          <p:nvPr/>
        </p:nvSpPr>
        <p:spPr>
          <a:xfrm xmlns:a="http://schemas.openxmlformats.org/drawingml/2006/main">
            <a:off x="9210675" y="19621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DIS Flood, DIO Suppression</a:t>
            </a:r>
          </a:p>
          <a:p xmlns:a="http://schemas.openxmlformats.org/drawingml/2006/main">
            <a:pPr algn="l">
              <a:defRPr sz="1050" b="0">
                <a:solidFill>
                  <a:srgbClr val="97A3B2"/>
                </a:solidFill>
              </a:defRPr>
            </a:pPr>
            <a:r>
              <a:rPr sz="1050" b="0">
                <a:solidFill>
                  <a:srgbClr val="97A3B2"/>
                </a:solidFill>
              </a:rPr>
              <a:t>Control-message rate and timing</a:t>
            </a:r>
          </a:p>
        </p:txBody>
      </p:sp>
      <p:sp>
        <p:nvSpPr>
          <p:cNvPr id="38" name="">
            <a:extLst xmlns:a="http://schemas.openxmlformats.org/drawingml/2006/main">
              <a:ext uri="{FF2B5EF4-FFF2-40B4-BE49-F238E27FC236}">
                <a16:creationId xmlns:a16="http://schemas.microsoft.com/office/drawing/2014/main" id="{956690EE-A23E-4B96-BB50-01C6CDA446A1}"/>
              </a:ext>
            </a:extLst>
          </p:cNvPr>
          <p:cNvSpPr>
            <a:spLocks xmlns:a="http://schemas.openxmlformats.org/drawingml/2006/main" noGrp="1"/>
          </p:cNvSpPr>
          <p:nvPr/>
        </p:nvSpPr>
        <p:spPr>
          <a:xfrm xmlns:a="http://schemas.openxmlformats.org/drawingml/2006/main">
            <a:off x="8858250" y="5143500"/>
            <a:ext cx="2714625" cy="876300"/>
          </a:xfrm>
          <a:prstGeom xmlns:a="http://schemas.openxmlformats.org/drawingml/2006/main" prst="roundRect">
            <a:avLst>
              <a:gd name="adj" fmla="val 8696"/>
            </a:avLst>
          </a:prstGeom>
          <a:solidFill xmlns:a="http://schemas.openxmlformats.org/drawingml/2006/main">
            <a:srgbClr val="121C27"/>
          </a:solidFill>
          <a:ln xmlns:a="http://schemas.openxmlformats.org/drawingml/2006/main" w="9525">
            <a:solidFill>
              <a:srgbClr val="2C3A49"/>
            </a:solidFill>
            <a:prstDash val="solid"/>
          </a:ln>
        </p:spPr>
      </p:sp>
      <p:sp>
        <p:nvSpPr>
          <p:cNvPr id="39" name="">
            <a:extLst xmlns:a="http://schemas.openxmlformats.org/drawingml/2006/main">
              <a:ext uri="{FF2B5EF4-FFF2-40B4-BE49-F238E27FC236}">
                <a16:creationId xmlns:a16="http://schemas.microsoft.com/office/drawing/2014/main" id="{C201119F-B4FC-4A4E-92AC-917D180BD9F7}"/>
              </a:ext>
            </a:extLst>
          </p:cNvPr>
          <p:cNvSpPr>
            <a:spLocks xmlns:a="http://schemas.openxmlformats.org/drawingml/2006/main" noGrp="1"/>
          </p:cNvSpPr>
          <p:nvPr/>
        </p:nvSpPr>
        <p:spPr>
          <a:xfrm xmlns:a="http://schemas.openxmlformats.org/drawingml/2006/main">
            <a:off x="8858250" y="5143500"/>
            <a:ext cx="47625" cy="876300"/>
          </a:xfrm>
          <a:prstGeom xmlns:a="http://schemas.openxmlformats.org/drawingml/2006/main" prst="rect">
            <a:avLst/>
          </a:prstGeom>
          <a:solidFill xmlns:a="http://schemas.openxmlformats.org/drawingml/2006/main">
            <a:srgbClr val="A78BF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F8B4A9C-7C09-4D55-BF3B-FD9D7EAE7276}"/>
              </a:ext>
            </a:extLst>
          </p:cNvPr>
          <p:cNvSpPr>
            <a:spLocks xmlns:a="http://schemas.openxmlformats.org/drawingml/2006/main" noGrp="1"/>
          </p:cNvSpPr>
          <p:nvPr/>
        </p:nvSpPr>
        <p:spPr>
          <a:xfrm xmlns:a="http://schemas.openxmlformats.org/drawingml/2006/main">
            <a:off x="9067800" y="5257800"/>
            <a:ext cx="2371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Path and identity</a:t>
            </a:r>
          </a:p>
        </p:txBody>
      </p:sp>
      <p:sp>
        <p:nvSpPr>
          <p:cNvPr id="41" name="">
            <a:extLst xmlns:a="http://schemas.openxmlformats.org/drawingml/2006/main">
              <a:ext uri="{FF2B5EF4-FFF2-40B4-BE49-F238E27FC236}">
                <a16:creationId xmlns:a16="http://schemas.microsoft.com/office/drawing/2014/main" id="{5B8C3CB0-02D2-4050-8DB2-48EB44B31900}"/>
              </a:ext>
            </a:extLst>
          </p:cNvPr>
          <p:cNvSpPr>
            <a:spLocks xmlns:a="http://schemas.openxmlformats.org/drawingml/2006/main" noGrp="1"/>
          </p:cNvSpPr>
          <p:nvPr/>
        </p:nvSpPr>
        <p:spPr>
          <a:xfrm xmlns:a="http://schemas.openxmlformats.org/drawingml/2006/main">
            <a:off x="9067800" y="5581650"/>
            <a:ext cx="2352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Wormhole, Sybil</a:t>
            </a:r>
          </a:p>
          <a:p xmlns:a="http://schemas.openxmlformats.org/drawingml/2006/main">
            <a:pPr algn="l">
              <a:defRPr sz="1050" b="0">
                <a:solidFill>
                  <a:srgbClr val="97A3B2"/>
                </a:solidFill>
              </a:defRPr>
            </a:pPr>
            <a:r>
              <a:rPr sz="1050" b="0">
                <a:solidFill>
                  <a:srgbClr val="97A3B2"/>
                </a:solidFill>
              </a:rPr>
              <a:t>Radio path and address consistency</a:t>
            </a:r>
          </a:p>
        </p:txBody>
      </p:sp>
      <p:sp>
        <p:nvSpPr>
          <p:cNvPr id="42" name="">
            <a:extLst xmlns:a="http://schemas.openxmlformats.org/drawingml/2006/main">
              <a:ext uri="{FF2B5EF4-FFF2-40B4-BE49-F238E27FC236}">
                <a16:creationId xmlns:a16="http://schemas.microsoft.com/office/drawing/2014/main" id="{B1226915-8084-408E-9BD0-CCDDFB15EF3D}"/>
              </a:ext>
            </a:extLst>
          </p:cNvPr>
          <p:cNvSpPr>
            <a:spLocks xmlns:a="http://schemas.openxmlformats.org/drawingml/2006/main" noGrp="1"/>
          </p:cNvSpPr>
          <p:nvPr/>
        </p:nvSpPr>
        <p:spPr>
          <a:xfrm xmlns:a="http://schemas.openxmlformats.org/drawingml/2006/main">
            <a:off x="4210050" y="52387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97A3B2"/>
                </a:solidFill>
              </a:defRPr>
            </a:pPr>
            <a:r>
              <a:rPr sz="1200" b="1">
                <a:solidFill>
                  <a:srgbClr val="97A3B2"/>
                </a:solidFill>
              </a:rPr>
              <a:t>DODAG = a routing graph toward the root</a:t>
            </a:r>
          </a:p>
        </p:txBody>
      </p:sp>
    </p:spTree>
    <p:extLst>
      <p:ext uri="{BB962C8B-B14F-4D97-AF65-F5344CB8AC3E}">
        <p14:creationId xmlns:p14="http://schemas.microsoft.com/office/powerpoint/2010/main" val="797922596"/>
      </p:ext>
    </p:extLst>
  </p:cSld>
</p:sld>
</file>

<file path=ppt/slides/slide6.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7DCEDF36-8B93-47CB-83CF-8815ACAAE3E1}"/>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SYSTEM ARCHITECTURE</a:t>
            </a:r>
          </a:p>
        </p:txBody>
      </p:sp>
      <p:sp>
        <p:nvSpPr>
          <p:cNvPr id="2" name="">
            <a:extLst xmlns:a="http://schemas.openxmlformats.org/drawingml/2006/main">
              <a:ext uri="{FF2B5EF4-FFF2-40B4-BE49-F238E27FC236}">
                <a16:creationId xmlns:a16="http://schemas.microsoft.com/office/drawing/2014/main" id="{0B8F5C02-F7D5-4E42-A5ED-7F4CB616D552}"/>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complete system links simulation, detection and explanation</a:t>
            </a:r>
          </a:p>
        </p:txBody>
      </p:sp>
      <p:sp>
        <p:nvSpPr>
          <p:cNvPr id="3" name="">
            <a:extLst xmlns:a="http://schemas.openxmlformats.org/drawingml/2006/main">
              <a:ext uri="{FF2B5EF4-FFF2-40B4-BE49-F238E27FC236}">
                <a16:creationId xmlns:a16="http://schemas.microsoft.com/office/drawing/2014/main" id="{2568E944-5FF0-4B5A-BFD9-FD04012AC67D}"/>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F56ACA-359C-44F6-AA2C-6435BFC24F70}"/>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246248-0E77-41A3-AD73-412F32C7BFCB}"/>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Methodology</a:t>
            </a:r>
          </a:p>
        </p:txBody>
      </p:sp>
      <p:sp>
        <p:nvSpPr>
          <p:cNvPr id="6" name="">
            <a:extLst xmlns:a="http://schemas.openxmlformats.org/drawingml/2006/main">
              <a:ext uri="{FF2B5EF4-FFF2-40B4-BE49-F238E27FC236}">
                <a16:creationId xmlns:a16="http://schemas.microsoft.com/office/drawing/2014/main" id="{121A1F57-6603-4D22-95B3-121CCBAEC43E}"/>
              </a:ext>
            </a:extLst>
          </p:cNvPr>
          <p:cNvSpPr>
            <a:spLocks xmlns:a="http://schemas.openxmlformats.org/drawingml/2006/main" noGrp="1"/>
          </p:cNvSpPr>
          <p:nvPr/>
        </p:nvSpPr>
        <p:spPr>
          <a:xfrm xmlns:a="http://schemas.openxmlformats.org/drawingml/2006/main">
            <a:off x="457200" y="1981200"/>
            <a:ext cx="1809750" cy="1809750"/>
          </a:xfrm>
          <a:prstGeom xmlns:a="http://schemas.openxmlformats.org/drawingml/2006/main" prst="roundRect">
            <a:avLst>
              <a:gd name="adj" fmla="val 4211"/>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C3345F8D-410F-477C-B6D5-9611F44D4B0F}"/>
              </a:ext>
            </a:extLst>
          </p:cNvPr>
          <p:cNvSpPr>
            <a:spLocks xmlns:a="http://schemas.openxmlformats.org/drawingml/2006/main" noGrp="1"/>
          </p:cNvSpPr>
          <p:nvPr/>
        </p:nvSpPr>
        <p:spPr>
          <a:xfrm xmlns:a="http://schemas.openxmlformats.org/drawingml/2006/main">
            <a:off x="1085850" y="2238375"/>
            <a:ext cx="552450" cy="552450"/>
          </a:xfrm>
          <a:prstGeom xmlns:a="http://schemas.openxmlformats.org/drawingml/2006/main" prst="ellipse">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87F9C79A-9A22-45B6-A161-6A0800619D97}"/>
              </a:ext>
            </a:extLst>
          </p:cNvPr>
          <p:cNvSpPr>
            <a:spLocks xmlns:a="http://schemas.openxmlformats.org/drawingml/2006/main" noGrp="1"/>
          </p:cNvSpPr>
          <p:nvPr/>
        </p:nvSpPr>
        <p:spPr>
          <a:xfrm xmlns:a="http://schemas.openxmlformats.org/drawingml/2006/main">
            <a:off x="1085850" y="2238375"/>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60A5FA"/>
                </a:solidFill>
              </a:defRPr>
            </a:pPr>
            <a:r>
              <a:rPr sz="1650" b="1">
                <a:solidFill>
                  <a:srgbClr val="60A5FA"/>
                </a:solidFill>
              </a:rPr>
              <a:t>1</a:t>
            </a:r>
          </a:p>
        </p:txBody>
      </p:sp>
      <p:sp>
        <p:nvSpPr>
          <p:cNvPr id="9" name="">
            <a:extLst xmlns:a="http://schemas.openxmlformats.org/drawingml/2006/main">
              <a:ext uri="{FF2B5EF4-FFF2-40B4-BE49-F238E27FC236}">
                <a16:creationId xmlns:a16="http://schemas.microsoft.com/office/drawing/2014/main" id="{F881A9A8-258C-4104-96BA-5F467947DA49}"/>
              </a:ext>
            </a:extLst>
          </p:cNvPr>
          <p:cNvSpPr>
            <a:spLocks xmlns:a="http://schemas.openxmlformats.org/drawingml/2006/main" noGrp="1"/>
          </p:cNvSpPr>
          <p:nvPr/>
        </p:nvSpPr>
        <p:spPr>
          <a:xfrm xmlns:a="http://schemas.openxmlformats.org/drawingml/2006/main">
            <a:off x="571500" y="29718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0A5FA"/>
                </a:solidFill>
              </a:defRPr>
            </a:pPr>
            <a:r>
              <a:rPr sz="1125" b="1">
                <a:solidFill>
                  <a:srgbClr val="60A5FA"/>
                </a:solidFill>
              </a:rPr>
              <a:t>COOJA / CONTIKI-NG</a:t>
            </a:r>
          </a:p>
        </p:txBody>
      </p:sp>
      <p:sp>
        <p:nvSpPr>
          <p:cNvPr id="10" name="">
            <a:extLst xmlns:a="http://schemas.openxmlformats.org/drawingml/2006/main">
              <a:ext uri="{FF2B5EF4-FFF2-40B4-BE49-F238E27FC236}">
                <a16:creationId xmlns:a16="http://schemas.microsoft.com/office/drawing/2014/main" id="{EDD07512-1402-452B-90CD-918924C79D45}"/>
              </a:ext>
            </a:extLst>
          </p:cNvPr>
          <p:cNvSpPr>
            <a:spLocks xmlns:a="http://schemas.openxmlformats.org/drawingml/2006/main" noGrp="1"/>
          </p:cNvSpPr>
          <p:nvPr/>
        </p:nvSpPr>
        <p:spPr>
          <a:xfrm xmlns:a="http://schemas.openxmlformats.org/drawingml/2006/main">
            <a:off x="590550" y="329565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9 attacks + controls</a:t>
            </a:r>
          </a:p>
          <a:p xmlns:a="http://schemas.openxmlformats.org/drawingml/2006/main">
            <a:pPr algn="ctr">
              <a:defRPr sz="975" b="0">
                <a:solidFill>
                  <a:srgbClr val="97A3B2"/>
                </a:solidFill>
              </a:defRPr>
            </a:pPr>
            <a:r>
              <a:rPr sz="975" b="0">
                <a:solidFill>
                  <a:srgbClr val="97A3B2"/>
                </a:solidFill>
              </a:rPr>
              <a:t>5 seeds per family</a:t>
            </a:r>
          </a:p>
        </p:txBody>
      </p:sp>
      <p:sp>
        <p:nvSpPr>
          <p:cNvPr id="11" name="">
            <a:extLst xmlns:a="http://schemas.openxmlformats.org/drawingml/2006/main">
              <a:ext uri="{FF2B5EF4-FFF2-40B4-BE49-F238E27FC236}">
                <a16:creationId xmlns:a16="http://schemas.microsoft.com/office/drawing/2014/main" id="{AA0DE18C-D2D5-45BF-91BD-FAC52FC4BA63}"/>
              </a:ext>
            </a:extLst>
          </p:cNvPr>
          <p:cNvSpPr>
            <a:spLocks xmlns:a="http://schemas.openxmlformats.org/drawingml/2006/main" noGrp="1"/>
          </p:cNvSpPr>
          <p:nvPr/>
        </p:nvSpPr>
        <p:spPr>
          <a:xfrm xmlns:a="http://schemas.openxmlformats.org/drawingml/2006/main">
            <a:off x="2381250" y="27241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8D2F75-1256-4B89-93B7-CEF49061C94E}"/>
              </a:ext>
            </a:extLst>
          </p:cNvPr>
          <p:cNvSpPr>
            <a:spLocks xmlns:a="http://schemas.openxmlformats.org/drawingml/2006/main" noGrp="1"/>
          </p:cNvSpPr>
          <p:nvPr/>
        </p:nvSpPr>
        <p:spPr>
          <a:xfrm xmlns:a="http://schemas.openxmlformats.org/drawingml/2006/main">
            <a:off x="2667000" y="1981200"/>
            <a:ext cx="1809750" cy="1809750"/>
          </a:xfrm>
          <a:prstGeom xmlns:a="http://schemas.openxmlformats.org/drawingml/2006/main" prst="roundRect">
            <a:avLst>
              <a:gd name="adj" fmla="val 4211"/>
            </a:avLst>
          </a:prstGeom>
          <a:solidFill xmlns:a="http://schemas.openxmlformats.org/drawingml/2006/main">
            <a:srgbClr val="121C27"/>
          </a:solidFill>
          <a:ln xmlns:a="http://schemas.openxmlformats.org/drawingml/2006/main" w="9525">
            <a:solidFill>
              <a:srgbClr val="2C3A49"/>
            </a:solidFill>
            <a:prstDash val="solid"/>
          </a:ln>
        </p:spPr>
      </p:sp>
      <p:sp>
        <p:nvSpPr>
          <p:cNvPr id="13" name="">
            <a:extLst xmlns:a="http://schemas.openxmlformats.org/drawingml/2006/main">
              <a:ext uri="{FF2B5EF4-FFF2-40B4-BE49-F238E27FC236}">
                <a16:creationId xmlns:a16="http://schemas.microsoft.com/office/drawing/2014/main" id="{32CD50E5-1F8B-4E6A-8947-8AD1DF58A3C6}"/>
              </a:ext>
            </a:extLst>
          </p:cNvPr>
          <p:cNvSpPr>
            <a:spLocks xmlns:a="http://schemas.openxmlformats.org/drawingml/2006/main" noGrp="1"/>
          </p:cNvSpPr>
          <p:nvPr/>
        </p:nvSpPr>
        <p:spPr>
          <a:xfrm xmlns:a="http://schemas.openxmlformats.org/drawingml/2006/main">
            <a:off x="3295650" y="2238375"/>
            <a:ext cx="552450" cy="55245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14" name="">
            <a:extLst xmlns:a="http://schemas.openxmlformats.org/drawingml/2006/main">
              <a:ext uri="{FF2B5EF4-FFF2-40B4-BE49-F238E27FC236}">
                <a16:creationId xmlns:a16="http://schemas.microsoft.com/office/drawing/2014/main" id="{B97A8983-1EDA-4058-A13A-C4B7C5CAF433}"/>
              </a:ext>
            </a:extLst>
          </p:cNvPr>
          <p:cNvSpPr>
            <a:spLocks xmlns:a="http://schemas.openxmlformats.org/drawingml/2006/main" noGrp="1"/>
          </p:cNvSpPr>
          <p:nvPr/>
        </p:nvSpPr>
        <p:spPr>
          <a:xfrm xmlns:a="http://schemas.openxmlformats.org/drawingml/2006/main">
            <a:off x="3295650" y="2238375"/>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2D3EE"/>
                </a:solidFill>
              </a:defRPr>
            </a:pPr>
            <a:r>
              <a:rPr sz="1650" b="1">
                <a:solidFill>
                  <a:srgbClr val="22D3EE"/>
                </a:solidFill>
              </a:rPr>
              <a:t>2</a:t>
            </a:r>
          </a:p>
        </p:txBody>
      </p:sp>
      <p:sp>
        <p:nvSpPr>
          <p:cNvPr id="15" name="">
            <a:extLst xmlns:a="http://schemas.openxmlformats.org/drawingml/2006/main">
              <a:ext uri="{FF2B5EF4-FFF2-40B4-BE49-F238E27FC236}">
                <a16:creationId xmlns:a16="http://schemas.microsoft.com/office/drawing/2014/main" id="{44A814E4-54BE-4EE7-8190-57DFE65C7C37}"/>
              </a:ext>
            </a:extLst>
          </p:cNvPr>
          <p:cNvSpPr>
            <a:spLocks xmlns:a="http://schemas.openxmlformats.org/drawingml/2006/main" noGrp="1"/>
          </p:cNvSpPr>
          <p:nvPr/>
        </p:nvSpPr>
        <p:spPr>
          <a:xfrm xmlns:a="http://schemas.openxmlformats.org/drawingml/2006/main">
            <a:off x="2781300" y="29718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2D3EE"/>
                </a:solidFill>
              </a:defRPr>
            </a:pPr>
            <a:r>
              <a:rPr sz="1125" b="1">
                <a:solidFill>
                  <a:srgbClr val="22D3EE"/>
                </a:solidFill>
              </a:rPr>
              <a:t>EVIDENCE</a:t>
            </a:r>
          </a:p>
        </p:txBody>
      </p:sp>
      <p:sp>
        <p:nvSpPr>
          <p:cNvPr id="16" name="">
            <a:extLst xmlns:a="http://schemas.openxmlformats.org/drawingml/2006/main">
              <a:ext uri="{FF2B5EF4-FFF2-40B4-BE49-F238E27FC236}">
                <a16:creationId xmlns:a16="http://schemas.microsoft.com/office/drawing/2014/main" id="{BC6D474D-DB19-4909-81F3-86E7B2B07B8D}"/>
              </a:ext>
            </a:extLst>
          </p:cNvPr>
          <p:cNvSpPr>
            <a:spLocks xmlns:a="http://schemas.openxmlformats.org/drawingml/2006/main" noGrp="1"/>
          </p:cNvSpPr>
          <p:nvPr/>
        </p:nvSpPr>
        <p:spPr>
          <a:xfrm xmlns:a="http://schemas.openxmlformats.org/drawingml/2006/main">
            <a:off x="2800350" y="329565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Logs, radio traces</a:t>
            </a:r>
          </a:p>
          <a:p xmlns:a="http://schemas.openxmlformats.org/drawingml/2006/main">
            <a:pPr algn="ctr">
              <a:defRPr sz="975" b="0">
                <a:solidFill>
                  <a:srgbClr val="97A3B2"/>
                </a:solidFill>
              </a:defRPr>
            </a:pPr>
            <a:r>
              <a:rPr sz="975" b="0">
                <a:solidFill>
                  <a:srgbClr val="97A3B2"/>
                </a:solidFill>
              </a:rPr>
              <a:t>RPL events</a:t>
            </a:r>
          </a:p>
        </p:txBody>
      </p:sp>
      <p:sp>
        <p:nvSpPr>
          <p:cNvPr id="17" name="">
            <a:extLst xmlns:a="http://schemas.openxmlformats.org/drawingml/2006/main">
              <a:ext uri="{FF2B5EF4-FFF2-40B4-BE49-F238E27FC236}">
                <a16:creationId xmlns:a16="http://schemas.microsoft.com/office/drawing/2014/main" id="{C63DE584-1E96-441A-86C7-81363C9E8E7D}"/>
              </a:ext>
            </a:extLst>
          </p:cNvPr>
          <p:cNvSpPr>
            <a:spLocks xmlns:a="http://schemas.openxmlformats.org/drawingml/2006/main" noGrp="1"/>
          </p:cNvSpPr>
          <p:nvPr/>
        </p:nvSpPr>
        <p:spPr>
          <a:xfrm xmlns:a="http://schemas.openxmlformats.org/drawingml/2006/main">
            <a:off x="4591050" y="27241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6143920-3B89-4D5C-8F79-1C9C8C2AF78F}"/>
              </a:ext>
            </a:extLst>
          </p:cNvPr>
          <p:cNvSpPr>
            <a:spLocks xmlns:a="http://schemas.openxmlformats.org/drawingml/2006/main" noGrp="1"/>
          </p:cNvSpPr>
          <p:nvPr/>
        </p:nvSpPr>
        <p:spPr>
          <a:xfrm xmlns:a="http://schemas.openxmlformats.org/drawingml/2006/main">
            <a:off x="4953000" y="1981200"/>
            <a:ext cx="1809750" cy="1809750"/>
          </a:xfrm>
          <a:prstGeom xmlns:a="http://schemas.openxmlformats.org/drawingml/2006/main" prst="roundRect">
            <a:avLst>
              <a:gd name="adj" fmla="val 4211"/>
            </a:avLst>
          </a:prstGeom>
          <a:solidFill xmlns:a="http://schemas.openxmlformats.org/drawingml/2006/main">
            <a:srgbClr val="121C27"/>
          </a:solidFill>
          <a:ln xmlns:a="http://schemas.openxmlformats.org/drawingml/2006/main" w="9525">
            <a:solidFill>
              <a:srgbClr val="2C3A49"/>
            </a:solidFill>
            <a:prstDash val="solid"/>
          </a:ln>
        </p:spPr>
      </p:sp>
      <p:sp>
        <p:nvSpPr>
          <p:cNvPr id="19" name="">
            <a:extLst xmlns:a="http://schemas.openxmlformats.org/drawingml/2006/main">
              <a:ext uri="{FF2B5EF4-FFF2-40B4-BE49-F238E27FC236}">
                <a16:creationId xmlns:a16="http://schemas.microsoft.com/office/drawing/2014/main" id="{0DAA5DC4-7C16-43C1-8D26-DBDAC47EDC97}"/>
              </a:ext>
            </a:extLst>
          </p:cNvPr>
          <p:cNvSpPr>
            <a:spLocks xmlns:a="http://schemas.openxmlformats.org/drawingml/2006/main" noGrp="1"/>
          </p:cNvSpPr>
          <p:nvPr/>
        </p:nvSpPr>
        <p:spPr>
          <a:xfrm xmlns:a="http://schemas.openxmlformats.org/drawingml/2006/main">
            <a:off x="5581650" y="2238375"/>
            <a:ext cx="552450" cy="552450"/>
          </a:xfrm>
          <a:prstGeom xmlns:a="http://schemas.openxmlformats.org/drawingml/2006/main" prst="ellipse">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20" name="">
            <a:extLst xmlns:a="http://schemas.openxmlformats.org/drawingml/2006/main">
              <a:ext uri="{FF2B5EF4-FFF2-40B4-BE49-F238E27FC236}">
                <a16:creationId xmlns:a16="http://schemas.microsoft.com/office/drawing/2014/main" id="{EBEDE97A-DA27-470B-947A-482745A7A1D4}"/>
              </a:ext>
            </a:extLst>
          </p:cNvPr>
          <p:cNvSpPr>
            <a:spLocks xmlns:a="http://schemas.openxmlformats.org/drawingml/2006/main" noGrp="1"/>
          </p:cNvSpPr>
          <p:nvPr/>
        </p:nvSpPr>
        <p:spPr>
          <a:xfrm xmlns:a="http://schemas.openxmlformats.org/drawingml/2006/main">
            <a:off x="5581650" y="2238375"/>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34D399"/>
                </a:solidFill>
              </a:defRPr>
            </a:pPr>
            <a:r>
              <a:rPr sz="1650" b="1">
                <a:solidFill>
                  <a:srgbClr val="34D399"/>
                </a:solidFill>
              </a:rPr>
              <a:t>3</a:t>
            </a:r>
          </a:p>
        </p:txBody>
      </p:sp>
      <p:sp>
        <p:nvSpPr>
          <p:cNvPr id="21" name="">
            <a:extLst xmlns:a="http://schemas.openxmlformats.org/drawingml/2006/main">
              <a:ext uri="{FF2B5EF4-FFF2-40B4-BE49-F238E27FC236}">
                <a16:creationId xmlns:a16="http://schemas.microsoft.com/office/drawing/2014/main" id="{AA7CCAD7-8D55-45B1-AB4D-4F9E2D5B00D1}"/>
              </a:ext>
            </a:extLst>
          </p:cNvPr>
          <p:cNvSpPr>
            <a:spLocks xmlns:a="http://schemas.openxmlformats.org/drawingml/2006/main" noGrp="1"/>
          </p:cNvSpPr>
          <p:nvPr/>
        </p:nvSpPr>
        <p:spPr>
          <a:xfrm xmlns:a="http://schemas.openxmlformats.org/drawingml/2006/main">
            <a:off x="5067300" y="29718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4D399"/>
                </a:solidFill>
              </a:defRPr>
            </a:pPr>
            <a:r>
              <a:rPr sz="1125" b="1">
                <a:solidFill>
                  <a:srgbClr val="34D399"/>
                </a:solidFill>
              </a:rPr>
              <a:t>DATASET</a:t>
            </a:r>
          </a:p>
        </p:txBody>
      </p:sp>
      <p:sp>
        <p:nvSpPr>
          <p:cNvPr id="22" name="">
            <a:extLst xmlns:a="http://schemas.openxmlformats.org/drawingml/2006/main">
              <a:ext uri="{FF2B5EF4-FFF2-40B4-BE49-F238E27FC236}">
                <a16:creationId xmlns:a16="http://schemas.microsoft.com/office/drawing/2014/main" id="{BFFBC68A-9634-44C7-91B0-83E1A3F15624}"/>
              </a:ext>
            </a:extLst>
          </p:cNvPr>
          <p:cNvSpPr>
            <a:spLocks xmlns:a="http://schemas.openxmlformats.org/drawingml/2006/main" noGrp="1"/>
          </p:cNvSpPr>
          <p:nvPr/>
        </p:nvSpPr>
        <p:spPr>
          <a:xfrm xmlns:a="http://schemas.openxmlformats.org/drawingml/2006/main">
            <a:off x="5086350" y="329565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60-second features</a:t>
            </a:r>
          </a:p>
          <a:p xmlns:a="http://schemas.openxmlformats.org/drawingml/2006/main">
            <a:pPr algn="ctr">
              <a:defRPr sz="975" b="0">
                <a:solidFill>
                  <a:srgbClr val="97A3B2"/>
                </a:solidFill>
              </a:defRPr>
            </a:pPr>
            <a:r>
              <a:rPr sz="975" b="0">
                <a:solidFill>
                  <a:srgbClr val="97A3B2"/>
                </a:solidFill>
              </a:rPr>
              <a:t>whole-run provenance</a:t>
            </a:r>
          </a:p>
        </p:txBody>
      </p:sp>
      <p:sp>
        <p:nvSpPr>
          <p:cNvPr id="23" name="">
            <a:extLst xmlns:a="http://schemas.openxmlformats.org/drawingml/2006/main">
              <a:ext uri="{FF2B5EF4-FFF2-40B4-BE49-F238E27FC236}">
                <a16:creationId xmlns:a16="http://schemas.microsoft.com/office/drawing/2014/main" id="{F51F17C6-BAAF-410D-8DC4-64C93B8D8518}"/>
              </a:ext>
            </a:extLst>
          </p:cNvPr>
          <p:cNvSpPr>
            <a:spLocks xmlns:a="http://schemas.openxmlformats.org/drawingml/2006/main" noGrp="1"/>
          </p:cNvSpPr>
          <p:nvPr/>
        </p:nvSpPr>
        <p:spPr>
          <a:xfrm xmlns:a="http://schemas.openxmlformats.org/drawingml/2006/main">
            <a:off x="6877050" y="27241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FB2CFDA-EBB2-4BBE-A95B-C4243743C821}"/>
              </a:ext>
            </a:extLst>
          </p:cNvPr>
          <p:cNvSpPr>
            <a:spLocks xmlns:a="http://schemas.openxmlformats.org/drawingml/2006/main" noGrp="1"/>
          </p:cNvSpPr>
          <p:nvPr/>
        </p:nvSpPr>
        <p:spPr>
          <a:xfrm xmlns:a="http://schemas.openxmlformats.org/drawingml/2006/main">
            <a:off x="7239000" y="1981200"/>
            <a:ext cx="1809750" cy="1809750"/>
          </a:xfrm>
          <a:prstGeom xmlns:a="http://schemas.openxmlformats.org/drawingml/2006/main" prst="roundRect">
            <a:avLst>
              <a:gd name="adj" fmla="val 4211"/>
            </a:avLst>
          </a:prstGeom>
          <a:solidFill xmlns:a="http://schemas.openxmlformats.org/drawingml/2006/main">
            <a:srgbClr val="121C27"/>
          </a:solidFill>
          <a:ln xmlns:a="http://schemas.openxmlformats.org/drawingml/2006/main" w="9525">
            <a:solidFill>
              <a:srgbClr val="2C3A49"/>
            </a:solidFill>
            <a:prstDash val="solid"/>
          </a:ln>
        </p:spPr>
      </p:sp>
      <p:sp>
        <p:nvSpPr>
          <p:cNvPr id="25" name="">
            <a:extLst xmlns:a="http://schemas.openxmlformats.org/drawingml/2006/main">
              <a:ext uri="{FF2B5EF4-FFF2-40B4-BE49-F238E27FC236}">
                <a16:creationId xmlns:a16="http://schemas.microsoft.com/office/drawing/2014/main" id="{24B82656-D260-43D2-9E5E-8A8171A60BC9}"/>
              </a:ext>
            </a:extLst>
          </p:cNvPr>
          <p:cNvSpPr>
            <a:spLocks xmlns:a="http://schemas.openxmlformats.org/drawingml/2006/main" noGrp="1"/>
          </p:cNvSpPr>
          <p:nvPr/>
        </p:nvSpPr>
        <p:spPr>
          <a:xfrm xmlns:a="http://schemas.openxmlformats.org/drawingml/2006/main">
            <a:off x="7867650" y="2238375"/>
            <a:ext cx="552450" cy="552450"/>
          </a:xfrm>
          <a:prstGeom xmlns:a="http://schemas.openxmlformats.org/drawingml/2006/main" prst="ellipse">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26" name="">
            <a:extLst xmlns:a="http://schemas.openxmlformats.org/drawingml/2006/main">
              <a:ext uri="{FF2B5EF4-FFF2-40B4-BE49-F238E27FC236}">
                <a16:creationId xmlns:a16="http://schemas.microsoft.com/office/drawing/2014/main" id="{62A55DAC-D9D5-4732-A210-3732A17E7BA8}"/>
              </a:ext>
            </a:extLst>
          </p:cNvPr>
          <p:cNvSpPr>
            <a:spLocks xmlns:a="http://schemas.openxmlformats.org/drawingml/2006/main" noGrp="1"/>
          </p:cNvSpPr>
          <p:nvPr/>
        </p:nvSpPr>
        <p:spPr>
          <a:xfrm xmlns:a="http://schemas.openxmlformats.org/drawingml/2006/main">
            <a:off x="7867650" y="2238375"/>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59E0B"/>
                </a:solidFill>
              </a:defRPr>
            </a:pPr>
            <a:r>
              <a:rPr sz="1650" b="1">
                <a:solidFill>
                  <a:srgbClr val="F59E0B"/>
                </a:solidFill>
              </a:rPr>
              <a:t>4</a:t>
            </a:r>
          </a:p>
        </p:txBody>
      </p:sp>
      <p:sp>
        <p:nvSpPr>
          <p:cNvPr id="27" name="">
            <a:extLst xmlns:a="http://schemas.openxmlformats.org/drawingml/2006/main">
              <a:ext uri="{FF2B5EF4-FFF2-40B4-BE49-F238E27FC236}">
                <a16:creationId xmlns:a16="http://schemas.microsoft.com/office/drawing/2014/main" id="{756CD340-32C0-4171-B0F2-448A2E3F9797}"/>
              </a:ext>
            </a:extLst>
          </p:cNvPr>
          <p:cNvSpPr>
            <a:spLocks xmlns:a="http://schemas.openxmlformats.org/drawingml/2006/main" noGrp="1"/>
          </p:cNvSpPr>
          <p:nvPr/>
        </p:nvSpPr>
        <p:spPr>
          <a:xfrm xmlns:a="http://schemas.openxmlformats.org/drawingml/2006/main">
            <a:off x="7353300" y="29718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9E0B"/>
                </a:solidFill>
              </a:defRPr>
            </a:pPr>
            <a:r>
              <a:rPr sz="1125" b="1">
                <a:solidFill>
                  <a:srgbClr val="F59E0B"/>
                </a:solidFill>
              </a:rPr>
              <a:t>IDS + DRIFT</a:t>
            </a:r>
          </a:p>
        </p:txBody>
      </p:sp>
      <p:sp>
        <p:nvSpPr>
          <p:cNvPr id="28" name="">
            <a:extLst xmlns:a="http://schemas.openxmlformats.org/drawingml/2006/main">
              <a:ext uri="{FF2B5EF4-FFF2-40B4-BE49-F238E27FC236}">
                <a16:creationId xmlns:a16="http://schemas.microsoft.com/office/drawing/2014/main" id="{E048A35A-0DB9-4604-9E91-2B9F12799234}"/>
              </a:ext>
            </a:extLst>
          </p:cNvPr>
          <p:cNvSpPr>
            <a:spLocks xmlns:a="http://schemas.openxmlformats.org/drawingml/2006/main" noGrp="1"/>
          </p:cNvSpPr>
          <p:nvPr/>
        </p:nvSpPr>
        <p:spPr>
          <a:xfrm xmlns:a="http://schemas.openxmlformats.org/drawingml/2006/main">
            <a:off x="7372350" y="329565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Static transfer</a:t>
            </a:r>
          </a:p>
          <a:p xmlns:a="http://schemas.openxmlformats.org/drawingml/2006/main">
            <a:pPr algn="ctr">
              <a:defRPr sz="975" b="0">
                <a:solidFill>
                  <a:srgbClr val="97A3B2"/>
                </a:solidFill>
              </a:defRPr>
            </a:pPr>
            <a:r>
              <a:rPr sz="975" b="0">
                <a:solidFill>
                  <a:srgbClr val="97A3B2"/>
                </a:solidFill>
              </a:rPr>
              <a:t>adaptation, CUSUM, DDM</a:t>
            </a:r>
          </a:p>
        </p:txBody>
      </p:sp>
      <p:sp>
        <p:nvSpPr>
          <p:cNvPr id="29" name="">
            <a:extLst xmlns:a="http://schemas.openxmlformats.org/drawingml/2006/main">
              <a:ext uri="{FF2B5EF4-FFF2-40B4-BE49-F238E27FC236}">
                <a16:creationId xmlns:a16="http://schemas.microsoft.com/office/drawing/2014/main" id="{8DAAAEC7-E3CB-4784-A66D-6B76C42C7A28}"/>
              </a:ext>
            </a:extLst>
          </p:cNvPr>
          <p:cNvSpPr>
            <a:spLocks xmlns:a="http://schemas.openxmlformats.org/drawingml/2006/main" noGrp="1"/>
          </p:cNvSpPr>
          <p:nvPr/>
        </p:nvSpPr>
        <p:spPr>
          <a:xfrm xmlns:a="http://schemas.openxmlformats.org/drawingml/2006/main">
            <a:off x="9163050" y="27241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5FE3050-0A3E-4172-948C-A02B3323F101}"/>
              </a:ext>
            </a:extLst>
          </p:cNvPr>
          <p:cNvSpPr>
            <a:spLocks xmlns:a="http://schemas.openxmlformats.org/drawingml/2006/main" noGrp="1"/>
          </p:cNvSpPr>
          <p:nvPr/>
        </p:nvSpPr>
        <p:spPr>
          <a:xfrm xmlns:a="http://schemas.openxmlformats.org/drawingml/2006/main">
            <a:off x="9525000" y="1981200"/>
            <a:ext cx="1809750" cy="1809750"/>
          </a:xfrm>
          <a:prstGeom xmlns:a="http://schemas.openxmlformats.org/drawingml/2006/main" prst="roundRect">
            <a:avLst>
              <a:gd name="adj" fmla="val 4211"/>
            </a:avLst>
          </a:prstGeom>
          <a:solidFill xmlns:a="http://schemas.openxmlformats.org/drawingml/2006/main">
            <a:srgbClr val="121C27"/>
          </a:solidFill>
          <a:ln xmlns:a="http://schemas.openxmlformats.org/drawingml/2006/main" w="9525">
            <a:solidFill>
              <a:srgbClr val="2C3A49"/>
            </a:solidFill>
            <a:prstDash val="solid"/>
          </a:ln>
        </p:spPr>
      </p:sp>
      <p:sp>
        <p:nvSpPr>
          <p:cNvPr id="31" name="">
            <a:extLst xmlns:a="http://schemas.openxmlformats.org/drawingml/2006/main">
              <a:ext uri="{FF2B5EF4-FFF2-40B4-BE49-F238E27FC236}">
                <a16:creationId xmlns:a16="http://schemas.microsoft.com/office/drawing/2014/main" id="{BBAB1E89-4E1F-432C-951A-D2449E5CD19C}"/>
              </a:ext>
            </a:extLst>
          </p:cNvPr>
          <p:cNvSpPr>
            <a:spLocks xmlns:a="http://schemas.openxmlformats.org/drawingml/2006/main" noGrp="1"/>
          </p:cNvSpPr>
          <p:nvPr/>
        </p:nvSpPr>
        <p:spPr>
          <a:xfrm xmlns:a="http://schemas.openxmlformats.org/drawingml/2006/main">
            <a:off x="10153650" y="2238375"/>
            <a:ext cx="552450" cy="55245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32" name="">
            <a:extLst xmlns:a="http://schemas.openxmlformats.org/drawingml/2006/main">
              <a:ext uri="{FF2B5EF4-FFF2-40B4-BE49-F238E27FC236}">
                <a16:creationId xmlns:a16="http://schemas.microsoft.com/office/drawing/2014/main" id="{B855134E-C9B9-45C5-8CF7-1FBDF9760C4D}"/>
              </a:ext>
            </a:extLst>
          </p:cNvPr>
          <p:cNvSpPr>
            <a:spLocks xmlns:a="http://schemas.openxmlformats.org/drawingml/2006/main" noGrp="1"/>
          </p:cNvSpPr>
          <p:nvPr/>
        </p:nvSpPr>
        <p:spPr>
          <a:xfrm xmlns:a="http://schemas.openxmlformats.org/drawingml/2006/main">
            <a:off x="10153650" y="2238375"/>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A78BFA"/>
                </a:solidFill>
              </a:defRPr>
            </a:pPr>
            <a:r>
              <a:rPr sz="1650" b="1">
                <a:solidFill>
                  <a:srgbClr val="A78BFA"/>
                </a:solidFill>
              </a:rPr>
              <a:t>5</a:t>
            </a:r>
          </a:p>
        </p:txBody>
      </p:sp>
      <p:sp>
        <p:nvSpPr>
          <p:cNvPr id="33" name="">
            <a:extLst xmlns:a="http://schemas.openxmlformats.org/drawingml/2006/main">
              <a:ext uri="{FF2B5EF4-FFF2-40B4-BE49-F238E27FC236}">
                <a16:creationId xmlns:a16="http://schemas.microsoft.com/office/drawing/2014/main" id="{2204B564-E992-4BEA-A79A-063A5D15C9D0}"/>
              </a:ext>
            </a:extLst>
          </p:cNvPr>
          <p:cNvSpPr>
            <a:spLocks xmlns:a="http://schemas.openxmlformats.org/drawingml/2006/main" noGrp="1"/>
          </p:cNvSpPr>
          <p:nvPr/>
        </p:nvSpPr>
        <p:spPr>
          <a:xfrm xmlns:a="http://schemas.openxmlformats.org/drawingml/2006/main">
            <a:off x="9639300" y="29718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A78BFA"/>
                </a:solidFill>
              </a:defRPr>
            </a:pPr>
            <a:r>
              <a:rPr sz="1125" b="1">
                <a:solidFill>
                  <a:srgbClr val="A78BFA"/>
                </a:solidFill>
              </a:rPr>
              <a:t>LOCAL LLM</a:t>
            </a:r>
          </a:p>
        </p:txBody>
      </p:sp>
      <p:sp>
        <p:nvSpPr>
          <p:cNvPr id="34" name="">
            <a:extLst xmlns:a="http://schemas.openxmlformats.org/drawingml/2006/main">
              <a:ext uri="{FF2B5EF4-FFF2-40B4-BE49-F238E27FC236}">
                <a16:creationId xmlns:a16="http://schemas.microsoft.com/office/drawing/2014/main" id="{00A6F125-AF92-46FE-8E5D-0D006F7EF10B}"/>
              </a:ext>
            </a:extLst>
          </p:cNvPr>
          <p:cNvSpPr>
            <a:spLocks xmlns:a="http://schemas.openxmlformats.org/drawingml/2006/main" noGrp="1"/>
          </p:cNvSpPr>
          <p:nvPr/>
        </p:nvSpPr>
        <p:spPr>
          <a:xfrm xmlns:a="http://schemas.openxmlformats.org/drawingml/2006/main">
            <a:off x="9658350" y="329565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7A3B2"/>
                </a:solidFill>
              </a:defRPr>
            </a:pPr>
            <a:r>
              <a:rPr sz="975" b="0">
                <a:solidFill>
                  <a:srgbClr val="97A3B2"/>
                </a:solidFill>
              </a:rPr>
              <a:t>Structured evidence</a:t>
            </a:r>
          </a:p>
          <a:p xmlns:a="http://schemas.openxmlformats.org/drawingml/2006/main">
            <a:pPr algn="ctr">
              <a:defRPr sz="975" b="0">
                <a:solidFill>
                  <a:srgbClr val="97A3B2"/>
                </a:solidFill>
              </a:defRPr>
            </a:pPr>
            <a:r>
              <a:rPr sz="975" b="0">
                <a:solidFill>
                  <a:srgbClr val="97A3B2"/>
                </a:solidFill>
              </a:rPr>
              <a:t>analyst-readable explanation</a:t>
            </a:r>
          </a:p>
        </p:txBody>
      </p:sp>
      <p:sp>
        <p:nvSpPr>
          <p:cNvPr id="35" name="">
            <a:extLst xmlns:a="http://schemas.openxmlformats.org/drawingml/2006/main">
              <a:ext uri="{FF2B5EF4-FFF2-40B4-BE49-F238E27FC236}">
                <a16:creationId xmlns:a16="http://schemas.microsoft.com/office/drawing/2014/main" id="{A1FA9BF7-FB91-4F92-8F91-77CE8CB0C364}"/>
              </a:ext>
            </a:extLst>
          </p:cNvPr>
          <p:cNvSpPr>
            <a:spLocks xmlns:a="http://schemas.openxmlformats.org/drawingml/2006/main" noGrp="1"/>
          </p:cNvSpPr>
          <p:nvPr/>
        </p:nvSpPr>
        <p:spPr>
          <a:xfrm xmlns:a="http://schemas.openxmlformats.org/drawingml/2006/main">
            <a:off x="571500" y="4286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COMPLETED ATTACK CAMPAIGN</a:t>
            </a:r>
          </a:p>
        </p:txBody>
      </p:sp>
      <p:sp>
        <p:nvSpPr>
          <p:cNvPr id="36" name="">
            <a:extLst xmlns:a="http://schemas.openxmlformats.org/drawingml/2006/main">
              <a:ext uri="{FF2B5EF4-FFF2-40B4-BE49-F238E27FC236}">
                <a16:creationId xmlns:a16="http://schemas.microsoft.com/office/drawing/2014/main" id="{F4AD1FFE-B332-44D0-90F1-283562C77439}"/>
              </a:ext>
            </a:extLst>
          </p:cNvPr>
          <p:cNvSpPr>
            <a:spLocks xmlns:a="http://schemas.openxmlformats.org/drawingml/2006/main" noGrp="1"/>
          </p:cNvSpPr>
          <p:nvPr/>
        </p:nvSpPr>
        <p:spPr>
          <a:xfrm xmlns:a="http://schemas.openxmlformats.org/drawingml/2006/main">
            <a:off x="571500" y="4686300"/>
            <a:ext cx="914400" cy="266700"/>
          </a:xfrm>
          <a:prstGeom xmlns:a="http://schemas.openxmlformats.org/drawingml/2006/main" prst="roundRect">
            <a:avLst>
              <a:gd name="adj" fmla="val 28571"/>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37" name="">
            <a:extLst xmlns:a="http://schemas.openxmlformats.org/drawingml/2006/main">
              <a:ext uri="{FF2B5EF4-FFF2-40B4-BE49-F238E27FC236}">
                <a16:creationId xmlns:a16="http://schemas.microsoft.com/office/drawing/2014/main" id="{445F15D2-AAF0-45AC-83D1-FA078E2B1106}"/>
              </a:ext>
            </a:extLst>
          </p:cNvPr>
          <p:cNvSpPr>
            <a:spLocks xmlns:a="http://schemas.openxmlformats.org/drawingml/2006/main" noGrp="1"/>
          </p:cNvSpPr>
          <p:nvPr/>
        </p:nvSpPr>
        <p:spPr>
          <a:xfrm xmlns:a="http://schemas.openxmlformats.org/drawingml/2006/main">
            <a:off x="647700" y="46863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4D399"/>
                </a:solidFill>
              </a:defRPr>
            </a:pPr>
            <a:r>
              <a:rPr sz="900" b="1">
                <a:solidFill>
                  <a:srgbClr val="34D399"/>
                </a:solidFill>
              </a:rPr>
              <a:t>Blackhole</a:t>
            </a:r>
          </a:p>
        </p:txBody>
      </p:sp>
      <p:sp>
        <p:nvSpPr>
          <p:cNvPr id="38" name="">
            <a:extLst xmlns:a="http://schemas.openxmlformats.org/drawingml/2006/main">
              <a:ext uri="{FF2B5EF4-FFF2-40B4-BE49-F238E27FC236}">
                <a16:creationId xmlns:a16="http://schemas.microsoft.com/office/drawing/2014/main" id="{D9E5200C-3FE8-4BDC-9871-9EACE87C87EB}"/>
              </a:ext>
            </a:extLst>
          </p:cNvPr>
          <p:cNvSpPr>
            <a:spLocks xmlns:a="http://schemas.openxmlformats.org/drawingml/2006/main" noGrp="1"/>
          </p:cNvSpPr>
          <p:nvPr/>
        </p:nvSpPr>
        <p:spPr>
          <a:xfrm xmlns:a="http://schemas.openxmlformats.org/drawingml/2006/main">
            <a:off x="1581150" y="4686300"/>
            <a:ext cx="876300" cy="266700"/>
          </a:xfrm>
          <a:prstGeom xmlns:a="http://schemas.openxmlformats.org/drawingml/2006/main" prst="roundRect">
            <a:avLst>
              <a:gd name="adj" fmla="val 28571"/>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39" name="">
            <a:extLst xmlns:a="http://schemas.openxmlformats.org/drawingml/2006/main">
              <a:ext uri="{FF2B5EF4-FFF2-40B4-BE49-F238E27FC236}">
                <a16:creationId xmlns:a16="http://schemas.microsoft.com/office/drawing/2014/main" id="{88C9E10E-A473-4EF4-9E68-7AC38CEE66B0}"/>
              </a:ext>
            </a:extLst>
          </p:cNvPr>
          <p:cNvSpPr>
            <a:spLocks xmlns:a="http://schemas.openxmlformats.org/drawingml/2006/main" noGrp="1"/>
          </p:cNvSpPr>
          <p:nvPr/>
        </p:nvSpPr>
        <p:spPr>
          <a:xfrm xmlns:a="http://schemas.openxmlformats.org/drawingml/2006/main">
            <a:off x="1657350" y="4686300"/>
            <a:ext cx="72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59E0B"/>
                </a:solidFill>
              </a:defRPr>
            </a:pPr>
            <a:r>
              <a:rPr sz="900" b="1">
                <a:solidFill>
                  <a:srgbClr val="F59E0B"/>
                </a:solidFill>
              </a:rPr>
              <a:t>Sinkhole</a:t>
            </a:r>
          </a:p>
        </p:txBody>
      </p:sp>
      <p:sp>
        <p:nvSpPr>
          <p:cNvPr id="40" name="">
            <a:extLst xmlns:a="http://schemas.openxmlformats.org/drawingml/2006/main">
              <a:ext uri="{FF2B5EF4-FFF2-40B4-BE49-F238E27FC236}">
                <a16:creationId xmlns:a16="http://schemas.microsoft.com/office/drawing/2014/main" id="{2FF88ACB-162C-4D9A-AF43-8EFEB4422ABD}"/>
              </a:ext>
            </a:extLst>
          </p:cNvPr>
          <p:cNvSpPr>
            <a:spLocks xmlns:a="http://schemas.openxmlformats.org/drawingml/2006/main" noGrp="1"/>
          </p:cNvSpPr>
          <p:nvPr/>
        </p:nvSpPr>
        <p:spPr>
          <a:xfrm xmlns:a="http://schemas.openxmlformats.org/drawingml/2006/main">
            <a:off x="2552700" y="4686300"/>
            <a:ext cx="9144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1" name="">
            <a:extLst xmlns:a="http://schemas.openxmlformats.org/drawingml/2006/main">
              <a:ext uri="{FF2B5EF4-FFF2-40B4-BE49-F238E27FC236}">
                <a16:creationId xmlns:a16="http://schemas.microsoft.com/office/drawing/2014/main" id="{B8D73450-CEE1-4F16-BB42-68C60F1352E6}"/>
              </a:ext>
            </a:extLst>
          </p:cNvPr>
          <p:cNvSpPr>
            <a:spLocks xmlns:a="http://schemas.openxmlformats.org/drawingml/2006/main" noGrp="1"/>
          </p:cNvSpPr>
          <p:nvPr/>
        </p:nvSpPr>
        <p:spPr>
          <a:xfrm xmlns:a="http://schemas.openxmlformats.org/drawingml/2006/main">
            <a:off x="2628900" y="46863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DIS Flood</a:t>
            </a:r>
          </a:p>
        </p:txBody>
      </p:sp>
      <p:sp>
        <p:nvSpPr>
          <p:cNvPr id="42" name="">
            <a:extLst xmlns:a="http://schemas.openxmlformats.org/drawingml/2006/main">
              <a:ext uri="{FF2B5EF4-FFF2-40B4-BE49-F238E27FC236}">
                <a16:creationId xmlns:a16="http://schemas.microsoft.com/office/drawing/2014/main" id="{637FDC72-F761-4A56-8625-710DFC6C8FB6}"/>
              </a:ext>
            </a:extLst>
          </p:cNvPr>
          <p:cNvSpPr>
            <a:spLocks xmlns:a="http://schemas.openxmlformats.org/drawingml/2006/main" noGrp="1"/>
          </p:cNvSpPr>
          <p:nvPr/>
        </p:nvSpPr>
        <p:spPr>
          <a:xfrm xmlns:a="http://schemas.openxmlformats.org/drawingml/2006/main">
            <a:off x="3562350" y="4686300"/>
            <a:ext cx="8763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3" name="">
            <a:extLst xmlns:a="http://schemas.openxmlformats.org/drawingml/2006/main">
              <a:ext uri="{FF2B5EF4-FFF2-40B4-BE49-F238E27FC236}">
                <a16:creationId xmlns:a16="http://schemas.microsoft.com/office/drawing/2014/main" id="{B993A2C4-527A-4B01-B18F-3C90CA0DC48F}"/>
              </a:ext>
            </a:extLst>
          </p:cNvPr>
          <p:cNvSpPr>
            <a:spLocks xmlns:a="http://schemas.openxmlformats.org/drawingml/2006/main" noGrp="1"/>
          </p:cNvSpPr>
          <p:nvPr/>
        </p:nvSpPr>
        <p:spPr>
          <a:xfrm xmlns:a="http://schemas.openxmlformats.org/drawingml/2006/main">
            <a:off x="3638550" y="4686300"/>
            <a:ext cx="72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Grayhole</a:t>
            </a:r>
          </a:p>
        </p:txBody>
      </p:sp>
      <p:sp>
        <p:nvSpPr>
          <p:cNvPr id="44" name="">
            <a:extLst xmlns:a="http://schemas.openxmlformats.org/drawingml/2006/main">
              <a:ext uri="{FF2B5EF4-FFF2-40B4-BE49-F238E27FC236}">
                <a16:creationId xmlns:a16="http://schemas.microsoft.com/office/drawing/2014/main" id="{DA1790D0-64FE-4A9F-8CF8-FCFB24AC1012}"/>
              </a:ext>
            </a:extLst>
          </p:cNvPr>
          <p:cNvSpPr>
            <a:spLocks xmlns:a="http://schemas.openxmlformats.org/drawingml/2006/main" noGrp="1"/>
          </p:cNvSpPr>
          <p:nvPr/>
        </p:nvSpPr>
        <p:spPr>
          <a:xfrm xmlns:a="http://schemas.openxmlformats.org/drawingml/2006/main">
            <a:off x="4533900" y="4686300"/>
            <a:ext cx="12192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5" name="">
            <a:extLst xmlns:a="http://schemas.openxmlformats.org/drawingml/2006/main">
              <a:ext uri="{FF2B5EF4-FFF2-40B4-BE49-F238E27FC236}">
                <a16:creationId xmlns:a16="http://schemas.microsoft.com/office/drawing/2014/main" id="{F13B7C3D-CEE6-4760-A5F0-A93C7560B692}"/>
              </a:ext>
            </a:extLst>
          </p:cNvPr>
          <p:cNvSpPr>
            <a:spLocks xmlns:a="http://schemas.openxmlformats.org/drawingml/2006/main" noGrp="1"/>
          </p:cNvSpPr>
          <p:nvPr/>
        </p:nvSpPr>
        <p:spPr>
          <a:xfrm xmlns:a="http://schemas.openxmlformats.org/drawingml/2006/main">
            <a:off x="4610100" y="4686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Increase Rank</a:t>
            </a:r>
          </a:p>
        </p:txBody>
      </p:sp>
      <p:sp>
        <p:nvSpPr>
          <p:cNvPr id="46" name="">
            <a:extLst xmlns:a="http://schemas.openxmlformats.org/drawingml/2006/main">
              <a:ext uri="{FF2B5EF4-FFF2-40B4-BE49-F238E27FC236}">
                <a16:creationId xmlns:a16="http://schemas.microsoft.com/office/drawing/2014/main" id="{90FAC6EC-A0BA-407C-A78B-460379690FAD}"/>
              </a:ext>
            </a:extLst>
          </p:cNvPr>
          <p:cNvSpPr>
            <a:spLocks xmlns:a="http://schemas.openxmlformats.org/drawingml/2006/main" noGrp="1"/>
          </p:cNvSpPr>
          <p:nvPr/>
        </p:nvSpPr>
        <p:spPr>
          <a:xfrm xmlns:a="http://schemas.openxmlformats.org/drawingml/2006/main">
            <a:off x="5848350" y="4686300"/>
            <a:ext cx="13716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7" name="">
            <a:extLst xmlns:a="http://schemas.openxmlformats.org/drawingml/2006/main">
              <a:ext uri="{FF2B5EF4-FFF2-40B4-BE49-F238E27FC236}">
                <a16:creationId xmlns:a16="http://schemas.microsoft.com/office/drawing/2014/main" id="{6E9D5871-35A0-4A19-86BC-8FA3C56D5308}"/>
              </a:ext>
            </a:extLst>
          </p:cNvPr>
          <p:cNvSpPr>
            <a:spLocks xmlns:a="http://schemas.openxmlformats.org/drawingml/2006/main" noGrp="1"/>
          </p:cNvSpPr>
          <p:nvPr/>
        </p:nvSpPr>
        <p:spPr>
          <a:xfrm xmlns:a="http://schemas.openxmlformats.org/drawingml/2006/main">
            <a:off x="5924550" y="46863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DIO Suppression</a:t>
            </a:r>
          </a:p>
        </p:txBody>
      </p:sp>
      <p:sp>
        <p:nvSpPr>
          <p:cNvPr id="48" name="">
            <a:extLst xmlns:a="http://schemas.openxmlformats.org/drawingml/2006/main">
              <a:ext uri="{FF2B5EF4-FFF2-40B4-BE49-F238E27FC236}">
                <a16:creationId xmlns:a16="http://schemas.microsoft.com/office/drawing/2014/main" id="{3B797122-578D-4841-89CA-74C2D07EB4CD}"/>
              </a:ext>
            </a:extLst>
          </p:cNvPr>
          <p:cNvSpPr>
            <a:spLocks xmlns:a="http://schemas.openxmlformats.org/drawingml/2006/main" noGrp="1"/>
          </p:cNvSpPr>
          <p:nvPr/>
        </p:nvSpPr>
        <p:spPr>
          <a:xfrm xmlns:a="http://schemas.openxmlformats.org/drawingml/2006/main">
            <a:off x="7315200" y="4686300"/>
            <a:ext cx="11430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9" name="">
            <a:extLst xmlns:a="http://schemas.openxmlformats.org/drawingml/2006/main">
              <a:ext uri="{FF2B5EF4-FFF2-40B4-BE49-F238E27FC236}">
                <a16:creationId xmlns:a16="http://schemas.microsoft.com/office/drawing/2014/main" id="{A86530B9-3B8A-453B-A075-7DB0143F6217}"/>
              </a:ext>
            </a:extLst>
          </p:cNvPr>
          <p:cNvSpPr>
            <a:spLocks xmlns:a="http://schemas.openxmlformats.org/drawingml/2006/main" noGrp="1"/>
          </p:cNvSpPr>
          <p:nvPr/>
        </p:nvSpPr>
        <p:spPr>
          <a:xfrm xmlns:a="http://schemas.openxmlformats.org/drawingml/2006/main">
            <a:off x="7391400" y="468630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Worst Parent</a:t>
            </a:r>
          </a:p>
        </p:txBody>
      </p:sp>
      <p:sp>
        <p:nvSpPr>
          <p:cNvPr id="50" name="">
            <a:extLst xmlns:a="http://schemas.openxmlformats.org/drawingml/2006/main">
              <a:ext uri="{FF2B5EF4-FFF2-40B4-BE49-F238E27FC236}">
                <a16:creationId xmlns:a16="http://schemas.microsoft.com/office/drawing/2014/main" id="{F334EF12-8F77-4324-A1A4-134B07943681}"/>
              </a:ext>
            </a:extLst>
          </p:cNvPr>
          <p:cNvSpPr>
            <a:spLocks xmlns:a="http://schemas.openxmlformats.org/drawingml/2006/main" noGrp="1"/>
          </p:cNvSpPr>
          <p:nvPr/>
        </p:nvSpPr>
        <p:spPr>
          <a:xfrm xmlns:a="http://schemas.openxmlformats.org/drawingml/2006/main">
            <a:off x="8553450" y="4686300"/>
            <a:ext cx="110490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51" name="">
            <a:extLst xmlns:a="http://schemas.openxmlformats.org/drawingml/2006/main">
              <a:ext uri="{FF2B5EF4-FFF2-40B4-BE49-F238E27FC236}">
                <a16:creationId xmlns:a16="http://schemas.microsoft.com/office/drawing/2014/main" id="{136A8B58-498E-43F5-96C2-11DEBBE16D82}"/>
              </a:ext>
            </a:extLst>
          </p:cNvPr>
          <p:cNvSpPr>
            <a:spLocks xmlns:a="http://schemas.openxmlformats.org/drawingml/2006/main" noGrp="1"/>
          </p:cNvSpPr>
          <p:nvPr/>
        </p:nvSpPr>
        <p:spPr>
          <a:xfrm xmlns:a="http://schemas.openxmlformats.org/drawingml/2006/main">
            <a:off x="8629650" y="4686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Wormhole</a:t>
            </a:r>
          </a:p>
        </p:txBody>
      </p:sp>
      <p:sp>
        <p:nvSpPr>
          <p:cNvPr id="52" name="">
            <a:extLst xmlns:a="http://schemas.openxmlformats.org/drawingml/2006/main">
              <a:ext uri="{FF2B5EF4-FFF2-40B4-BE49-F238E27FC236}">
                <a16:creationId xmlns:a16="http://schemas.microsoft.com/office/drawing/2014/main" id="{DE105689-CCCC-4543-A675-4C5566ACA248}"/>
              </a:ext>
            </a:extLst>
          </p:cNvPr>
          <p:cNvSpPr>
            <a:spLocks xmlns:a="http://schemas.openxmlformats.org/drawingml/2006/main" noGrp="1"/>
          </p:cNvSpPr>
          <p:nvPr/>
        </p:nvSpPr>
        <p:spPr>
          <a:xfrm xmlns:a="http://schemas.openxmlformats.org/drawingml/2006/main">
            <a:off x="9753600" y="4686300"/>
            <a:ext cx="876300" cy="266700"/>
          </a:xfrm>
          <a:prstGeom xmlns:a="http://schemas.openxmlformats.org/drawingml/2006/main" prst="roundRect">
            <a:avLst>
              <a:gd name="adj" fmla="val 28571"/>
            </a:avLst>
          </a:prstGeom>
          <a:solidFill xmlns:a="http://schemas.openxmlformats.org/drawingml/2006/main">
            <a:srgbClr val="FACC15">
              <a:alpha val="13333"/>
            </a:srgbClr>
          </a:solidFill>
          <a:ln xmlns:a="http://schemas.openxmlformats.org/drawingml/2006/main" w="9525">
            <a:solidFill>
              <a:srgbClr val="FACC15"/>
            </a:solidFill>
            <a:prstDash val="solid"/>
          </a:ln>
        </p:spPr>
      </p:sp>
      <p:sp>
        <p:nvSpPr>
          <p:cNvPr id="53" name="">
            <a:extLst xmlns:a="http://schemas.openxmlformats.org/drawingml/2006/main">
              <a:ext uri="{FF2B5EF4-FFF2-40B4-BE49-F238E27FC236}">
                <a16:creationId xmlns:a16="http://schemas.microsoft.com/office/drawing/2014/main" id="{55B105F4-4464-49A0-AF4A-0BC24A970E6B}"/>
              </a:ext>
            </a:extLst>
          </p:cNvPr>
          <p:cNvSpPr>
            <a:spLocks xmlns:a="http://schemas.openxmlformats.org/drawingml/2006/main" noGrp="1"/>
          </p:cNvSpPr>
          <p:nvPr/>
        </p:nvSpPr>
        <p:spPr>
          <a:xfrm xmlns:a="http://schemas.openxmlformats.org/drawingml/2006/main">
            <a:off x="9829800" y="4686300"/>
            <a:ext cx="72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ACC15"/>
                </a:solidFill>
              </a:defRPr>
            </a:pPr>
            <a:r>
              <a:rPr sz="900" b="1">
                <a:solidFill>
                  <a:srgbClr val="FACC15"/>
                </a:solidFill>
              </a:rPr>
              <a:t>Sybil</a:t>
            </a:r>
          </a:p>
        </p:txBody>
      </p:sp>
      <p:sp>
        <p:nvSpPr>
          <p:cNvPr id="54" name="">
            <a:extLst xmlns:a="http://schemas.openxmlformats.org/drawingml/2006/main">
              <a:ext uri="{FF2B5EF4-FFF2-40B4-BE49-F238E27FC236}">
                <a16:creationId xmlns:a16="http://schemas.microsoft.com/office/drawing/2014/main" id="{30110FC2-A0DC-4963-99B1-521127432FCD}"/>
              </a:ext>
            </a:extLst>
          </p:cNvPr>
          <p:cNvSpPr>
            <a:spLocks xmlns:a="http://schemas.openxmlformats.org/drawingml/2006/main" noGrp="1"/>
          </p:cNvSpPr>
          <p:nvPr/>
        </p:nvSpPr>
        <p:spPr>
          <a:xfrm xmlns:a="http://schemas.openxmlformats.org/drawingml/2006/main">
            <a:off x="2190750" y="5572125"/>
            <a:ext cx="7810500" cy="495300"/>
          </a:xfrm>
          <a:prstGeom xmlns:a="http://schemas.openxmlformats.org/drawingml/2006/main" prst="roundRect">
            <a:avLst>
              <a:gd name="adj" fmla="val 15385"/>
            </a:avLst>
          </a:prstGeom>
          <a:solidFill xmlns:a="http://schemas.openxmlformats.org/drawingml/2006/main">
            <a:srgbClr val="0E151E"/>
          </a:solidFill>
          <a:ln xmlns:a="http://schemas.openxmlformats.org/drawingml/2006/main" w="9525">
            <a:solidFill>
              <a:srgbClr val="22D3EE"/>
            </a:solidFill>
            <a:prstDash val="solid"/>
          </a:ln>
        </p:spPr>
      </p:sp>
      <p:sp>
        <p:nvSpPr>
          <p:cNvPr id="55" name="">
            <a:extLst xmlns:a="http://schemas.openxmlformats.org/drawingml/2006/main">
              <a:ext uri="{FF2B5EF4-FFF2-40B4-BE49-F238E27FC236}">
                <a16:creationId xmlns:a16="http://schemas.microsoft.com/office/drawing/2014/main" id="{C076F7E2-DD6E-4699-BF0D-DA4109D85103}"/>
              </a:ext>
            </a:extLst>
          </p:cNvPr>
          <p:cNvSpPr>
            <a:spLocks xmlns:a="http://schemas.openxmlformats.org/drawingml/2006/main" noGrp="1"/>
          </p:cNvSpPr>
          <p:nvPr/>
        </p:nvSpPr>
        <p:spPr>
          <a:xfrm xmlns:a="http://schemas.openxmlformats.org/drawingml/2006/main">
            <a:off x="2381250" y="563880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The IDS detects. The drift pipeline measures change. The LLM explains the supplied evidence.</a:t>
            </a:r>
          </a:p>
        </p:txBody>
      </p:sp>
    </p:spTree>
    <p:extLst>
      <p:ext uri="{BB962C8B-B14F-4D97-AF65-F5344CB8AC3E}">
        <p14:creationId xmlns:p14="http://schemas.microsoft.com/office/powerpoint/2010/main" val="1470593638"/>
      </p:ext>
    </p:extLst>
  </p:cSld>
</p:sld>
</file>

<file path=ppt/slides/slide7.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C7CD40B-3B9D-4664-AB6E-BBB2DB5B74E1}"/>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EXPERIMENTAL PROTOCOL</a:t>
            </a:r>
          </a:p>
        </p:txBody>
      </p:sp>
      <p:sp>
        <p:nvSpPr>
          <p:cNvPr id="2" name="">
            <a:extLst xmlns:a="http://schemas.openxmlformats.org/drawingml/2006/main">
              <a:ext uri="{FF2B5EF4-FFF2-40B4-BE49-F238E27FC236}">
                <a16:creationId xmlns:a16="http://schemas.microsoft.com/office/drawing/2014/main" id="{254B1E05-FF51-4C5D-8F9D-6E4B8E7392FB}"/>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Attack timing and whole-seed separation prevent optimistic results</a:t>
            </a:r>
          </a:p>
        </p:txBody>
      </p:sp>
      <p:sp>
        <p:nvSpPr>
          <p:cNvPr id="3" name="">
            <a:extLst xmlns:a="http://schemas.openxmlformats.org/drawingml/2006/main">
              <a:ext uri="{FF2B5EF4-FFF2-40B4-BE49-F238E27FC236}">
                <a16:creationId xmlns:a16="http://schemas.microsoft.com/office/drawing/2014/main" id="{15697D19-0EFC-43DD-A53A-3D8CE83D205E}"/>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46DA56-2A74-4928-9E30-DE018FFE4457}"/>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BDE31B-9600-4444-A4B8-3AB25E25D268}"/>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Methodology</a:t>
            </a:r>
          </a:p>
        </p:txBody>
      </p:sp>
      <p:sp>
        <p:nvSpPr>
          <p:cNvPr id="6" name="">
            <a:extLst xmlns:a="http://schemas.openxmlformats.org/drawingml/2006/main">
              <a:ext uri="{FF2B5EF4-FFF2-40B4-BE49-F238E27FC236}">
                <a16:creationId xmlns:a16="http://schemas.microsoft.com/office/drawing/2014/main" id="{C4E55A10-DE40-46D1-B68F-16BC7BC6E330}"/>
              </a:ext>
            </a:extLst>
          </p:cNvPr>
          <p:cNvSpPr>
            <a:spLocks xmlns:a="http://schemas.openxmlformats.org/drawingml/2006/main" noGrp="1"/>
          </p:cNvSpPr>
          <p:nvPr/>
        </p:nvSpPr>
        <p:spPr>
          <a:xfrm xmlns:a="http://schemas.openxmlformats.org/drawingml/2006/main">
            <a:off x="762000" y="16002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97A3B2"/>
                </a:solidFill>
              </a:defRPr>
            </a:pPr>
            <a:r>
              <a:rPr sz="1050" b="1">
                <a:solidFill>
                  <a:srgbClr val="97A3B2"/>
                </a:solidFill>
              </a:rPr>
              <a:t>0 s</a:t>
            </a:r>
          </a:p>
        </p:txBody>
      </p:sp>
      <p:sp>
        <p:nvSpPr>
          <p:cNvPr id="7" name="">
            <a:extLst xmlns:a="http://schemas.openxmlformats.org/drawingml/2006/main">
              <a:ext uri="{FF2B5EF4-FFF2-40B4-BE49-F238E27FC236}">
                <a16:creationId xmlns:a16="http://schemas.microsoft.com/office/drawing/2014/main" id="{7EA93DE8-A014-4B1F-959A-D8C1821AD9DB}"/>
              </a:ext>
            </a:extLst>
          </p:cNvPr>
          <p:cNvSpPr>
            <a:spLocks xmlns:a="http://schemas.openxmlformats.org/drawingml/2006/main" noGrp="1"/>
          </p:cNvSpPr>
          <p:nvPr/>
        </p:nvSpPr>
        <p:spPr>
          <a:xfrm xmlns:a="http://schemas.openxmlformats.org/drawingml/2006/main">
            <a:off x="4695825" y="16002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59E0B"/>
                </a:solidFill>
              </a:defRPr>
            </a:pPr>
            <a:r>
              <a:rPr sz="1050" b="1">
                <a:solidFill>
                  <a:srgbClr val="F59E0B"/>
                </a:solidFill>
              </a:rPr>
              <a:t>240 s</a:t>
            </a:r>
          </a:p>
        </p:txBody>
      </p:sp>
      <p:sp>
        <p:nvSpPr>
          <p:cNvPr id="8" name="">
            <a:extLst xmlns:a="http://schemas.openxmlformats.org/drawingml/2006/main">
              <a:ext uri="{FF2B5EF4-FFF2-40B4-BE49-F238E27FC236}">
                <a16:creationId xmlns:a16="http://schemas.microsoft.com/office/drawing/2014/main" id="{56170AD2-8358-490D-881D-FD0F3DE150F6}"/>
              </a:ext>
            </a:extLst>
          </p:cNvPr>
          <p:cNvSpPr>
            <a:spLocks xmlns:a="http://schemas.openxmlformats.org/drawingml/2006/main" noGrp="1"/>
          </p:cNvSpPr>
          <p:nvPr/>
        </p:nvSpPr>
        <p:spPr>
          <a:xfrm xmlns:a="http://schemas.openxmlformats.org/drawingml/2006/main">
            <a:off x="10477500" y="16002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97A3B2"/>
                </a:solidFill>
              </a:defRPr>
            </a:pPr>
            <a:r>
              <a:rPr sz="1050" b="1">
                <a:solidFill>
                  <a:srgbClr val="97A3B2"/>
                </a:solidFill>
              </a:rPr>
              <a:t>540 s</a:t>
            </a:r>
          </a:p>
        </p:txBody>
      </p:sp>
      <p:sp>
        <p:nvSpPr>
          <p:cNvPr id="9" name="">
            <a:extLst xmlns:a="http://schemas.openxmlformats.org/drawingml/2006/main">
              <a:ext uri="{FF2B5EF4-FFF2-40B4-BE49-F238E27FC236}">
                <a16:creationId xmlns:a16="http://schemas.microsoft.com/office/drawing/2014/main" id="{ED80A35E-5B08-4844-8673-19F529F9EB71}"/>
              </a:ext>
            </a:extLst>
          </p:cNvPr>
          <p:cNvSpPr>
            <a:spLocks xmlns:a="http://schemas.openxmlformats.org/drawingml/2006/main" noGrp="1"/>
          </p:cNvSpPr>
          <p:nvPr/>
        </p:nvSpPr>
        <p:spPr>
          <a:xfrm xmlns:a="http://schemas.openxmlformats.org/drawingml/2006/main">
            <a:off x="1047750" y="2047875"/>
            <a:ext cx="9667875" cy="6667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276E76-9446-4769-8EC9-083CF127BC81}"/>
              </a:ext>
            </a:extLst>
          </p:cNvPr>
          <p:cNvSpPr>
            <a:spLocks xmlns:a="http://schemas.openxmlformats.org/drawingml/2006/main" noGrp="1"/>
          </p:cNvSpPr>
          <p:nvPr/>
        </p:nvSpPr>
        <p:spPr>
          <a:xfrm xmlns:a="http://schemas.openxmlformats.org/drawingml/2006/main">
            <a:off x="1047750" y="2047875"/>
            <a:ext cx="4000500" cy="66675"/>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F4CBC4-DD15-4E25-9803-D6384F556531}"/>
              </a:ext>
            </a:extLst>
          </p:cNvPr>
          <p:cNvSpPr>
            <a:spLocks xmlns:a="http://schemas.openxmlformats.org/drawingml/2006/main" noGrp="1"/>
          </p:cNvSpPr>
          <p:nvPr/>
        </p:nvSpPr>
        <p:spPr>
          <a:xfrm xmlns:a="http://schemas.openxmlformats.org/drawingml/2006/main">
            <a:off x="5048250" y="2047875"/>
            <a:ext cx="5667375" cy="66675"/>
          </a:xfrm>
          <a:prstGeom xmlns:a="http://schemas.openxmlformats.org/drawingml/2006/main" prst="rect">
            <a:avLst/>
          </a:prstGeom>
          <a:solidFill xmlns:a="http://schemas.openxmlformats.org/drawingml/2006/main">
            <a:srgbClr val="FB718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FD3215-D8E0-4EAC-8AC0-E0AC2C9BF131}"/>
              </a:ext>
            </a:extLst>
          </p:cNvPr>
          <p:cNvSpPr>
            <a:spLocks xmlns:a="http://schemas.openxmlformats.org/drawingml/2006/main" noGrp="1"/>
          </p:cNvSpPr>
          <p:nvPr/>
        </p:nvSpPr>
        <p:spPr>
          <a:xfrm xmlns:a="http://schemas.openxmlformats.org/drawingml/2006/main">
            <a:off x="4953000" y="1943100"/>
            <a:ext cx="266700" cy="26670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13" name="">
            <a:extLst xmlns:a="http://schemas.openxmlformats.org/drawingml/2006/main">
              <a:ext uri="{FF2B5EF4-FFF2-40B4-BE49-F238E27FC236}">
                <a16:creationId xmlns:a16="http://schemas.microsoft.com/office/drawing/2014/main" id="{41B9E2E0-5F87-4910-B650-930166A8F52D}"/>
              </a:ext>
            </a:extLst>
          </p:cNvPr>
          <p:cNvSpPr>
            <a:spLocks xmlns:a="http://schemas.openxmlformats.org/drawingml/2006/main" noGrp="1"/>
          </p:cNvSpPr>
          <p:nvPr/>
        </p:nvSpPr>
        <p:spPr>
          <a:xfrm xmlns:a="http://schemas.openxmlformats.org/drawingml/2006/main">
            <a:off x="1285875" y="238125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60A5FA"/>
                </a:solidFill>
              </a:defRPr>
            </a:pPr>
            <a:r>
              <a:rPr sz="1275" b="1">
                <a:solidFill>
                  <a:srgbClr val="60A5FA"/>
                </a:solidFill>
              </a:rPr>
              <a:t>Normal warm-up and routing formation</a:t>
            </a:r>
          </a:p>
        </p:txBody>
      </p:sp>
      <p:sp>
        <p:nvSpPr>
          <p:cNvPr id="14" name="">
            <a:extLst xmlns:a="http://schemas.openxmlformats.org/drawingml/2006/main">
              <a:ext uri="{FF2B5EF4-FFF2-40B4-BE49-F238E27FC236}">
                <a16:creationId xmlns:a16="http://schemas.microsoft.com/office/drawing/2014/main" id="{533F6680-6344-47BB-AA35-AE505C696C4A}"/>
              </a:ext>
            </a:extLst>
          </p:cNvPr>
          <p:cNvSpPr>
            <a:spLocks xmlns:a="http://schemas.openxmlformats.org/drawingml/2006/main" noGrp="1"/>
          </p:cNvSpPr>
          <p:nvPr/>
        </p:nvSpPr>
        <p:spPr>
          <a:xfrm xmlns:a="http://schemas.openxmlformats.org/drawingml/2006/main">
            <a:off x="6667500" y="23812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B7185"/>
                </a:solidFill>
              </a:defRPr>
            </a:pPr>
            <a:r>
              <a:rPr sz="1275" b="1">
                <a:solidFill>
                  <a:srgbClr val="FB7185"/>
                </a:solidFill>
              </a:rPr>
              <a:t>Attack active</a:t>
            </a:r>
          </a:p>
        </p:txBody>
      </p:sp>
      <p:sp>
        <p:nvSpPr>
          <p:cNvPr id="15" name="">
            <a:extLst xmlns:a="http://schemas.openxmlformats.org/drawingml/2006/main">
              <a:ext uri="{FF2B5EF4-FFF2-40B4-BE49-F238E27FC236}">
                <a16:creationId xmlns:a16="http://schemas.microsoft.com/office/drawing/2014/main" id="{EB575CAB-8DEA-4C9D-B6E0-18F63A42CCF0}"/>
              </a:ext>
            </a:extLst>
          </p:cNvPr>
          <p:cNvSpPr>
            <a:spLocks xmlns:a="http://schemas.openxmlformats.org/drawingml/2006/main" noGrp="1"/>
          </p:cNvSpPr>
          <p:nvPr/>
        </p:nvSpPr>
        <p:spPr>
          <a:xfrm xmlns:a="http://schemas.openxmlformats.org/drawingml/2006/main">
            <a:off x="1047750" y="3048000"/>
            <a:ext cx="1009650" cy="533400"/>
          </a:xfrm>
          <a:prstGeom xmlns:a="http://schemas.openxmlformats.org/drawingml/2006/main" prst="rect">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16" name="">
            <a:extLst xmlns:a="http://schemas.openxmlformats.org/drawingml/2006/main">
              <a:ext uri="{FF2B5EF4-FFF2-40B4-BE49-F238E27FC236}">
                <a16:creationId xmlns:a16="http://schemas.microsoft.com/office/drawing/2014/main" id="{D54529BB-A67E-40E8-9509-C69FF220B185}"/>
              </a:ext>
            </a:extLst>
          </p:cNvPr>
          <p:cNvSpPr>
            <a:spLocks xmlns:a="http://schemas.openxmlformats.org/drawingml/2006/main" noGrp="1"/>
          </p:cNvSpPr>
          <p:nvPr/>
        </p:nvSpPr>
        <p:spPr>
          <a:xfrm xmlns:a="http://schemas.openxmlformats.org/drawingml/2006/main">
            <a:off x="104775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0-60</a:t>
            </a:r>
          </a:p>
        </p:txBody>
      </p:sp>
      <p:sp>
        <p:nvSpPr>
          <p:cNvPr id="17" name="">
            <a:extLst xmlns:a="http://schemas.openxmlformats.org/drawingml/2006/main">
              <a:ext uri="{FF2B5EF4-FFF2-40B4-BE49-F238E27FC236}">
                <a16:creationId xmlns:a16="http://schemas.microsoft.com/office/drawing/2014/main" id="{E03C484A-B9F6-48B1-897B-65F13EDB6A9D}"/>
              </a:ext>
            </a:extLst>
          </p:cNvPr>
          <p:cNvSpPr>
            <a:spLocks xmlns:a="http://schemas.openxmlformats.org/drawingml/2006/main" noGrp="1"/>
          </p:cNvSpPr>
          <p:nvPr/>
        </p:nvSpPr>
        <p:spPr>
          <a:xfrm xmlns:a="http://schemas.openxmlformats.org/drawingml/2006/main">
            <a:off x="2122170" y="3048000"/>
            <a:ext cx="1009650" cy="533400"/>
          </a:xfrm>
          <a:prstGeom xmlns:a="http://schemas.openxmlformats.org/drawingml/2006/main" prst="rect">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18" name="">
            <a:extLst xmlns:a="http://schemas.openxmlformats.org/drawingml/2006/main">
              <a:ext uri="{FF2B5EF4-FFF2-40B4-BE49-F238E27FC236}">
                <a16:creationId xmlns:a16="http://schemas.microsoft.com/office/drawing/2014/main" id="{0FACF319-51AE-44CF-BC7A-F66CEC035E22}"/>
              </a:ext>
            </a:extLst>
          </p:cNvPr>
          <p:cNvSpPr>
            <a:spLocks xmlns:a="http://schemas.openxmlformats.org/drawingml/2006/main" noGrp="1"/>
          </p:cNvSpPr>
          <p:nvPr/>
        </p:nvSpPr>
        <p:spPr>
          <a:xfrm xmlns:a="http://schemas.openxmlformats.org/drawingml/2006/main">
            <a:off x="212217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60-120</a:t>
            </a:r>
          </a:p>
        </p:txBody>
      </p:sp>
      <p:sp>
        <p:nvSpPr>
          <p:cNvPr id="19" name="">
            <a:extLst xmlns:a="http://schemas.openxmlformats.org/drawingml/2006/main">
              <a:ext uri="{FF2B5EF4-FFF2-40B4-BE49-F238E27FC236}">
                <a16:creationId xmlns:a16="http://schemas.microsoft.com/office/drawing/2014/main" id="{5A76D358-1078-4794-9998-E33EA6EE4A44}"/>
              </a:ext>
            </a:extLst>
          </p:cNvPr>
          <p:cNvSpPr>
            <a:spLocks xmlns:a="http://schemas.openxmlformats.org/drawingml/2006/main" noGrp="1"/>
          </p:cNvSpPr>
          <p:nvPr/>
        </p:nvSpPr>
        <p:spPr>
          <a:xfrm xmlns:a="http://schemas.openxmlformats.org/drawingml/2006/main">
            <a:off x="3196590" y="3048000"/>
            <a:ext cx="1009650" cy="533400"/>
          </a:xfrm>
          <a:prstGeom xmlns:a="http://schemas.openxmlformats.org/drawingml/2006/main" prst="rect">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20" name="">
            <a:extLst xmlns:a="http://schemas.openxmlformats.org/drawingml/2006/main">
              <a:ext uri="{FF2B5EF4-FFF2-40B4-BE49-F238E27FC236}">
                <a16:creationId xmlns:a16="http://schemas.microsoft.com/office/drawing/2014/main" id="{037FD49C-8CD6-43AB-BE0E-504FEE8BA266}"/>
              </a:ext>
            </a:extLst>
          </p:cNvPr>
          <p:cNvSpPr>
            <a:spLocks xmlns:a="http://schemas.openxmlformats.org/drawingml/2006/main" noGrp="1"/>
          </p:cNvSpPr>
          <p:nvPr/>
        </p:nvSpPr>
        <p:spPr>
          <a:xfrm xmlns:a="http://schemas.openxmlformats.org/drawingml/2006/main">
            <a:off x="319659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120-180</a:t>
            </a:r>
          </a:p>
        </p:txBody>
      </p:sp>
      <p:sp>
        <p:nvSpPr>
          <p:cNvPr id="21" name="">
            <a:extLst xmlns:a="http://schemas.openxmlformats.org/drawingml/2006/main">
              <a:ext uri="{FF2B5EF4-FFF2-40B4-BE49-F238E27FC236}">
                <a16:creationId xmlns:a16="http://schemas.microsoft.com/office/drawing/2014/main" id="{A109ACFF-396A-4758-BDCF-DADE05FC9604}"/>
              </a:ext>
            </a:extLst>
          </p:cNvPr>
          <p:cNvSpPr>
            <a:spLocks xmlns:a="http://schemas.openxmlformats.org/drawingml/2006/main" noGrp="1"/>
          </p:cNvSpPr>
          <p:nvPr/>
        </p:nvSpPr>
        <p:spPr>
          <a:xfrm xmlns:a="http://schemas.openxmlformats.org/drawingml/2006/main">
            <a:off x="4271010" y="3048000"/>
            <a:ext cx="1009650" cy="533400"/>
          </a:xfrm>
          <a:prstGeom xmlns:a="http://schemas.openxmlformats.org/drawingml/2006/main" prst="rect">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22" name="">
            <a:extLst xmlns:a="http://schemas.openxmlformats.org/drawingml/2006/main">
              <a:ext uri="{FF2B5EF4-FFF2-40B4-BE49-F238E27FC236}">
                <a16:creationId xmlns:a16="http://schemas.microsoft.com/office/drawing/2014/main" id="{731A372D-CFFC-4445-9123-8CFCDBC9508E}"/>
              </a:ext>
            </a:extLst>
          </p:cNvPr>
          <p:cNvSpPr>
            <a:spLocks xmlns:a="http://schemas.openxmlformats.org/drawingml/2006/main" noGrp="1"/>
          </p:cNvSpPr>
          <p:nvPr/>
        </p:nvSpPr>
        <p:spPr>
          <a:xfrm xmlns:a="http://schemas.openxmlformats.org/drawingml/2006/main">
            <a:off x="427101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180-240</a:t>
            </a:r>
          </a:p>
        </p:txBody>
      </p:sp>
      <p:sp>
        <p:nvSpPr>
          <p:cNvPr id="23" name="">
            <a:extLst xmlns:a="http://schemas.openxmlformats.org/drawingml/2006/main">
              <a:ext uri="{FF2B5EF4-FFF2-40B4-BE49-F238E27FC236}">
                <a16:creationId xmlns:a16="http://schemas.microsoft.com/office/drawing/2014/main" id="{7AA5BA65-3554-4802-9342-2FA642B262DB}"/>
              </a:ext>
            </a:extLst>
          </p:cNvPr>
          <p:cNvSpPr>
            <a:spLocks xmlns:a="http://schemas.openxmlformats.org/drawingml/2006/main" noGrp="1"/>
          </p:cNvSpPr>
          <p:nvPr/>
        </p:nvSpPr>
        <p:spPr>
          <a:xfrm xmlns:a="http://schemas.openxmlformats.org/drawingml/2006/main">
            <a:off x="5345430" y="3048000"/>
            <a:ext cx="1009650" cy="533400"/>
          </a:xfrm>
          <a:prstGeom xmlns:a="http://schemas.openxmlformats.org/drawingml/2006/main" prst="rect">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24" name="">
            <a:extLst xmlns:a="http://schemas.openxmlformats.org/drawingml/2006/main">
              <a:ext uri="{FF2B5EF4-FFF2-40B4-BE49-F238E27FC236}">
                <a16:creationId xmlns:a16="http://schemas.microsoft.com/office/drawing/2014/main" id="{8E89B6A6-0AB3-4473-B3DC-3D1E096E2FAD}"/>
              </a:ext>
            </a:extLst>
          </p:cNvPr>
          <p:cNvSpPr>
            <a:spLocks xmlns:a="http://schemas.openxmlformats.org/drawingml/2006/main" noGrp="1"/>
          </p:cNvSpPr>
          <p:nvPr/>
        </p:nvSpPr>
        <p:spPr>
          <a:xfrm xmlns:a="http://schemas.openxmlformats.org/drawingml/2006/main">
            <a:off x="534543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240-300</a:t>
            </a:r>
          </a:p>
        </p:txBody>
      </p:sp>
      <p:sp>
        <p:nvSpPr>
          <p:cNvPr id="25" name="">
            <a:extLst xmlns:a="http://schemas.openxmlformats.org/drawingml/2006/main">
              <a:ext uri="{FF2B5EF4-FFF2-40B4-BE49-F238E27FC236}">
                <a16:creationId xmlns:a16="http://schemas.microsoft.com/office/drawing/2014/main" id="{B9B799F6-4530-47F2-B779-133BB3872934}"/>
              </a:ext>
            </a:extLst>
          </p:cNvPr>
          <p:cNvSpPr>
            <a:spLocks xmlns:a="http://schemas.openxmlformats.org/drawingml/2006/main" noGrp="1"/>
          </p:cNvSpPr>
          <p:nvPr/>
        </p:nvSpPr>
        <p:spPr>
          <a:xfrm xmlns:a="http://schemas.openxmlformats.org/drawingml/2006/main">
            <a:off x="6419850" y="3048000"/>
            <a:ext cx="1009650" cy="533400"/>
          </a:xfrm>
          <a:prstGeom xmlns:a="http://schemas.openxmlformats.org/drawingml/2006/main" prst="rect">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26" name="">
            <a:extLst xmlns:a="http://schemas.openxmlformats.org/drawingml/2006/main">
              <a:ext uri="{FF2B5EF4-FFF2-40B4-BE49-F238E27FC236}">
                <a16:creationId xmlns:a16="http://schemas.microsoft.com/office/drawing/2014/main" id="{7D91457A-23EF-4215-BD7F-8F8BD6564846}"/>
              </a:ext>
            </a:extLst>
          </p:cNvPr>
          <p:cNvSpPr>
            <a:spLocks xmlns:a="http://schemas.openxmlformats.org/drawingml/2006/main" noGrp="1"/>
          </p:cNvSpPr>
          <p:nvPr/>
        </p:nvSpPr>
        <p:spPr>
          <a:xfrm xmlns:a="http://schemas.openxmlformats.org/drawingml/2006/main">
            <a:off x="641985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300-360</a:t>
            </a:r>
          </a:p>
        </p:txBody>
      </p:sp>
      <p:sp>
        <p:nvSpPr>
          <p:cNvPr id="27" name="">
            <a:extLst xmlns:a="http://schemas.openxmlformats.org/drawingml/2006/main">
              <a:ext uri="{FF2B5EF4-FFF2-40B4-BE49-F238E27FC236}">
                <a16:creationId xmlns:a16="http://schemas.microsoft.com/office/drawing/2014/main" id="{2EFE645C-DA5C-44B5-B8BB-434A55949CBF}"/>
              </a:ext>
            </a:extLst>
          </p:cNvPr>
          <p:cNvSpPr>
            <a:spLocks xmlns:a="http://schemas.openxmlformats.org/drawingml/2006/main" noGrp="1"/>
          </p:cNvSpPr>
          <p:nvPr/>
        </p:nvSpPr>
        <p:spPr>
          <a:xfrm xmlns:a="http://schemas.openxmlformats.org/drawingml/2006/main">
            <a:off x="7494270" y="3048000"/>
            <a:ext cx="1009650" cy="533400"/>
          </a:xfrm>
          <a:prstGeom xmlns:a="http://schemas.openxmlformats.org/drawingml/2006/main" prst="rect">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28" name="">
            <a:extLst xmlns:a="http://schemas.openxmlformats.org/drawingml/2006/main">
              <a:ext uri="{FF2B5EF4-FFF2-40B4-BE49-F238E27FC236}">
                <a16:creationId xmlns:a16="http://schemas.microsoft.com/office/drawing/2014/main" id="{3927B7F2-A1A5-4D76-9F32-9594CCC5D3AB}"/>
              </a:ext>
            </a:extLst>
          </p:cNvPr>
          <p:cNvSpPr>
            <a:spLocks xmlns:a="http://schemas.openxmlformats.org/drawingml/2006/main" noGrp="1"/>
          </p:cNvSpPr>
          <p:nvPr/>
        </p:nvSpPr>
        <p:spPr>
          <a:xfrm xmlns:a="http://schemas.openxmlformats.org/drawingml/2006/main">
            <a:off x="749427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360-420</a:t>
            </a:r>
          </a:p>
        </p:txBody>
      </p:sp>
      <p:sp>
        <p:nvSpPr>
          <p:cNvPr id="29" name="">
            <a:extLst xmlns:a="http://schemas.openxmlformats.org/drawingml/2006/main">
              <a:ext uri="{FF2B5EF4-FFF2-40B4-BE49-F238E27FC236}">
                <a16:creationId xmlns:a16="http://schemas.microsoft.com/office/drawing/2014/main" id="{C0E2B548-403C-4562-964B-0AC1B2FF21B6}"/>
              </a:ext>
            </a:extLst>
          </p:cNvPr>
          <p:cNvSpPr>
            <a:spLocks xmlns:a="http://schemas.openxmlformats.org/drawingml/2006/main" noGrp="1"/>
          </p:cNvSpPr>
          <p:nvPr/>
        </p:nvSpPr>
        <p:spPr>
          <a:xfrm xmlns:a="http://schemas.openxmlformats.org/drawingml/2006/main">
            <a:off x="8568690" y="3048000"/>
            <a:ext cx="1009650" cy="533400"/>
          </a:xfrm>
          <a:prstGeom xmlns:a="http://schemas.openxmlformats.org/drawingml/2006/main" prst="rect">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30" name="">
            <a:extLst xmlns:a="http://schemas.openxmlformats.org/drawingml/2006/main">
              <a:ext uri="{FF2B5EF4-FFF2-40B4-BE49-F238E27FC236}">
                <a16:creationId xmlns:a16="http://schemas.microsoft.com/office/drawing/2014/main" id="{D19D7169-7E74-41F9-AEF4-EDA511D1A31B}"/>
              </a:ext>
            </a:extLst>
          </p:cNvPr>
          <p:cNvSpPr>
            <a:spLocks xmlns:a="http://schemas.openxmlformats.org/drawingml/2006/main" noGrp="1"/>
          </p:cNvSpPr>
          <p:nvPr/>
        </p:nvSpPr>
        <p:spPr>
          <a:xfrm xmlns:a="http://schemas.openxmlformats.org/drawingml/2006/main">
            <a:off x="856869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420-480</a:t>
            </a:r>
          </a:p>
        </p:txBody>
      </p:sp>
      <p:sp>
        <p:nvSpPr>
          <p:cNvPr id="31" name="">
            <a:extLst xmlns:a="http://schemas.openxmlformats.org/drawingml/2006/main">
              <a:ext uri="{FF2B5EF4-FFF2-40B4-BE49-F238E27FC236}">
                <a16:creationId xmlns:a16="http://schemas.microsoft.com/office/drawing/2014/main" id="{2411E969-09FC-4BE1-AC91-3F77895826BA}"/>
              </a:ext>
            </a:extLst>
          </p:cNvPr>
          <p:cNvSpPr>
            <a:spLocks xmlns:a="http://schemas.openxmlformats.org/drawingml/2006/main" noGrp="1"/>
          </p:cNvSpPr>
          <p:nvPr/>
        </p:nvSpPr>
        <p:spPr>
          <a:xfrm xmlns:a="http://schemas.openxmlformats.org/drawingml/2006/main">
            <a:off x="9643110" y="3048000"/>
            <a:ext cx="1009650" cy="533400"/>
          </a:xfrm>
          <a:prstGeom xmlns:a="http://schemas.openxmlformats.org/drawingml/2006/main" prst="rect">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32" name="">
            <a:extLst xmlns:a="http://schemas.openxmlformats.org/drawingml/2006/main">
              <a:ext uri="{FF2B5EF4-FFF2-40B4-BE49-F238E27FC236}">
                <a16:creationId xmlns:a16="http://schemas.microsoft.com/office/drawing/2014/main" id="{80371D4E-F2EC-4A1E-8924-A20648F759FF}"/>
              </a:ext>
            </a:extLst>
          </p:cNvPr>
          <p:cNvSpPr>
            <a:spLocks xmlns:a="http://schemas.openxmlformats.org/drawingml/2006/main" noGrp="1"/>
          </p:cNvSpPr>
          <p:nvPr/>
        </p:nvSpPr>
        <p:spPr>
          <a:xfrm xmlns:a="http://schemas.openxmlformats.org/drawingml/2006/main">
            <a:off x="9643110" y="30480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EAF0"/>
                </a:solidFill>
              </a:defRPr>
            </a:pPr>
            <a:r>
              <a:rPr sz="900" b="1">
                <a:solidFill>
                  <a:srgbClr val="E5EAF0"/>
                </a:solidFill>
              </a:rPr>
              <a:t>480-540</a:t>
            </a:r>
          </a:p>
        </p:txBody>
      </p:sp>
      <p:sp>
        <p:nvSpPr>
          <p:cNvPr id="33" name="">
            <a:extLst xmlns:a="http://schemas.openxmlformats.org/drawingml/2006/main">
              <a:ext uri="{FF2B5EF4-FFF2-40B4-BE49-F238E27FC236}">
                <a16:creationId xmlns:a16="http://schemas.microsoft.com/office/drawing/2014/main" id="{6908F44D-B635-438C-B6B6-2DF55D2D3E16}"/>
              </a:ext>
            </a:extLst>
          </p:cNvPr>
          <p:cNvSpPr>
            <a:spLocks xmlns:a="http://schemas.openxmlformats.org/drawingml/2006/main" noGrp="1"/>
          </p:cNvSpPr>
          <p:nvPr/>
        </p:nvSpPr>
        <p:spPr>
          <a:xfrm xmlns:a="http://schemas.openxmlformats.org/drawingml/2006/main">
            <a:off x="1047750" y="3667125"/>
            <a:ext cx="966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97A3B2"/>
                </a:solidFill>
              </a:defRPr>
            </a:pPr>
            <a:r>
              <a:rPr sz="1125" b="1">
                <a:solidFill>
                  <a:srgbClr val="97A3B2"/>
                </a:solidFill>
              </a:rPr>
              <a:t>60-second feature windows</a:t>
            </a:r>
          </a:p>
        </p:txBody>
      </p:sp>
      <p:sp>
        <p:nvSpPr>
          <p:cNvPr id="34" name="">
            <a:extLst xmlns:a="http://schemas.openxmlformats.org/drawingml/2006/main">
              <a:ext uri="{FF2B5EF4-FFF2-40B4-BE49-F238E27FC236}">
                <a16:creationId xmlns:a16="http://schemas.microsoft.com/office/drawing/2014/main" id="{8D037CB7-A7F7-4843-923D-C1E47680D5A9}"/>
              </a:ext>
            </a:extLst>
          </p:cNvPr>
          <p:cNvSpPr>
            <a:spLocks xmlns:a="http://schemas.openxmlformats.org/drawingml/2006/main" noGrp="1"/>
          </p:cNvSpPr>
          <p:nvPr/>
        </p:nvSpPr>
        <p:spPr>
          <a:xfrm xmlns:a="http://schemas.openxmlformats.org/drawingml/2006/main">
            <a:off x="819150" y="4267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B7185"/>
                </a:solidFill>
              </a:defRPr>
            </a:pPr>
            <a:r>
              <a:rPr sz="825" b="1">
                <a:solidFill>
                  <a:srgbClr val="FB7185"/>
                </a:solidFill>
              </a:rPr>
              <a:t>WRONG SPLIT</a:t>
            </a:r>
          </a:p>
        </p:txBody>
      </p:sp>
      <p:sp>
        <p:nvSpPr>
          <p:cNvPr id="35" name="">
            <a:extLst xmlns:a="http://schemas.openxmlformats.org/drawingml/2006/main">
              <a:ext uri="{FF2B5EF4-FFF2-40B4-BE49-F238E27FC236}">
                <a16:creationId xmlns:a16="http://schemas.microsoft.com/office/drawing/2014/main" id="{4CA37D75-0980-43C6-B129-D58EA1FD1EDD}"/>
              </a:ext>
            </a:extLst>
          </p:cNvPr>
          <p:cNvSpPr>
            <a:spLocks xmlns:a="http://schemas.openxmlformats.org/drawingml/2006/main" noGrp="1"/>
          </p:cNvSpPr>
          <p:nvPr/>
        </p:nvSpPr>
        <p:spPr>
          <a:xfrm xmlns:a="http://schemas.openxmlformats.org/drawingml/2006/main">
            <a:off x="6419850" y="42672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34D399"/>
                </a:solidFill>
              </a:defRPr>
            </a:pPr>
            <a:r>
              <a:rPr sz="825" b="1">
                <a:solidFill>
                  <a:srgbClr val="34D399"/>
                </a:solidFill>
              </a:rPr>
              <a:t>CORRECT SPLIT</a:t>
            </a:r>
          </a:p>
        </p:txBody>
      </p:sp>
      <p:sp>
        <p:nvSpPr>
          <p:cNvPr id="36" name="">
            <a:extLst xmlns:a="http://schemas.openxmlformats.org/drawingml/2006/main">
              <a:ext uri="{FF2B5EF4-FFF2-40B4-BE49-F238E27FC236}">
                <a16:creationId xmlns:a16="http://schemas.microsoft.com/office/drawing/2014/main" id="{D2BDFB4F-B9A7-495B-BD33-6D4E2F2220B5}"/>
              </a:ext>
            </a:extLst>
          </p:cNvPr>
          <p:cNvSpPr>
            <a:spLocks xmlns:a="http://schemas.openxmlformats.org/drawingml/2006/main" noGrp="1"/>
          </p:cNvSpPr>
          <p:nvPr/>
        </p:nvSpPr>
        <p:spPr>
          <a:xfrm xmlns:a="http://schemas.openxmlformats.org/drawingml/2006/main">
            <a:off x="762000" y="4572000"/>
            <a:ext cx="4762500" cy="1085850"/>
          </a:xfrm>
          <a:prstGeom xmlns:a="http://schemas.openxmlformats.org/drawingml/2006/main" prst="roundRect">
            <a:avLst>
              <a:gd name="adj" fmla="val 7018"/>
            </a:avLst>
          </a:prstGeom>
          <a:solidFill xmlns:a="http://schemas.openxmlformats.org/drawingml/2006/main">
            <a:srgbClr val="121C27"/>
          </a:solidFill>
          <a:ln xmlns:a="http://schemas.openxmlformats.org/drawingml/2006/main" w="9525">
            <a:solidFill>
              <a:srgbClr val="2C3A49"/>
            </a:solidFill>
            <a:prstDash val="solid"/>
          </a:ln>
        </p:spPr>
      </p:sp>
      <p:sp>
        <p:nvSpPr>
          <p:cNvPr id="37" name="">
            <a:extLst xmlns:a="http://schemas.openxmlformats.org/drawingml/2006/main">
              <a:ext uri="{FF2B5EF4-FFF2-40B4-BE49-F238E27FC236}">
                <a16:creationId xmlns:a16="http://schemas.microsoft.com/office/drawing/2014/main" id="{378E7340-79D8-4B35-939D-E22D625B3A6E}"/>
              </a:ext>
            </a:extLst>
          </p:cNvPr>
          <p:cNvSpPr>
            <a:spLocks xmlns:a="http://schemas.openxmlformats.org/drawingml/2006/main" noGrp="1"/>
          </p:cNvSpPr>
          <p:nvPr/>
        </p:nvSpPr>
        <p:spPr>
          <a:xfrm xmlns:a="http://schemas.openxmlformats.org/drawingml/2006/main">
            <a:off x="952500" y="47053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Seed 123456 windows</a:t>
            </a:r>
          </a:p>
        </p:txBody>
      </p:sp>
      <p:sp>
        <p:nvSpPr>
          <p:cNvPr id="38" name="">
            <a:extLst xmlns:a="http://schemas.openxmlformats.org/drawingml/2006/main">
              <a:ext uri="{FF2B5EF4-FFF2-40B4-BE49-F238E27FC236}">
                <a16:creationId xmlns:a16="http://schemas.microsoft.com/office/drawing/2014/main" id="{ABEFF38E-C764-439A-B3FD-2A67534C8D95}"/>
              </a:ext>
            </a:extLst>
          </p:cNvPr>
          <p:cNvSpPr>
            <a:spLocks xmlns:a="http://schemas.openxmlformats.org/drawingml/2006/main" noGrp="1"/>
          </p:cNvSpPr>
          <p:nvPr/>
        </p:nvSpPr>
        <p:spPr>
          <a:xfrm xmlns:a="http://schemas.openxmlformats.org/drawingml/2006/main">
            <a:off x="3048000" y="4705350"/>
            <a:ext cx="85725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39" name="">
            <a:extLst xmlns:a="http://schemas.openxmlformats.org/drawingml/2006/main">
              <a:ext uri="{FF2B5EF4-FFF2-40B4-BE49-F238E27FC236}">
                <a16:creationId xmlns:a16="http://schemas.microsoft.com/office/drawing/2014/main" id="{313ABFEB-4A6D-412B-9C53-D051DDF535B8}"/>
              </a:ext>
            </a:extLst>
          </p:cNvPr>
          <p:cNvSpPr>
            <a:spLocks xmlns:a="http://schemas.openxmlformats.org/drawingml/2006/main" noGrp="1"/>
          </p:cNvSpPr>
          <p:nvPr/>
        </p:nvSpPr>
        <p:spPr>
          <a:xfrm xmlns:a="http://schemas.openxmlformats.org/drawingml/2006/main">
            <a:off x="3124200" y="47053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TRAIN</a:t>
            </a:r>
          </a:p>
        </p:txBody>
      </p:sp>
      <p:sp>
        <p:nvSpPr>
          <p:cNvPr id="40" name="">
            <a:extLst xmlns:a="http://schemas.openxmlformats.org/drawingml/2006/main">
              <a:ext uri="{FF2B5EF4-FFF2-40B4-BE49-F238E27FC236}">
                <a16:creationId xmlns:a16="http://schemas.microsoft.com/office/drawing/2014/main" id="{019AA14E-5162-485E-BA6D-AA66769CC74C}"/>
              </a:ext>
            </a:extLst>
          </p:cNvPr>
          <p:cNvSpPr>
            <a:spLocks xmlns:a="http://schemas.openxmlformats.org/drawingml/2006/main" noGrp="1"/>
          </p:cNvSpPr>
          <p:nvPr/>
        </p:nvSpPr>
        <p:spPr>
          <a:xfrm xmlns:a="http://schemas.openxmlformats.org/drawingml/2006/main">
            <a:off x="4000500" y="4705350"/>
            <a:ext cx="857250" cy="266700"/>
          </a:xfrm>
          <a:prstGeom xmlns:a="http://schemas.openxmlformats.org/drawingml/2006/main" prst="roundRect">
            <a:avLst>
              <a:gd name="adj" fmla="val 28571"/>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41" name="">
            <a:extLst xmlns:a="http://schemas.openxmlformats.org/drawingml/2006/main">
              <a:ext uri="{FF2B5EF4-FFF2-40B4-BE49-F238E27FC236}">
                <a16:creationId xmlns:a16="http://schemas.microsoft.com/office/drawing/2014/main" id="{140637E4-2497-43A2-A278-EE4F39753CCD}"/>
              </a:ext>
            </a:extLst>
          </p:cNvPr>
          <p:cNvSpPr>
            <a:spLocks xmlns:a="http://schemas.openxmlformats.org/drawingml/2006/main" noGrp="1"/>
          </p:cNvSpPr>
          <p:nvPr/>
        </p:nvSpPr>
        <p:spPr>
          <a:xfrm xmlns:a="http://schemas.openxmlformats.org/drawingml/2006/main">
            <a:off x="4076700" y="47053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B7185"/>
                </a:solidFill>
              </a:defRPr>
            </a:pPr>
            <a:r>
              <a:rPr sz="900" b="1">
                <a:solidFill>
                  <a:srgbClr val="FB7185"/>
                </a:solidFill>
              </a:rPr>
              <a:t>TEST</a:t>
            </a:r>
          </a:p>
        </p:txBody>
      </p:sp>
      <p:sp>
        <p:nvSpPr>
          <p:cNvPr id="42" name="">
            <a:extLst xmlns:a="http://schemas.openxmlformats.org/drawingml/2006/main">
              <a:ext uri="{FF2B5EF4-FFF2-40B4-BE49-F238E27FC236}">
                <a16:creationId xmlns:a16="http://schemas.microsoft.com/office/drawing/2014/main" id="{432FCC4A-B94A-407F-80B7-BEFA670DF59C}"/>
              </a:ext>
            </a:extLst>
          </p:cNvPr>
          <p:cNvSpPr>
            <a:spLocks xmlns:a="http://schemas.openxmlformats.org/drawingml/2006/main" noGrp="1"/>
          </p:cNvSpPr>
          <p:nvPr/>
        </p:nvSpPr>
        <p:spPr>
          <a:xfrm xmlns:a="http://schemas.openxmlformats.org/drawingml/2006/main">
            <a:off x="952500" y="5124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B7185"/>
                </a:solidFill>
              </a:defRPr>
            </a:pPr>
            <a:r>
              <a:rPr sz="1050" b="1">
                <a:solidFill>
                  <a:srgbClr val="FB7185"/>
                </a:solidFill>
              </a:rPr>
              <a:t>Parts of the same run appear on both sides</a:t>
            </a:r>
          </a:p>
        </p:txBody>
      </p:sp>
      <p:sp>
        <p:nvSpPr>
          <p:cNvPr id="43" name="">
            <a:extLst xmlns:a="http://schemas.openxmlformats.org/drawingml/2006/main">
              <a:ext uri="{FF2B5EF4-FFF2-40B4-BE49-F238E27FC236}">
                <a16:creationId xmlns:a16="http://schemas.microsoft.com/office/drawing/2014/main" id="{C476C7B3-7999-41A3-83C1-CB87F5CBBC73}"/>
              </a:ext>
            </a:extLst>
          </p:cNvPr>
          <p:cNvSpPr>
            <a:spLocks xmlns:a="http://schemas.openxmlformats.org/drawingml/2006/main" noGrp="1"/>
          </p:cNvSpPr>
          <p:nvPr/>
        </p:nvSpPr>
        <p:spPr>
          <a:xfrm xmlns:a="http://schemas.openxmlformats.org/drawingml/2006/main">
            <a:off x="6381750" y="4572000"/>
            <a:ext cx="4762500" cy="1085850"/>
          </a:xfrm>
          <a:prstGeom xmlns:a="http://schemas.openxmlformats.org/drawingml/2006/main" prst="roundRect">
            <a:avLst>
              <a:gd name="adj" fmla="val 7018"/>
            </a:avLst>
          </a:prstGeom>
          <a:solidFill xmlns:a="http://schemas.openxmlformats.org/drawingml/2006/main">
            <a:srgbClr val="121C27"/>
          </a:solidFill>
          <a:ln xmlns:a="http://schemas.openxmlformats.org/drawingml/2006/main" w="9525">
            <a:solidFill>
              <a:srgbClr val="2C3A49"/>
            </a:solidFill>
            <a:prstDash val="solid"/>
          </a:ln>
        </p:spPr>
      </p:sp>
      <p:sp>
        <p:nvSpPr>
          <p:cNvPr id="44" name="">
            <a:extLst xmlns:a="http://schemas.openxmlformats.org/drawingml/2006/main">
              <a:ext uri="{FF2B5EF4-FFF2-40B4-BE49-F238E27FC236}">
                <a16:creationId xmlns:a16="http://schemas.microsoft.com/office/drawing/2014/main" id="{2BE5AFB0-08E9-42DA-9AC0-1DF7C09CACBF}"/>
              </a:ext>
            </a:extLst>
          </p:cNvPr>
          <p:cNvSpPr>
            <a:spLocks xmlns:a="http://schemas.openxmlformats.org/drawingml/2006/main" noGrp="1"/>
          </p:cNvSpPr>
          <p:nvPr/>
        </p:nvSpPr>
        <p:spPr>
          <a:xfrm xmlns:a="http://schemas.openxmlformats.org/drawingml/2006/main">
            <a:off x="6572250" y="4705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Seed 123456</a:t>
            </a:r>
          </a:p>
        </p:txBody>
      </p:sp>
      <p:sp>
        <p:nvSpPr>
          <p:cNvPr id="45" name="">
            <a:extLst xmlns:a="http://schemas.openxmlformats.org/drawingml/2006/main">
              <a:ext uri="{FF2B5EF4-FFF2-40B4-BE49-F238E27FC236}">
                <a16:creationId xmlns:a16="http://schemas.microsoft.com/office/drawing/2014/main" id="{19A10111-16F6-4F6C-875B-676DD056E051}"/>
              </a:ext>
            </a:extLst>
          </p:cNvPr>
          <p:cNvSpPr>
            <a:spLocks xmlns:a="http://schemas.openxmlformats.org/drawingml/2006/main" noGrp="1"/>
          </p:cNvSpPr>
          <p:nvPr/>
        </p:nvSpPr>
        <p:spPr>
          <a:xfrm xmlns:a="http://schemas.openxmlformats.org/drawingml/2006/main">
            <a:off x="8334375" y="4705350"/>
            <a:ext cx="857250" cy="266700"/>
          </a:xfrm>
          <a:prstGeom xmlns:a="http://schemas.openxmlformats.org/drawingml/2006/main" prst="roundRect">
            <a:avLst>
              <a:gd name="adj" fmla="val 28571"/>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46" name="">
            <a:extLst xmlns:a="http://schemas.openxmlformats.org/drawingml/2006/main">
              <a:ext uri="{FF2B5EF4-FFF2-40B4-BE49-F238E27FC236}">
                <a16:creationId xmlns:a16="http://schemas.microsoft.com/office/drawing/2014/main" id="{3630B87F-4C78-4101-9BCA-BE35D48AE4BF}"/>
              </a:ext>
            </a:extLst>
          </p:cNvPr>
          <p:cNvSpPr>
            <a:spLocks xmlns:a="http://schemas.openxmlformats.org/drawingml/2006/main" noGrp="1"/>
          </p:cNvSpPr>
          <p:nvPr/>
        </p:nvSpPr>
        <p:spPr>
          <a:xfrm xmlns:a="http://schemas.openxmlformats.org/drawingml/2006/main">
            <a:off x="8410575" y="47053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0A5FA"/>
                </a:solidFill>
              </a:defRPr>
            </a:pPr>
            <a:r>
              <a:rPr sz="900" b="1">
                <a:solidFill>
                  <a:srgbClr val="60A5FA"/>
                </a:solidFill>
              </a:rPr>
              <a:t>TRAIN</a:t>
            </a:r>
          </a:p>
        </p:txBody>
      </p:sp>
      <p:sp>
        <p:nvSpPr>
          <p:cNvPr id="47" name="">
            <a:extLst xmlns:a="http://schemas.openxmlformats.org/drawingml/2006/main">
              <a:ext uri="{FF2B5EF4-FFF2-40B4-BE49-F238E27FC236}">
                <a16:creationId xmlns:a16="http://schemas.microsoft.com/office/drawing/2014/main" id="{9CCB382D-8309-4984-9A6A-751A116306C7}"/>
              </a:ext>
            </a:extLst>
          </p:cNvPr>
          <p:cNvSpPr>
            <a:spLocks xmlns:a="http://schemas.openxmlformats.org/drawingml/2006/main" noGrp="1"/>
          </p:cNvSpPr>
          <p:nvPr/>
        </p:nvSpPr>
        <p:spPr>
          <a:xfrm xmlns:a="http://schemas.openxmlformats.org/drawingml/2006/main">
            <a:off x="6572250" y="5124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Seed 345678</a:t>
            </a:r>
          </a:p>
        </p:txBody>
      </p:sp>
      <p:sp>
        <p:nvSpPr>
          <p:cNvPr id="48" name="">
            <a:extLst xmlns:a="http://schemas.openxmlformats.org/drawingml/2006/main">
              <a:ext uri="{FF2B5EF4-FFF2-40B4-BE49-F238E27FC236}">
                <a16:creationId xmlns:a16="http://schemas.microsoft.com/office/drawing/2014/main" id="{3BFB5DF0-8629-40E2-81B0-3069EB4FBFCF}"/>
              </a:ext>
            </a:extLst>
          </p:cNvPr>
          <p:cNvSpPr>
            <a:spLocks xmlns:a="http://schemas.openxmlformats.org/drawingml/2006/main" noGrp="1"/>
          </p:cNvSpPr>
          <p:nvPr/>
        </p:nvSpPr>
        <p:spPr>
          <a:xfrm xmlns:a="http://schemas.openxmlformats.org/drawingml/2006/main">
            <a:off x="8334375" y="5124450"/>
            <a:ext cx="857250" cy="266700"/>
          </a:xfrm>
          <a:prstGeom xmlns:a="http://schemas.openxmlformats.org/drawingml/2006/main" prst="roundRect">
            <a:avLst>
              <a:gd name="adj" fmla="val 28571"/>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49" name="">
            <a:extLst xmlns:a="http://schemas.openxmlformats.org/drawingml/2006/main">
              <a:ext uri="{FF2B5EF4-FFF2-40B4-BE49-F238E27FC236}">
                <a16:creationId xmlns:a16="http://schemas.microsoft.com/office/drawing/2014/main" id="{2A131AD9-8FA1-4BB0-81A6-4230BD01152F}"/>
              </a:ext>
            </a:extLst>
          </p:cNvPr>
          <p:cNvSpPr>
            <a:spLocks xmlns:a="http://schemas.openxmlformats.org/drawingml/2006/main" noGrp="1"/>
          </p:cNvSpPr>
          <p:nvPr/>
        </p:nvSpPr>
        <p:spPr>
          <a:xfrm xmlns:a="http://schemas.openxmlformats.org/drawingml/2006/main">
            <a:off x="8410575" y="512445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4D399"/>
                </a:solidFill>
              </a:defRPr>
            </a:pPr>
            <a:r>
              <a:rPr sz="900" b="1">
                <a:solidFill>
                  <a:srgbClr val="34D399"/>
                </a:solidFill>
              </a:rPr>
              <a:t>TEST</a:t>
            </a:r>
          </a:p>
        </p:txBody>
      </p:sp>
      <p:sp>
        <p:nvSpPr>
          <p:cNvPr id="50" name="">
            <a:extLst xmlns:a="http://schemas.openxmlformats.org/drawingml/2006/main">
              <a:ext uri="{FF2B5EF4-FFF2-40B4-BE49-F238E27FC236}">
                <a16:creationId xmlns:a16="http://schemas.microsoft.com/office/drawing/2014/main" id="{3DACCB2A-CAC0-488B-ACB5-27FF81114BFD}"/>
              </a:ext>
            </a:extLst>
          </p:cNvPr>
          <p:cNvSpPr>
            <a:spLocks xmlns:a="http://schemas.openxmlformats.org/drawingml/2006/main" noGrp="1"/>
          </p:cNvSpPr>
          <p:nvPr/>
        </p:nvSpPr>
        <p:spPr>
          <a:xfrm xmlns:a="http://schemas.openxmlformats.org/drawingml/2006/main">
            <a:off x="9382125" y="4857750"/>
            <a:ext cx="1571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4D399"/>
                </a:solidFill>
              </a:defRPr>
            </a:pPr>
            <a:r>
              <a:rPr sz="1050" b="1">
                <a:solidFill>
                  <a:srgbClr val="34D399"/>
                </a:solidFill>
              </a:rPr>
              <a:t>Complete simulations stay together</a:t>
            </a:r>
          </a:p>
        </p:txBody>
      </p:sp>
      <p:sp>
        <p:nvSpPr>
          <p:cNvPr id="51" name="">
            <a:extLst xmlns:a="http://schemas.openxmlformats.org/drawingml/2006/main">
              <a:ext uri="{FF2B5EF4-FFF2-40B4-BE49-F238E27FC236}">
                <a16:creationId xmlns:a16="http://schemas.microsoft.com/office/drawing/2014/main" id="{DEDA652B-C45F-4066-BDB2-7D3F472C4B57}"/>
              </a:ext>
            </a:extLst>
          </p:cNvPr>
          <p:cNvSpPr>
            <a:spLocks xmlns:a="http://schemas.openxmlformats.org/drawingml/2006/main" noGrp="1"/>
          </p:cNvSpPr>
          <p:nvPr/>
        </p:nvSpPr>
        <p:spPr>
          <a:xfrm xmlns:a="http://schemas.openxmlformats.org/drawingml/2006/main">
            <a:off x="1571625" y="5953125"/>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7FAFC"/>
                </a:solidFill>
              </a:defRPr>
            </a:pPr>
            <a:r>
              <a:rPr sz="1125" b="1">
                <a:solidFill>
                  <a:srgbClr val="F7FAFC"/>
                </a:solidFill>
              </a:rPr>
              <a:t>16 nodes | 5 attack seeds + 5 controls per family | 540 seconds | attack begins at 240 seconds</a:t>
            </a:r>
          </a:p>
        </p:txBody>
      </p:sp>
    </p:spTree>
    <p:extLst>
      <p:ext uri="{BB962C8B-B14F-4D97-AF65-F5344CB8AC3E}">
        <p14:creationId xmlns:p14="http://schemas.microsoft.com/office/powerpoint/2010/main" val="346979800"/>
      </p:ext>
    </p:extLst>
  </p:cSld>
</p:sld>
</file>

<file path=ppt/slides/slide8.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AD0A1D-C01B-4B54-A6F2-95D0CB3FE718}"/>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ATTACK VALIDATION</a:t>
            </a:r>
          </a:p>
        </p:txBody>
      </p:sp>
      <p:sp>
        <p:nvSpPr>
          <p:cNvPr id="2" name="">
            <a:extLst xmlns:a="http://schemas.openxmlformats.org/drawingml/2006/main">
              <a:ext uri="{FF2B5EF4-FFF2-40B4-BE49-F238E27FC236}">
                <a16:creationId xmlns:a16="http://schemas.microsoft.com/office/drawing/2014/main" id="{7B45680F-203A-462F-A4C3-6A582E017B6A}"/>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dataset labels are grounded in real Cooja behaviour</a:t>
            </a:r>
          </a:p>
        </p:txBody>
      </p:sp>
      <p:sp>
        <p:nvSpPr>
          <p:cNvPr id="3" name="">
            <a:extLst xmlns:a="http://schemas.openxmlformats.org/drawingml/2006/main">
              <a:ext uri="{FF2B5EF4-FFF2-40B4-BE49-F238E27FC236}">
                <a16:creationId xmlns:a16="http://schemas.microsoft.com/office/drawing/2014/main" id="{D2A966F5-C4A2-48BF-9BED-2674D3935FE8}"/>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3893A6-4479-49F6-812D-2CA7E0358E02}"/>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EA4044-285A-4A78-9C4D-CBFC417D4E8A}"/>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Implementation evidence</a:t>
            </a:r>
          </a:p>
        </p:txBody>
      </p:sp>
      <p:sp>
        <p:nvSpPr>
          <p:cNvPr id="6" name="">
            <a:extLst xmlns:a="http://schemas.openxmlformats.org/drawingml/2006/main">
              <a:ext uri="{FF2B5EF4-FFF2-40B4-BE49-F238E27FC236}">
                <a16:creationId xmlns:a16="http://schemas.microsoft.com/office/drawing/2014/main" id="{FF10C6E2-BC82-49F3-8A5C-8D4BDF24C7AA}"/>
              </a:ext>
            </a:extLst>
          </p:cNvPr>
          <p:cNvSpPr>
            <a:spLocks xmlns:a="http://schemas.openxmlformats.org/drawingml/2006/main" noGrp="1"/>
          </p:cNvSpPr>
          <p:nvPr/>
        </p:nvSpPr>
        <p:spPr>
          <a:xfrm xmlns:a="http://schemas.openxmlformats.org/drawingml/2006/main">
            <a:off x="495300" y="1381125"/>
            <a:ext cx="57150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9DEE5"/>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d41c243387b4167"/>
          <a:srcRect xmlns:a="http://schemas.openxmlformats.org/drawingml/2006/main" l="2303" t="0" r="2303" b="0"/>
          <a:stretch xmlns:a="http://schemas.openxmlformats.org/drawingml/2006/main">
            <a:fillRect l="0" t="0" r="0" b="0"/>
          </a:stretch>
        </p:blipFill>
        <p:spPr>
          <a:xfrm xmlns:a="http://schemas.openxmlformats.org/drawingml/2006/main">
            <a:off x="590550" y="1476375"/>
            <a:ext cx="5524500" cy="3619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5C2C3BC-4F3D-40FA-BD88-BC79128528B2}"/>
              </a:ext>
            </a:extLst>
          </p:cNvPr>
          <p:cNvSpPr>
            <a:spLocks xmlns:a="http://schemas.openxmlformats.org/drawingml/2006/main" noGrp="1"/>
          </p:cNvSpPr>
          <p:nvPr/>
        </p:nvSpPr>
        <p:spPr>
          <a:xfrm xmlns:a="http://schemas.openxmlformats.org/drawingml/2006/main">
            <a:off x="685800" y="5286375"/>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97A3B2"/>
                </a:solidFill>
              </a:defRPr>
            </a:pPr>
            <a:r>
              <a:rPr sz="975" b="1">
                <a:solidFill>
                  <a:srgbClr val="97A3B2"/>
                </a:solidFill>
              </a:rPr>
              <a:t>16-mote Cooja topology and live log view</a:t>
            </a:r>
          </a:p>
        </p:txBody>
      </p:sp>
      <p:sp>
        <p:nvSpPr>
          <p:cNvPr id="9" name="">
            <a:extLst xmlns:a="http://schemas.openxmlformats.org/drawingml/2006/main">
              <a:ext uri="{FF2B5EF4-FFF2-40B4-BE49-F238E27FC236}">
                <a16:creationId xmlns:a16="http://schemas.microsoft.com/office/drawing/2014/main" id="{B901F521-2680-4C7C-B121-7874C2D0210D}"/>
              </a:ext>
            </a:extLst>
          </p:cNvPr>
          <p:cNvSpPr>
            <a:spLocks xmlns:a="http://schemas.openxmlformats.org/drawingml/2006/main" noGrp="1"/>
          </p:cNvSpPr>
          <p:nvPr/>
        </p:nvSpPr>
        <p:spPr>
          <a:xfrm xmlns:a="http://schemas.openxmlformats.org/drawingml/2006/main">
            <a:off x="6572250" y="1447800"/>
            <a:ext cx="5048250" cy="1123950"/>
          </a:xfrm>
          <a:prstGeom xmlns:a="http://schemas.openxmlformats.org/drawingml/2006/main" prst="roundRect">
            <a:avLst>
              <a:gd name="adj" fmla="val 6780"/>
            </a:avLst>
          </a:prstGeom>
          <a:solidFill xmlns:a="http://schemas.openxmlformats.org/drawingml/2006/main">
            <a:srgbClr val="121C27"/>
          </a:solidFill>
          <a:ln xmlns:a="http://schemas.openxmlformats.org/drawingml/2006/main" w="9525">
            <a:solidFill>
              <a:srgbClr val="2C3A49"/>
            </a:solidFill>
            <a:prstDash val="solid"/>
          </a:ln>
        </p:spPr>
      </p:sp>
      <p:sp>
        <p:nvSpPr>
          <p:cNvPr id="10" name="">
            <a:extLst xmlns:a="http://schemas.openxmlformats.org/drawingml/2006/main">
              <a:ext uri="{FF2B5EF4-FFF2-40B4-BE49-F238E27FC236}">
                <a16:creationId xmlns:a16="http://schemas.microsoft.com/office/drawing/2014/main" id="{1F633F94-BE2A-489F-976E-68AFA7DA5D4E}"/>
              </a:ext>
            </a:extLst>
          </p:cNvPr>
          <p:cNvSpPr>
            <a:spLocks xmlns:a="http://schemas.openxmlformats.org/drawingml/2006/main" noGrp="1"/>
          </p:cNvSpPr>
          <p:nvPr/>
        </p:nvSpPr>
        <p:spPr>
          <a:xfrm xmlns:a="http://schemas.openxmlformats.org/drawingml/2006/main">
            <a:off x="6572250" y="1447800"/>
            <a:ext cx="47625" cy="1123950"/>
          </a:xfrm>
          <a:prstGeom xmlns:a="http://schemas.openxmlformats.org/drawingml/2006/main" prst="rect">
            <a:avLst/>
          </a:prstGeom>
          <a:solidFill xmlns:a="http://schemas.openxmlformats.org/drawingml/2006/main">
            <a:srgbClr val="34D39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891D94-27B0-49B3-A20B-806C78AF8800}"/>
              </a:ext>
            </a:extLst>
          </p:cNvPr>
          <p:cNvSpPr>
            <a:spLocks xmlns:a="http://schemas.openxmlformats.org/drawingml/2006/main" noGrp="1"/>
          </p:cNvSpPr>
          <p:nvPr/>
        </p:nvSpPr>
        <p:spPr>
          <a:xfrm xmlns:a="http://schemas.openxmlformats.org/drawingml/2006/main">
            <a:off x="6781800" y="1543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4D399"/>
                </a:solidFill>
              </a:defRPr>
            </a:pPr>
            <a:r>
              <a:rPr sz="1050" b="1">
                <a:solidFill>
                  <a:srgbClr val="34D399"/>
                </a:solidFill>
              </a:rPr>
              <a:t>BLACKHOLE</a:t>
            </a:r>
          </a:p>
        </p:txBody>
      </p:sp>
      <p:sp>
        <p:nvSpPr>
          <p:cNvPr id="12" name="">
            <a:extLst xmlns:a="http://schemas.openxmlformats.org/drawingml/2006/main">
              <a:ext uri="{FF2B5EF4-FFF2-40B4-BE49-F238E27FC236}">
                <a16:creationId xmlns:a16="http://schemas.microsoft.com/office/drawing/2014/main" id="{1ADA53DA-DFB6-401F-B68F-12232F892C06}"/>
              </a:ext>
            </a:extLst>
          </p:cNvPr>
          <p:cNvSpPr>
            <a:spLocks xmlns:a="http://schemas.openxmlformats.org/drawingml/2006/main" noGrp="1"/>
          </p:cNvSpPr>
          <p:nvPr/>
        </p:nvSpPr>
        <p:spPr>
          <a:xfrm xmlns:a="http://schemas.openxmlformats.org/drawingml/2006/main">
            <a:off x="6781800" y="184785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04:00.473  BLACKHOLE ATTACK: enabled</a:t>
            </a:r>
          </a:p>
          <a:p xmlns:a="http://schemas.openxmlformats.org/drawingml/2006/main">
            <a:pPr algn="l">
              <a:defRPr sz="1050" b="0">
                <a:solidFill>
                  <a:srgbClr val="E5EAF0"/>
                </a:solidFill>
              </a:defRPr>
            </a:pPr>
            <a:r>
              <a:rPr sz="1050" b="0">
                <a:solidFill>
                  <a:srgbClr val="E5EAF0"/>
                </a:solidFill>
              </a:rPr>
              <a:t>04:01.055  dropping forwarded packet</a:t>
            </a:r>
          </a:p>
        </p:txBody>
      </p:sp>
      <p:sp>
        <p:nvSpPr>
          <p:cNvPr id="13" name="">
            <a:extLst xmlns:a="http://schemas.openxmlformats.org/drawingml/2006/main">
              <a:ext uri="{FF2B5EF4-FFF2-40B4-BE49-F238E27FC236}">
                <a16:creationId xmlns:a16="http://schemas.microsoft.com/office/drawing/2014/main" id="{CA8B27EC-C76E-4FA4-B66D-2F5AC802C326}"/>
              </a:ext>
            </a:extLst>
          </p:cNvPr>
          <p:cNvSpPr>
            <a:spLocks xmlns:a="http://schemas.openxmlformats.org/drawingml/2006/main" noGrp="1"/>
          </p:cNvSpPr>
          <p:nvPr/>
        </p:nvSpPr>
        <p:spPr>
          <a:xfrm xmlns:a="http://schemas.openxmlformats.org/drawingml/2006/main">
            <a:off x="6572250" y="2743200"/>
            <a:ext cx="5048250" cy="1123950"/>
          </a:xfrm>
          <a:prstGeom xmlns:a="http://schemas.openxmlformats.org/drawingml/2006/main" prst="roundRect">
            <a:avLst>
              <a:gd name="adj" fmla="val 6780"/>
            </a:avLst>
          </a:prstGeom>
          <a:solidFill xmlns:a="http://schemas.openxmlformats.org/drawingml/2006/main">
            <a:srgbClr val="121C27"/>
          </a:solidFill>
          <a:ln xmlns:a="http://schemas.openxmlformats.org/drawingml/2006/main" w="9525">
            <a:solidFill>
              <a:srgbClr val="2C3A49"/>
            </a:solidFill>
            <a:prstDash val="solid"/>
          </a:ln>
        </p:spPr>
      </p:sp>
      <p:sp>
        <p:nvSpPr>
          <p:cNvPr id="14" name="">
            <a:extLst xmlns:a="http://schemas.openxmlformats.org/drawingml/2006/main">
              <a:ext uri="{FF2B5EF4-FFF2-40B4-BE49-F238E27FC236}">
                <a16:creationId xmlns:a16="http://schemas.microsoft.com/office/drawing/2014/main" id="{89DA10AF-79C3-4285-A255-34BCB88277C9}"/>
              </a:ext>
            </a:extLst>
          </p:cNvPr>
          <p:cNvSpPr>
            <a:spLocks xmlns:a="http://schemas.openxmlformats.org/drawingml/2006/main" noGrp="1"/>
          </p:cNvSpPr>
          <p:nvPr/>
        </p:nvSpPr>
        <p:spPr>
          <a:xfrm xmlns:a="http://schemas.openxmlformats.org/drawingml/2006/main">
            <a:off x="6572250" y="2743200"/>
            <a:ext cx="47625" cy="11239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AEAFFC-EE86-4C19-BD04-8234EAB2B3AA}"/>
              </a:ext>
            </a:extLst>
          </p:cNvPr>
          <p:cNvSpPr>
            <a:spLocks xmlns:a="http://schemas.openxmlformats.org/drawingml/2006/main" noGrp="1"/>
          </p:cNvSpPr>
          <p:nvPr/>
        </p:nvSpPr>
        <p:spPr>
          <a:xfrm xmlns:a="http://schemas.openxmlformats.org/drawingml/2006/main">
            <a:off x="6781800" y="2838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59E0B"/>
                </a:solidFill>
              </a:defRPr>
            </a:pPr>
            <a:r>
              <a:rPr sz="1050" b="1">
                <a:solidFill>
                  <a:srgbClr val="F59E0B"/>
                </a:solidFill>
              </a:rPr>
              <a:t>SINKHOLE</a:t>
            </a:r>
          </a:p>
        </p:txBody>
      </p:sp>
      <p:sp>
        <p:nvSpPr>
          <p:cNvPr id="16" name="">
            <a:extLst xmlns:a="http://schemas.openxmlformats.org/drawingml/2006/main">
              <a:ext uri="{FF2B5EF4-FFF2-40B4-BE49-F238E27FC236}">
                <a16:creationId xmlns:a16="http://schemas.microsoft.com/office/drawing/2014/main" id="{F4E6BC64-58D8-41FC-B496-E81798110690}"/>
              </a:ext>
            </a:extLst>
          </p:cNvPr>
          <p:cNvSpPr>
            <a:spLocks xmlns:a="http://schemas.openxmlformats.org/drawingml/2006/main" noGrp="1"/>
          </p:cNvSpPr>
          <p:nvPr/>
        </p:nvSpPr>
        <p:spPr>
          <a:xfrm xmlns:a="http://schemas.openxmlformats.org/drawingml/2006/main">
            <a:off x="6781800" y="314325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04:00.473  SINKHOLE ATTACK: enabled</a:t>
            </a:r>
          </a:p>
          <a:p xmlns:a="http://schemas.openxmlformats.org/drawingml/2006/main">
            <a:pPr algn="l">
              <a:defRPr sz="1050" b="0">
                <a:solidFill>
                  <a:srgbClr val="E5EAF0"/>
                </a:solidFill>
              </a:defRPr>
            </a:pPr>
            <a:r>
              <a:rPr sz="1050" b="0">
                <a:solidFill>
                  <a:srgbClr val="E5EAF0"/>
                </a:solidFill>
              </a:rPr>
              <a:t>04:00.473  advertising rank 128 instead of 256</a:t>
            </a:r>
          </a:p>
        </p:txBody>
      </p:sp>
      <p:sp>
        <p:nvSpPr>
          <p:cNvPr id="17" name="">
            <a:extLst xmlns:a="http://schemas.openxmlformats.org/drawingml/2006/main">
              <a:ext uri="{FF2B5EF4-FFF2-40B4-BE49-F238E27FC236}">
                <a16:creationId xmlns:a16="http://schemas.microsoft.com/office/drawing/2014/main" id="{232E007E-7D71-4A82-B507-FF03A085A9C3}"/>
              </a:ext>
            </a:extLst>
          </p:cNvPr>
          <p:cNvSpPr>
            <a:spLocks xmlns:a="http://schemas.openxmlformats.org/drawingml/2006/main" noGrp="1"/>
          </p:cNvSpPr>
          <p:nvPr/>
        </p:nvSpPr>
        <p:spPr>
          <a:xfrm xmlns:a="http://schemas.openxmlformats.org/drawingml/2006/main">
            <a:off x="6572250" y="4038600"/>
            <a:ext cx="5048250" cy="1123950"/>
          </a:xfrm>
          <a:prstGeom xmlns:a="http://schemas.openxmlformats.org/drawingml/2006/main" prst="roundRect">
            <a:avLst>
              <a:gd name="adj" fmla="val 6780"/>
            </a:avLst>
          </a:prstGeom>
          <a:solidFill xmlns:a="http://schemas.openxmlformats.org/drawingml/2006/main">
            <a:srgbClr val="121C27"/>
          </a:solidFill>
          <a:ln xmlns:a="http://schemas.openxmlformats.org/drawingml/2006/main" w="9525">
            <a:solidFill>
              <a:srgbClr val="2C3A49"/>
            </a:solidFill>
            <a:prstDash val="solid"/>
          </a:ln>
        </p:spPr>
      </p:sp>
      <p:sp>
        <p:nvSpPr>
          <p:cNvPr id="18" name="">
            <a:extLst xmlns:a="http://schemas.openxmlformats.org/drawingml/2006/main">
              <a:ext uri="{FF2B5EF4-FFF2-40B4-BE49-F238E27FC236}">
                <a16:creationId xmlns:a16="http://schemas.microsoft.com/office/drawing/2014/main" id="{162C5834-75E5-4F52-B7E0-8586321130FB}"/>
              </a:ext>
            </a:extLst>
          </p:cNvPr>
          <p:cNvSpPr>
            <a:spLocks xmlns:a="http://schemas.openxmlformats.org/drawingml/2006/main" noGrp="1"/>
          </p:cNvSpPr>
          <p:nvPr/>
        </p:nvSpPr>
        <p:spPr>
          <a:xfrm xmlns:a="http://schemas.openxmlformats.org/drawingml/2006/main">
            <a:off x="6572250" y="4038600"/>
            <a:ext cx="47625" cy="1123950"/>
          </a:xfrm>
          <a:prstGeom xmlns:a="http://schemas.openxmlformats.org/drawingml/2006/main" prst="rect">
            <a:avLst/>
          </a:prstGeom>
          <a:solidFill xmlns:a="http://schemas.openxmlformats.org/drawingml/2006/main">
            <a:srgbClr val="FACC1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F47539E-7EB3-41C5-BF5A-3D640F670751}"/>
              </a:ext>
            </a:extLst>
          </p:cNvPr>
          <p:cNvSpPr>
            <a:spLocks xmlns:a="http://schemas.openxmlformats.org/drawingml/2006/main" noGrp="1"/>
          </p:cNvSpPr>
          <p:nvPr/>
        </p:nvSpPr>
        <p:spPr>
          <a:xfrm xmlns:a="http://schemas.openxmlformats.org/drawingml/2006/main">
            <a:off x="6781800" y="41338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ACC15"/>
                </a:solidFill>
              </a:defRPr>
            </a:pPr>
            <a:r>
              <a:rPr sz="1050" b="1">
                <a:solidFill>
                  <a:srgbClr val="FACC15"/>
                </a:solidFill>
              </a:rPr>
              <a:t>SYBIL</a:t>
            </a:r>
          </a:p>
        </p:txBody>
      </p:sp>
      <p:sp>
        <p:nvSpPr>
          <p:cNvPr id="20" name="">
            <a:extLst xmlns:a="http://schemas.openxmlformats.org/drawingml/2006/main">
              <a:ext uri="{FF2B5EF4-FFF2-40B4-BE49-F238E27FC236}">
                <a16:creationId xmlns:a16="http://schemas.microsoft.com/office/drawing/2014/main" id="{33AEC352-253B-4549-8DAE-5AD9BFA70F2D}"/>
              </a:ext>
            </a:extLst>
          </p:cNvPr>
          <p:cNvSpPr>
            <a:spLocks xmlns:a="http://schemas.openxmlformats.org/drawingml/2006/main" noGrp="1"/>
          </p:cNvSpPr>
          <p:nvPr/>
        </p:nvSpPr>
        <p:spPr>
          <a:xfrm xmlns:a="http://schemas.openxmlformats.org/drawingml/2006/main">
            <a:off x="6781800" y="443865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04:00.703  SYBIL ATTACK: enabled</a:t>
            </a:r>
          </a:p>
          <a:p xmlns:a="http://schemas.openxmlformats.org/drawingml/2006/main">
            <a:pPr algn="l">
              <a:defRPr sz="1050" b="0">
                <a:solidFill>
                  <a:srgbClr val="E5EAF0"/>
                </a:solidFill>
              </a:defRPr>
            </a:pPr>
            <a:r>
              <a:rPr sz="1050" b="0">
                <a:solidFill>
                  <a:srgbClr val="E5EAF0"/>
                </a:solidFill>
              </a:rPr>
              <a:t>04:02.703  sending DIO as identity fd00::f001</a:t>
            </a:r>
          </a:p>
        </p:txBody>
      </p:sp>
      <p:sp>
        <p:nvSpPr>
          <p:cNvPr id="21" name="">
            <a:extLst xmlns:a="http://schemas.openxmlformats.org/drawingml/2006/main">
              <a:ext uri="{FF2B5EF4-FFF2-40B4-BE49-F238E27FC236}">
                <a16:creationId xmlns:a16="http://schemas.microsoft.com/office/drawing/2014/main" id="{E142D22A-7A90-4CD1-BF13-F0900D5B0E29}"/>
              </a:ext>
            </a:extLst>
          </p:cNvPr>
          <p:cNvSpPr>
            <a:spLocks xmlns:a="http://schemas.openxmlformats.org/drawingml/2006/main" noGrp="1"/>
          </p:cNvSpPr>
          <p:nvPr/>
        </p:nvSpPr>
        <p:spPr>
          <a:xfrm xmlns:a="http://schemas.openxmlformats.org/drawingml/2006/main">
            <a:off x="6572250" y="55435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2D3EE"/>
                </a:solidFill>
              </a:defRPr>
            </a:pPr>
            <a:r>
              <a:rPr sz="1350" b="1">
                <a:solidFill>
                  <a:srgbClr val="22D3EE"/>
                </a:solidFill>
              </a:rPr>
              <a:t>90 validated baseline runs: 45 attack + 45 matched control</a:t>
            </a:r>
          </a:p>
        </p:txBody>
      </p:sp>
      <p:sp>
        <p:nvSpPr>
          <p:cNvPr id="22" name="">
            <a:extLst xmlns:a="http://schemas.openxmlformats.org/drawingml/2006/main">
              <a:ext uri="{FF2B5EF4-FFF2-40B4-BE49-F238E27FC236}">
                <a16:creationId xmlns:a16="http://schemas.microsoft.com/office/drawing/2014/main" id="{AE632B48-29EF-4D6E-8E8E-C1FB681E51EC}"/>
              </a:ext>
            </a:extLst>
          </p:cNvPr>
          <p:cNvSpPr>
            <a:spLocks xmlns:a="http://schemas.openxmlformats.org/drawingml/2006/main" noGrp="1"/>
          </p:cNvSpPr>
          <p:nvPr/>
        </p:nvSpPr>
        <p:spPr>
          <a:xfrm xmlns:a="http://schemas.openxmlformats.org/drawingml/2006/main">
            <a:off x="552450" y="6229350"/>
            <a:ext cx="1066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Evidence shown from preserved COOJA.testlog files; attack markers were excluded from model predictors.</a:t>
            </a:r>
          </a:p>
        </p:txBody>
      </p:sp>
    </p:spTree>
    <p:extLst>
      <p:ext uri="{BB962C8B-B14F-4D97-AF65-F5344CB8AC3E}">
        <p14:creationId xmlns:p14="http://schemas.microsoft.com/office/powerpoint/2010/main" val="730170064"/>
      </p:ext>
    </p:extLst>
  </p:cSld>
</p:sld>
</file>

<file path=ppt/slides/slide9.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BA476A6-DD86-4843-A2B1-8D1253CDE598}"/>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FEATURE CONSTRUCTION</a:t>
            </a:r>
          </a:p>
        </p:txBody>
      </p:sp>
      <p:sp>
        <p:nvSpPr>
          <p:cNvPr id="2" name="">
            <a:extLst xmlns:a="http://schemas.openxmlformats.org/drawingml/2006/main">
              <a:ext uri="{FF2B5EF4-FFF2-40B4-BE49-F238E27FC236}">
                <a16:creationId xmlns:a16="http://schemas.microsoft.com/office/drawing/2014/main" id="{D9FF2AD8-ECB0-44DE-858C-3FBD7F7C2222}"/>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Raw protocol events become an auditable IDS dataset</a:t>
            </a:r>
          </a:p>
        </p:txBody>
      </p:sp>
      <p:sp>
        <p:nvSpPr>
          <p:cNvPr id="3" name="">
            <a:extLst xmlns:a="http://schemas.openxmlformats.org/drawingml/2006/main">
              <a:ext uri="{FF2B5EF4-FFF2-40B4-BE49-F238E27FC236}">
                <a16:creationId xmlns:a16="http://schemas.microsoft.com/office/drawing/2014/main" id="{54D6DBF9-05F7-4A12-8E6B-D3DAF65AEED7}"/>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3E4F44-E203-4152-8268-E0529EDEF539}"/>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A8E0E3-7662-4BDE-8565-039A1977586C}"/>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Methodology</a:t>
            </a:r>
          </a:p>
        </p:txBody>
      </p:sp>
      <p:sp>
        <p:nvSpPr>
          <p:cNvPr id="6" name="">
            <a:extLst xmlns:a="http://schemas.openxmlformats.org/drawingml/2006/main">
              <a:ext uri="{FF2B5EF4-FFF2-40B4-BE49-F238E27FC236}">
                <a16:creationId xmlns:a16="http://schemas.microsoft.com/office/drawing/2014/main" id="{DCE80BD8-203F-4020-BEC3-2C1D3DD743D9}"/>
              </a:ext>
            </a:extLst>
          </p:cNvPr>
          <p:cNvSpPr>
            <a:spLocks xmlns:a="http://schemas.openxmlformats.org/drawingml/2006/main" noGrp="1"/>
          </p:cNvSpPr>
          <p:nvPr/>
        </p:nvSpPr>
        <p:spPr>
          <a:xfrm xmlns:a="http://schemas.openxmlformats.org/drawingml/2006/main">
            <a:off x="552450" y="1619250"/>
            <a:ext cx="1762125" cy="2190750"/>
          </a:xfrm>
          <a:prstGeom xmlns:a="http://schemas.openxmlformats.org/drawingml/2006/main" prst="roundRect">
            <a:avLst>
              <a:gd name="adj" fmla="val 4324"/>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E34F84D8-6D69-4792-97A5-0B1FAC9ACEE9}"/>
              </a:ext>
            </a:extLst>
          </p:cNvPr>
          <p:cNvSpPr>
            <a:spLocks xmlns:a="http://schemas.openxmlformats.org/drawingml/2006/main" noGrp="1"/>
          </p:cNvSpPr>
          <p:nvPr/>
        </p:nvSpPr>
        <p:spPr>
          <a:xfrm xmlns:a="http://schemas.openxmlformats.org/drawingml/2006/main">
            <a:off x="666750" y="1866900"/>
            <a:ext cx="1533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0A5FA"/>
                </a:solidFill>
              </a:defRPr>
            </a:pPr>
            <a:r>
              <a:rPr sz="1050" b="1">
                <a:solidFill>
                  <a:srgbClr val="60A5FA"/>
                </a:solidFill>
              </a:rPr>
              <a:t>RAW EVENTS</a:t>
            </a:r>
          </a:p>
        </p:txBody>
      </p:sp>
      <p:sp>
        <p:nvSpPr>
          <p:cNvPr id="8" name="">
            <a:extLst xmlns:a="http://schemas.openxmlformats.org/drawingml/2006/main">
              <a:ext uri="{FF2B5EF4-FFF2-40B4-BE49-F238E27FC236}">
                <a16:creationId xmlns:a16="http://schemas.microsoft.com/office/drawing/2014/main" id="{33CE7316-519F-4246-B650-A1DDB574DC8E}"/>
              </a:ext>
            </a:extLst>
          </p:cNvPr>
          <p:cNvSpPr>
            <a:spLocks xmlns:a="http://schemas.openxmlformats.org/drawingml/2006/main" noGrp="1"/>
          </p:cNvSpPr>
          <p:nvPr/>
        </p:nvSpPr>
        <p:spPr>
          <a:xfrm xmlns:a="http://schemas.openxmlformats.org/drawingml/2006/main">
            <a:off x="666750" y="2362200"/>
            <a:ext cx="15335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packet receptions</a:t>
            </a:r>
          </a:p>
          <a:p xmlns:a="http://schemas.openxmlformats.org/drawingml/2006/main">
            <a:pPr algn="ctr">
              <a:defRPr sz="1050" b="0">
                <a:solidFill>
                  <a:srgbClr val="E5EAF0"/>
                </a:solidFill>
              </a:defRPr>
            </a:pPr>
            <a:r>
              <a:rPr sz="1050" b="0">
                <a:solidFill>
                  <a:srgbClr val="E5EAF0"/>
                </a:solidFill>
              </a:rPr>
              <a:t>DIO / DIS / DAO</a:t>
            </a:r>
          </a:p>
          <a:p xmlns:a="http://schemas.openxmlformats.org/drawingml/2006/main">
            <a:pPr algn="ctr">
              <a:defRPr sz="1050" b="0">
                <a:solidFill>
                  <a:srgbClr val="E5EAF0"/>
                </a:solidFill>
              </a:defRPr>
            </a:pPr>
            <a:r>
              <a:rPr sz="1050" b="0">
                <a:solidFill>
                  <a:srgbClr val="E5EAF0"/>
                </a:solidFill>
              </a:rPr>
              <a:t>rank and parent state</a:t>
            </a:r>
          </a:p>
        </p:txBody>
      </p:sp>
      <p:sp>
        <p:nvSpPr>
          <p:cNvPr id="9" name="">
            <a:extLst xmlns:a="http://schemas.openxmlformats.org/drawingml/2006/main">
              <a:ext uri="{FF2B5EF4-FFF2-40B4-BE49-F238E27FC236}">
                <a16:creationId xmlns:a16="http://schemas.microsoft.com/office/drawing/2014/main" id="{B1C57D71-8564-4ADA-B95D-9DCF23FC6FE6}"/>
              </a:ext>
            </a:extLst>
          </p:cNvPr>
          <p:cNvSpPr>
            <a:spLocks xmlns:a="http://schemas.openxmlformats.org/drawingml/2006/main" noGrp="1"/>
          </p:cNvSpPr>
          <p:nvPr/>
        </p:nvSpPr>
        <p:spPr>
          <a:xfrm xmlns:a="http://schemas.openxmlformats.org/drawingml/2006/main">
            <a:off x="2409825" y="25717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93A82CA-25B7-4BA5-8FBE-34778C55D463}"/>
              </a:ext>
            </a:extLst>
          </p:cNvPr>
          <p:cNvSpPr>
            <a:spLocks xmlns:a="http://schemas.openxmlformats.org/drawingml/2006/main" noGrp="1"/>
          </p:cNvSpPr>
          <p:nvPr/>
        </p:nvSpPr>
        <p:spPr>
          <a:xfrm xmlns:a="http://schemas.openxmlformats.org/drawingml/2006/main">
            <a:off x="2952750" y="1619250"/>
            <a:ext cx="1762125" cy="2190750"/>
          </a:xfrm>
          <a:prstGeom xmlns:a="http://schemas.openxmlformats.org/drawingml/2006/main" prst="roundRect">
            <a:avLst>
              <a:gd name="adj" fmla="val 4324"/>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FFCD647D-6293-4D36-BFC3-08BA84AA0C59}"/>
              </a:ext>
            </a:extLst>
          </p:cNvPr>
          <p:cNvSpPr>
            <a:spLocks xmlns:a="http://schemas.openxmlformats.org/drawingml/2006/main" noGrp="1"/>
          </p:cNvSpPr>
          <p:nvPr/>
        </p:nvSpPr>
        <p:spPr>
          <a:xfrm xmlns:a="http://schemas.openxmlformats.org/drawingml/2006/main">
            <a:off x="3067050" y="1866900"/>
            <a:ext cx="1533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60-SECOND WINDOW</a:t>
            </a:r>
          </a:p>
        </p:txBody>
      </p:sp>
      <p:sp>
        <p:nvSpPr>
          <p:cNvPr id="12" name="">
            <a:extLst xmlns:a="http://schemas.openxmlformats.org/drawingml/2006/main">
              <a:ext uri="{FF2B5EF4-FFF2-40B4-BE49-F238E27FC236}">
                <a16:creationId xmlns:a16="http://schemas.microsoft.com/office/drawing/2014/main" id="{59099D6F-AD9D-44B2-A073-6E104AB48DCE}"/>
              </a:ext>
            </a:extLst>
          </p:cNvPr>
          <p:cNvSpPr>
            <a:spLocks xmlns:a="http://schemas.openxmlformats.org/drawingml/2006/main" noGrp="1"/>
          </p:cNvSpPr>
          <p:nvPr/>
        </p:nvSpPr>
        <p:spPr>
          <a:xfrm xmlns:a="http://schemas.openxmlformats.org/drawingml/2006/main">
            <a:off x="3067050" y="2362200"/>
            <a:ext cx="15335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counts, minima, deltas</a:t>
            </a:r>
          </a:p>
          <a:p xmlns:a="http://schemas.openxmlformats.org/drawingml/2006/main">
            <a:pPr algn="ctr">
              <a:defRPr sz="1050" b="0">
                <a:solidFill>
                  <a:srgbClr val="E5EAF0"/>
                </a:solidFill>
              </a:defRPr>
            </a:pPr>
            <a:r>
              <a:rPr sz="1050" b="0">
                <a:solidFill>
                  <a:srgbClr val="E5EAF0"/>
                </a:solidFill>
              </a:rPr>
              <a:t>unique senders</a:t>
            </a:r>
          </a:p>
          <a:p xmlns:a="http://schemas.openxmlformats.org/drawingml/2006/main">
            <a:pPr algn="ctr">
              <a:defRPr sz="1050" b="0">
                <a:solidFill>
                  <a:srgbClr val="E5EAF0"/>
                </a:solidFill>
              </a:defRPr>
            </a:pPr>
            <a:r>
              <a:rPr sz="1050" b="0">
                <a:solidFill>
                  <a:srgbClr val="E5EAF0"/>
                </a:solidFill>
              </a:rPr>
              <a:t>parent switches</a:t>
            </a:r>
          </a:p>
        </p:txBody>
      </p:sp>
      <p:sp>
        <p:nvSpPr>
          <p:cNvPr id="13" name="">
            <a:extLst xmlns:a="http://schemas.openxmlformats.org/drawingml/2006/main">
              <a:ext uri="{FF2B5EF4-FFF2-40B4-BE49-F238E27FC236}">
                <a16:creationId xmlns:a16="http://schemas.microsoft.com/office/drawing/2014/main" id="{B7F9D386-D7DD-46EF-A91F-950015F987B7}"/>
              </a:ext>
            </a:extLst>
          </p:cNvPr>
          <p:cNvSpPr>
            <a:spLocks xmlns:a="http://schemas.openxmlformats.org/drawingml/2006/main" noGrp="1"/>
          </p:cNvSpPr>
          <p:nvPr/>
        </p:nvSpPr>
        <p:spPr>
          <a:xfrm xmlns:a="http://schemas.openxmlformats.org/drawingml/2006/main">
            <a:off x="4810125" y="25717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F79131-6E45-4E34-8A34-01302166F020}"/>
              </a:ext>
            </a:extLst>
          </p:cNvPr>
          <p:cNvSpPr>
            <a:spLocks xmlns:a="http://schemas.openxmlformats.org/drawingml/2006/main" noGrp="1"/>
          </p:cNvSpPr>
          <p:nvPr/>
        </p:nvSpPr>
        <p:spPr>
          <a:xfrm xmlns:a="http://schemas.openxmlformats.org/drawingml/2006/main">
            <a:off x="5353050" y="1619250"/>
            <a:ext cx="1762125" cy="2190750"/>
          </a:xfrm>
          <a:prstGeom xmlns:a="http://schemas.openxmlformats.org/drawingml/2006/main" prst="roundRect">
            <a:avLst>
              <a:gd name="adj" fmla="val 4324"/>
            </a:avLst>
          </a:prstGeom>
          <a:solidFill xmlns:a="http://schemas.openxmlformats.org/drawingml/2006/main">
            <a:srgbClr val="121C27"/>
          </a:solidFill>
          <a:ln xmlns:a="http://schemas.openxmlformats.org/drawingml/2006/main" w="9525">
            <a:solidFill>
              <a:srgbClr val="2C3A49"/>
            </a:solidFill>
            <a:prstDash val="solid"/>
          </a:ln>
        </p:spPr>
      </p:sp>
      <p:sp>
        <p:nvSpPr>
          <p:cNvPr id="15" name="">
            <a:extLst xmlns:a="http://schemas.openxmlformats.org/drawingml/2006/main">
              <a:ext uri="{FF2B5EF4-FFF2-40B4-BE49-F238E27FC236}">
                <a16:creationId xmlns:a16="http://schemas.microsoft.com/office/drawing/2014/main" id="{792C9B3A-2F17-48A3-B9CA-1D9B1193F861}"/>
              </a:ext>
            </a:extLst>
          </p:cNvPr>
          <p:cNvSpPr>
            <a:spLocks xmlns:a="http://schemas.openxmlformats.org/drawingml/2006/main" noGrp="1"/>
          </p:cNvSpPr>
          <p:nvPr/>
        </p:nvSpPr>
        <p:spPr>
          <a:xfrm xmlns:a="http://schemas.openxmlformats.org/drawingml/2006/main">
            <a:off x="5467350" y="1866900"/>
            <a:ext cx="1533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4D399"/>
                </a:solidFill>
              </a:defRPr>
            </a:pPr>
            <a:r>
              <a:rPr sz="1050" b="1">
                <a:solidFill>
                  <a:srgbClr val="34D399"/>
                </a:solidFill>
              </a:rPr>
              <a:t>FEATURE VECTOR</a:t>
            </a:r>
          </a:p>
        </p:txBody>
      </p:sp>
      <p:sp>
        <p:nvSpPr>
          <p:cNvPr id="16" name="">
            <a:extLst xmlns:a="http://schemas.openxmlformats.org/drawingml/2006/main">
              <a:ext uri="{FF2B5EF4-FFF2-40B4-BE49-F238E27FC236}">
                <a16:creationId xmlns:a16="http://schemas.microsoft.com/office/drawing/2014/main" id="{1357E770-0EC0-4BF2-90AB-E8E31A4D1A26}"/>
              </a:ext>
            </a:extLst>
          </p:cNvPr>
          <p:cNvSpPr>
            <a:spLocks xmlns:a="http://schemas.openxmlformats.org/drawingml/2006/main" noGrp="1"/>
          </p:cNvSpPr>
          <p:nvPr/>
        </p:nvSpPr>
        <p:spPr>
          <a:xfrm xmlns:a="http://schemas.openxmlformats.org/drawingml/2006/main">
            <a:off x="5467350" y="2362200"/>
            <a:ext cx="15335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traffic | routing | rank</a:t>
            </a:r>
          </a:p>
          <a:p xmlns:a="http://schemas.openxmlformats.org/drawingml/2006/main">
            <a:pPr algn="ctr">
              <a:defRPr sz="1050" b="0">
                <a:solidFill>
                  <a:srgbClr val="E5EAF0"/>
                </a:solidFill>
              </a:defRPr>
            </a:pPr>
            <a:r>
              <a:rPr sz="1050" b="0">
                <a:solidFill>
                  <a:srgbClr val="E5EAF0"/>
                </a:solidFill>
              </a:rPr>
              <a:t>control | identity</a:t>
            </a:r>
          </a:p>
        </p:txBody>
      </p:sp>
      <p:sp>
        <p:nvSpPr>
          <p:cNvPr id="17" name="">
            <a:extLst xmlns:a="http://schemas.openxmlformats.org/drawingml/2006/main">
              <a:ext uri="{FF2B5EF4-FFF2-40B4-BE49-F238E27FC236}">
                <a16:creationId xmlns:a16="http://schemas.microsoft.com/office/drawing/2014/main" id="{83FCDDB5-AC5D-4793-B190-E237793EF2F8}"/>
              </a:ext>
            </a:extLst>
          </p:cNvPr>
          <p:cNvSpPr>
            <a:spLocks xmlns:a="http://schemas.openxmlformats.org/drawingml/2006/main" noGrp="1"/>
          </p:cNvSpPr>
          <p:nvPr/>
        </p:nvSpPr>
        <p:spPr>
          <a:xfrm xmlns:a="http://schemas.openxmlformats.org/drawingml/2006/main">
            <a:off x="7210425" y="25717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ABFB7F5-6887-4BFD-ABE2-51E376CF2B34}"/>
              </a:ext>
            </a:extLst>
          </p:cNvPr>
          <p:cNvSpPr>
            <a:spLocks xmlns:a="http://schemas.openxmlformats.org/drawingml/2006/main" noGrp="1"/>
          </p:cNvSpPr>
          <p:nvPr/>
        </p:nvSpPr>
        <p:spPr>
          <a:xfrm xmlns:a="http://schemas.openxmlformats.org/drawingml/2006/main">
            <a:off x="7753350" y="1619250"/>
            <a:ext cx="1762125" cy="2190750"/>
          </a:xfrm>
          <a:prstGeom xmlns:a="http://schemas.openxmlformats.org/drawingml/2006/main" prst="roundRect">
            <a:avLst>
              <a:gd name="adj" fmla="val 4324"/>
            </a:avLst>
          </a:prstGeom>
          <a:solidFill xmlns:a="http://schemas.openxmlformats.org/drawingml/2006/main">
            <a:srgbClr val="121C27"/>
          </a:solidFill>
          <a:ln xmlns:a="http://schemas.openxmlformats.org/drawingml/2006/main" w="9525">
            <a:solidFill>
              <a:srgbClr val="2C3A49"/>
            </a:solidFill>
            <a:prstDash val="solid"/>
          </a:ln>
        </p:spPr>
      </p:sp>
      <p:sp>
        <p:nvSpPr>
          <p:cNvPr id="19" name="">
            <a:extLst xmlns:a="http://schemas.openxmlformats.org/drawingml/2006/main">
              <a:ext uri="{FF2B5EF4-FFF2-40B4-BE49-F238E27FC236}">
                <a16:creationId xmlns:a16="http://schemas.microsoft.com/office/drawing/2014/main" id="{13386D52-4BD2-40A3-802A-8A93BAA3919D}"/>
              </a:ext>
            </a:extLst>
          </p:cNvPr>
          <p:cNvSpPr>
            <a:spLocks xmlns:a="http://schemas.openxmlformats.org/drawingml/2006/main" noGrp="1"/>
          </p:cNvSpPr>
          <p:nvPr/>
        </p:nvSpPr>
        <p:spPr>
          <a:xfrm xmlns:a="http://schemas.openxmlformats.org/drawingml/2006/main">
            <a:off x="7867650" y="1866900"/>
            <a:ext cx="1533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59E0B"/>
                </a:solidFill>
              </a:defRPr>
            </a:pPr>
            <a:r>
              <a:rPr sz="1050" b="1">
                <a:solidFill>
                  <a:srgbClr val="F59E0B"/>
                </a:solidFill>
              </a:rPr>
              <a:t>LABEL</a:t>
            </a:r>
          </a:p>
        </p:txBody>
      </p:sp>
      <p:sp>
        <p:nvSpPr>
          <p:cNvPr id="20" name="">
            <a:extLst xmlns:a="http://schemas.openxmlformats.org/drawingml/2006/main">
              <a:ext uri="{FF2B5EF4-FFF2-40B4-BE49-F238E27FC236}">
                <a16:creationId xmlns:a16="http://schemas.microsoft.com/office/drawing/2014/main" id="{E7E153B4-6F2B-4E17-9801-E2F42F6C9952}"/>
              </a:ext>
            </a:extLst>
          </p:cNvPr>
          <p:cNvSpPr>
            <a:spLocks xmlns:a="http://schemas.openxmlformats.org/drawingml/2006/main" noGrp="1"/>
          </p:cNvSpPr>
          <p:nvPr/>
        </p:nvSpPr>
        <p:spPr>
          <a:xfrm xmlns:a="http://schemas.openxmlformats.org/drawingml/2006/main">
            <a:off x="7867650" y="2362200"/>
            <a:ext cx="15335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normal before 240 s</a:t>
            </a:r>
          </a:p>
          <a:p xmlns:a="http://schemas.openxmlformats.org/drawingml/2006/main">
            <a:pPr algn="ctr">
              <a:defRPr sz="1050" b="0">
                <a:solidFill>
                  <a:srgbClr val="E5EAF0"/>
                </a:solidFill>
              </a:defRPr>
            </a:pPr>
            <a:r>
              <a:rPr sz="1050" b="0">
                <a:solidFill>
                  <a:srgbClr val="E5EAF0"/>
                </a:solidFill>
              </a:rPr>
              <a:t>attack after activation</a:t>
            </a:r>
          </a:p>
        </p:txBody>
      </p:sp>
      <p:sp>
        <p:nvSpPr>
          <p:cNvPr id="21" name="">
            <a:extLst xmlns:a="http://schemas.openxmlformats.org/drawingml/2006/main">
              <a:ext uri="{FF2B5EF4-FFF2-40B4-BE49-F238E27FC236}">
                <a16:creationId xmlns:a16="http://schemas.microsoft.com/office/drawing/2014/main" id="{EC4A10A0-C21D-434E-B52E-B4190E29BD10}"/>
              </a:ext>
            </a:extLst>
          </p:cNvPr>
          <p:cNvSpPr>
            <a:spLocks xmlns:a="http://schemas.openxmlformats.org/drawingml/2006/main" noGrp="1"/>
          </p:cNvSpPr>
          <p:nvPr/>
        </p:nvSpPr>
        <p:spPr>
          <a:xfrm xmlns:a="http://schemas.openxmlformats.org/drawingml/2006/main">
            <a:off x="9610725" y="2571750"/>
            <a:ext cx="266700" cy="26670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91EC556-D79E-4F66-BBEA-E4B46511CA14}"/>
              </a:ext>
            </a:extLst>
          </p:cNvPr>
          <p:cNvSpPr>
            <a:spLocks xmlns:a="http://schemas.openxmlformats.org/drawingml/2006/main" noGrp="1"/>
          </p:cNvSpPr>
          <p:nvPr/>
        </p:nvSpPr>
        <p:spPr>
          <a:xfrm xmlns:a="http://schemas.openxmlformats.org/drawingml/2006/main">
            <a:off x="10153650" y="1619250"/>
            <a:ext cx="1762125" cy="2190750"/>
          </a:xfrm>
          <a:prstGeom xmlns:a="http://schemas.openxmlformats.org/drawingml/2006/main" prst="roundRect">
            <a:avLst>
              <a:gd name="adj" fmla="val 4324"/>
            </a:avLst>
          </a:prstGeom>
          <a:solidFill xmlns:a="http://schemas.openxmlformats.org/drawingml/2006/main">
            <a:srgbClr val="121C27"/>
          </a:solidFill>
          <a:ln xmlns:a="http://schemas.openxmlformats.org/drawingml/2006/main" w="9525">
            <a:solidFill>
              <a:srgbClr val="2C3A49"/>
            </a:solidFill>
            <a:prstDash val="solid"/>
          </a:ln>
        </p:spPr>
      </p:sp>
      <p:sp>
        <p:nvSpPr>
          <p:cNvPr id="23" name="">
            <a:extLst xmlns:a="http://schemas.openxmlformats.org/drawingml/2006/main">
              <a:ext uri="{FF2B5EF4-FFF2-40B4-BE49-F238E27FC236}">
                <a16:creationId xmlns:a16="http://schemas.microsoft.com/office/drawing/2014/main" id="{6569A10E-1432-4754-B8E1-F3CC94F1EAB3}"/>
              </a:ext>
            </a:extLst>
          </p:cNvPr>
          <p:cNvSpPr>
            <a:spLocks xmlns:a="http://schemas.openxmlformats.org/drawingml/2006/main" noGrp="1"/>
          </p:cNvSpPr>
          <p:nvPr/>
        </p:nvSpPr>
        <p:spPr>
          <a:xfrm xmlns:a="http://schemas.openxmlformats.org/drawingml/2006/main">
            <a:off x="10267950" y="1866900"/>
            <a:ext cx="1533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A78BFA"/>
                </a:solidFill>
              </a:defRPr>
            </a:pPr>
            <a:r>
              <a:rPr sz="1050" b="1">
                <a:solidFill>
                  <a:srgbClr val="A78BFA"/>
                </a:solidFill>
              </a:rPr>
              <a:t>GROUP</a:t>
            </a:r>
          </a:p>
        </p:txBody>
      </p:sp>
      <p:sp>
        <p:nvSpPr>
          <p:cNvPr id="24" name="">
            <a:extLst xmlns:a="http://schemas.openxmlformats.org/drawingml/2006/main">
              <a:ext uri="{FF2B5EF4-FFF2-40B4-BE49-F238E27FC236}">
                <a16:creationId xmlns:a16="http://schemas.microsoft.com/office/drawing/2014/main" id="{53966E77-B01A-41B6-B05F-16A2764829E3}"/>
              </a:ext>
            </a:extLst>
          </p:cNvPr>
          <p:cNvSpPr>
            <a:spLocks xmlns:a="http://schemas.openxmlformats.org/drawingml/2006/main" noGrp="1"/>
          </p:cNvSpPr>
          <p:nvPr/>
        </p:nvSpPr>
        <p:spPr>
          <a:xfrm xmlns:a="http://schemas.openxmlformats.org/drawingml/2006/main">
            <a:off x="10267950" y="2362200"/>
            <a:ext cx="15335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family + seed + mode</a:t>
            </a:r>
          </a:p>
          <a:p xmlns:a="http://schemas.openxmlformats.org/drawingml/2006/main">
            <a:pPr algn="ctr">
              <a:defRPr sz="1050" b="0">
                <a:solidFill>
                  <a:srgbClr val="E5EAF0"/>
                </a:solidFill>
              </a:defRPr>
            </a:pPr>
            <a:r>
              <a:rPr sz="1050" b="0">
                <a:solidFill>
                  <a:srgbClr val="E5EAF0"/>
                </a:solidFill>
              </a:rPr>
              <a:t>kept outside predictors</a:t>
            </a:r>
          </a:p>
        </p:txBody>
      </p:sp>
      <p:sp>
        <p:nvSpPr>
          <p:cNvPr id="25" name="">
            <a:extLst xmlns:a="http://schemas.openxmlformats.org/drawingml/2006/main">
              <a:ext uri="{FF2B5EF4-FFF2-40B4-BE49-F238E27FC236}">
                <a16:creationId xmlns:a16="http://schemas.microsoft.com/office/drawing/2014/main" id="{ABB41B03-C27A-4A45-AAC2-8AA3DE25B346}"/>
              </a:ext>
            </a:extLst>
          </p:cNvPr>
          <p:cNvSpPr>
            <a:spLocks xmlns:a="http://schemas.openxmlformats.org/drawingml/2006/main" noGrp="1"/>
          </p:cNvSpPr>
          <p:nvPr/>
        </p:nvSpPr>
        <p:spPr>
          <a:xfrm xmlns:a="http://schemas.openxmlformats.org/drawingml/2006/main">
            <a:off x="819150" y="4333875"/>
            <a:ext cx="10553700" cy="1066800"/>
          </a:xfrm>
          <a:prstGeom xmlns:a="http://schemas.openxmlformats.org/drawingml/2006/main" prst="roundRect">
            <a:avLst>
              <a:gd name="adj" fmla="val 7143"/>
            </a:avLst>
          </a:prstGeom>
          <a:solidFill xmlns:a="http://schemas.openxmlformats.org/drawingml/2006/main">
            <a:srgbClr val="0E151E"/>
          </a:solidFill>
          <a:ln xmlns:a="http://schemas.openxmlformats.org/drawingml/2006/main" w="9525">
            <a:solidFill>
              <a:srgbClr val="2C3A49"/>
            </a:solidFill>
            <a:prstDash val="solid"/>
          </a:ln>
        </p:spPr>
      </p:sp>
      <p:sp>
        <p:nvSpPr>
          <p:cNvPr id="26" name="">
            <a:extLst xmlns:a="http://schemas.openxmlformats.org/drawingml/2006/main">
              <a:ext uri="{FF2B5EF4-FFF2-40B4-BE49-F238E27FC236}">
                <a16:creationId xmlns:a16="http://schemas.microsoft.com/office/drawing/2014/main" id="{C43A5B8C-9084-424E-B1FA-167658C9A3FA}"/>
              </a:ext>
            </a:extLst>
          </p:cNvPr>
          <p:cNvSpPr>
            <a:spLocks xmlns:a="http://schemas.openxmlformats.org/drawingml/2006/main" noGrp="1"/>
          </p:cNvSpPr>
          <p:nvPr/>
        </p:nvSpPr>
        <p:spPr>
          <a:xfrm xmlns:a="http://schemas.openxmlformats.org/drawingml/2006/main">
            <a:off x="1143000" y="44577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2D3EE"/>
                </a:solidFill>
              </a:defRPr>
            </a:pPr>
            <a:r>
              <a:rPr sz="2700" b="1">
                <a:solidFill>
                  <a:srgbClr val="22D3EE"/>
                </a:solidFill>
              </a:rPr>
              <a:t>810</a:t>
            </a:r>
          </a:p>
        </p:txBody>
      </p:sp>
      <p:sp>
        <p:nvSpPr>
          <p:cNvPr id="27" name="">
            <a:extLst xmlns:a="http://schemas.openxmlformats.org/drawingml/2006/main">
              <a:ext uri="{FF2B5EF4-FFF2-40B4-BE49-F238E27FC236}">
                <a16:creationId xmlns:a16="http://schemas.microsoft.com/office/drawing/2014/main" id="{84B9BC2B-DFE1-429E-85D3-B0C8A78FF143}"/>
              </a:ext>
            </a:extLst>
          </p:cNvPr>
          <p:cNvSpPr>
            <a:spLocks xmlns:a="http://schemas.openxmlformats.org/drawingml/2006/main" noGrp="1"/>
          </p:cNvSpPr>
          <p:nvPr/>
        </p:nvSpPr>
        <p:spPr>
          <a:xfrm xmlns:a="http://schemas.openxmlformats.org/drawingml/2006/main">
            <a:off x="1200150" y="49339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windows</a:t>
            </a:r>
          </a:p>
        </p:txBody>
      </p:sp>
      <p:sp>
        <p:nvSpPr>
          <p:cNvPr id="28" name="">
            <a:extLst xmlns:a="http://schemas.openxmlformats.org/drawingml/2006/main">
              <a:ext uri="{FF2B5EF4-FFF2-40B4-BE49-F238E27FC236}">
                <a16:creationId xmlns:a16="http://schemas.microsoft.com/office/drawing/2014/main" id="{E3B83AA2-00E8-4470-BE51-74AC9E1842EB}"/>
              </a:ext>
            </a:extLst>
          </p:cNvPr>
          <p:cNvSpPr>
            <a:spLocks xmlns:a="http://schemas.openxmlformats.org/drawingml/2006/main" noGrp="1"/>
          </p:cNvSpPr>
          <p:nvPr/>
        </p:nvSpPr>
        <p:spPr>
          <a:xfrm xmlns:a="http://schemas.openxmlformats.org/drawingml/2006/main">
            <a:off x="3333750" y="44577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60A5FA"/>
                </a:solidFill>
              </a:defRPr>
            </a:pPr>
            <a:r>
              <a:rPr sz="2700" b="1">
                <a:solidFill>
                  <a:srgbClr val="60A5FA"/>
                </a:solidFill>
              </a:rPr>
              <a:t>90</a:t>
            </a:r>
          </a:p>
        </p:txBody>
      </p:sp>
      <p:sp>
        <p:nvSpPr>
          <p:cNvPr id="29" name="">
            <a:extLst xmlns:a="http://schemas.openxmlformats.org/drawingml/2006/main">
              <a:ext uri="{FF2B5EF4-FFF2-40B4-BE49-F238E27FC236}">
                <a16:creationId xmlns:a16="http://schemas.microsoft.com/office/drawing/2014/main" id="{8297DA24-C837-43EE-948F-7A83737A7F0B}"/>
              </a:ext>
            </a:extLst>
          </p:cNvPr>
          <p:cNvSpPr>
            <a:spLocks xmlns:a="http://schemas.openxmlformats.org/drawingml/2006/main" noGrp="1"/>
          </p:cNvSpPr>
          <p:nvPr/>
        </p:nvSpPr>
        <p:spPr>
          <a:xfrm xmlns:a="http://schemas.openxmlformats.org/drawingml/2006/main">
            <a:off x="3390900" y="49339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run groups</a:t>
            </a:r>
          </a:p>
        </p:txBody>
      </p:sp>
      <p:sp>
        <p:nvSpPr>
          <p:cNvPr id="30" name="">
            <a:extLst xmlns:a="http://schemas.openxmlformats.org/drawingml/2006/main">
              <a:ext uri="{FF2B5EF4-FFF2-40B4-BE49-F238E27FC236}">
                <a16:creationId xmlns:a16="http://schemas.microsoft.com/office/drawing/2014/main" id="{2989CDFE-9005-45A8-BC22-C9ACA03B52FB}"/>
              </a:ext>
            </a:extLst>
          </p:cNvPr>
          <p:cNvSpPr>
            <a:spLocks xmlns:a="http://schemas.openxmlformats.org/drawingml/2006/main" noGrp="1"/>
          </p:cNvSpPr>
          <p:nvPr/>
        </p:nvSpPr>
        <p:spPr>
          <a:xfrm xmlns:a="http://schemas.openxmlformats.org/drawingml/2006/main">
            <a:off x="5524500" y="44577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7FAFC"/>
                </a:solidFill>
              </a:defRPr>
            </a:pPr>
            <a:r>
              <a:rPr sz="2700" b="1">
                <a:solidFill>
                  <a:srgbClr val="F7FAFC"/>
                </a:solidFill>
              </a:rPr>
              <a:t>84</a:t>
            </a:r>
          </a:p>
        </p:txBody>
      </p:sp>
      <p:sp>
        <p:nvSpPr>
          <p:cNvPr id="31" name="">
            <a:extLst xmlns:a="http://schemas.openxmlformats.org/drawingml/2006/main">
              <a:ext uri="{FF2B5EF4-FFF2-40B4-BE49-F238E27FC236}">
                <a16:creationId xmlns:a16="http://schemas.microsoft.com/office/drawing/2014/main" id="{AA9715D1-0AE7-41F5-A08A-E53489A3CDE4}"/>
              </a:ext>
            </a:extLst>
          </p:cNvPr>
          <p:cNvSpPr>
            <a:spLocks xmlns:a="http://schemas.openxmlformats.org/drawingml/2006/main" noGrp="1"/>
          </p:cNvSpPr>
          <p:nvPr/>
        </p:nvSpPr>
        <p:spPr>
          <a:xfrm xmlns:a="http://schemas.openxmlformats.org/drawingml/2006/main">
            <a:off x="5581650" y="49339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columns</a:t>
            </a:r>
          </a:p>
        </p:txBody>
      </p:sp>
      <p:sp>
        <p:nvSpPr>
          <p:cNvPr id="32" name="">
            <a:extLst xmlns:a="http://schemas.openxmlformats.org/drawingml/2006/main">
              <a:ext uri="{FF2B5EF4-FFF2-40B4-BE49-F238E27FC236}">
                <a16:creationId xmlns:a16="http://schemas.microsoft.com/office/drawing/2014/main" id="{516E0391-53E7-454D-8858-38C4D5303D29}"/>
              </a:ext>
            </a:extLst>
          </p:cNvPr>
          <p:cNvSpPr>
            <a:spLocks xmlns:a="http://schemas.openxmlformats.org/drawingml/2006/main" noGrp="1"/>
          </p:cNvSpPr>
          <p:nvPr/>
        </p:nvSpPr>
        <p:spPr>
          <a:xfrm xmlns:a="http://schemas.openxmlformats.org/drawingml/2006/main">
            <a:off x="7715250" y="44577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57</a:t>
            </a:r>
          </a:p>
        </p:txBody>
      </p:sp>
      <p:sp>
        <p:nvSpPr>
          <p:cNvPr id="33" name="">
            <a:extLst xmlns:a="http://schemas.openxmlformats.org/drawingml/2006/main">
              <a:ext uri="{FF2B5EF4-FFF2-40B4-BE49-F238E27FC236}">
                <a16:creationId xmlns:a16="http://schemas.microsoft.com/office/drawing/2014/main" id="{66CC9284-5071-41DB-99E8-641A762E43BE}"/>
              </a:ext>
            </a:extLst>
          </p:cNvPr>
          <p:cNvSpPr>
            <a:spLocks xmlns:a="http://schemas.openxmlformats.org/drawingml/2006/main" noGrp="1"/>
          </p:cNvSpPr>
          <p:nvPr/>
        </p:nvSpPr>
        <p:spPr>
          <a:xfrm xmlns:a="http://schemas.openxmlformats.org/drawingml/2006/main">
            <a:off x="7772400" y="49339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generic predictors</a:t>
            </a:r>
          </a:p>
        </p:txBody>
      </p:sp>
      <p:sp>
        <p:nvSpPr>
          <p:cNvPr id="34" name="">
            <a:extLst xmlns:a="http://schemas.openxmlformats.org/drawingml/2006/main">
              <a:ext uri="{FF2B5EF4-FFF2-40B4-BE49-F238E27FC236}">
                <a16:creationId xmlns:a16="http://schemas.microsoft.com/office/drawing/2014/main" id="{8943929B-B501-4D84-BE25-95F37C80A540}"/>
              </a:ext>
            </a:extLst>
          </p:cNvPr>
          <p:cNvSpPr>
            <a:spLocks xmlns:a="http://schemas.openxmlformats.org/drawingml/2006/main" noGrp="1"/>
          </p:cNvSpPr>
          <p:nvPr/>
        </p:nvSpPr>
        <p:spPr>
          <a:xfrm xmlns:a="http://schemas.openxmlformats.org/drawingml/2006/main">
            <a:off x="9715500" y="44577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16</a:t>
            </a:r>
          </a:p>
        </p:txBody>
      </p:sp>
      <p:sp>
        <p:nvSpPr>
          <p:cNvPr id="35" name="">
            <a:extLst xmlns:a="http://schemas.openxmlformats.org/drawingml/2006/main">
              <a:ext uri="{FF2B5EF4-FFF2-40B4-BE49-F238E27FC236}">
                <a16:creationId xmlns:a16="http://schemas.microsoft.com/office/drawing/2014/main" id="{211EAA30-373E-4528-A7F3-D5CB78AE9918}"/>
              </a:ext>
            </a:extLst>
          </p:cNvPr>
          <p:cNvSpPr>
            <a:spLocks xmlns:a="http://schemas.openxmlformats.org/drawingml/2006/main" noGrp="1"/>
          </p:cNvSpPr>
          <p:nvPr/>
        </p:nvSpPr>
        <p:spPr>
          <a:xfrm xmlns:a="http://schemas.openxmlformats.org/drawingml/2006/main">
            <a:off x="9772650" y="49339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excluded markers / provenance</a:t>
            </a:r>
          </a:p>
        </p:txBody>
      </p:sp>
      <p:sp>
        <p:nvSpPr>
          <p:cNvPr id="36" name="">
            <a:extLst xmlns:a="http://schemas.openxmlformats.org/drawingml/2006/main">
              <a:ext uri="{FF2B5EF4-FFF2-40B4-BE49-F238E27FC236}">
                <a16:creationId xmlns:a16="http://schemas.microsoft.com/office/drawing/2014/main" id="{DB449446-70E8-46A5-BBCB-10E3715553D9}"/>
              </a:ext>
            </a:extLst>
          </p:cNvPr>
          <p:cNvSpPr>
            <a:spLocks xmlns:a="http://schemas.openxmlformats.org/drawingml/2006/main" noGrp="1"/>
          </p:cNvSpPr>
          <p:nvPr/>
        </p:nvSpPr>
        <p:spPr>
          <a:xfrm xmlns:a="http://schemas.openxmlformats.org/drawingml/2006/main">
            <a:off x="1809750" y="57340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97A3B2"/>
                </a:solidFill>
              </a:defRPr>
            </a:pPr>
            <a:r>
              <a:rPr sz="1200" b="1">
                <a:solidFill>
                  <a:srgbClr val="97A3B2"/>
                </a:solidFill>
              </a:rPr>
              <a:t>Simulator attack markers, labels and run identifiers are retained for audit but excluded from prediction.</a:t>
            </a:r>
          </a:p>
        </p:txBody>
      </p:sp>
    </p:spTree>
    <p:extLst>
      <p:ext uri="{BB962C8B-B14F-4D97-AF65-F5344CB8AC3E}">
        <p14:creationId xmlns:p14="http://schemas.microsoft.com/office/powerpoint/2010/main" val="66707321"/>
      </p:ext>
    </p:extLst>
  </p:cSld>
</p:sld>
</file>

<file path=ppt/slides/slide10.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7563B4-8739-4C5A-9FF8-2DE6E9501BCB}"/>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MAIN RESULT</a:t>
            </a:r>
          </a:p>
        </p:txBody>
      </p:sp>
      <p:sp>
        <p:nvSpPr>
          <p:cNvPr id="2" name="">
            <a:extLst xmlns:a="http://schemas.openxmlformats.org/drawingml/2006/main">
              <a:ext uri="{FF2B5EF4-FFF2-40B4-BE49-F238E27FC236}">
                <a16:creationId xmlns:a16="http://schemas.microsoft.com/office/drawing/2014/main" id="{544FD93A-F07C-4EE8-936E-BFE6AD6A1AEB}"/>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Static cross-attack detection fails often</a:t>
            </a:r>
          </a:p>
        </p:txBody>
      </p:sp>
      <p:sp>
        <p:nvSpPr>
          <p:cNvPr id="3" name="">
            <a:extLst xmlns:a="http://schemas.openxmlformats.org/drawingml/2006/main">
              <a:ext uri="{FF2B5EF4-FFF2-40B4-BE49-F238E27FC236}">
                <a16:creationId xmlns:a16="http://schemas.microsoft.com/office/drawing/2014/main" id="{D726E824-37D2-49F1-989D-4C142DA40516}"/>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5E8807-2EA4-4A56-9304-C630E4CA7AAD}"/>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9A57D1-45E8-4DF4-9A3F-379042F3F1B7}"/>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Concept drift result</a:t>
            </a:r>
          </a:p>
        </p:txBody>
      </p:sp>
      <p:sp>
        <p:nvSpPr>
          <p:cNvPr id="6" name="">
            <a:extLst xmlns:a="http://schemas.openxmlformats.org/drawingml/2006/main">
              <a:ext uri="{FF2B5EF4-FFF2-40B4-BE49-F238E27FC236}">
                <a16:creationId xmlns:a16="http://schemas.microsoft.com/office/drawing/2014/main" id="{4CE48E9E-0C65-435B-A811-D4B6B0805BE7}"/>
              </a:ext>
            </a:extLst>
          </p:cNvPr>
          <p:cNvSpPr>
            <a:spLocks xmlns:a="http://schemas.openxmlformats.org/drawingml/2006/main" noGrp="1"/>
          </p:cNvSpPr>
          <p:nvPr/>
        </p:nvSpPr>
        <p:spPr>
          <a:xfrm xmlns:a="http://schemas.openxmlformats.org/drawingml/2006/main">
            <a:off x="428625" y="1333500"/>
            <a:ext cx="8382000" cy="4714875"/>
          </a:xfrm>
          <a:prstGeom xmlns:a="http://schemas.openxmlformats.org/drawingml/2006/main" prst="roundRect">
            <a:avLst>
              <a:gd name="adj" fmla="val 1616"/>
            </a:avLst>
          </a:prstGeom>
          <a:solidFill xmlns:a="http://schemas.openxmlformats.org/drawingml/2006/main">
            <a:srgbClr val="FFFFFF"/>
          </a:solidFill>
          <a:ln xmlns:a="http://schemas.openxmlformats.org/drawingml/2006/main" w="9525">
            <a:solidFill>
              <a:srgbClr val="D9DEE5"/>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567d9295d494f07"/>
          <a:stretch xmlns:a="http://schemas.openxmlformats.org/drawingml/2006/main"/>
        </p:blipFill>
        <p:spPr>
          <a:xfrm xmlns:a="http://schemas.openxmlformats.org/drawingml/2006/main">
            <a:off x="2188152" y="1457325"/>
            <a:ext cx="4862945" cy="44577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7A97112-6122-4C20-B926-0B119B4C82C5}"/>
              </a:ext>
            </a:extLst>
          </p:cNvPr>
          <p:cNvSpPr>
            <a:spLocks xmlns:a="http://schemas.openxmlformats.org/drawingml/2006/main" noGrp="1"/>
          </p:cNvSpPr>
          <p:nvPr/>
        </p:nvSpPr>
        <p:spPr>
          <a:xfrm xmlns:a="http://schemas.openxmlformats.org/drawingml/2006/main">
            <a:off x="9048750" y="1581150"/>
            <a:ext cx="242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48 / 72</a:t>
            </a:r>
          </a:p>
        </p:txBody>
      </p:sp>
      <p:sp>
        <p:nvSpPr>
          <p:cNvPr id="9" name="">
            <a:extLst xmlns:a="http://schemas.openxmlformats.org/drawingml/2006/main">
              <a:ext uri="{FF2B5EF4-FFF2-40B4-BE49-F238E27FC236}">
                <a16:creationId xmlns:a16="http://schemas.microsoft.com/office/drawing/2014/main" id="{16A0188F-B82B-4284-9593-1CEF685405B8}"/>
              </a:ext>
            </a:extLst>
          </p:cNvPr>
          <p:cNvSpPr>
            <a:spLocks xmlns:a="http://schemas.openxmlformats.org/drawingml/2006/main" noGrp="1"/>
          </p:cNvSpPr>
          <p:nvPr/>
        </p:nvSpPr>
        <p:spPr>
          <a:xfrm xmlns:a="http://schemas.openxmlformats.org/drawingml/2006/main">
            <a:off x="9105900" y="2057400"/>
            <a:ext cx="2314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cross-attack pairs with zero attack recall</a:t>
            </a:r>
          </a:p>
        </p:txBody>
      </p:sp>
      <p:sp>
        <p:nvSpPr>
          <p:cNvPr id="10" name="">
            <a:extLst xmlns:a="http://schemas.openxmlformats.org/drawingml/2006/main">
              <a:ext uri="{FF2B5EF4-FFF2-40B4-BE49-F238E27FC236}">
                <a16:creationId xmlns:a16="http://schemas.microsoft.com/office/drawing/2014/main" id="{1090CE5F-F4A7-425C-941B-677B6D8521F3}"/>
              </a:ext>
            </a:extLst>
          </p:cNvPr>
          <p:cNvSpPr>
            <a:spLocks xmlns:a="http://schemas.openxmlformats.org/drawingml/2006/main" noGrp="1"/>
          </p:cNvSpPr>
          <p:nvPr/>
        </p:nvSpPr>
        <p:spPr>
          <a:xfrm xmlns:a="http://schemas.openxmlformats.org/drawingml/2006/main">
            <a:off x="9239250" y="2762250"/>
            <a:ext cx="20478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CFAAEC-6124-4595-97EE-EA871A2827CE}"/>
              </a:ext>
            </a:extLst>
          </p:cNvPr>
          <p:cNvSpPr>
            <a:spLocks xmlns:a="http://schemas.openxmlformats.org/drawingml/2006/main" noGrp="1"/>
          </p:cNvSpPr>
          <p:nvPr/>
        </p:nvSpPr>
        <p:spPr>
          <a:xfrm xmlns:a="http://schemas.openxmlformats.org/drawingml/2006/main">
            <a:off x="9048750" y="2952750"/>
            <a:ext cx="242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6 / 72</a:t>
            </a:r>
          </a:p>
        </p:txBody>
      </p:sp>
      <p:sp>
        <p:nvSpPr>
          <p:cNvPr id="12" name="">
            <a:extLst xmlns:a="http://schemas.openxmlformats.org/drawingml/2006/main">
              <a:ext uri="{FF2B5EF4-FFF2-40B4-BE49-F238E27FC236}">
                <a16:creationId xmlns:a16="http://schemas.microsoft.com/office/drawing/2014/main" id="{FF8B6767-0E75-4083-95E8-8FB19CB9FFB6}"/>
              </a:ext>
            </a:extLst>
          </p:cNvPr>
          <p:cNvSpPr>
            <a:spLocks xmlns:a="http://schemas.openxmlformats.org/drawingml/2006/main" noGrp="1"/>
          </p:cNvSpPr>
          <p:nvPr/>
        </p:nvSpPr>
        <p:spPr>
          <a:xfrm xmlns:a="http://schemas.openxmlformats.org/drawingml/2006/main">
            <a:off x="9105900" y="3429000"/>
            <a:ext cx="2314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pairs with F1 at least 0.80</a:t>
            </a:r>
          </a:p>
        </p:txBody>
      </p:sp>
      <p:sp>
        <p:nvSpPr>
          <p:cNvPr id="13" name="">
            <a:extLst xmlns:a="http://schemas.openxmlformats.org/drawingml/2006/main">
              <a:ext uri="{FF2B5EF4-FFF2-40B4-BE49-F238E27FC236}">
                <a16:creationId xmlns:a16="http://schemas.microsoft.com/office/drawing/2014/main" id="{D2869990-B71B-4C5D-8513-CE8FFDF0302A}"/>
              </a:ext>
            </a:extLst>
          </p:cNvPr>
          <p:cNvSpPr>
            <a:spLocks xmlns:a="http://schemas.openxmlformats.org/drawingml/2006/main" noGrp="1"/>
          </p:cNvSpPr>
          <p:nvPr/>
        </p:nvSpPr>
        <p:spPr>
          <a:xfrm xmlns:a="http://schemas.openxmlformats.org/drawingml/2006/main">
            <a:off x="9239250" y="4133850"/>
            <a:ext cx="2047875"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DA2A21-D104-4F12-8C4D-25F205F2F18B}"/>
              </a:ext>
            </a:extLst>
          </p:cNvPr>
          <p:cNvSpPr>
            <a:spLocks xmlns:a="http://schemas.openxmlformats.org/drawingml/2006/main" noGrp="1"/>
          </p:cNvSpPr>
          <p:nvPr/>
        </p:nvSpPr>
        <p:spPr>
          <a:xfrm xmlns:a="http://schemas.openxmlformats.org/drawingml/2006/main">
            <a:off x="9048750" y="4324350"/>
            <a:ext cx="242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2D3EE"/>
                </a:solidFill>
              </a:defRPr>
            </a:pPr>
            <a:r>
              <a:rPr sz="2700" b="1">
                <a:solidFill>
                  <a:srgbClr val="22D3EE"/>
                </a:solidFill>
              </a:rPr>
              <a:t>0.182</a:t>
            </a:r>
          </a:p>
        </p:txBody>
      </p:sp>
      <p:sp>
        <p:nvSpPr>
          <p:cNvPr id="15" name="">
            <a:extLst xmlns:a="http://schemas.openxmlformats.org/drawingml/2006/main">
              <a:ext uri="{FF2B5EF4-FFF2-40B4-BE49-F238E27FC236}">
                <a16:creationId xmlns:a16="http://schemas.microsoft.com/office/drawing/2014/main" id="{A28BBAF2-4F58-41C8-AF93-4750CD1F738E}"/>
              </a:ext>
            </a:extLst>
          </p:cNvPr>
          <p:cNvSpPr>
            <a:spLocks xmlns:a="http://schemas.openxmlformats.org/drawingml/2006/main" noGrp="1"/>
          </p:cNvSpPr>
          <p:nvPr/>
        </p:nvSpPr>
        <p:spPr>
          <a:xfrm xmlns:a="http://schemas.openxmlformats.org/drawingml/2006/main">
            <a:off x="9105900" y="4800600"/>
            <a:ext cx="2314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mean cross-attack F1</a:t>
            </a:r>
          </a:p>
        </p:txBody>
      </p:sp>
      <p:sp>
        <p:nvSpPr>
          <p:cNvPr id="16" name="">
            <a:extLst xmlns:a="http://schemas.openxmlformats.org/drawingml/2006/main">
              <a:ext uri="{FF2B5EF4-FFF2-40B4-BE49-F238E27FC236}">
                <a16:creationId xmlns:a16="http://schemas.microsoft.com/office/drawing/2014/main" id="{E4984CD2-0575-4A88-B83C-6D711B5B7B0B}"/>
              </a:ext>
            </a:extLst>
          </p:cNvPr>
          <p:cNvSpPr>
            <a:spLocks xmlns:a="http://schemas.openxmlformats.org/drawingml/2006/main" noGrp="1"/>
          </p:cNvSpPr>
          <p:nvPr/>
        </p:nvSpPr>
        <p:spPr>
          <a:xfrm xmlns:a="http://schemas.openxmlformats.org/drawingml/2006/main">
            <a:off x="1847850" y="6019800"/>
            <a:ext cx="561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97A3B2"/>
                </a:solidFill>
              </a:defRPr>
            </a:pPr>
            <a:r>
              <a:rPr sz="900" b="1">
                <a:solidFill>
                  <a:srgbClr val="97A3B2"/>
                </a:solidFill>
              </a:rPr>
              <a:t>Rows = training family | columns = different test family</a:t>
            </a:r>
          </a:p>
        </p:txBody>
      </p:sp>
    </p:spTree>
    <p:extLst>
      <p:ext uri="{BB962C8B-B14F-4D97-AF65-F5344CB8AC3E}">
        <p14:creationId xmlns:p14="http://schemas.microsoft.com/office/powerpoint/2010/main" val="1490447584"/>
      </p:ext>
    </p:extLst>
  </p:cSld>
</p:sld>
</file>

<file path=ppt/slides/slide11.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C20E9DD-2F8C-4722-8515-CA11834A2D3C}"/>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FAILURE ANALYSIS</a:t>
            </a:r>
          </a:p>
        </p:txBody>
      </p:sp>
      <p:sp>
        <p:nvSpPr>
          <p:cNvPr id="2" name="">
            <a:extLst xmlns:a="http://schemas.openxmlformats.org/drawingml/2006/main">
              <a:ext uri="{FF2B5EF4-FFF2-40B4-BE49-F238E27FC236}">
                <a16:creationId xmlns:a16="http://schemas.microsoft.com/office/drawing/2014/main" id="{E1344B10-549E-4CD9-95BC-E04D3A364235}"/>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Retraining cannot learn a mechanism the features do not expose</a:t>
            </a:r>
          </a:p>
        </p:txBody>
      </p:sp>
      <p:sp>
        <p:nvSpPr>
          <p:cNvPr id="3" name="">
            <a:extLst xmlns:a="http://schemas.openxmlformats.org/drawingml/2006/main">
              <a:ext uri="{FF2B5EF4-FFF2-40B4-BE49-F238E27FC236}">
                <a16:creationId xmlns:a16="http://schemas.microsoft.com/office/drawing/2014/main" id="{7CCEE7C8-FAD9-4579-8DD1-D80E2CED7DE9}"/>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C16D7B-947D-45D1-85BF-55B7323F95D4}"/>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1B88B2-FEFF-4703-9817-A65E71CC3BAA}"/>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Feature representation</a:t>
            </a:r>
          </a:p>
        </p:txBody>
      </p:sp>
      <p:sp>
        <p:nvSpPr>
          <p:cNvPr id="6" name="">
            <a:extLst xmlns:a="http://schemas.openxmlformats.org/drawingml/2006/main">
              <a:ext uri="{FF2B5EF4-FFF2-40B4-BE49-F238E27FC236}">
                <a16:creationId xmlns:a16="http://schemas.microsoft.com/office/drawing/2014/main" id="{B9C61909-E7B8-4E88-B735-BEA430361783}"/>
              </a:ext>
            </a:extLst>
          </p:cNvPr>
          <p:cNvSpPr>
            <a:spLocks xmlns:a="http://schemas.openxmlformats.org/drawingml/2006/main" noGrp="1"/>
          </p:cNvSpPr>
          <p:nvPr/>
        </p:nvSpPr>
        <p:spPr>
          <a:xfrm xmlns:a="http://schemas.openxmlformats.org/drawingml/2006/main">
            <a:off x="685800" y="1466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B7185"/>
                </a:solidFill>
              </a:defRPr>
            </a:pPr>
            <a:r>
              <a:rPr sz="825" b="1">
                <a:solidFill>
                  <a:srgbClr val="FB7185"/>
                </a:solidFill>
              </a:rPr>
              <a:t>EARLY REPRESENTATION</a:t>
            </a:r>
          </a:p>
        </p:txBody>
      </p:sp>
      <p:sp>
        <p:nvSpPr>
          <p:cNvPr id="7" name="">
            <a:extLst xmlns:a="http://schemas.openxmlformats.org/drawingml/2006/main">
              <a:ext uri="{FF2B5EF4-FFF2-40B4-BE49-F238E27FC236}">
                <a16:creationId xmlns:a16="http://schemas.microsoft.com/office/drawing/2014/main" id="{E8783EA4-A776-4FB9-A936-74E3D61F94D5}"/>
              </a:ext>
            </a:extLst>
          </p:cNvPr>
          <p:cNvSpPr>
            <a:spLocks xmlns:a="http://schemas.openxmlformats.org/drawingml/2006/main" noGrp="1"/>
          </p:cNvSpPr>
          <p:nvPr/>
        </p:nvSpPr>
        <p:spPr>
          <a:xfrm xmlns:a="http://schemas.openxmlformats.org/drawingml/2006/main">
            <a:off x="647700" y="1762125"/>
            <a:ext cx="4905375" cy="2286000"/>
          </a:xfrm>
          <a:prstGeom xmlns:a="http://schemas.openxmlformats.org/drawingml/2006/main" prst="roundRect">
            <a:avLst>
              <a:gd name="adj" fmla="val 3333"/>
            </a:avLst>
          </a:prstGeom>
          <a:solidFill xmlns:a="http://schemas.openxmlformats.org/drawingml/2006/main">
            <a:srgbClr val="121C27"/>
          </a:solidFill>
          <a:ln xmlns:a="http://schemas.openxmlformats.org/drawingml/2006/main" w="9525">
            <a:solidFill>
              <a:srgbClr val="2C3A49"/>
            </a:solidFill>
            <a:prstDash val="solid"/>
          </a:ln>
        </p:spPr>
      </p:sp>
      <p:sp>
        <p:nvSpPr>
          <p:cNvPr id="8" name="">
            <a:extLst xmlns:a="http://schemas.openxmlformats.org/drawingml/2006/main">
              <a:ext uri="{FF2B5EF4-FFF2-40B4-BE49-F238E27FC236}">
                <a16:creationId xmlns:a16="http://schemas.microsoft.com/office/drawing/2014/main" id="{F525475E-033C-4D41-A863-C0163417B54C}"/>
              </a:ext>
            </a:extLst>
          </p:cNvPr>
          <p:cNvSpPr>
            <a:spLocks xmlns:a="http://schemas.openxmlformats.org/drawingml/2006/main" noGrp="1"/>
          </p:cNvSpPr>
          <p:nvPr/>
        </p:nvSpPr>
        <p:spPr>
          <a:xfrm xmlns:a="http://schemas.openxmlformats.org/drawingml/2006/main">
            <a:off x="876300" y="1952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AFC"/>
                </a:solidFill>
              </a:defRPr>
            </a:pPr>
            <a:r>
              <a:rPr sz="1425" b="1">
                <a:solidFill>
                  <a:srgbClr val="F7FAFC"/>
                </a:solidFill>
              </a:rPr>
              <a:t>Coarse traffic evidence</a:t>
            </a:r>
          </a:p>
        </p:txBody>
      </p:sp>
      <p:sp>
        <p:nvSpPr>
          <p:cNvPr id="9" name="">
            <a:extLst xmlns:a="http://schemas.openxmlformats.org/drawingml/2006/main">
              <a:ext uri="{FF2B5EF4-FFF2-40B4-BE49-F238E27FC236}">
                <a16:creationId xmlns:a16="http://schemas.microsoft.com/office/drawing/2014/main" id="{F67E763F-D27A-4C84-9062-69BAA22A4215}"/>
              </a:ext>
            </a:extLst>
          </p:cNvPr>
          <p:cNvSpPr>
            <a:spLocks xmlns:a="http://schemas.openxmlformats.org/drawingml/2006/main" noGrp="1"/>
          </p:cNvSpPr>
          <p:nvPr/>
        </p:nvSpPr>
        <p:spPr>
          <a:xfrm xmlns:a="http://schemas.openxmlformats.org/drawingml/2006/main">
            <a:off x="876300" y="23241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delivery, radio volume, responses</a:t>
            </a:r>
          </a:p>
        </p:txBody>
      </p:sp>
      <p:sp>
        <p:nvSpPr>
          <p:cNvPr id="10" name="">
            <a:extLst xmlns:a="http://schemas.openxmlformats.org/drawingml/2006/main">
              <a:ext uri="{FF2B5EF4-FFF2-40B4-BE49-F238E27FC236}">
                <a16:creationId xmlns:a16="http://schemas.microsoft.com/office/drawing/2014/main" id="{B0F1ADB0-BA14-4004-B004-4B18367A816F}"/>
              </a:ext>
            </a:extLst>
          </p:cNvPr>
          <p:cNvSpPr>
            <a:spLocks xmlns:a="http://schemas.openxmlformats.org/drawingml/2006/main" noGrp="1"/>
          </p:cNvSpPr>
          <p:nvPr/>
        </p:nvSpPr>
        <p:spPr>
          <a:xfrm xmlns:a="http://schemas.openxmlformats.org/drawingml/2006/main">
            <a:off x="876300" y="2819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Static F1</a:t>
            </a:r>
          </a:p>
        </p:txBody>
      </p:sp>
      <p:sp>
        <p:nvSpPr>
          <p:cNvPr id="11" name="">
            <a:extLst xmlns:a="http://schemas.openxmlformats.org/drawingml/2006/main">
              <a:ext uri="{FF2B5EF4-FFF2-40B4-BE49-F238E27FC236}">
                <a16:creationId xmlns:a16="http://schemas.microsoft.com/office/drawing/2014/main" id="{2B1E5E66-EC8B-406D-B9DE-24FA2A4E02A5}"/>
              </a:ext>
            </a:extLst>
          </p:cNvPr>
          <p:cNvSpPr>
            <a:spLocks xmlns:a="http://schemas.openxmlformats.org/drawingml/2006/main" noGrp="1"/>
          </p:cNvSpPr>
          <p:nvPr/>
        </p:nvSpPr>
        <p:spPr>
          <a:xfrm xmlns:a="http://schemas.openxmlformats.org/drawingml/2006/main">
            <a:off x="2733675" y="2847975"/>
            <a:ext cx="15240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F223AB-8E4D-43B5-BE67-33813775C8C1}"/>
              </a:ext>
            </a:extLst>
          </p:cNvPr>
          <p:cNvSpPr>
            <a:spLocks xmlns:a="http://schemas.openxmlformats.org/drawingml/2006/main" noGrp="1"/>
          </p:cNvSpPr>
          <p:nvPr/>
        </p:nvSpPr>
        <p:spPr>
          <a:xfrm xmlns:a="http://schemas.openxmlformats.org/drawingml/2006/main">
            <a:off x="2733675" y="2847975"/>
            <a:ext cx="28575" cy="171450"/>
          </a:xfrm>
          <a:prstGeom xmlns:a="http://schemas.openxmlformats.org/drawingml/2006/main" prst="roundRect">
            <a:avLst>
              <a:gd name="adj" fmla="val 50000"/>
            </a:avLst>
          </a:prstGeom>
          <a:solidFill xmlns:a="http://schemas.openxmlformats.org/drawingml/2006/main">
            <a:srgbClr val="FB718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CB235F-071C-43CD-BC41-54EB0B434C45}"/>
              </a:ext>
            </a:extLst>
          </p:cNvPr>
          <p:cNvSpPr>
            <a:spLocks xmlns:a="http://schemas.openxmlformats.org/drawingml/2006/main" noGrp="1"/>
          </p:cNvSpPr>
          <p:nvPr/>
        </p:nvSpPr>
        <p:spPr>
          <a:xfrm xmlns:a="http://schemas.openxmlformats.org/drawingml/2006/main">
            <a:off x="4324350" y="28098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B7185"/>
                </a:solidFill>
              </a:defRPr>
            </a:pPr>
            <a:r>
              <a:rPr sz="975" b="1">
                <a:solidFill>
                  <a:srgbClr val="FB7185"/>
                </a:solidFill>
              </a:rPr>
              <a:t>0.000</a:t>
            </a:r>
          </a:p>
        </p:txBody>
      </p:sp>
      <p:sp>
        <p:nvSpPr>
          <p:cNvPr id="14" name="">
            <a:extLst xmlns:a="http://schemas.openxmlformats.org/drawingml/2006/main">
              <a:ext uri="{FF2B5EF4-FFF2-40B4-BE49-F238E27FC236}">
                <a16:creationId xmlns:a16="http://schemas.microsoft.com/office/drawing/2014/main" id="{99DA2A52-D875-4AB6-BD70-436B26EB8C2C}"/>
              </a:ext>
            </a:extLst>
          </p:cNvPr>
          <p:cNvSpPr>
            <a:spLocks xmlns:a="http://schemas.openxmlformats.org/drawingml/2006/main" noGrp="1"/>
          </p:cNvSpPr>
          <p:nvPr/>
        </p:nvSpPr>
        <p:spPr>
          <a:xfrm xmlns:a="http://schemas.openxmlformats.org/drawingml/2006/main">
            <a:off x="876300" y="3209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3-seed F1</a:t>
            </a:r>
          </a:p>
        </p:txBody>
      </p:sp>
      <p:sp>
        <p:nvSpPr>
          <p:cNvPr id="15" name="">
            <a:extLst xmlns:a="http://schemas.openxmlformats.org/drawingml/2006/main">
              <a:ext uri="{FF2B5EF4-FFF2-40B4-BE49-F238E27FC236}">
                <a16:creationId xmlns:a16="http://schemas.microsoft.com/office/drawing/2014/main" id="{79E0EF06-7ECD-4BED-B284-CF7808C6845F}"/>
              </a:ext>
            </a:extLst>
          </p:cNvPr>
          <p:cNvSpPr>
            <a:spLocks xmlns:a="http://schemas.openxmlformats.org/drawingml/2006/main" noGrp="1"/>
          </p:cNvSpPr>
          <p:nvPr/>
        </p:nvSpPr>
        <p:spPr>
          <a:xfrm xmlns:a="http://schemas.openxmlformats.org/drawingml/2006/main">
            <a:off x="2733675" y="3238500"/>
            <a:ext cx="15240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60526FD-217E-45C0-AD4C-B81C4C16E730}"/>
              </a:ext>
            </a:extLst>
          </p:cNvPr>
          <p:cNvSpPr>
            <a:spLocks xmlns:a="http://schemas.openxmlformats.org/drawingml/2006/main" noGrp="1"/>
          </p:cNvSpPr>
          <p:nvPr/>
        </p:nvSpPr>
        <p:spPr>
          <a:xfrm xmlns:a="http://schemas.openxmlformats.org/drawingml/2006/main">
            <a:off x="2733675" y="3238500"/>
            <a:ext cx="149047" cy="171450"/>
          </a:xfrm>
          <a:prstGeom xmlns:a="http://schemas.openxmlformats.org/drawingml/2006/main" prst="roundRect">
            <a:avLst>
              <a:gd name="adj" fmla="val 50000"/>
            </a:avLst>
          </a:prstGeom>
          <a:solidFill xmlns:a="http://schemas.openxmlformats.org/drawingml/2006/main">
            <a:srgbClr val="FB71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5EE8E8A-80CA-43F5-A31A-A5826A03FA31}"/>
              </a:ext>
            </a:extLst>
          </p:cNvPr>
          <p:cNvSpPr>
            <a:spLocks xmlns:a="http://schemas.openxmlformats.org/drawingml/2006/main" noGrp="1"/>
          </p:cNvSpPr>
          <p:nvPr/>
        </p:nvSpPr>
        <p:spPr>
          <a:xfrm xmlns:a="http://schemas.openxmlformats.org/drawingml/2006/main">
            <a:off x="4324350" y="320040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B7185"/>
                </a:solidFill>
              </a:defRPr>
            </a:pPr>
            <a:r>
              <a:rPr sz="975" b="1">
                <a:solidFill>
                  <a:srgbClr val="FB7185"/>
                </a:solidFill>
              </a:rPr>
              <a:t>0.098</a:t>
            </a:r>
          </a:p>
        </p:txBody>
      </p:sp>
      <p:sp>
        <p:nvSpPr>
          <p:cNvPr id="18" name="">
            <a:extLst xmlns:a="http://schemas.openxmlformats.org/drawingml/2006/main">
              <a:ext uri="{FF2B5EF4-FFF2-40B4-BE49-F238E27FC236}">
                <a16:creationId xmlns:a16="http://schemas.microsoft.com/office/drawing/2014/main" id="{7B84AAF0-DED8-4541-A10D-0E2D12FE858C}"/>
              </a:ext>
            </a:extLst>
          </p:cNvPr>
          <p:cNvSpPr>
            <a:spLocks xmlns:a="http://schemas.openxmlformats.org/drawingml/2006/main" noGrp="1"/>
          </p:cNvSpPr>
          <p:nvPr/>
        </p:nvSpPr>
        <p:spPr>
          <a:xfrm xmlns:a="http://schemas.openxmlformats.org/drawingml/2006/main">
            <a:off x="876300" y="35242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B7185"/>
                </a:solidFill>
              </a:defRPr>
            </a:pPr>
            <a:r>
              <a:rPr sz="1050" b="1">
                <a:solidFill>
                  <a:srgbClr val="FB7185"/>
                </a:solidFill>
              </a:rPr>
              <a:t>Adding Sinkhole examples still leaves the rank mechanism mostly invisible.</a:t>
            </a:r>
          </a:p>
        </p:txBody>
      </p:sp>
      <p:sp>
        <p:nvSpPr>
          <p:cNvPr id="19" name="">
            <a:extLst xmlns:a="http://schemas.openxmlformats.org/drawingml/2006/main">
              <a:ext uri="{FF2B5EF4-FFF2-40B4-BE49-F238E27FC236}">
                <a16:creationId xmlns:a16="http://schemas.microsoft.com/office/drawing/2014/main" id="{9EE5A77F-0F92-4F7D-AA59-DF85FBF0CD6A}"/>
              </a:ext>
            </a:extLst>
          </p:cNvPr>
          <p:cNvSpPr>
            <a:spLocks xmlns:a="http://schemas.openxmlformats.org/drawingml/2006/main" noGrp="1"/>
          </p:cNvSpPr>
          <p:nvPr/>
        </p:nvSpPr>
        <p:spPr>
          <a:xfrm xmlns:a="http://schemas.openxmlformats.org/drawingml/2006/main">
            <a:off x="5810250" y="2609850"/>
            <a:ext cx="523875" cy="523875"/>
          </a:xfrm>
          <a:prstGeom xmlns:a="http://schemas.openxmlformats.org/drawingml/2006/main" prst="chevron">
            <a:avLst/>
          </a:prstGeom>
          <a:solidFill xmlns:a="http://schemas.openxmlformats.org/drawingml/2006/main">
            <a:srgbClr val="F59E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58F1AF9-A5BF-4782-88F4-8BA5A97F6E86}"/>
              </a:ext>
            </a:extLst>
          </p:cNvPr>
          <p:cNvSpPr>
            <a:spLocks xmlns:a="http://schemas.openxmlformats.org/drawingml/2006/main" noGrp="1"/>
          </p:cNvSpPr>
          <p:nvPr/>
        </p:nvSpPr>
        <p:spPr>
          <a:xfrm xmlns:a="http://schemas.openxmlformats.org/drawingml/2006/main">
            <a:off x="6715125" y="1466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34D399"/>
                </a:solidFill>
              </a:defRPr>
            </a:pPr>
            <a:r>
              <a:rPr sz="825" b="1">
                <a:solidFill>
                  <a:srgbClr val="34D399"/>
                </a:solidFill>
              </a:rPr>
              <a:t>MECHANISM-AWARE REPRESENTATION</a:t>
            </a:r>
          </a:p>
        </p:txBody>
      </p:sp>
      <p:sp>
        <p:nvSpPr>
          <p:cNvPr id="21" name="">
            <a:extLst xmlns:a="http://schemas.openxmlformats.org/drawingml/2006/main">
              <a:ext uri="{FF2B5EF4-FFF2-40B4-BE49-F238E27FC236}">
                <a16:creationId xmlns:a16="http://schemas.microsoft.com/office/drawing/2014/main" id="{46A7E495-4740-4C6F-B595-AB5A155B1F7D}"/>
              </a:ext>
            </a:extLst>
          </p:cNvPr>
          <p:cNvSpPr>
            <a:spLocks xmlns:a="http://schemas.openxmlformats.org/drawingml/2006/main" noGrp="1"/>
          </p:cNvSpPr>
          <p:nvPr/>
        </p:nvSpPr>
        <p:spPr>
          <a:xfrm xmlns:a="http://schemas.openxmlformats.org/drawingml/2006/main">
            <a:off x="6667500" y="1762125"/>
            <a:ext cx="4857750" cy="2286000"/>
          </a:xfrm>
          <a:prstGeom xmlns:a="http://schemas.openxmlformats.org/drawingml/2006/main" prst="roundRect">
            <a:avLst>
              <a:gd name="adj" fmla="val 3333"/>
            </a:avLst>
          </a:prstGeom>
          <a:solidFill xmlns:a="http://schemas.openxmlformats.org/drawingml/2006/main">
            <a:srgbClr val="121C27"/>
          </a:solidFill>
          <a:ln xmlns:a="http://schemas.openxmlformats.org/drawingml/2006/main" w="9525">
            <a:solidFill>
              <a:srgbClr val="2C3A49"/>
            </a:solidFill>
            <a:prstDash val="solid"/>
          </a:ln>
        </p:spPr>
      </p:sp>
      <p:sp>
        <p:nvSpPr>
          <p:cNvPr id="22" name="">
            <a:extLst xmlns:a="http://schemas.openxmlformats.org/drawingml/2006/main">
              <a:ext uri="{FF2B5EF4-FFF2-40B4-BE49-F238E27FC236}">
                <a16:creationId xmlns:a16="http://schemas.microsoft.com/office/drawing/2014/main" id="{7423595A-BAAF-4406-9AE3-046EC571744C}"/>
              </a:ext>
            </a:extLst>
          </p:cNvPr>
          <p:cNvSpPr>
            <a:spLocks xmlns:a="http://schemas.openxmlformats.org/drawingml/2006/main" noGrp="1"/>
          </p:cNvSpPr>
          <p:nvPr/>
        </p:nvSpPr>
        <p:spPr>
          <a:xfrm xmlns:a="http://schemas.openxmlformats.org/drawingml/2006/main">
            <a:off x="6905625" y="1952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AFC"/>
                </a:solidFill>
              </a:defRPr>
            </a:pPr>
            <a:r>
              <a:rPr sz="1425" b="1">
                <a:solidFill>
                  <a:srgbClr val="F7FAFC"/>
                </a:solidFill>
              </a:rPr>
              <a:t>Rank + parent + routing state</a:t>
            </a:r>
          </a:p>
        </p:txBody>
      </p:sp>
      <p:sp>
        <p:nvSpPr>
          <p:cNvPr id="23" name="">
            <a:extLst xmlns:a="http://schemas.openxmlformats.org/drawingml/2006/main">
              <a:ext uri="{FF2B5EF4-FFF2-40B4-BE49-F238E27FC236}">
                <a16:creationId xmlns:a16="http://schemas.microsoft.com/office/drawing/2014/main" id="{2AD28FA8-1681-4B09-BB2F-54FA2015CC45}"/>
              </a:ext>
            </a:extLst>
          </p:cNvPr>
          <p:cNvSpPr>
            <a:spLocks xmlns:a="http://schemas.openxmlformats.org/drawingml/2006/main" noGrp="1"/>
          </p:cNvSpPr>
          <p:nvPr/>
        </p:nvSpPr>
        <p:spPr>
          <a:xfrm xmlns:a="http://schemas.openxmlformats.org/drawingml/2006/main">
            <a:off x="6905625" y="23241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persistent low-rank advertisements become visible</a:t>
            </a:r>
          </a:p>
        </p:txBody>
      </p:sp>
      <p:sp>
        <p:nvSpPr>
          <p:cNvPr id="24" name="">
            <a:extLst xmlns:a="http://schemas.openxmlformats.org/drawingml/2006/main">
              <a:ext uri="{FF2B5EF4-FFF2-40B4-BE49-F238E27FC236}">
                <a16:creationId xmlns:a16="http://schemas.microsoft.com/office/drawing/2014/main" id="{D90C9014-C759-481B-AAB4-FC7637E14C57}"/>
              </a:ext>
            </a:extLst>
          </p:cNvPr>
          <p:cNvSpPr>
            <a:spLocks xmlns:a="http://schemas.openxmlformats.org/drawingml/2006/main" noGrp="1"/>
          </p:cNvSpPr>
          <p:nvPr/>
        </p:nvSpPr>
        <p:spPr>
          <a:xfrm xmlns:a="http://schemas.openxmlformats.org/drawingml/2006/main">
            <a:off x="6905625" y="2819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1-seed F1</a:t>
            </a:r>
          </a:p>
        </p:txBody>
      </p:sp>
      <p:sp>
        <p:nvSpPr>
          <p:cNvPr id="25" name="">
            <a:extLst xmlns:a="http://schemas.openxmlformats.org/drawingml/2006/main">
              <a:ext uri="{FF2B5EF4-FFF2-40B4-BE49-F238E27FC236}">
                <a16:creationId xmlns:a16="http://schemas.microsoft.com/office/drawing/2014/main" id="{E18808C1-30D5-464E-A0A6-8A68D82C7E16}"/>
              </a:ext>
            </a:extLst>
          </p:cNvPr>
          <p:cNvSpPr>
            <a:spLocks xmlns:a="http://schemas.openxmlformats.org/drawingml/2006/main" noGrp="1"/>
          </p:cNvSpPr>
          <p:nvPr/>
        </p:nvSpPr>
        <p:spPr>
          <a:xfrm xmlns:a="http://schemas.openxmlformats.org/drawingml/2006/main">
            <a:off x="8763000" y="2847975"/>
            <a:ext cx="15240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0D8DA9-55A8-45F9-90F2-900289025196}"/>
              </a:ext>
            </a:extLst>
          </p:cNvPr>
          <p:cNvSpPr>
            <a:spLocks xmlns:a="http://schemas.openxmlformats.org/drawingml/2006/main" noGrp="1"/>
          </p:cNvSpPr>
          <p:nvPr/>
        </p:nvSpPr>
        <p:spPr>
          <a:xfrm xmlns:a="http://schemas.openxmlformats.org/drawingml/2006/main">
            <a:off x="8763000" y="2847975"/>
            <a:ext cx="1238860" cy="1714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67E742-D612-4CBC-B869-02E879F95B44}"/>
              </a:ext>
            </a:extLst>
          </p:cNvPr>
          <p:cNvSpPr>
            <a:spLocks xmlns:a="http://schemas.openxmlformats.org/drawingml/2006/main" noGrp="1"/>
          </p:cNvSpPr>
          <p:nvPr/>
        </p:nvSpPr>
        <p:spPr>
          <a:xfrm xmlns:a="http://schemas.openxmlformats.org/drawingml/2006/main">
            <a:off x="10353675" y="28098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34D399"/>
                </a:solidFill>
              </a:defRPr>
            </a:pPr>
            <a:r>
              <a:rPr sz="975" b="1">
                <a:solidFill>
                  <a:srgbClr val="34D399"/>
                </a:solidFill>
              </a:rPr>
              <a:t>0.813</a:t>
            </a:r>
          </a:p>
        </p:txBody>
      </p:sp>
      <p:sp>
        <p:nvSpPr>
          <p:cNvPr id="28" name="">
            <a:extLst xmlns:a="http://schemas.openxmlformats.org/drawingml/2006/main">
              <a:ext uri="{FF2B5EF4-FFF2-40B4-BE49-F238E27FC236}">
                <a16:creationId xmlns:a16="http://schemas.microsoft.com/office/drawing/2014/main" id="{24ECAF66-8159-44EA-A2E6-2C1BD5C4391E}"/>
              </a:ext>
            </a:extLst>
          </p:cNvPr>
          <p:cNvSpPr>
            <a:spLocks xmlns:a="http://schemas.openxmlformats.org/drawingml/2006/main" noGrp="1"/>
          </p:cNvSpPr>
          <p:nvPr/>
        </p:nvSpPr>
        <p:spPr>
          <a:xfrm xmlns:a="http://schemas.openxmlformats.org/drawingml/2006/main">
            <a:off x="6905625" y="3209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3-seed F1</a:t>
            </a:r>
          </a:p>
        </p:txBody>
      </p:sp>
      <p:sp>
        <p:nvSpPr>
          <p:cNvPr id="29" name="">
            <a:extLst xmlns:a="http://schemas.openxmlformats.org/drawingml/2006/main">
              <a:ext uri="{FF2B5EF4-FFF2-40B4-BE49-F238E27FC236}">
                <a16:creationId xmlns:a16="http://schemas.microsoft.com/office/drawing/2014/main" id="{F59D4297-BE3E-4D8B-90E1-F99A1FB66FCB}"/>
              </a:ext>
            </a:extLst>
          </p:cNvPr>
          <p:cNvSpPr>
            <a:spLocks xmlns:a="http://schemas.openxmlformats.org/drawingml/2006/main" noGrp="1"/>
          </p:cNvSpPr>
          <p:nvPr/>
        </p:nvSpPr>
        <p:spPr>
          <a:xfrm xmlns:a="http://schemas.openxmlformats.org/drawingml/2006/main">
            <a:off x="8763000" y="3238500"/>
            <a:ext cx="15240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3ABD1D7-DA17-41CF-A72C-A0CEB50CC9FE}"/>
              </a:ext>
            </a:extLst>
          </p:cNvPr>
          <p:cNvSpPr>
            <a:spLocks xmlns:a="http://schemas.openxmlformats.org/drawingml/2006/main" noGrp="1"/>
          </p:cNvSpPr>
          <p:nvPr/>
        </p:nvSpPr>
        <p:spPr>
          <a:xfrm xmlns:a="http://schemas.openxmlformats.org/drawingml/2006/main">
            <a:off x="8763000" y="3238500"/>
            <a:ext cx="1483004" cy="1714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D8F3FBC-A125-40BD-B2BF-EF6015482DD7}"/>
              </a:ext>
            </a:extLst>
          </p:cNvPr>
          <p:cNvSpPr>
            <a:spLocks xmlns:a="http://schemas.openxmlformats.org/drawingml/2006/main" noGrp="1"/>
          </p:cNvSpPr>
          <p:nvPr/>
        </p:nvSpPr>
        <p:spPr>
          <a:xfrm xmlns:a="http://schemas.openxmlformats.org/drawingml/2006/main">
            <a:off x="10353675" y="320040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34D399"/>
                </a:solidFill>
              </a:defRPr>
            </a:pPr>
            <a:r>
              <a:rPr sz="975" b="1">
                <a:solidFill>
                  <a:srgbClr val="34D399"/>
                </a:solidFill>
              </a:rPr>
              <a:t>0.973</a:t>
            </a:r>
          </a:p>
        </p:txBody>
      </p:sp>
      <p:sp>
        <p:nvSpPr>
          <p:cNvPr id="32" name="">
            <a:extLst xmlns:a="http://schemas.openxmlformats.org/drawingml/2006/main">
              <a:ext uri="{FF2B5EF4-FFF2-40B4-BE49-F238E27FC236}">
                <a16:creationId xmlns:a16="http://schemas.microsoft.com/office/drawing/2014/main" id="{9F56FD1B-D0F4-4766-AB05-BAC7AB31A693}"/>
              </a:ext>
            </a:extLst>
          </p:cNvPr>
          <p:cNvSpPr>
            <a:spLocks xmlns:a="http://schemas.openxmlformats.org/drawingml/2006/main" noGrp="1"/>
          </p:cNvSpPr>
          <p:nvPr/>
        </p:nvSpPr>
        <p:spPr>
          <a:xfrm xmlns:a="http://schemas.openxmlformats.org/drawingml/2006/main">
            <a:off x="6905625" y="35242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4D399"/>
                </a:solidFill>
              </a:defRPr>
            </a:pPr>
            <a:r>
              <a:rPr sz="1050" b="1">
                <a:solidFill>
                  <a:srgbClr val="34D399"/>
                </a:solidFill>
              </a:rPr>
              <a:t>Held-out recall reaches 0.95 with false-positive rate 0.</a:t>
            </a:r>
          </a:p>
        </p:txBody>
      </p:sp>
      <p:sp>
        <p:nvSpPr>
          <p:cNvPr id="33" name="">
            <a:extLst xmlns:a="http://schemas.openxmlformats.org/drawingml/2006/main">
              <a:ext uri="{FF2B5EF4-FFF2-40B4-BE49-F238E27FC236}">
                <a16:creationId xmlns:a16="http://schemas.microsoft.com/office/drawing/2014/main" id="{BD0F1B0C-601E-44CE-B62C-3FE65E207F4E}"/>
              </a:ext>
            </a:extLst>
          </p:cNvPr>
          <p:cNvSpPr>
            <a:spLocks xmlns:a="http://schemas.openxmlformats.org/drawingml/2006/main" noGrp="1"/>
          </p:cNvSpPr>
          <p:nvPr/>
        </p:nvSpPr>
        <p:spPr>
          <a:xfrm xmlns:a="http://schemas.openxmlformats.org/drawingml/2006/main">
            <a:off x="1447800" y="4524375"/>
            <a:ext cx="9334500" cy="895350"/>
          </a:xfrm>
          <a:prstGeom xmlns:a="http://schemas.openxmlformats.org/drawingml/2006/main" prst="roundRect">
            <a:avLst>
              <a:gd name="adj" fmla="val 8511"/>
            </a:avLst>
          </a:prstGeom>
          <a:solidFill xmlns:a="http://schemas.openxmlformats.org/drawingml/2006/main">
            <a:srgbClr val="0E151E"/>
          </a:solidFill>
          <a:ln xmlns:a="http://schemas.openxmlformats.org/drawingml/2006/main" w="9525">
            <a:solidFill>
              <a:srgbClr val="22D3EE"/>
            </a:solidFill>
            <a:prstDash val="solid"/>
          </a:ln>
        </p:spPr>
      </p:sp>
      <p:sp>
        <p:nvSpPr>
          <p:cNvPr id="34" name="">
            <a:extLst xmlns:a="http://schemas.openxmlformats.org/drawingml/2006/main">
              <a:ext uri="{FF2B5EF4-FFF2-40B4-BE49-F238E27FC236}">
                <a16:creationId xmlns:a16="http://schemas.microsoft.com/office/drawing/2014/main" id="{8ABB6902-9B01-4D6D-8A7D-3495A97053F6}"/>
              </a:ext>
            </a:extLst>
          </p:cNvPr>
          <p:cNvSpPr>
            <a:spLocks xmlns:a="http://schemas.openxmlformats.org/drawingml/2006/main" noGrp="1"/>
          </p:cNvSpPr>
          <p:nvPr/>
        </p:nvSpPr>
        <p:spPr>
          <a:xfrm xmlns:a="http://schemas.openxmlformats.org/drawingml/2006/main">
            <a:off x="1714500" y="46386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Research correction</a:t>
            </a:r>
          </a:p>
        </p:txBody>
      </p:sp>
      <p:sp>
        <p:nvSpPr>
          <p:cNvPr id="35" name="">
            <a:extLst xmlns:a="http://schemas.openxmlformats.org/drawingml/2006/main">
              <a:ext uri="{FF2B5EF4-FFF2-40B4-BE49-F238E27FC236}">
                <a16:creationId xmlns:a16="http://schemas.microsoft.com/office/drawing/2014/main" id="{6B1B6C31-B65C-4AB2-A8DD-5FFA87035006}"/>
              </a:ext>
            </a:extLst>
          </p:cNvPr>
          <p:cNvSpPr>
            <a:spLocks xmlns:a="http://schemas.openxmlformats.org/drawingml/2006/main" noGrp="1"/>
          </p:cNvSpPr>
          <p:nvPr/>
        </p:nvSpPr>
        <p:spPr>
          <a:xfrm xmlns:a="http://schemas.openxmlformats.org/drawingml/2006/main">
            <a:off x="1714500" y="49149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The early failure was not hidden. The feature space was revised before making a broader adaptation claim.</a:t>
            </a:r>
          </a:p>
        </p:txBody>
      </p:sp>
      <p:sp>
        <p:nvSpPr>
          <p:cNvPr id="36" name="">
            <a:extLst xmlns:a="http://schemas.openxmlformats.org/drawingml/2006/main">
              <a:ext uri="{FF2B5EF4-FFF2-40B4-BE49-F238E27FC236}">
                <a16:creationId xmlns:a16="http://schemas.microsoft.com/office/drawing/2014/main" id="{BA0430FF-2497-4C69-8CC3-9D44C527715D}"/>
              </a:ext>
            </a:extLst>
          </p:cNvPr>
          <p:cNvSpPr>
            <a:spLocks xmlns:a="http://schemas.openxmlformats.org/drawingml/2006/main" noGrp="1"/>
          </p:cNvSpPr>
          <p:nvPr/>
        </p:nvSpPr>
        <p:spPr>
          <a:xfrm xmlns:a="http://schemas.openxmlformats.org/drawingml/2006/main">
            <a:off x="3143250" y="57531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97A3B2"/>
                </a:solidFill>
              </a:defRPr>
            </a:pPr>
            <a:r>
              <a:rPr sz="900" b="1">
                <a:solidFill>
                  <a:srgbClr val="97A3B2"/>
                </a:solidFill>
              </a:rPr>
              <a:t>Blackhole -&gt; Sinkhole, 60-second windows, whole-seed evaluation</a:t>
            </a:r>
          </a:p>
        </p:txBody>
      </p:sp>
    </p:spTree>
    <p:extLst>
      <p:ext uri="{BB962C8B-B14F-4D97-AF65-F5344CB8AC3E}">
        <p14:creationId xmlns:p14="http://schemas.microsoft.com/office/powerpoint/2010/main" val="1948405597"/>
      </p:ext>
    </p:extLst>
  </p:cSld>
</p:sld>
</file>

<file path=ppt/slides/slide12.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BA3AC03-8AD2-48DA-BCB0-ACE00286E48F}"/>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WHOLE-SEED ADAPTATION</a:t>
            </a:r>
          </a:p>
        </p:txBody>
      </p:sp>
      <p:sp>
        <p:nvSpPr>
          <p:cNvPr id="2" name="">
            <a:extLst xmlns:a="http://schemas.openxmlformats.org/drawingml/2006/main">
              <a:ext uri="{FF2B5EF4-FFF2-40B4-BE49-F238E27FC236}">
                <a16:creationId xmlns:a16="http://schemas.microsoft.com/office/drawing/2014/main" id="{A380B2E4-D7FD-4770-B589-66E59A40848C}"/>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One complete target seed gives the largest average recovery</a:t>
            </a:r>
          </a:p>
        </p:txBody>
      </p:sp>
      <p:sp>
        <p:nvSpPr>
          <p:cNvPr id="3" name="">
            <a:extLst xmlns:a="http://schemas.openxmlformats.org/drawingml/2006/main">
              <a:ext uri="{FF2B5EF4-FFF2-40B4-BE49-F238E27FC236}">
                <a16:creationId xmlns:a16="http://schemas.microsoft.com/office/drawing/2014/main" id="{4FA219AE-14A9-47F9-BF47-24280A82D866}"/>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24C882-65A4-4BB4-BFEE-4C8A5814527D}"/>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930ED1-9F78-4FDF-A517-8526C1701D5B}"/>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Adaptation result</a:t>
            </a:r>
          </a:p>
        </p:txBody>
      </p:sp>
      <p:sp>
        <p:nvSpPr>
          <p:cNvPr id="6" name="">
            <a:extLst xmlns:a="http://schemas.openxmlformats.org/drawingml/2006/main">
              <a:ext uri="{FF2B5EF4-FFF2-40B4-BE49-F238E27FC236}">
                <a16:creationId xmlns:a16="http://schemas.microsoft.com/office/drawing/2014/main" id="{FAC3CA7C-0D05-47EA-B05F-687852FCA55E}"/>
              </a:ext>
            </a:extLst>
          </p:cNvPr>
          <p:cNvSpPr>
            <a:spLocks xmlns:a="http://schemas.openxmlformats.org/drawingml/2006/main" noGrp="1"/>
          </p:cNvSpPr>
          <p:nvPr/>
        </p:nvSpPr>
        <p:spPr>
          <a:xfrm xmlns:a="http://schemas.openxmlformats.org/drawingml/2006/main">
            <a:off x="619125" y="1428750"/>
            <a:ext cx="7334250" cy="4476750"/>
          </a:xfrm>
          <a:prstGeom xmlns:a="http://schemas.openxmlformats.org/drawingml/2006/main" prst="roundRect">
            <a:avLst>
              <a:gd name="adj" fmla="val 1702"/>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5C79ADF9-FAAE-43AE-B7F8-D951BBEC0A47}"/>
              </a:ext>
            </a:extLst>
          </p:cNvPr>
          <p:cNvSpPr>
            <a:spLocks xmlns:a="http://schemas.openxmlformats.org/drawingml/2006/main" noGrp="1"/>
          </p:cNvSpPr>
          <p:nvPr/>
        </p:nvSpPr>
        <p:spPr>
          <a:xfrm xmlns:a="http://schemas.openxmlformats.org/drawingml/2006/main">
            <a:off x="876300" y="16192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97A3B2"/>
                </a:solidFill>
              </a:defRPr>
            </a:pPr>
            <a:r>
              <a:rPr sz="1125" b="1">
                <a:solidFill>
                  <a:srgbClr val="97A3B2"/>
                </a:solidFill>
              </a:rPr>
              <a:t>Mean held-out F1</a:t>
            </a:r>
          </a:p>
        </p:txBody>
      </p:sp>
      <p:sp>
        <p:nvSpPr>
          <p:cNvPr id="8" name="">
            <a:extLst xmlns:a="http://schemas.openxmlformats.org/drawingml/2006/main">
              <a:ext uri="{FF2B5EF4-FFF2-40B4-BE49-F238E27FC236}">
                <a16:creationId xmlns:a16="http://schemas.microsoft.com/office/drawing/2014/main" id="{8C7A0BE6-C28E-4360-886C-2E9A42C65A6B}"/>
              </a:ext>
            </a:extLst>
          </p:cNvPr>
          <p:cNvSpPr>
            <a:spLocks xmlns:a="http://schemas.openxmlformats.org/drawingml/2006/main" noGrp="1"/>
          </p:cNvSpPr>
          <p:nvPr/>
        </p:nvSpPr>
        <p:spPr>
          <a:xfrm xmlns:a="http://schemas.openxmlformats.org/drawingml/2006/main">
            <a:off x="1047750" y="5334000"/>
            <a:ext cx="6191250" cy="19050"/>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B370726-CD7E-4AF7-9841-901F0558CBA0}"/>
              </a:ext>
            </a:extLst>
          </p:cNvPr>
          <p:cNvSpPr>
            <a:spLocks xmlns:a="http://schemas.openxmlformats.org/drawingml/2006/main" noGrp="1"/>
          </p:cNvSpPr>
          <p:nvPr/>
        </p:nvSpPr>
        <p:spPr>
          <a:xfrm xmlns:a="http://schemas.openxmlformats.org/drawingml/2006/main">
            <a:off x="1047750" y="5334000"/>
            <a:ext cx="619125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1E89D7-B37A-4477-BD18-D77C374022B6}"/>
              </a:ext>
            </a:extLst>
          </p:cNvPr>
          <p:cNvSpPr>
            <a:spLocks xmlns:a="http://schemas.openxmlformats.org/drawingml/2006/main" noGrp="1"/>
          </p:cNvSpPr>
          <p:nvPr/>
        </p:nvSpPr>
        <p:spPr>
          <a:xfrm xmlns:a="http://schemas.openxmlformats.org/drawingml/2006/main">
            <a:off x="495300" y="52292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7A3B2"/>
                </a:solidFill>
              </a:defRPr>
            </a:pPr>
            <a:r>
              <a:rPr sz="825" b="0">
                <a:solidFill>
                  <a:srgbClr val="97A3B2"/>
                </a:solidFill>
              </a:rPr>
              <a:t>0.0</a:t>
            </a:r>
          </a:p>
        </p:txBody>
      </p:sp>
      <p:sp>
        <p:nvSpPr>
          <p:cNvPr id="11" name="">
            <a:extLst xmlns:a="http://schemas.openxmlformats.org/drawingml/2006/main">
              <a:ext uri="{FF2B5EF4-FFF2-40B4-BE49-F238E27FC236}">
                <a16:creationId xmlns:a16="http://schemas.microsoft.com/office/drawing/2014/main" id="{D808551D-ABDF-4121-92A2-C796569ED304}"/>
              </a:ext>
            </a:extLst>
          </p:cNvPr>
          <p:cNvSpPr>
            <a:spLocks xmlns:a="http://schemas.openxmlformats.org/drawingml/2006/main" noGrp="1"/>
          </p:cNvSpPr>
          <p:nvPr/>
        </p:nvSpPr>
        <p:spPr>
          <a:xfrm xmlns:a="http://schemas.openxmlformats.org/drawingml/2006/main">
            <a:off x="1047750" y="4548188"/>
            <a:ext cx="6191250" cy="9525"/>
          </a:xfrm>
          <a:prstGeom xmlns:a="http://schemas.openxmlformats.org/drawingml/2006/main" prst="rect">
            <a:avLst/>
          </a:prstGeom>
          <a:solidFill xmlns:a="http://schemas.openxmlformats.org/drawingml/2006/main">
            <a:srgbClr val="22303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116434-D97B-40CA-B85D-2891A90A5BD2}"/>
              </a:ext>
            </a:extLst>
          </p:cNvPr>
          <p:cNvSpPr>
            <a:spLocks xmlns:a="http://schemas.openxmlformats.org/drawingml/2006/main" noGrp="1"/>
          </p:cNvSpPr>
          <p:nvPr/>
        </p:nvSpPr>
        <p:spPr>
          <a:xfrm xmlns:a="http://schemas.openxmlformats.org/drawingml/2006/main">
            <a:off x="495300" y="4443413"/>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7A3B2"/>
                </a:solidFill>
              </a:defRPr>
            </a:pPr>
            <a:r>
              <a:rPr sz="825" b="0">
                <a:solidFill>
                  <a:srgbClr val="97A3B2"/>
                </a:solidFill>
              </a:rPr>
              <a:t>0.25</a:t>
            </a:r>
          </a:p>
        </p:txBody>
      </p:sp>
      <p:sp>
        <p:nvSpPr>
          <p:cNvPr id="13" name="">
            <a:extLst xmlns:a="http://schemas.openxmlformats.org/drawingml/2006/main">
              <a:ext uri="{FF2B5EF4-FFF2-40B4-BE49-F238E27FC236}">
                <a16:creationId xmlns:a16="http://schemas.microsoft.com/office/drawing/2014/main" id="{A5BC80EF-A627-42D3-8910-DE38E746CD7A}"/>
              </a:ext>
            </a:extLst>
          </p:cNvPr>
          <p:cNvSpPr>
            <a:spLocks xmlns:a="http://schemas.openxmlformats.org/drawingml/2006/main" noGrp="1"/>
          </p:cNvSpPr>
          <p:nvPr/>
        </p:nvSpPr>
        <p:spPr>
          <a:xfrm xmlns:a="http://schemas.openxmlformats.org/drawingml/2006/main">
            <a:off x="1047750" y="3762375"/>
            <a:ext cx="6191250" cy="9525"/>
          </a:xfrm>
          <a:prstGeom xmlns:a="http://schemas.openxmlformats.org/drawingml/2006/main" prst="rect">
            <a:avLst/>
          </a:prstGeom>
          <a:solidFill xmlns:a="http://schemas.openxmlformats.org/drawingml/2006/main">
            <a:srgbClr val="2230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8E17B4-01CA-4654-B686-6C10684EB059}"/>
              </a:ext>
            </a:extLst>
          </p:cNvPr>
          <p:cNvSpPr>
            <a:spLocks xmlns:a="http://schemas.openxmlformats.org/drawingml/2006/main" noGrp="1"/>
          </p:cNvSpPr>
          <p:nvPr/>
        </p:nvSpPr>
        <p:spPr>
          <a:xfrm xmlns:a="http://schemas.openxmlformats.org/drawingml/2006/main">
            <a:off x="495300" y="36576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7A3B2"/>
                </a:solidFill>
              </a:defRPr>
            </a:pPr>
            <a:r>
              <a:rPr sz="825" b="0">
                <a:solidFill>
                  <a:srgbClr val="97A3B2"/>
                </a:solidFill>
              </a:rPr>
              <a:t>0.50</a:t>
            </a:r>
          </a:p>
        </p:txBody>
      </p:sp>
      <p:sp>
        <p:nvSpPr>
          <p:cNvPr id="15" name="">
            <a:extLst xmlns:a="http://schemas.openxmlformats.org/drawingml/2006/main">
              <a:ext uri="{FF2B5EF4-FFF2-40B4-BE49-F238E27FC236}">
                <a16:creationId xmlns:a16="http://schemas.microsoft.com/office/drawing/2014/main" id="{8C7D8BE1-3E51-4DC6-9E1C-531A48EAC51B}"/>
              </a:ext>
            </a:extLst>
          </p:cNvPr>
          <p:cNvSpPr>
            <a:spLocks xmlns:a="http://schemas.openxmlformats.org/drawingml/2006/main" noGrp="1"/>
          </p:cNvSpPr>
          <p:nvPr/>
        </p:nvSpPr>
        <p:spPr>
          <a:xfrm xmlns:a="http://schemas.openxmlformats.org/drawingml/2006/main">
            <a:off x="1047750" y="2976563"/>
            <a:ext cx="6191250" cy="9525"/>
          </a:xfrm>
          <a:prstGeom xmlns:a="http://schemas.openxmlformats.org/drawingml/2006/main" prst="rect">
            <a:avLst/>
          </a:prstGeom>
          <a:solidFill xmlns:a="http://schemas.openxmlformats.org/drawingml/2006/main">
            <a:srgbClr val="2230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AAF0B0-D248-4A42-ADE3-6E4EF3D04530}"/>
              </a:ext>
            </a:extLst>
          </p:cNvPr>
          <p:cNvSpPr>
            <a:spLocks xmlns:a="http://schemas.openxmlformats.org/drawingml/2006/main" noGrp="1"/>
          </p:cNvSpPr>
          <p:nvPr/>
        </p:nvSpPr>
        <p:spPr>
          <a:xfrm xmlns:a="http://schemas.openxmlformats.org/drawingml/2006/main">
            <a:off x="495300" y="2871788"/>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7A3B2"/>
                </a:solidFill>
              </a:defRPr>
            </a:pPr>
            <a:r>
              <a:rPr sz="825" b="0">
                <a:solidFill>
                  <a:srgbClr val="97A3B2"/>
                </a:solidFill>
              </a:rPr>
              <a:t>0.75</a:t>
            </a:r>
          </a:p>
        </p:txBody>
      </p:sp>
      <p:sp>
        <p:nvSpPr>
          <p:cNvPr id="17" name="">
            <a:extLst xmlns:a="http://schemas.openxmlformats.org/drawingml/2006/main">
              <a:ext uri="{FF2B5EF4-FFF2-40B4-BE49-F238E27FC236}">
                <a16:creationId xmlns:a16="http://schemas.microsoft.com/office/drawing/2014/main" id="{A95060BF-D79A-4462-B3D7-754A3EF7B7D5}"/>
              </a:ext>
            </a:extLst>
          </p:cNvPr>
          <p:cNvSpPr>
            <a:spLocks xmlns:a="http://schemas.openxmlformats.org/drawingml/2006/main" noGrp="1"/>
          </p:cNvSpPr>
          <p:nvPr/>
        </p:nvSpPr>
        <p:spPr>
          <a:xfrm xmlns:a="http://schemas.openxmlformats.org/drawingml/2006/main">
            <a:off x="1047750" y="2190750"/>
            <a:ext cx="6191250" cy="9525"/>
          </a:xfrm>
          <a:prstGeom xmlns:a="http://schemas.openxmlformats.org/drawingml/2006/main" prst="rect">
            <a:avLst/>
          </a:prstGeom>
          <a:solidFill xmlns:a="http://schemas.openxmlformats.org/drawingml/2006/main">
            <a:srgbClr val="2230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0759192-B02A-43BC-A883-DBAF680CA451}"/>
              </a:ext>
            </a:extLst>
          </p:cNvPr>
          <p:cNvSpPr>
            <a:spLocks xmlns:a="http://schemas.openxmlformats.org/drawingml/2006/main" noGrp="1"/>
          </p:cNvSpPr>
          <p:nvPr/>
        </p:nvSpPr>
        <p:spPr>
          <a:xfrm xmlns:a="http://schemas.openxmlformats.org/drawingml/2006/main">
            <a:off x="495300" y="208597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7A3B2"/>
                </a:solidFill>
              </a:defRPr>
            </a:pPr>
            <a:r>
              <a:rPr sz="825" b="0">
                <a:solidFill>
                  <a:srgbClr val="97A3B2"/>
                </a:solidFill>
              </a:rPr>
              <a:t>1.0</a:t>
            </a:r>
          </a:p>
        </p:txBody>
      </p:sp>
      <p:sp>
        <p:nvSpPr>
          <p:cNvPr id="19" name="">
            <a:extLst xmlns:a="http://schemas.openxmlformats.org/drawingml/2006/main">
              <a:ext uri="{FF2B5EF4-FFF2-40B4-BE49-F238E27FC236}">
                <a16:creationId xmlns:a16="http://schemas.microsoft.com/office/drawing/2014/main" id="{33922561-DD35-4802-8737-6C7362246F28}"/>
              </a:ext>
            </a:extLst>
          </p:cNvPr>
          <p:cNvSpPr>
            <a:spLocks xmlns:a="http://schemas.openxmlformats.org/drawingml/2006/main" noGrp="1"/>
          </p:cNvSpPr>
          <p:nvPr/>
        </p:nvSpPr>
        <p:spPr>
          <a:xfrm xmlns:a="http://schemas.openxmlformats.org/drawingml/2006/main">
            <a:off x="1571625" y="4761300"/>
            <a:ext cx="876300" cy="572700"/>
          </a:xfrm>
          <a:prstGeom xmlns:a="http://schemas.openxmlformats.org/drawingml/2006/main" prst="roundRect">
            <a:avLst>
              <a:gd name="adj" fmla="val 13305"/>
            </a:avLst>
          </a:prstGeom>
          <a:solidFill xmlns:a="http://schemas.openxmlformats.org/drawingml/2006/main">
            <a:srgbClr val="FB7185">
              <a:alpha val="80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FFB054-1A64-4BE3-ADE3-5907CD9EDBB1}"/>
              </a:ext>
            </a:extLst>
          </p:cNvPr>
          <p:cNvSpPr>
            <a:spLocks xmlns:a="http://schemas.openxmlformats.org/drawingml/2006/main" noGrp="1"/>
          </p:cNvSpPr>
          <p:nvPr/>
        </p:nvSpPr>
        <p:spPr>
          <a:xfrm xmlns:a="http://schemas.openxmlformats.org/drawingml/2006/main">
            <a:off x="1495425" y="43993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B7185"/>
                </a:solidFill>
              </a:defRPr>
            </a:pPr>
            <a:r>
              <a:rPr sz="1425" b="1">
                <a:solidFill>
                  <a:srgbClr val="FB7185"/>
                </a:solidFill>
              </a:rPr>
              <a:t>0.182</a:t>
            </a:r>
          </a:p>
        </p:txBody>
      </p:sp>
      <p:sp>
        <p:nvSpPr>
          <p:cNvPr id="21" name="">
            <a:extLst xmlns:a="http://schemas.openxmlformats.org/drawingml/2006/main">
              <a:ext uri="{FF2B5EF4-FFF2-40B4-BE49-F238E27FC236}">
                <a16:creationId xmlns:a16="http://schemas.microsoft.com/office/drawing/2014/main" id="{E10673A5-8797-48AE-8A54-F78D5DB36D4D}"/>
              </a:ext>
            </a:extLst>
          </p:cNvPr>
          <p:cNvSpPr>
            <a:spLocks xmlns:a="http://schemas.openxmlformats.org/drawingml/2006/main" noGrp="1"/>
          </p:cNvSpPr>
          <p:nvPr/>
        </p:nvSpPr>
        <p:spPr>
          <a:xfrm xmlns:a="http://schemas.openxmlformats.org/drawingml/2006/main">
            <a:off x="1495425" y="54483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0 seeds</a:t>
            </a:r>
          </a:p>
        </p:txBody>
      </p:sp>
      <p:sp>
        <p:nvSpPr>
          <p:cNvPr id="22" name="">
            <a:extLst xmlns:a="http://schemas.openxmlformats.org/drawingml/2006/main">
              <a:ext uri="{FF2B5EF4-FFF2-40B4-BE49-F238E27FC236}">
                <a16:creationId xmlns:a16="http://schemas.microsoft.com/office/drawing/2014/main" id="{6B586689-FABA-4441-A84B-92EB41C31F4D}"/>
              </a:ext>
            </a:extLst>
          </p:cNvPr>
          <p:cNvSpPr>
            <a:spLocks xmlns:a="http://schemas.openxmlformats.org/drawingml/2006/main" noGrp="1"/>
          </p:cNvSpPr>
          <p:nvPr/>
        </p:nvSpPr>
        <p:spPr>
          <a:xfrm xmlns:a="http://schemas.openxmlformats.org/drawingml/2006/main">
            <a:off x="3143250" y="2738304"/>
            <a:ext cx="876300" cy="2595696"/>
          </a:xfrm>
          <a:prstGeom xmlns:a="http://schemas.openxmlformats.org/drawingml/2006/main" prst="roundRect">
            <a:avLst>
              <a:gd name="adj" fmla="val 8696"/>
            </a:avLst>
          </a:prstGeom>
          <a:solidFill xmlns:a="http://schemas.openxmlformats.org/drawingml/2006/main">
            <a:srgbClr val="34D399">
              <a:alpha val="80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D6FB5F-2F1B-4C10-B5E5-9673B6C9073C}"/>
              </a:ext>
            </a:extLst>
          </p:cNvPr>
          <p:cNvSpPr>
            <a:spLocks xmlns:a="http://schemas.openxmlformats.org/drawingml/2006/main" noGrp="1"/>
          </p:cNvSpPr>
          <p:nvPr/>
        </p:nvSpPr>
        <p:spPr>
          <a:xfrm xmlns:a="http://schemas.openxmlformats.org/drawingml/2006/main">
            <a:off x="3067050" y="2376354"/>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34D399"/>
                </a:solidFill>
              </a:defRPr>
            </a:pPr>
            <a:r>
              <a:rPr sz="1425" b="1">
                <a:solidFill>
                  <a:srgbClr val="34D399"/>
                </a:solidFill>
              </a:rPr>
              <a:t>0.826</a:t>
            </a:r>
          </a:p>
        </p:txBody>
      </p:sp>
      <p:sp>
        <p:nvSpPr>
          <p:cNvPr id="24" name="">
            <a:extLst xmlns:a="http://schemas.openxmlformats.org/drawingml/2006/main">
              <a:ext uri="{FF2B5EF4-FFF2-40B4-BE49-F238E27FC236}">
                <a16:creationId xmlns:a16="http://schemas.microsoft.com/office/drawing/2014/main" id="{D6FC6982-7DC9-4D69-8FEF-964B1C700126}"/>
              </a:ext>
            </a:extLst>
          </p:cNvPr>
          <p:cNvSpPr>
            <a:spLocks xmlns:a="http://schemas.openxmlformats.org/drawingml/2006/main" noGrp="1"/>
          </p:cNvSpPr>
          <p:nvPr/>
        </p:nvSpPr>
        <p:spPr>
          <a:xfrm xmlns:a="http://schemas.openxmlformats.org/drawingml/2006/main">
            <a:off x="3067050" y="54483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1 seed</a:t>
            </a:r>
          </a:p>
        </p:txBody>
      </p:sp>
      <p:sp>
        <p:nvSpPr>
          <p:cNvPr id="25" name="">
            <a:extLst xmlns:a="http://schemas.openxmlformats.org/drawingml/2006/main">
              <a:ext uri="{FF2B5EF4-FFF2-40B4-BE49-F238E27FC236}">
                <a16:creationId xmlns:a16="http://schemas.microsoft.com/office/drawing/2014/main" id="{D48A4E58-82C6-48A8-8751-F2AA2C7851E2}"/>
              </a:ext>
            </a:extLst>
          </p:cNvPr>
          <p:cNvSpPr>
            <a:spLocks xmlns:a="http://schemas.openxmlformats.org/drawingml/2006/main" noGrp="1"/>
          </p:cNvSpPr>
          <p:nvPr/>
        </p:nvSpPr>
        <p:spPr>
          <a:xfrm xmlns:a="http://schemas.openxmlformats.org/drawingml/2006/main">
            <a:off x="4714875" y="2610688"/>
            <a:ext cx="876300" cy="2723312"/>
          </a:xfrm>
          <a:prstGeom xmlns:a="http://schemas.openxmlformats.org/drawingml/2006/main" prst="roundRect">
            <a:avLst>
              <a:gd name="adj" fmla="val 8696"/>
            </a:avLst>
          </a:prstGeom>
          <a:solidFill xmlns:a="http://schemas.openxmlformats.org/drawingml/2006/main">
            <a:srgbClr val="22D3EE">
              <a:alpha val="80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FC9A333-1497-402D-AAF1-8A2A4C232B50}"/>
              </a:ext>
            </a:extLst>
          </p:cNvPr>
          <p:cNvSpPr>
            <a:spLocks xmlns:a="http://schemas.openxmlformats.org/drawingml/2006/main" noGrp="1"/>
          </p:cNvSpPr>
          <p:nvPr/>
        </p:nvSpPr>
        <p:spPr>
          <a:xfrm xmlns:a="http://schemas.openxmlformats.org/drawingml/2006/main">
            <a:off x="4638675" y="2248738"/>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2D3EE"/>
                </a:solidFill>
              </a:defRPr>
            </a:pPr>
            <a:r>
              <a:rPr sz="1425" b="1">
                <a:solidFill>
                  <a:srgbClr val="22D3EE"/>
                </a:solidFill>
              </a:rPr>
              <a:t>0.866</a:t>
            </a:r>
          </a:p>
        </p:txBody>
      </p:sp>
      <p:sp>
        <p:nvSpPr>
          <p:cNvPr id="27" name="">
            <a:extLst xmlns:a="http://schemas.openxmlformats.org/drawingml/2006/main">
              <a:ext uri="{FF2B5EF4-FFF2-40B4-BE49-F238E27FC236}">
                <a16:creationId xmlns:a16="http://schemas.microsoft.com/office/drawing/2014/main" id="{BAFAD177-1A1B-481A-9880-40D06B277687}"/>
              </a:ext>
            </a:extLst>
          </p:cNvPr>
          <p:cNvSpPr>
            <a:spLocks xmlns:a="http://schemas.openxmlformats.org/drawingml/2006/main" noGrp="1"/>
          </p:cNvSpPr>
          <p:nvPr/>
        </p:nvSpPr>
        <p:spPr>
          <a:xfrm xmlns:a="http://schemas.openxmlformats.org/drawingml/2006/main">
            <a:off x="4638675" y="54483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2 seeds</a:t>
            </a:r>
          </a:p>
        </p:txBody>
      </p:sp>
      <p:sp>
        <p:nvSpPr>
          <p:cNvPr id="28" name="">
            <a:extLst xmlns:a="http://schemas.openxmlformats.org/drawingml/2006/main">
              <a:ext uri="{FF2B5EF4-FFF2-40B4-BE49-F238E27FC236}">
                <a16:creationId xmlns:a16="http://schemas.microsoft.com/office/drawing/2014/main" id="{3E3A913E-B24A-42D6-8C2B-5BCD82A23A87}"/>
              </a:ext>
            </a:extLst>
          </p:cNvPr>
          <p:cNvSpPr>
            <a:spLocks xmlns:a="http://schemas.openxmlformats.org/drawingml/2006/main" noGrp="1"/>
          </p:cNvSpPr>
          <p:nvPr/>
        </p:nvSpPr>
        <p:spPr>
          <a:xfrm xmlns:a="http://schemas.openxmlformats.org/drawingml/2006/main">
            <a:off x="6286500" y="2570455"/>
            <a:ext cx="876300" cy="2763545"/>
          </a:xfrm>
          <a:prstGeom xmlns:a="http://schemas.openxmlformats.org/drawingml/2006/main" prst="roundRect">
            <a:avLst>
              <a:gd name="adj" fmla="val 8696"/>
            </a:avLst>
          </a:prstGeom>
          <a:solidFill xmlns:a="http://schemas.openxmlformats.org/drawingml/2006/main">
            <a:srgbClr val="A78BFA">
              <a:alpha val="80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77FCCEF-F89C-4A3F-AC21-A5D6DDBC6F88}"/>
              </a:ext>
            </a:extLst>
          </p:cNvPr>
          <p:cNvSpPr>
            <a:spLocks xmlns:a="http://schemas.openxmlformats.org/drawingml/2006/main" noGrp="1"/>
          </p:cNvSpPr>
          <p:nvPr/>
        </p:nvSpPr>
        <p:spPr>
          <a:xfrm xmlns:a="http://schemas.openxmlformats.org/drawingml/2006/main">
            <a:off x="6210300" y="220850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A78BFA"/>
                </a:solidFill>
              </a:defRPr>
            </a:pPr>
            <a:r>
              <a:rPr sz="1425" b="1">
                <a:solidFill>
                  <a:srgbClr val="A78BFA"/>
                </a:solidFill>
              </a:rPr>
              <a:t>0.879</a:t>
            </a:r>
          </a:p>
        </p:txBody>
      </p:sp>
      <p:sp>
        <p:nvSpPr>
          <p:cNvPr id="30" name="">
            <a:extLst xmlns:a="http://schemas.openxmlformats.org/drawingml/2006/main">
              <a:ext uri="{FF2B5EF4-FFF2-40B4-BE49-F238E27FC236}">
                <a16:creationId xmlns:a16="http://schemas.microsoft.com/office/drawing/2014/main" id="{452DF25E-1BDC-4A2A-A3C1-1283A69C70CA}"/>
              </a:ext>
            </a:extLst>
          </p:cNvPr>
          <p:cNvSpPr>
            <a:spLocks xmlns:a="http://schemas.openxmlformats.org/drawingml/2006/main" noGrp="1"/>
          </p:cNvSpPr>
          <p:nvPr/>
        </p:nvSpPr>
        <p:spPr>
          <a:xfrm xmlns:a="http://schemas.openxmlformats.org/drawingml/2006/main">
            <a:off x="6210300" y="544830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3 seeds</a:t>
            </a:r>
          </a:p>
        </p:txBody>
      </p:sp>
      <p:sp>
        <p:nvSpPr>
          <p:cNvPr id="31" name="">
            <a:extLst xmlns:a="http://schemas.openxmlformats.org/drawingml/2006/main">
              <a:ext uri="{FF2B5EF4-FFF2-40B4-BE49-F238E27FC236}">
                <a16:creationId xmlns:a16="http://schemas.microsoft.com/office/drawing/2014/main" id="{40364FAC-E8CE-48F2-A7E6-A212DF0165B4}"/>
              </a:ext>
            </a:extLst>
          </p:cNvPr>
          <p:cNvSpPr>
            <a:spLocks xmlns:a="http://schemas.openxmlformats.org/drawingml/2006/main" noGrp="1"/>
          </p:cNvSpPr>
          <p:nvPr/>
        </p:nvSpPr>
        <p:spPr>
          <a:xfrm xmlns:a="http://schemas.openxmlformats.org/drawingml/2006/main">
            <a:off x="8382000" y="1666875"/>
            <a:ext cx="3048000" cy="2857500"/>
          </a:xfrm>
          <a:prstGeom xmlns:a="http://schemas.openxmlformats.org/drawingml/2006/main" prst="roundRect">
            <a:avLst>
              <a:gd name="adj" fmla="val 2667"/>
            </a:avLst>
          </a:prstGeom>
          <a:solidFill xmlns:a="http://schemas.openxmlformats.org/drawingml/2006/main">
            <a:srgbClr val="121C27"/>
          </a:solidFill>
          <a:ln xmlns:a="http://schemas.openxmlformats.org/drawingml/2006/main" w="9525">
            <a:solidFill>
              <a:srgbClr val="2C3A49"/>
            </a:solidFill>
            <a:prstDash val="solid"/>
          </a:ln>
        </p:spPr>
      </p:sp>
      <p:sp>
        <p:nvSpPr>
          <p:cNvPr id="32" name="">
            <a:extLst xmlns:a="http://schemas.openxmlformats.org/drawingml/2006/main">
              <a:ext uri="{FF2B5EF4-FFF2-40B4-BE49-F238E27FC236}">
                <a16:creationId xmlns:a16="http://schemas.microsoft.com/office/drawing/2014/main" id="{3C499FCD-0EFB-4712-A93B-59CA7AF49241}"/>
              </a:ext>
            </a:extLst>
          </p:cNvPr>
          <p:cNvSpPr>
            <a:spLocks xmlns:a="http://schemas.openxmlformats.org/drawingml/2006/main" noGrp="1"/>
          </p:cNvSpPr>
          <p:nvPr/>
        </p:nvSpPr>
        <p:spPr>
          <a:xfrm xmlns:a="http://schemas.openxmlformats.org/drawingml/2006/main">
            <a:off x="8620125" y="1857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7FAFC"/>
                </a:solidFill>
              </a:defRPr>
            </a:pPr>
            <a:r>
              <a:rPr sz="1575" b="1">
                <a:solidFill>
                  <a:srgbClr val="F7FAFC"/>
                </a:solidFill>
              </a:rPr>
              <a:t>What the curve means</a:t>
            </a:r>
          </a:p>
        </p:txBody>
      </p:sp>
      <p:sp>
        <p:nvSpPr>
          <p:cNvPr id="33" name="">
            <a:extLst xmlns:a="http://schemas.openxmlformats.org/drawingml/2006/main">
              <a:ext uri="{FF2B5EF4-FFF2-40B4-BE49-F238E27FC236}">
                <a16:creationId xmlns:a16="http://schemas.microsoft.com/office/drawing/2014/main" id="{8A065C4F-883E-44AF-B80A-340896F3F04F}"/>
              </a:ext>
            </a:extLst>
          </p:cNvPr>
          <p:cNvSpPr>
            <a:spLocks xmlns:a="http://schemas.openxmlformats.org/drawingml/2006/main" noGrp="1"/>
          </p:cNvSpPr>
          <p:nvPr/>
        </p:nvSpPr>
        <p:spPr>
          <a:xfrm xmlns:a="http://schemas.openxmlformats.org/drawingml/2006/main">
            <a:off x="8715375" y="2381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0 seeds</a:t>
            </a:r>
          </a:p>
          <a:p xmlns:a="http://schemas.openxmlformats.org/drawingml/2006/main">
            <a:pPr algn="l">
              <a:defRPr sz="1275" b="0">
                <a:solidFill>
                  <a:srgbClr val="E5EAF0"/>
                </a:solidFill>
              </a:defRPr>
            </a:pPr>
            <a:r>
              <a:rPr sz="1275" b="0">
                <a:solidFill>
                  <a:srgbClr val="E5EAF0"/>
                </a:solidFill>
              </a:rPr>
              <a:t>Static cross-attack transfer is weak</a:t>
            </a:r>
          </a:p>
          <a:p xmlns:a="http://schemas.openxmlformats.org/drawingml/2006/main">
            <a:r>
              <a:t/>
            </a:r>
          </a:p>
          <a:p xmlns:a="http://schemas.openxmlformats.org/drawingml/2006/main">
            <a:pPr algn="l">
              <a:defRPr sz="1275" b="0">
                <a:solidFill>
                  <a:srgbClr val="E5EAF0"/>
                </a:solidFill>
              </a:defRPr>
            </a:pPr>
            <a:r>
              <a:rPr sz="1275" b="0">
                <a:solidFill>
                  <a:srgbClr val="E5EAF0"/>
                </a:solidFill>
              </a:rPr>
              <a:t>1 seed</a:t>
            </a:r>
          </a:p>
          <a:p xmlns:a="http://schemas.openxmlformats.org/drawingml/2006/main">
            <a:pPr algn="l">
              <a:defRPr sz="1275" b="0">
                <a:solidFill>
                  <a:srgbClr val="E5EAF0"/>
                </a:solidFill>
              </a:defRPr>
            </a:pPr>
            <a:r>
              <a:rPr sz="1275" b="0">
                <a:solidFill>
                  <a:srgbClr val="E5EAF0"/>
                </a:solidFill>
              </a:rPr>
              <a:t>Largest average recovery</a:t>
            </a:r>
          </a:p>
          <a:p xmlns:a="http://schemas.openxmlformats.org/drawingml/2006/main">
            <a:r>
              <a:t/>
            </a:r>
          </a:p>
          <a:p xmlns:a="http://schemas.openxmlformats.org/drawingml/2006/main">
            <a:pPr algn="l">
              <a:defRPr sz="1275" b="0">
                <a:solidFill>
                  <a:srgbClr val="E5EAF0"/>
                </a:solidFill>
              </a:defRPr>
            </a:pPr>
            <a:r>
              <a:rPr sz="1275" b="0">
                <a:solidFill>
                  <a:srgbClr val="E5EAF0"/>
                </a:solidFill>
              </a:rPr>
              <a:t>2-3 seeds</a:t>
            </a:r>
          </a:p>
          <a:p xmlns:a="http://schemas.openxmlformats.org/drawingml/2006/main">
            <a:pPr algn="l">
              <a:defRPr sz="1275" b="0">
                <a:solidFill>
                  <a:srgbClr val="E5EAF0"/>
                </a:solidFill>
              </a:defRPr>
            </a:pPr>
            <a:r>
              <a:rPr sz="1275" b="0">
                <a:solidFill>
                  <a:srgbClr val="E5EAF0"/>
                </a:solidFill>
              </a:rPr>
              <a:t>Smaller additional gains</a:t>
            </a:r>
          </a:p>
        </p:txBody>
      </p:sp>
      <p:sp>
        <p:nvSpPr>
          <p:cNvPr id="34" name="">
            <a:extLst xmlns:a="http://schemas.openxmlformats.org/drawingml/2006/main">
              <a:ext uri="{FF2B5EF4-FFF2-40B4-BE49-F238E27FC236}">
                <a16:creationId xmlns:a16="http://schemas.microsoft.com/office/drawing/2014/main" id="{D088F15C-DCD1-48B3-A108-EFF4476B656F}"/>
              </a:ext>
            </a:extLst>
          </p:cNvPr>
          <p:cNvSpPr>
            <a:spLocks xmlns:a="http://schemas.openxmlformats.org/drawingml/2006/main" noGrp="1"/>
          </p:cNvSpPr>
          <p:nvPr/>
        </p:nvSpPr>
        <p:spPr>
          <a:xfrm xmlns:a="http://schemas.openxmlformats.org/drawingml/2006/main">
            <a:off x="8382000" y="4810125"/>
            <a:ext cx="3048000" cy="857250"/>
          </a:xfrm>
          <a:prstGeom xmlns:a="http://schemas.openxmlformats.org/drawingml/2006/main" prst="roundRect">
            <a:avLst>
              <a:gd name="adj" fmla="val 8889"/>
            </a:avLst>
          </a:prstGeom>
          <a:solidFill xmlns:a="http://schemas.openxmlformats.org/drawingml/2006/main">
            <a:srgbClr val="0E151E"/>
          </a:solidFill>
          <a:ln xmlns:a="http://schemas.openxmlformats.org/drawingml/2006/main" w="9525">
            <a:solidFill>
              <a:srgbClr val="F59E0B"/>
            </a:solidFill>
            <a:prstDash val="solid"/>
          </a:ln>
        </p:spPr>
      </p:sp>
      <p:sp>
        <p:nvSpPr>
          <p:cNvPr id="35" name="">
            <a:extLst xmlns:a="http://schemas.openxmlformats.org/drawingml/2006/main">
              <a:ext uri="{FF2B5EF4-FFF2-40B4-BE49-F238E27FC236}">
                <a16:creationId xmlns:a16="http://schemas.microsoft.com/office/drawing/2014/main" id="{B9F85327-D2E4-4132-B3A7-434637DB3FAD}"/>
              </a:ext>
            </a:extLst>
          </p:cNvPr>
          <p:cNvSpPr>
            <a:spLocks xmlns:a="http://schemas.openxmlformats.org/drawingml/2006/main" noGrp="1"/>
          </p:cNvSpPr>
          <p:nvPr/>
        </p:nvSpPr>
        <p:spPr>
          <a:xfrm xmlns:a="http://schemas.openxmlformats.org/drawingml/2006/main">
            <a:off x="8620125" y="49339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7FAFC"/>
                </a:solidFill>
              </a:defRPr>
            </a:pPr>
            <a:r>
              <a:rPr sz="1275" b="1">
                <a:solidFill>
                  <a:srgbClr val="F7FAFC"/>
                </a:solidFill>
              </a:rPr>
              <a:t>Every test seed remains a different, complete simulation.</a:t>
            </a:r>
          </a:p>
        </p:txBody>
      </p:sp>
    </p:spTree>
    <p:extLst>
      <p:ext uri="{BB962C8B-B14F-4D97-AF65-F5344CB8AC3E}">
        <p14:creationId xmlns:p14="http://schemas.microsoft.com/office/powerpoint/2010/main" val="647552532"/>
      </p:ext>
    </p:extLst>
  </p:cSld>
</p:sld>
</file>

<file path=ppt/slides/slide13.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2131026-4448-4B80-9952-0A5FC4A4EC38}"/>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ORIGINAL EXTENSION</a:t>
            </a:r>
          </a:p>
        </p:txBody>
      </p:sp>
      <p:sp>
        <p:nvSpPr>
          <p:cNvPr id="2" name="">
            <a:extLst xmlns:a="http://schemas.openxmlformats.org/drawingml/2006/main">
              <a:ext uri="{FF2B5EF4-FFF2-40B4-BE49-F238E27FC236}">
                <a16:creationId xmlns:a16="http://schemas.microsoft.com/office/drawing/2014/main" id="{D8CBB773-E7BB-438C-AE1C-B1863A34FFB6}"/>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Sybil changes the attack surface from behaviour to identity</a:t>
            </a:r>
          </a:p>
        </p:txBody>
      </p:sp>
      <p:sp>
        <p:nvSpPr>
          <p:cNvPr id="3" name="">
            <a:extLst xmlns:a="http://schemas.openxmlformats.org/drawingml/2006/main">
              <a:ext uri="{FF2B5EF4-FFF2-40B4-BE49-F238E27FC236}">
                <a16:creationId xmlns:a16="http://schemas.microsoft.com/office/drawing/2014/main" id="{3D63B491-670A-40E0-972C-893549A95628}"/>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67DDFA-99C8-47A2-9F2B-532362D4E87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12BCE43-83E3-4A53-8860-381009965334}"/>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Sybil contribution</a:t>
            </a:r>
          </a:p>
        </p:txBody>
      </p:sp>
      <p:sp>
        <p:nvSpPr>
          <p:cNvPr id="6" name="">
            <a:extLst xmlns:a="http://schemas.openxmlformats.org/drawingml/2006/main">
              <a:ext uri="{FF2B5EF4-FFF2-40B4-BE49-F238E27FC236}">
                <a16:creationId xmlns:a16="http://schemas.microsoft.com/office/drawing/2014/main" id="{29E82D7E-6445-4A34-AF78-7D9958A77004}"/>
              </a:ext>
            </a:extLst>
          </p:cNvPr>
          <p:cNvSpPr>
            <a:spLocks xmlns:a="http://schemas.openxmlformats.org/drawingml/2006/main" noGrp="1"/>
          </p:cNvSpPr>
          <p:nvPr/>
        </p:nvSpPr>
        <p:spPr>
          <a:xfrm xmlns:a="http://schemas.openxmlformats.org/drawingml/2006/main">
            <a:off x="666750" y="1409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0A5FA"/>
                </a:solidFill>
              </a:defRPr>
            </a:pPr>
            <a:r>
              <a:rPr sz="825" b="1">
                <a:solidFill>
                  <a:srgbClr val="60A5FA"/>
                </a:solidFill>
              </a:rPr>
              <a:t>BEFORE ACTIVATION</a:t>
            </a:r>
          </a:p>
        </p:txBody>
      </p:sp>
      <p:sp>
        <p:nvSpPr>
          <p:cNvPr id="7" name="">
            <a:extLst xmlns:a="http://schemas.openxmlformats.org/drawingml/2006/main">
              <a:ext uri="{FF2B5EF4-FFF2-40B4-BE49-F238E27FC236}">
                <a16:creationId xmlns:a16="http://schemas.microsoft.com/office/drawing/2014/main" id="{9387BB49-D372-4EA5-A3B0-EE8D5158716B}"/>
              </a:ext>
            </a:extLst>
          </p:cNvPr>
          <p:cNvSpPr>
            <a:spLocks xmlns:a="http://schemas.openxmlformats.org/drawingml/2006/main" noGrp="1"/>
          </p:cNvSpPr>
          <p:nvPr/>
        </p:nvSpPr>
        <p:spPr>
          <a:xfrm xmlns:a="http://schemas.openxmlformats.org/drawingml/2006/main">
            <a:off x="6715125" y="1409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ACC15"/>
                </a:solidFill>
              </a:defRPr>
            </a:pPr>
            <a:r>
              <a:rPr sz="825" b="1">
                <a:solidFill>
                  <a:srgbClr val="FACC15"/>
                </a:solidFill>
              </a:rPr>
              <a:t>AFTER 240 SECONDS</a:t>
            </a:r>
          </a:p>
        </p:txBody>
      </p:sp>
      <p:sp>
        <p:nvSpPr>
          <p:cNvPr id="8" name="">
            <a:extLst xmlns:a="http://schemas.openxmlformats.org/drawingml/2006/main">
              <a:ext uri="{FF2B5EF4-FFF2-40B4-BE49-F238E27FC236}">
                <a16:creationId xmlns:a16="http://schemas.microsoft.com/office/drawing/2014/main" id="{33C1EB8C-AD02-4DDA-BDB3-B5ECA3660EEA}"/>
              </a:ext>
            </a:extLst>
          </p:cNvPr>
          <p:cNvSpPr>
            <a:spLocks xmlns:a="http://schemas.openxmlformats.org/drawingml/2006/main" noGrp="1"/>
          </p:cNvSpPr>
          <p:nvPr/>
        </p:nvSpPr>
        <p:spPr>
          <a:xfrm xmlns:a="http://schemas.openxmlformats.org/drawingml/2006/main">
            <a:off x="2095500" y="2381250"/>
            <a:ext cx="1143000" cy="762000"/>
          </a:xfrm>
          <a:prstGeom xmlns:a="http://schemas.openxmlformats.org/drawingml/2006/main" prst="ellipse">
            <a:avLst/>
          </a:prstGeom>
          <a:solidFill xmlns:a="http://schemas.openxmlformats.org/drawingml/2006/main">
            <a:srgbClr val="172330"/>
          </a:solidFill>
          <a:ln xmlns:a="http://schemas.openxmlformats.org/drawingml/2006/main" w="9525">
            <a:solidFill>
              <a:srgbClr val="60A5FA"/>
            </a:solidFill>
            <a:prstDash val="solid"/>
          </a:ln>
        </p:spPr>
      </p:sp>
      <p:sp>
        <p:nvSpPr>
          <p:cNvPr id="9" name="">
            <a:extLst xmlns:a="http://schemas.openxmlformats.org/drawingml/2006/main">
              <a:ext uri="{FF2B5EF4-FFF2-40B4-BE49-F238E27FC236}">
                <a16:creationId xmlns:a16="http://schemas.microsoft.com/office/drawing/2014/main" id="{E2729370-FF5E-4EE9-A918-3EB36748D990}"/>
              </a:ext>
            </a:extLst>
          </p:cNvPr>
          <p:cNvSpPr>
            <a:spLocks xmlns:a="http://schemas.openxmlformats.org/drawingml/2006/main" noGrp="1"/>
          </p:cNvSpPr>
          <p:nvPr/>
        </p:nvSpPr>
        <p:spPr>
          <a:xfrm xmlns:a="http://schemas.openxmlformats.org/drawingml/2006/main">
            <a:off x="2095500" y="2381250"/>
            <a:ext cx="114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NODE 16</a:t>
            </a:r>
          </a:p>
        </p:txBody>
      </p:sp>
      <p:sp>
        <p:nvSpPr>
          <p:cNvPr id="10" name="">
            <a:extLst xmlns:a="http://schemas.openxmlformats.org/drawingml/2006/main">
              <a:ext uri="{FF2B5EF4-FFF2-40B4-BE49-F238E27FC236}">
                <a16:creationId xmlns:a16="http://schemas.microsoft.com/office/drawing/2014/main" id="{58060E29-7F3F-43DE-BA12-6D8FEF04935C}"/>
              </a:ext>
            </a:extLst>
          </p:cNvPr>
          <p:cNvSpPr>
            <a:spLocks xmlns:a="http://schemas.openxmlformats.org/drawingml/2006/main" noGrp="1"/>
          </p:cNvSpPr>
          <p:nvPr/>
        </p:nvSpPr>
        <p:spPr>
          <a:xfrm xmlns:a="http://schemas.openxmlformats.org/drawingml/2006/main">
            <a:off x="3857625" y="2524125"/>
            <a:ext cx="1428750" cy="476250"/>
          </a:xfrm>
          <a:prstGeom xmlns:a="http://schemas.openxmlformats.org/drawingml/2006/main" prst="roundRect">
            <a:avLst>
              <a:gd name="adj" fmla="val 16000"/>
            </a:avLst>
          </a:prstGeom>
          <a:solidFill xmlns:a="http://schemas.openxmlformats.org/drawingml/2006/main">
            <a:srgbClr val="60A5FA">
              <a:alpha val="9412"/>
            </a:srgbClr>
          </a:solidFill>
          <a:ln xmlns:a="http://schemas.openxmlformats.org/drawingml/2006/main" w="9525">
            <a:solidFill>
              <a:srgbClr val="60A5FA"/>
            </a:solidFill>
            <a:prstDash val="solid"/>
          </a:ln>
        </p:spPr>
      </p:sp>
      <p:sp>
        <p:nvSpPr>
          <p:cNvPr id="11" name="">
            <a:extLst xmlns:a="http://schemas.openxmlformats.org/drawingml/2006/main">
              <a:ext uri="{FF2B5EF4-FFF2-40B4-BE49-F238E27FC236}">
                <a16:creationId xmlns:a16="http://schemas.microsoft.com/office/drawing/2014/main" id="{F4C188FE-CDA5-4FC8-B4F2-04E606B6BEE5}"/>
              </a:ext>
            </a:extLst>
          </p:cNvPr>
          <p:cNvSpPr>
            <a:spLocks xmlns:a="http://schemas.openxmlformats.org/drawingml/2006/main" noGrp="1"/>
          </p:cNvSpPr>
          <p:nvPr/>
        </p:nvSpPr>
        <p:spPr>
          <a:xfrm xmlns:a="http://schemas.openxmlformats.org/drawingml/2006/main">
            <a:off x="3857625" y="25241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0A5FA"/>
                </a:solidFill>
              </a:defRPr>
            </a:pPr>
            <a:r>
              <a:rPr sz="1125" b="1">
                <a:solidFill>
                  <a:srgbClr val="60A5FA"/>
                </a:solidFill>
              </a:rPr>
              <a:t>one identity</a:t>
            </a:r>
          </a:p>
        </p:txBody>
      </p:sp>
      <p:cxnSp>
        <p:nvCxnSpPr>
          <p:cNvPr id="51" name=""/>
          <p:cNvCxnSpPr>
            <a:stCxn xmlns:a="http://schemas.openxmlformats.org/drawingml/2006/main" id="8" idx="6"/>
            <a:endCxn xmlns:a="http://schemas.openxmlformats.org/drawingml/2006/main" id="10" idx="1"/>
          </p:cNvCxnSpPr>
          <p:nvPr/>
        </p:nvCxnSpPr>
        <p:spPr>
          <a:xfrm xmlns:a="http://schemas.openxmlformats.org/drawingml/2006/main">
            <a:off x="3238500" y="2762250"/>
            <a:ext cx="619125" cy="0"/>
          </a:xfrm>
          <a:prstGeom xmlns:a="http://schemas.openxmlformats.org/drawingml/2006/main" prst="straightConnector1">
            <a:avLst/>
          </a:prstGeom>
          <a:ln xmlns:a="http://schemas.openxmlformats.org/drawingml/2006/main" w="19050">
            <a:solidFill>
              <a:srgbClr val="60A5FA"/>
            </a:solidFill>
            <a:prstDash val="solid"/>
            <a:headEnd type="arrow" w="sm" len="sm"/>
          </a:ln>
        </p:spPr>
      </p:cxnSp>
      <p:sp>
        <p:nvSpPr>
          <p:cNvPr id="13" name="">
            <a:extLst xmlns:a="http://schemas.openxmlformats.org/drawingml/2006/main">
              <a:ext uri="{FF2B5EF4-FFF2-40B4-BE49-F238E27FC236}">
                <a16:creationId xmlns:a16="http://schemas.microsoft.com/office/drawing/2014/main" id="{C97A4E29-EFDC-4A27-9546-6D31A0D6AE1D}"/>
              </a:ext>
            </a:extLst>
          </p:cNvPr>
          <p:cNvSpPr>
            <a:spLocks xmlns:a="http://schemas.openxmlformats.org/drawingml/2006/main" noGrp="1"/>
          </p:cNvSpPr>
          <p:nvPr/>
        </p:nvSpPr>
        <p:spPr>
          <a:xfrm xmlns:a="http://schemas.openxmlformats.org/drawingml/2006/main">
            <a:off x="7048500" y="2381250"/>
            <a:ext cx="1143000" cy="762000"/>
          </a:xfrm>
          <a:prstGeom xmlns:a="http://schemas.openxmlformats.org/drawingml/2006/main" prst="ellipse">
            <a:avLst/>
          </a:prstGeom>
          <a:solidFill xmlns:a="http://schemas.openxmlformats.org/drawingml/2006/main">
            <a:srgbClr val="FACC15">
              <a:alpha val="9412"/>
            </a:srgbClr>
          </a:solidFill>
          <a:ln xmlns:a="http://schemas.openxmlformats.org/drawingml/2006/main" w="9525">
            <a:solidFill>
              <a:srgbClr val="FACC15"/>
            </a:solidFill>
            <a:prstDash val="solid"/>
          </a:ln>
        </p:spPr>
      </p:sp>
      <p:sp>
        <p:nvSpPr>
          <p:cNvPr id="14" name="">
            <a:extLst xmlns:a="http://schemas.openxmlformats.org/drawingml/2006/main">
              <a:ext uri="{FF2B5EF4-FFF2-40B4-BE49-F238E27FC236}">
                <a16:creationId xmlns:a16="http://schemas.microsoft.com/office/drawing/2014/main" id="{7DA83FED-E37D-4AB0-92E4-16C1AEB1805F}"/>
              </a:ext>
            </a:extLst>
          </p:cNvPr>
          <p:cNvSpPr>
            <a:spLocks xmlns:a="http://schemas.openxmlformats.org/drawingml/2006/main" noGrp="1"/>
          </p:cNvSpPr>
          <p:nvPr/>
        </p:nvSpPr>
        <p:spPr>
          <a:xfrm xmlns:a="http://schemas.openxmlformats.org/drawingml/2006/main">
            <a:off x="7048500" y="2381250"/>
            <a:ext cx="114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ACC15"/>
                </a:solidFill>
              </a:defRPr>
            </a:pPr>
            <a:r>
              <a:rPr sz="1350" b="1">
                <a:solidFill>
                  <a:srgbClr val="FACC15"/>
                </a:solidFill>
              </a:rPr>
              <a:t>NODE 16</a:t>
            </a:r>
          </a:p>
        </p:txBody>
      </p:sp>
      <p:sp>
        <p:nvSpPr>
          <p:cNvPr id="15" name="">
            <a:extLst xmlns:a="http://schemas.openxmlformats.org/drawingml/2006/main">
              <a:ext uri="{FF2B5EF4-FFF2-40B4-BE49-F238E27FC236}">
                <a16:creationId xmlns:a16="http://schemas.microsoft.com/office/drawing/2014/main" id="{11E447CC-62FD-4812-AA36-A09103EAE531}"/>
              </a:ext>
            </a:extLst>
          </p:cNvPr>
          <p:cNvSpPr>
            <a:spLocks xmlns:a="http://schemas.openxmlformats.org/drawingml/2006/main" noGrp="1"/>
          </p:cNvSpPr>
          <p:nvPr/>
        </p:nvSpPr>
        <p:spPr>
          <a:xfrm xmlns:a="http://schemas.openxmlformats.org/drawingml/2006/main">
            <a:off x="9429750" y="1809750"/>
            <a:ext cx="1619250" cy="409575"/>
          </a:xfrm>
          <a:prstGeom xmlns:a="http://schemas.openxmlformats.org/drawingml/2006/main" prst="roundRect">
            <a:avLst>
              <a:gd name="adj" fmla="val 18605"/>
            </a:avLst>
          </a:prstGeom>
          <a:solidFill xmlns:a="http://schemas.openxmlformats.org/drawingml/2006/main">
            <a:srgbClr val="121C27"/>
          </a:solidFill>
          <a:ln xmlns:a="http://schemas.openxmlformats.org/drawingml/2006/main" w="9525">
            <a:solidFill>
              <a:srgbClr val="FACC15"/>
            </a:solidFill>
            <a:prstDash val="solid"/>
          </a:ln>
        </p:spPr>
      </p:sp>
      <p:sp>
        <p:nvSpPr>
          <p:cNvPr id="16" name="">
            <a:extLst xmlns:a="http://schemas.openxmlformats.org/drawingml/2006/main">
              <a:ext uri="{FF2B5EF4-FFF2-40B4-BE49-F238E27FC236}">
                <a16:creationId xmlns:a16="http://schemas.microsoft.com/office/drawing/2014/main" id="{0CA52796-CE91-4671-8154-DEDDB7717F4B}"/>
              </a:ext>
            </a:extLst>
          </p:cNvPr>
          <p:cNvSpPr>
            <a:spLocks xmlns:a="http://schemas.openxmlformats.org/drawingml/2006/main" noGrp="1"/>
          </p:cNvSpPr>
          <p:nvPr/>
        </p:nvSpPr>
        <p:spPr>
          <a:xfrm xmlns:a="http://schemas.openxmlformats.org/drawingml/2006/main">
            <a:off x="9429750" y="1809750"/>
            <a:ext cx="161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ACC15"/>
                </a:solidFill>
              </a:defRPr>
            </a:pPr>
            <a:r>
              <a:rPr sz="1050" b="1">
                <a:solidFill>
                  <a:srgbClr val="FACC15"/>
                </a:solidFill>
              </a:rPr>
              <a:t>fd00::f001</a:t>
            </a:r>
          </a:p>
        </p:txBody>
      </p:sp>
      <p:cxnSp>
        <p:nvCxnSpPr>
          <p:cNvPr id="56" name=""/>
          <p:cNvCxnSpPr>
            <a:stCxn xmlns:a="http://schemas.openxmlformats.org/drawingml/2006/main" id="13" idx="6"/>
            <a:endCxn xmlns:a="http://schemas.openxmlformats.org/drawingml/2006/main" id="15" idx="1"/>
          </p:cNvCxnSpPr>
          <p:nvPr/>
        </p:nvCxnSpPr>
        <p:spPr>
          <a:xfrm xmlns:a="http://schemas.openxmlformats.org/drawingml/2006/main" flipV="1">
            <a:off x="8191500" y="2014538"/>
            <a:ext cx="1238250" cy="747713"/>
          </a:xfrm>
          <a:prstGeom xmlns:a="http://schemas.openxmlformats.org/drawingml/2006/main" prst="straightConnector1">
            <a:avLst/>
          </a:prstGeom>
          <a:ln xmlns:a="http://schemas.openxmlformats.org/drawingml/2006/main" w="9525">
            <a:solidFill>
              <a:srgbClr val="2C3A49"/>
            </a:solidFill>
            <a:prstDash val="solid"/>
            <a:headEnd type="arrow" w="sm" len="sm"/>
          </a:ln>
        </p:spPr>
      </p:cxnSp>
      <p:sp>
        <p:nvSpPr>
          <p:cNvPr id="18" name="">
            <a:extLst xmlns:a="http://schemas.openxmlformats.org/drawingml/2006/main">
              <a:ext uri="{FF2B5EF4-FFF2-40B4-BE49-F238E27FC236}">
                <a16:creationId xmlns:a16="http://schemas.microsoft.com/office/drawing/2014/main" id="{1BB8A3A5-4C3F-4822-8842-0E253C293A8D}"/>
              </a:ext>
            </a:extLst>
          </p:cNvPr>
          <p:cNvSpPr>
            <a:spLocks xmlns:a="http://schemas.openxmlformats.org/drawingml/2006/main" noGrp="1"/>
          </p:cNvSpPr>
          <p:nvPr/>
        </p:nvSpPr>
        <p:spPr>
          <a:xfrm xmlns:a="http://schemas.openxmlformats.org/drawingml/2006/main">
            <a:off x="9429750" y="2362200"/>
            <a:ext cx="1619250" cy="409575"/>
          </a:xfrm>
          <a:prstGeom xmlns:a="http://schemas.openxmlformats.org/drawingml/2006/main" prst="roundRect">
            <a:avLst>
              <a:gd name="adj" fmla="val 18605"/>
            </a:avLst>
          </a:prstGeom>
          <a:solidFill xmlns:a="http://schemas.openxmlformats.org/drawingml/2006/main">
            <a:srgbClr val="121C27"/>
          </a:solidFill>
          <a:ln xmlns:a="http://schemas.openxmlformats.org/drawingml/2006/main" w="9525">
            <a:solidFill>
              <a:srgbClr val="FACC15"/>
            </a:solidFill>
            <a:prstDash val="solid"/>
          </a:ln>
        </p:spPr>
      </p:sp>
      <p:sp>
        <p:nvSpPr>
          <p:cNvPr id="19" name="">
            <a:extLst xmlns:a="http://schemas.openxmlformats.org/drawingml/2006/main">
              <a:ext uri="{FF2B5EF4-FFF2-40B4-BE49-F238E27FC236}">
                <a16:creationId xmlns:a16="http://schemas.microsoft.com/office/drawing/2014/main" id="{1739E197-AF82-4D97-822A-D1B28EAD9C08}"/>
              </a:ext>
            </a:extLst>
          </p:cNvPr>
          <p:cNvSpPr>
            <a:spLocks xmlns:a="http://schemas.openxmlformats.org/drawingml/2006/main" noGrp="1"/>
          </p:cNvSpPr>
          <p:nvPr/>
        </p:nvSpPr>
        <p:spPr>
          <a:xfrm xmlns:a="http://schemas.openxmlformats.org/drawingml/2006/main">
            <a:off x="9429750" y="2362200"/>
            <a:ext cx="161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ACC15"/>
                </a:solidFill>
              </a:defRPr>
            </a:pPr>
            <a:r>
              <a:rPr sz="1050" b="1">
                <a:solidFill>
                  <a:srgbClr val="FACC15"/>
                </a:solidFill>
              </a:rPr>
              <a:t>fd00::f002</a:t>
            </a:r>
          </a:p>
        </p:txBody>
      </p:sp>
      <p:cxnSp>
        <p:nvCxnSpPr>
          <p:cNvPr id="59" name=""/>
          <p:cNvCxnSpPr>
            <a:stCxn xmlns:a="http://schemas.openxmlformats.org/drawingml/2006/main" id="13" idx="6"/>
            <a:endCxn xmlns:a="http://schemas.openxmlformats.org/drawingml/2006/main" id="18" idx="1"/>
          </p:cNvCxnSpPr>
          <p:nvPr/>
        </p:nvCxnSpPr>
        <p:spPr>
          <a:xfrm xmlns:a="http://schemas.openxmlformats.org/drawingml/2006/main" flipV="1">
            <a:off x="8191500" y="2566988"/>
            <a:ext cx="1238250" cy="195263"/>
          </a:xfrm>
          <a:prstGeom xmlns:a="http://schemas.openxmlformats.org/drawingml/2006/main" prst="straightConnector1">
            <a:avLst/>
          </a:prstGeom>
          <a:ln xmlns:a="http://schemas.openxmlformats.org/drawingml/2006/main" w="9525">
            <a:solidFill>
              <a:srgbClr val="2C3A49"/>
            </a:solidFill>
            <a:prstDash val="solid"/>
            <a:headEnd type="arrow" w="sm" len="sm"/>
          </a:ln>
        </p:spPr>
      </p:cxnSp>
      <p:sp>
        <p:nvSpPr>
          <p:cNvPr id="21" name="">
            <a:extLst xmlns:a="http://schemas.openxmlformats.org/drawingml/2006/main">
              <a:ext uri="{FF2B5EF4-FFF2-40B4-BE49-F238E27FC236}">
                <a16:creationId xmlns:a16="http://schemas.microsoft.com/office/drawing/2014/main" id="{2A2E3B0D-C332-4F3E-A1C4-F63CFC5340A3}"/>
              </a:ext>
            </a:extLst>
          </p:cNvPr>
          <p:cNvSpPr>
            <a:spLocks xmlns:a="http://schemas.openxmlformats.org/drawingml/2006/main" noGrp="1"/>
          </p:cNvSpPr>
          <p:nvPr/>
        </p:nvSpPr>
        <p:spPr>
          <a:xfrm xmlns:a="http://schemas.openxmlformats.org/drawingml/2006/main">
            <a:off x="9429750" y="2914650"/>
            <a:ext cx="1619250" cy="409575"/>
          </a:xfrm>
          <a:prstGeom xmlns:a="http://schemas.openxmlformats.org/drawingml/2006/main" prst="roundRect">
            <a:avLst>
              <a:gd name="adj" fmla="val 18605"/>
            </a:avLst>
          </a:prstGeom>
          <a:solidFill xmlns:a="http://schemas.openxmlformats.org/drawingml/2006/main">
            <a:srgbClr val="121C27"/>
          </a:solidFill>
          <a:ln xmlns:a="http://schemas.openxmlformats.org/drawingml/2006/main" w="9525">
            <a:solidFill>
              <a:srgbClr val="FACC15"/>
            </a:solidFill>
            <a:prstDash val="solid"/>
          </a:ln>
        </p:spPr>
      </p:sp>
      <p:sp>
        <p:nvSpPr>
          <p:cNvPr id="22" name="">
            <a:extLst xmlns:a="http://schemas.openxmlformats.org/drawingml/2006/main">
              <a:ext uri="{FF2B5EF4-FFF2-40B4-BE49-F238E27FC236}">
                <a16:creationId xmlns:a16="http://schemas.microsoft.com/office/drawing/2014/main" id="{360DFBCA-2DD3-4770-9B02-7B8AF578BC55}"/>
              </a:ext>
            </a:extLst>
          </p:cNvPr>
          <p:cNvSpPr>
            <a:spLocks xmlns:a="http://schemas.openxmlformats.org/drawingml/2006/main" noGrp="1"/>
          </p:cNvSpPr>
          <p:nvPr/>
        </p:nvSpPr>
        <p:spPr>
          <a:xfrm xmlns:a="http://schemas.openxmlformats.org/drawingml/2006/main">
            <a:off x="9429750" y="2914650"/>
            <a:ext cx="161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ACC15"/>
                </a:solidFill>
              </a:defRPr>
            </a:pPr>
            <a:r>
              <a:rPr sz="1050" b="1">
                <a:solidFill>
                  <a:srgbClr val="FACC15"/>
                </a:solidFill>
              </a:rPr>
              <a:t>fd00::f003</a:t>
            </a:r>
          </a:p>
        </p:txBody>
      </p:sp>
      <p:cxnSp>
        <p:nvCxnSpPr>
          <p:cNvPr id="62" name=""/>
          <p:cNvCxnSpPr>
            <a:stCxn xmlns:a="http://schemas.openxmlformats.org/drawingml/2006/main" id="13" idx="6"/>
            <a:endCxn xmlns:a="http://schemas.openxmlformats.org/drawingml/2006/main" id="21" idx="1"/>
          </p:cNvCxnSpPr>
          <p:nvPr/>
        </p:nvCxnSpPr>
        <p:spPr>
          <a:xfrm xmlns:a="http://schemas.openxmlformats.org/drawingml/2006/main">
            <a:off x="8191500" y="2762250"/>
            <a:ext cx="1238250" cy="357188"/>
          </a:xfrm>
          <a:prstGeom xmlns:a="http://schemas.openxmlformats.org/drawingml/2006/main" prst="straightConnector1">
            <a:avLst/>
          </a:prstGeom>
          <a:ln xmlns:a="http://schemas.openxmlformats.org/drawingml/2006/main" w="9525">
            <a:solidFill>
              <a:srgbClr val="2C3A49"/>
            </a:solidFill>
            <a:prstDash val="solid"/>
            <a:headEnd type="arrow" w="sm" len="sm"/>
          </a:ln>
        </p:spPr>
      </p:cxnSp>
      <p:sp>
        <p:nvSpPr>
          <p:cNvPr id="24" name="">
            <a:extLst xmlns:a="http://schemas.openxmlformats.org/drawingml/2006/main">
              <a:ext uri="{FF2B5EF4-FFF2-40B4-BE49-F238E27FC236}">
                <a16:creationId xmlns:a16="http://schemas.microsoft.com/office/drawing/2014/main" id="{72E05BB3-DFBC-4C17-8FCA-0857A4E108F3}"/>
              </a:ext>
            </a:extLst>
          </p:cNvPr>
          <p:cNvSpPr>
            <a:spLocks xmlns:a="http://schemas.openxmlformats.org/drawingml/2006/main" noGrp="1"/>
          </p:cNvSpPr>
          <p:nvPr/>
        </p:nvSpPr>
        <p:spPr>
          <a:xfrm xmlns:a="http://schemas.openxmlformats.org/drawingml/2006/main">
            <a:off x="9429750" y="3467100"/>
            <a:ext cx="1619250" cy="409575"/>
          </a:xfrm>
          <a:prstGeom xmlns:a="http://schemas.openxmlformats.org/drawingml/2006/main" prst="roundRect">
            <a:avLst>
              <a:gd name="adj" fmla="val 18605"/>
            </a:avLst>
          </a:prstGeom>
          <a:solidFill xmlns:a="http://schemas.openxmlformats.org/drawingml/2006/main">
            <a:srgbClr val="121C27"/>
          </a:solidFill>
          <a:ln xmlns:a="http://schemas.openxmlformats.org/drawingml/2006/main" w="9525">
            <a:solidFill>
              <a:srgbClr val="FACC15"/>
            </a:solidFill>
            <a:prstDash val="solid"/>
          </a:ln>
        </p:spPr>
      </p:sp>
      <p:sp>
        <p:nvSpPr>
          <p:cNvPr id="25" name="">
            <a:extLst xmlns:a="http://schemas.openxmlformats.org/drawingml/2006/main">
              <a:ext uri="{FF2B5EF4-FFF2-40B4-BE49-F238E27FC236}">
                <a16:creationId xmlns:a16="http://schemas.microsoft.com/office/drawing/2014/main" id="{EA30E848-BA55-4BA6-8B8B-39D37EB96A54}"/>
              </a:ext>
            </a:extLst>
          </p:cNvPr>
          <p:cNvSpPr>
            <a:spLocks xmlns:a="http://schemas.openxmlformats.org/drawingml/2006/main" noGrp="1"/>
          </p:cNvSpPr>
          <p:nvPr/>
        </p:nvSpPr>
        <p:spPr>
          <a:xfrm xmlns:a="http://schemas.openxmlformats.org/drawingml/2006/main">
            <a:off x="9429750" y="3467100"/>
            <a:ext cx="161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ACC15"/>
                </a:solidFill>
              </a:defRPr>
            </a:pPr>
            <a:r>
              <a:rPr sz="1050" b="1">
                <a:solidFill>
                  <a:srgbClr val="FACC15"/>
                </a:solidFill>
              </a:rPr>
              <a:t>fd00::f004</a:t>
            </a:r>
          </a:p>
        </p:txBody>
      </p:sp>
      <p:cxnSp>
        <p:nvCxnSpPr>
          <p:cNvPr id="65" name=""/>
          <p:cNvCxnSpPr>
            <a:stCxn xmlns:a="http://schemas.openxmlformats.org/drawingml/2006/main" id="13" idx="6"/>
            <a:endCxn xmlns:a="http://schemas.openxmlformats.org/drawingml/2006/main" id="24" idx="1"/>
          </p:cNvCxnSpPr>
          <p:nvPr/>
        </p:nvCxnSpPr>
        <p:spPr>
          <a:xfrm xmlns:a="http://schemas.openxmlformats.org/drawingml/2006/main">
            <a:off x="8191500" y="2762250"/>
            <a:ext cx="1238250" cy="909638"/>
          </a:xfrm>
          <a:prstGeom xmlns:a="http://schemas.openxmlformats.org/drawingml/2006/main" prst="straightConnector1">
            <a:avLst/>
          </a:prstGeom>
          <a:ln xmlns:a="http://schemas.openxmlformats.org/drawingml/2006/main" w="9525">
            <a:solidFill>
              <a:srgbClr val="2C3A49"/>
            </a:solidFill>
            <a:prstDash val="solid"/>
            <a:headEnd type="arrow" w="sm" len="sm"/>
          </a:ln>
        </p:spPr>
      </p:cxnSp>
      <p:sp>
        <p:nvSpPr>
          <p:cNvPr id="27" name="">
            <a:extLst xmlns:a="http://schemas.openxmlformats.org/drawingml/2006/main">
              <a:ext uri="{FF2B5EF4-FFF2-40B4-BE49-F238E27FC236}">
                <a16:creationId xmlns:a16="http://schemas.microsoft.com/office/drawing/2014/main" id="{C053562F-6334-412C-9FD5-8CC408CE9157}"/>
              </a:ext>
            </a:extLst>
          </p:cNvPr>
          <p:cNvSpPr>
            <a:spLocks xmlns:a="http://schemas.openxmlformats.org/drawingml/2006/main" noGrp="1"/>
          </p:cNvSpPr>
          <p:nvPr/>
        </p:nvSpPr>
        <p:spPr>
          <a:xfrm xmlns:a="http://schemas.openxmlformats.org/drawingml/2006/main">
            <a:off x="714375" y="4000500"/>
            <a:ext cx="4953000" cy="1381125"/>
          </a:xfrm>
          <a:prstGeom xmlns:a="http://schemas.openxmlformats.org/drawingml/2006/main" prst="roundRect">
            <a:avLst>
              <a:gd name="adj" fmla="val 5517"/>
            </a:avLst>
          </a:prstGeom>
          <a:solidFill xmlns:a="http://schemas.openxmlformats.org/drawingml/2006/main">
            <a:srgbClr val="121C27"/>
          </a:solidFill>
          <a:ln xmlns:a="http://schemas.openxmlformats.org/drawingml/2006/main" w="9525">
            <a:solidFill>
              <a:srgbClr val="2C3A49"/>
            </a:solidFill>
            <a:prstDash val="solid"/>
          </a:ln>
        </p:spPr>
      </p:sp>
      <p:sp>
        <p:nvSpPr>
          <p:cNvPr id="28" name="">
            <a:extLst xmlns:a="http://schemas.openxmlformats.org/drawingml/2006/main">
              <a:ext uri="{FF2B5EF4-FFF2-40B4-BE49-F238E27FC236}">
                <a16:creationId xmlns:a16="http://schemas.microsoft.com/office/drawing/2014/main" id="{5C49452E-AB96-4005-9D5A-0EF1B1897F3A}"/>
              </a:ext>
            </a:extLst>
          </p:cNvPr>
          <p:cNvSpPr>
            <a:spLocks xmlns:a="http://schemas.openxmlformats.org/drawingml/2006/main" noGrp="1"/>
          </p:cNvSpPr>
          <p:nvPr/>
        </p:nvSpPr>
        <p:spPr>
          <a:xfrm xmlns:a="http://schemas.openxmlformats.org/drawingml/2006/main">
            <a:off x="952500" y="4152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Why it is different</a:t>
            </a:r>
          </a:p>
        </p:txBody>
      </p:sp>
      <p:sp>
        <p:nvSpPr>
          <p:cNvPr id="29" name="">
            <a:extLst xmlns:a="http://schemas.openxmlformats.org/drawingml/2006/main">
              <a:ext uri="{FF2B5EF4-FFF2-40B4-BE49-F238E27FC236}">
                <a16:creationId xmlns:a16="http://schemas.microsoft.com/office/drawing/2014/main" id="{AD59DF54-994B-4285-9E1E-6B8364DFD856}"/>
              </a:ext>
            </a:extLst>
          </p:cNvPr>
          <p:cNvSpPr>
            <a:spLocks xmlns:a="http://schemas.openxmlformats.org/drawingml/2006/main" noGrp="1"/>
          </p:cNvSpPr>
          <p:nvPr/>
        </p:nvSpPr>
        <p:spPr>
          <a:xfrm xmlns:a="http://schemas.openxmlformats.org/drawingml/2006/main">
            <a:off x="952500" y="4524375"/>
            <a:ext cx="4238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E5EAF0"/>
                </a:solidFill>
              </a:defRPr>
            </a:pPr>
            <a:r>
              <a:rPr sz="1125" b="0">
                <a:solidFill>
                  <a:srgbClr val="E5EAF0"/>
                </a:solidFill>
              </a:rPr>
              <a:t>- forwarding may remain normal</a:t>
            </a:r>
          </a:p>
          <a:p xmlns:a="http://schemas.openxmlformats.org/drawingml/2006/main">
            <a:pPr algn="l">
              <a:defRPr sz="1125" b="0">
                <a:solidFill>
                  <a:srgbClr val="E5EAF0"/>
                </a:solidFill>
              </a:defRPr>
            </a:pPr>
            <a:r>
              <a:rPr sz="1125" b="0">
                <a:solidFill>
                  <a:srgbClr val="E5EAF0"/>
                </a:solidFill>
              </a:rPr>
              <a:t>- rank alone may remain plausible</a:t>
            </a:r>
          </a:p>
          <a:p xmlns:a="http://schemas.openxmlformats.org/drawingml/2006/main">
            <a:pPr algn="l">
              <a:defRPr sz="1125" b="0">
                <a:solidFill>
                  <a:srgbClr val="E5EAF0"/>
                </a:solidFill>
              </a:defRPr>
            </a:pPr>
            <a:r>
              <a:rPr sz="1125" b="0">
                <a:solidFill>
                  <a:srgbClr val="E5EAF0"/>
                </a:solidFill>
              </a:rPr>
              <a:t>- identity consistency becomes the key evidence</a:t>
            </a:r>
          </a:p>
        </p:txBody>
      </p:sp>
      <p:sp>
        <p:nvSpPr>
          <p:cNvPr id="30" name="">
            <a:extLst xmlns:a="http://schemas.openxmlformats.org/drawingml/2006/main">
              <a:ext uri="{FF2B5EF4-FFF2-40B4-BE49-F238E27FC236}">
                <a16:creationId xmlns:a16="http://schemas.microsoft.com/office/drawing/2014/main" id="{A1463BDD-BF3B-479E-AC0C-DE0414558E33}"/>
              </a:ext>
            </a:extLst>
          </p:cNvPr>
          <p:cNvSpPr>
            <a:spLocks xmlns:a="http://schemas.openxmlformats.org/drawingml/2006/main" noGrp="1"/>
          </p:cNvSpPr>
          <p:nvPr/>
        </p:nvSpPr>
        <p:spPr>
          <a:xfrm xmlns:a="http://schemas.openxmlformats.org/drawingml/2006/main">
            <a:off x="6524625" y="4000500"/>
            <a:ext cx="4857750" cy="1381125"/>
          </a:xfrm>
          <a:prstGeom xmlns:a="http://schemas.openxmlformats.org/drawingml/2006/main" prst="roundRect">
            <a:avLst>
              <a:gd name="adj" fmla="val 5517"/>
            </a:avLst>
          </a:prstGeom>
          <a:solidFill xmlns:a="http://schemas.openxmlformats.org/drawingml/2006/main">
            <a:srgbClr val="121C27"/>
          </a:solidFill>
          <a:ln xmlns:a="http://schemas.openxmlformats.org/drawingml/2006/main" w="9525">
            <a:solidFill>
              <a:srgbClr val="2C3A49"/>
            </a:solidFill>
            <a:prstDash val="solid"/>
          </a:ln>
        </p:spPr>
      </p:sp>
      <p:sp>
        <p:nvSpPr>
          <p:cNvPr id="31" name="">
            <a:extLst xmlns:a="http://schemas.openxmlformats.org/drawingml/2006/main">
              <a:ext uri="{FF2B5EF4-FFF2-40B4-BE49-F238E27FC236}">
                <a16:creationId xmlns:a16="http://schemas.microsoft.com/office/drawing/2014/main" id="{4967D152-73B8-40F9-B28E-1D1503F49C1C}"/>
              </a:ext>
            </a:extLst>
          </p:cNvPr>
          <p:cNvSpPr>
            <a:spLocks xmlns:a="http://schemas.openxmlformats.org/drawingml/2006/main" noGrp="1"/>
          </p:cNvSpPr>
          <p:nvPr/>
        </p:nvSpPr>
        <p:spPr>
          <a:xfrm xmlns:a="http://schemas.openxmlformats.org/drawingml/2006/main">
            <a:off x="6762750" y="4171950"/>
            <a:ext cx="1285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0.218</a:t>
            </a:r>
          </a:p>
        </p:txBody>
      </p:sp>
      <p:sp>
        <p:nvSpPr>
          <p:cNvPr id="32" name="">
            <a:extLst xmlns:a="http://schemas.openxmlformats.org/drawingml/2006/main">
              <a:ext uri="{FF2B5EF4-FFF2-40B4-BE49-F238E27FC236}">
                <a16:creationId xmlns:a16="http://schemas.microsoft.com/office/drawing/2014/main" id="{45EFEB58-B551-4506-81C2-C02EED4CC4EB}"/>
              </a:ext>
            </a:extLst>
          </p:cNvPr>
          <p:cNvSpPr>
            <a:spLocks xmlns:a="http://schemas.openxmlformats.org/drawingml/2006/main" noGrp="1"/>
          </p:cNvSpPr>
          <p:nvPr/>
        </p:nvSpPr>
        <p:spPr>
          <a:xfrm xmlns:a="http://schemas.openxmlformats.org/drawingml/2006/main">
            <a:off x="6819900" y="4648200"/>
            <a:ext cx="1171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static target F1</a:t>
            </a:r>
          </a:p>
        </p:txBody>
      </p:sp>
      <p:sp>
        <p:nvSpPr>
          <p:cNvPr id="33" name="">
            <a:extLst xmlns:a="http://schemas.openxmlformats.org/drawingml/2006/main">
              <a:ext uri="{FF2B5EF4-FFF2-40B4-BE49-F238E27FC236}">
                <a16:creationId xmlns:a16="http://schemas.microsoft.com/office/drawing/2014/main" id="{1FDA2520-1348-45B6-85F3-EA7CD8A7324C}"/>
              </a:ext>
            </a:extLst>
          </p:cNvPr>
          <p:cNvSpPr>
            <a:spLocks xmlns:a="http://schemas.openxmlformats.org/drawingml/2006/main" noGrp="1"/>
          </p:cNvSpPr>
          <p:nvPr/>
        </p:nvSpPr>
        <p:spPr>
          <a:xfrm xmlns:a="http://schemas.openxmlformats.org/drawingml/2006/main">
            <a:off x="8239125" y="4171950"/>
            <a:ext cx="1381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0.968</a:t>
            </a:r>
          </a:p>
        </p:txBody>
      </p:sp>
      <p:sp>
        <p:nvSpPr>
          <p:cNvPr id="34" name="">
            <a:extLst xmlns:a="http://schemas.openxmlformats.org/drawingml/2006/main">
              <a:ext uri="{FF2B5EF4-FFF2-40B4-BE49-F238E27FC236}">
                <a16:creationId xmlns:a16="http://schemas.microsoft.com/office/drawing/2014/main" id="{D00A54AA-6CC5-47B1-BB68-EED9A0FD014E}"/>
              </a:ext>
            </a:extLst>
          </p:cNvPr>
          <p:cNvSpPr>
            <a:spLocks xmlns:a="http://schemas.openxmlformats.org/drawingml/2006/main" noGrp="1"/>
          </p:cNvSpPr>
          <p:nvPr/>
        </p:nvSpPr>
        <p:spPr>
          <a:xfrm xmlns:a="http://schemas.openxmlformats.org/drawingml/2006/main">
            <a:off x="8296275" y="4648200"/>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F1 after 1 seed</a:t>
            </a:r>
          </a:p>
        </p:txBody>
      </p:sp>
      <p:sp>
        <p:nvSpPr>
          <p:cNvPr id="35" name="">
            <a:extLst xmlns:a="http://schemas.openxmlformats.org/drawingml/2006/main">
              <a:ext uri="{FF2B5EF4-FFF2-40B4-BE49-F238E27FC236}">
                <a16:creationId xmlns:a16="http://schemas.microsoft.com/office/drawing/2014/main" id="{D60DC4BB-2982-4257-A503-52DE65454CFA}"/>
              </a:ext>
            </a:extLst>
          </p:cNvPr>
          <p:cNvSpPr>
            <a:spLocks xmlns:a="http://schemas.openxmlformats.org/drawingml/2006/main" noGrp="1"/>
          </p:cNvSpPr>
          <p:nvPr/>
        </p:nvSpPr>
        <p:spPr>
          <a:xfrm xmlns:a="http://schemas.openxmlformats.org/drawingml/2006/main">
            <a:off x="9810750" y="4171950"/>
            <a:ext cx="1381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ACC15"/>
                </a:solidFill>
              </a:defRPr>
            </a:pPr>
            <a:r>
              <a:rPr sz="2700" b="1">
                <a:solidFill>
                  <a:srgbClr val="FACC15"/>
                </a:solidFill>
              </a:rPr>
              <a:t>50 / 50</a:t>
            </a:r>
          </a:p>
        </p:txBody>
      </p:sp>
      <p:sp>
        <p:nvSpPr>
          <p:cNvPr id="36" name="">
            <a:extLst xmlns:a="http://schemas.openxmlformats.org/drawingml/2006/main">
              <a:ext uri="{FF2B5EF4-FFF2-40B4-BE49-F238E27FC236}">
                <a16:creationId xmlns:a16="http://schemas.microsoft.com/office/drawing/2014/main" id="{E56FAE98-E4A9-48A4-933E-54FC3701F59F}"/>
              </a:ext>
            </a:extLst>
          </p:cNvPr>
          <p:cNvSpPr>
            <a:spLocks xmlns:a="http://schemas.openxmlformats.org/drawingml/2006/main" noGrp="1"/>
          </p:cNvSpPr>
          <p:nvPr/>
        </p:nvSpPr>
        <p:spPr>
          <a:xfrm xmlns:a="http://schemas.openxmlformats.org/drawingml/2006/main">
            <a:off x="9867900" y="4648200"/>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attack windows alerted</a:t>
            </a:r>
          </a:p>
        </p:txBody>
      </p:sp>
      <p:sp>
        <p:nvSpPr>
          <p:cNvPr id="37" name="">
            <a:extLst xmlns:a="http://schemas.openxmlformats.org/drawingml/2006/main">
              <a:ext uri="{FF2B5EF4-FFF2-40B4-BE49-F238E27FC236}">
                <a16:creationId xmlns:a16="http://schemas.microsoft.com/office/drawing/2014/main" id="{F398B4D4-BBCC-4396-ABDE-5CB3CF628539}"/>
              </a:ext>
            </a:extLst>
          </p:cNvPr>
          <p:cNvSpPr>
            <a:spLocks xmlns:a="http://schemas.openxmlformats.org/drawingml/2006/main" noGrp="1"/>
          </p:cNvSpPr>
          <p:nvPr/>
        </p:nvSpPr>
        <p:spPr>
          <a:xfrm xmlns:a="http://schemas.openxmlformats.org/drawingml/2006/main">
            <a:off x="7486650" y="54673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97A3B2"/>
                </a:solidFill>
              </a:defRPr>
            </a:pPr>
            <a:r>
              <a:rPr sz="975" b="1">
                <a:solidFill>
                  <a:srgbClr val="97A3B2"/>
                </a:solidFill>
              </a:rPr>
              <a:t>Identity monitor controls: 0 / 45 alerts</a:t>
            </a:r>
          </a:p>
        </p:txBody>
      </p:sp>
      <p:sp>
        <p:nvSpPr>
          <p:cNvPr id="38" name="">
            <a:extLst xmlns:a="http://schemas.openxmlformats.org/drawingml/2006/main">
              <a:ext uri="{FF2B5EF4-FFF2-40B4-BE49-F238E27FC236}">
                <a16:creationId xmlns:a16="http://schemas.microsoft.com/office/drawing/2014/main" id="{1D875D5E-EB96-4499-9ECF-C70554B6C96D}"/>
              </a:ext>
            </a:extLst>
          </p:cNvPr>
          <p:cNvSpPr>
            <a:spLocks xmlns:a="http://schemas.openxmlformats.org/drawingml/2006/main" noGrp="1"/>
          </p:cNvSpPr>
          <p:nvPr/>
        </p:nvSpPr>
        <p:spPr>
          <a:xfrm xmlns:a="http://schemas.openxmlformats.org/drawingml/2006/main">
            <a:off x="1952625" y="5829300"/>
            <a:ext cx="8286750" cy="361950"/>
          </a:xfrm>
          <a:prstGeom xmlns:a="http://schemas.openxmlformats.org/drawingml/2006/main" prst="roundRect">
            <a:avLst>
              <a:gd name="adj" fmla="val 21053"/>
            </a:avLst>
          </a:prstGeom>
          <a:solidFill xmlns:a="http://schemas.openxmlformats.org/drawingml/2006/main">
            <a:srgbClr val="0E151E"/>
          </a:solidFill>
          <a:ln xmlns:a="http://schemas.openxmlformats.org/drawingml/2006/main" w="9525">
            <a:solidFill>
              <a:srgbClr val="FACC15"/>
            </a:solidFill>
            <a:prstDash val="solid"/>
          </a:ln>
        </p:spPr>
      </p:sp>
      <p:sp>
        <p:nvSpPr>
          <p:cNvPr id="39" name="">
            <a:extLst xmlns:a="http://schemas.openxmlformats.org/drawingml/2006/main">
              <a:ext uri="{FF2B5EF4-FFF2-40B4-BE49-F238E27FC236}">
                <a16:creationId xmlns:a16="http://schemas.microsoft.com/office/drawing/2014/main" id="{E6E79B73-89FE-4470-B453-0CC1B00BEB2E}"/>
              </a:ext>
            </a:extLst>
          </p:cNvPr>
          <p:cNvSpPr>
            <a:spLocks xmlns:a="http://schemas.openxmlformats.org/drawingml/2006/main" noGrp="1"/>
          </p:cNvSpPr>
          <p:nvPr/>
        </p:nvSpPr>
        <p:spPr>
          <a:xfrm xmlns:a="http://schemas.openxmlformats.org/drawingml/2006/main">
            <a:off x="2143125" y="5857875"/>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7FAFC"/>
                </a:solidFill>
              </a:defRPr>
            </a:pPr>
            <a:r>
              <a:rPr sz="1125" b="1">
                <a:solidFill>
                  <a:srgbClr val="F7FAFC"/>
                </a:solidFill>
              </a:rPr>
              <a:t>Contribution: controlled Cooja implementation and drift evaluation, not invention of the Sybil attack.</a:t>
            </a:r>
          </a:p>
        </p:txBody>
      </p:sp>
    </p:spTree>
    <p:extLst>
      <p:ext uri="{BB962C8B-B14F-4D97-AF65-F5344CB8AC3E}">
        <p14:creationId xmlns:p14="http://schemas.microsoft.com/office/powerpoint/2010/main" val="1042816728"/>
      </p:ext>
    </p:extLst>
  </p:cSld>
</p:sld>
</file>

<file path=ppt/slides/slide14.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6F9E6DD-68E9-4CAE-8AF3-2192413ECF99}"/>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ONLINE RESPONSE</a:t>
            </a:r>
          </a:p>
        </p:txBody>
      </p:sp>
      <p:sp>
        <p:nvSpPr>
          <p:cNvPr id="2" name="">
            <a:extLst xmlns:a="http://schemas.openxmlformats.org/drawingml/2006/main">
              <a:ext uri="{FF2B5EF4-FFF2-40B4-BE49-F238E27FC236}">
                <a16:creationId xmlns:a16="http://schemas.microsoft.com/office/drawing/2014/main" id="{5672BF80-E98D-4AD2-947E-3A740080BA63}"/>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Detecting change is separate from retraining the classifier</a:t>
            </a:r>
          </a:p>
        </p:txBody>
      </p:sp>
      <p:sp>
        <p:nvSpPr>
          <p:cNvPr id="3" name="">
            <a:extLst xmlns:a="http://schemas.openxmlformats.org/drawingml/2006/main">
              <a:ext uri="{FF2B5EF4-FFF2-40B4-BE49-F238E27FC236}">
                <a16:creationId xmlns:a16="http://schemas.microsoft.com/office/drawing/2014/main" id="{A6C23E23-C142-4349-A360-4E6C03964DD8}"/>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667E17-2792-43E3-81EC-476FD50501F4}"/>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45DA8B-2FBA-4920-B430-E6D409ED796D}"/>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Drift monitoring</a:t>
            </a:r>
          </a:p>
        </p:txBody>
      </p:sp>
      <p:sp>
        <p:nvSpPr>
          <p:cNvPr id="6" name="">
            <a:extLst xmlns:a="http://schemas.openxmlformats.org/drawingml/2006/main">
              <a:ext uri="{FF2B5EF4-FFF2-40B4-BE49-F238E27FC236}">
                <a16:creationId xmlns:a16="http://schemas.microsoft.com/office/drawing/2014/main" id="{F675AFE8-4CF3-46FA-88B8-CA3525B55E76}"/>
              </a:ext>
            </a:extLst>
          </p:cNvPr>
          <p:cNvSpPr>
            <a:spLocks xmlns:a="http://schemas.openxmlformats.org/drawingml/2006/main" noGrp="1"/>
          </p:cNvSpPr>
          <p:nvPr/>
        </p:nvSpPr>
        <p:spPr>
          <a:xfrm xmlns:a="http://schemas.openxmlformats.org/drawingml/2006/main">
            <a:off x="1047750" y="16764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B7185"/>
                </a:solidFill>
              </a:defRPr>
            </a:pPr>
            <a:r>
              <a:rPr sz="1200" b="1">
                <a:solidFill>
                  <a:srgbClr val="FB7185"/>
                </a:solidFill>
              </a:rPr>
              <a:t>Sinkhole attack activates</a:t>
            </a:r>
          </a:p>
        </p:txBody>
      </p:sp>
      <p:sp>
        <p:nvSpPr>
          <p:cNvPr id="7" name="">
            <a:extLst xmlns:a="http://schemas.openxmlformats.org/drawingml/2006/main">
              <a:ext uri="{FF2B5EF4-FFF2-40B4-BE49-F238E27FC236}">
                <a16:creationId xmlns:a16="http://schemas.microsoft.com/office/drawing/2014/main" id="{E1BD30E8-95B2-486F-8D83-D9DE03D70943}"/>
              </a:ext>
            </a:extLst>
          </p:cNvPr>
          <p:cNvSpPr>
            <a:spLocks xmlns:a="http://schemas.openxmlformats.org/drawingml/2006/main" noGrp="1"/>
          </p:cNvSpPr>
          <p:nvPr/>
        </p:nvSpPr>
        <p:spPr>
          <a:xfrm xmlns:a="http://schemas.openxmlformats.org/drawingml/2006/main">
            <a:off x="4572000" y="16764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2D3EE"/>
                </a:solidFill>
              </a:defRPr>
            </a:pPr>
            <a:r>
              <a:rPr sz="1200" b="1">
                <a:solidFill>
                  <a:srgbClr val="22D3EE"/>
                </a:solidFill>
              </a:rPr>
              <a:t>First post-activation window</a:t>
            </a:r>
          </a:p>
        </p:txBody>
      </p:sp>
      <p:sp>
        <p:nvSpPr>
          <p:cNvPr id="8" name="">
            <a:extLst xmlns:a="http://schemas.openxmlformats.org/drawingml/2006/main">
              <a:ext uri="{FF2B5EF4-FFF2-40B4-BE49-F238E27FC236}">
                <a16:creationId xmlns:a16="http://schemas.microsoft.com/office/drawing/2014/main" id="{1D0638FA-9182-42AD-8952-18A35ABA3166}"/>
              </a:ext>
            </a:extLst>
          </p:cNvPr>
          <p:cNvSpPr>
            <a:spLocks xmlns:a="http://schemas.openxmlformats.org/drawingml/2006/main" noGrp="1"/>
          </p:cNvSpPr>
          <p:nvPr/>
        </p:nvSpPr>
        <p:spPr>
          <a:xfrm xmlns:a="http://schemas.openxmlformats.org/drawingml/2006/main">
            <a:off x="8667750" y="1676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9E0B"/>
                </a:solidFill>
              </a:defRPr>
            </a:pPr>
            <a:r>
              <a:rPr sz="1200" b="1">
                <a:solidFill>
                  <a:srgbClr val="F59E0B"/>
                </a:solidFill>
              </a:rPr>
              <a:t>One window later</a:t>
            </a:r>
          </a:p>
        </p:txBody>
      </p:sp>
      <p:sp>
        <p:nvSpPr>
          <p:cNvPr id="9" name="">
            <a:extLst xmlns:a="http://schemas.openxmlformats.org/drawingml/2006/main">
              <a:ext uri="{FF2B5EF4-FFF2-40B4-BE49-F238E27FC236}">
                <a16:creationId xmlns:a16="http://schemas.microsoft.com/office/drawing/2014/main" id="{6F38244D-4760-4E59-A50E-581027DE091C}"/>
              </a:ext>
            </a:extLst>
          </p:cNvPr>
          <p:cNvSpPr>
            <a:spLocks xmlns:a="http://schemas.openxmlformats.org/drawingml/2006/main" noGrp="1"/>
          </p:cNvSpPr>
          <p:nvPr/>
        </p:nvSpPr>
        <p:spPr>
          <a:xfrm xmlns:a="http://schemas.openxmlformats.org/drawingml/2006/main">
            <a:off x="1476375" y="2952750"/>
            <a:ext cx="8858250" cy="38100"/>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24D94C-DE77-4961-84FB-80D41414FB83}"/>
              </a:ext>
            </a:extLst>
          </p:cNvPr>
          <p:cNvSpPr>
            <a:spLocks xmlns:a="http://schemas.openxmlformats.org/drawingml/2006/main" noGrp="1"/>
          </p:cNvSpPr>
          <p:nvPr/>
        </p:nvSpPr>
        <p:spPr>
          <a:xfrm xmlns:a="http://schemas.openxmlformats.org/drawingml/2006/main">
            <a:off x="2143125" y="2724150"/>
            <a:ext cx="495300" cy="495300"/>
          </a:xfrm>
          <a:prstGeom xmlns:a="http://schemas.openxmlformats.org/drawingml/2006/main" prst="ellipse">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11" name="">
            <a:extLst xmlns:a="http://schemas.openxmlformats.org/drawingml/2006/main">
              <a:ext uri="{FF2B5EF4-FFF2-40B4-BE49-F238E27FC236}">
                <a16:creationId xmlns:a16="http://schemas.microsoft.com/office/drawing/2014/main" id="{DA69389F-B37D-4E5E-BA30-887E5EBF5C2B}"/>
              </a:ext>
            </a:extLst>
          </p:cNvPr>
          <p:cNvSpPr>
            <a:spLocks xmlns:a="http://schemas.openxmlformats.org/drawingml/2006/main" noGrp="1"/>
          </p:cNvSpPr>
          <p:nvPr/>
        </p:nvSpPr>
        <p:spPr>
          <a:xfrm xmlns:a="http://schemas.openxmlformats.org/drawingml/2006/main">
            <a:off x="2143125" y="27241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B7185"/>
                </a:solidFill>
              </a:defRPr>
            </a:pPr>
            <a:r>
              <a:rPr sz="1125" b="1">
                <a:solidFill>
                  <a:srgbClr val="FB7185"/>
                </a:solidFill>
              </a:rPr>
              <a:t>240 s</a:t>
            </a:r>
          </a:p>
        </p:txBody>
      </p:sp>
      <p:sp>
        <p:nvSpPr>
          <p:cNvPr id="12" name="">
            <a:extLst xmlns:a="http://schemas.openxmlformats.org/drawingml/2006/main">
              <a:ext uri="{FF2B5EF4-FFF2-40B4-BE49-F238E27FC236}">
                <a16:creationId xmlns:a16="http://schemas.microsoft.com/office/drawing/2014/main" id="{B3934B01-FB86-4EBE-A708-51A11B93FAA9}"/>
              </a:ext>
            </a:extLst>
          </p:cNvPr>
          <p:cNvSpPr>
            <a:spLocks xmlns:a="http://schemas.openxmlformats.org/drawingml/2006/main" noGrp="1"/>
          </p:cNvSpPr>
          <p:nvPr/>
        </p:nvSpPr>
        <p:spPr>
          <a:xfrm xmlns:a="http://schemas.openxmlformats.org/drawingml/2006/main">
            <a:off x="5514975" y="2590800"/>
            <a:ext cx="762000" cy="76200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13" name="">
            <a:extLst xmlns:a="http://schemas.openxmlformats.org/drawingml/2006/main">
              <a:ext uri="{FF2B5EF4-FFF2-40B4-BE49-F238E27FC236}">
                <a16:creationId xmlns:a16="http://schemas.microsoft.com/office/drawing/2014/main" id="{543A9533-2F39-4C93-80CA-6D7E3CBCBA0A}"/>
              </a:ext>
            </a:extLst>
          </p:cNvPr>
          <p:cNvSpPr>
            <a:spLocks xmlns:a="http://schemas.openxmlformats.org/drawingml/2006/main" noGrp="1"/>
          </p:cNvSpPr>
          <p:nvPr/>
        </p:nvSpPr>
        <p:spPr>
          <a:xfrm xmlns:a="http://schemas.openxmlformats.org/drawingml/2006/main">
            <a:off x="5514975" y="25908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2D3EE"/>
                </a:solidFill>
              </a:defRPr>
            </a:pPr>
            <a:r>
              <a:rPr sz="975" b="1">
                <a:solidFill>
                  <a:srgbClr val="22D3EE"/>
                </a:solidFill>
              </a:rPr>
              <a:t>CUSUM</a:t>
            </a:r>
          </a:p>
        </p:txBody>
      </p:sp>
      <p:sp>
        <p:nvSpPr>
          <p:cNvPr id="14" name="">
            <a:extLst xmlns:a="http://schemas.openxmlformats.org/drawingml/2006/main">
              <a:ext uri="{FF2B5EF4-FFF2-40B4-BE49-F238E27FC236}">
                <a16:creationId xmlns:a16="http://schemas.microsoft.com/office/drawing/2014/main" id="{D24FC4C6-DC75-417B-896B-7C09885D608A}"/>
              </a:ext>
            </a:extLst>
          </p:cNvPr>
          <p:cNvSpPr>
            <a:spLocks xmlns:a="http://schemas.openxmlformats.org/drawingml/2006/main" noGrp="1"/>
          </p:cNvSpPr>
          <p:nvPr/>
        </p:nvSpPr>
        <p:spPr>
          <a:xfrm xmlns:a="http://schemas.openxmlformats.org/drawingml/2006/main">
            <a:off x="9477375" y="2647950"/>
            <a:ext cx="647700" cy="647700"/>
          </a:xfrm>
          <a:prstGeom xmlns:a="http://schemas.openxmlformats.org/drawingml/2006/main" prst="ellipse">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15" name="">
            <a:extLst xmlns:a="http://schemas.openxmlformats.org/drawingml/2006/main">
              <a:ext uri="{FF2B5EF4-FFF2-40B4-BE49-F238E27FC236}">
                <a16:creationId xmlns:a16="http://schemas.microsoft.com/office/drawing/2014/main" id="{E55A5961-58FD-4F72-AFB0-163F5EC68560}"/>
              </a:ext>
            </a:extLst>
          </p:cNvPr>
          <p:cNvSpPr>
            <a:spLocks xmlns:a="http://schemas.openxmlformats.org/drawingml/2006/main" noGrp="1"/>
          </p:cNvSpPr>
          <p:nvPr/>
        </p:nvSpPr>
        <p:spPr>
          <a:xfrm xmlns:a="http://schemas.openxmlformats.org/drawingml/2006/main">
            <a:off x="9477375" y="2647950"/>
            <a:ext cx="64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9E0B"/>
                </a:solidFill>
              </a:defRPr>
            </a:pPr>
            <a:r>
              <a:rPr sz="1125" b="1">
                <a:solidFill>
                  <a:srgbClr val="F59E0B"/>
                </a:solidFill>
              </a:rPr>
              <a:t>DDM</a:t>
            </a:r>
          </a:p>
        </p:txBody>
      </p:sp>
      <p:sp>
        <p:nvSpPr>
          <p:cNvPr id="16" name="">
            <a:extLst xmlns:a="http://schemas.openxmlformats.org/drawingml/2006/main">
              <a:ext uri="{FF2B5EF4-FFF2-40B4-BE49-F238E27FC236}">
                <a16:creationId xmlns:a16="http://schemas.microsoft.com/office/drawing/2014/main" id="{6D9E4EAC-A900-491D-B68C-20117F13F37C}"/>
              </a:ext>
            </a:extLst>
          </p:cNvPr>
          <p:cNvSpPr>
            <a:spLocks xmlns:a="http://schemas.openxmlformats.org/drawingml/2006/main" noGrp="1"/>
          </p:cNvSpPr>
          <p:nvPr/>
        </p:nvSpPr>
        <p:spPr>
          <a:xfrm xmlns:a="http://schemas.openxmlformats.org/drawingml/2006/main">
            <a:off x="4476750" y="3476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2D3EE"/>
                </a:solidFill>
              </a:defRPr>
            </a:pPr>
            <a:r>
              <a:rPr sz="1200" b="1">
                <a:solidFill>
                  <a:srgbClr val="22D3EE"/>
                </a:solidFill>
              </a:rPr>
              <a:t>Routing-state evidence changes</a:t>
            </a:r>
          </a:p>
        </p:txBody>
      </p:sp>
      <p:sp>
        <p:nvSpPr>
          <p:cNvPr id="17" name="">
            <a:extLst xmlns:a="http://schemas.openxmlformats.org/drawingml/2006/main">
              <a:ext uri="{FF2B5EF4-FFF2-40B4-BE49-F238E27FC236}">
                <a16:creationId xmlns:a16="http://schemas.microsoft.com/office/drawing/2014/main" id="{6D6A97D7-A4E3-41EE-8D7F-210D6F11778C}"/>
              </a:ext>
            </a:extLst>
          </p:cNvPr>
          <p:cNvSpPr>
            <a:spLocks xmlns:a="http://schemas.openxmlformats.org/drawingml/2006/main" noGrp="1"/>
          </p:cNvSpPr>
          <p:nvPr/>
        </p:nvSpPr>
        <p:spPr>
          <a:xfrm xmlns:a="http://schemas.openxmlformats.org/drawingml/2006/main">
            <a:off x="8191500" y="34766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9E0B"/>
                </a:solidFill>
              </a:defRPr>
            </a:pPr>
            <a:r>
              <a:rPr sz="1200" b="1">
                <a:solidFill>
                  <a:srgbClr val="F59E0B"/>
                </a:solidFill>
              </a:rPr>
              <a:t>Delayed classifier errors arrive</a:t>
            </a:r>
          </a:p>
        </p:txBody>
      </p:sp>
      <p:sp>
        <p:nvSpPr>
          <p:cNvPr id="18" name="">
            <a:extLst xmlns:a="http://schemas.openxmlformats.org/drawingml/2006/main">
              <a:ext uri="{FF2B5EF4-FFF2-40B4-BE49-F238E27FC236}">
                <a16:creationId xmlns:a16="http://schemas.microsoft.com/office/drawing/2014/main" id="{D3FD155B-C926-43DF-AF09-8DC348EAF282}"/>
              </a:ext>
            </a:extLst>
          </p:cNvPr>
          <p:cNvSpPr>
            <a:spLocks xmlns:a="http://schemas.openxmlformats.org/drawingml/2006/main" noGrp="1"/>
          </p:cNvSpPr>
          <p:nvPr/>
        </p:nvSpPr>
        <p:spPr>
          <a:xfrm xmlns:a="http://schemas.openxmlformats.org/drawingml/2006/main">
            <a:off x="1000125" y="4171950"/>
            <a:ext cx="4572000" cy="1257300"/>
          </a:xfrm>
          <a:prstGeom xmlns:a="http://schemas.openxmlformats.org/drawingml/2006/main" prst="roundRect">
            <a:avLst>
              <a:gd name="adj" fmla="val 6061"/>
            </a:avLst>
          </a:prstGeom>
          <a:solidFill xmlns:a="http://schemas.openxmlformats.org/drawingml/2006/main">
            <a:srgbClr val="121C27"/>
          </a:solidFill>
          <a:ln xmlns:a="http://schemas.openxmlformats.org/drawingml/2006/main" w="9525">
            <a:solidFill>
              <a:srgbClr val="22D3EE"/>
            </a:solidFill>
            <a:prstDash val="solid"/>
          </a:ln>
        </p:spPr>
      </p:sp>
      <p:sp>
        <p:nvSpPr>
          <p:cNvPr id="19" name="">
            <a:extLst xmlns:a="http://schemas.openxmlformats.org/drawingml/2006/main">
              <a:ext uri="{FF2B5EF4-FFF2-40B4-BE49-F238E27FC236}">
                <a16:creationId xmlns:a16="http://schemas.microsoft.com/office/drawing/2014/main" id="{0BE825B9-D2BA-4134-B288-0D340BFDB024}"/>
              </a:ext>
            </a:extLst>
          </p:cNvPr>
          <p:cNvSpPr>
            <a:spLocks xmlns:a="http://schemas.openxmlformats.org/drawingml/2006/main" noGrp="1"/>
          </p:cNvSpPr>
          <p:nvPr/>
        </p:nvSpPr>
        <p:spPr>
          <a:xfrm xmlns:a="http://schemas.openxmlformats.org/drawingml/2006/main">
            <a:off x="1381125" y="436245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2D3EE"/>
                </a:solidFill>
              </a:defRPr>
            </a:pPr>
            <a:r>
              <a:rPr sz="2700" b="1">
                <a:solidFill>
                  <a:srgbClr val="22D3EE"/>
                </a:solidFill>
              </a:rPr>
              <a:t>0 s</a:t>
            </a:r>
          </a:p>
        </p:txBody>
      </p:sp>
      <p:sp>
        <p:nvSpPr>
          <p:cNvPr id="20" name="">
            <a:extLst xmlns:a="http://schemas.openxmlformats.org/drawingml/2006/main">
              <a:ext uri="{FF2B5EF4-FFF2-40B4-BE49-F238E27FC236}">
                <a16:creationId xmlns:a16="http://schemas.microsoft.com/office/drawing/2014/main" id="{10AB035A-F0EC-4478-81C4-EEAF33CA980E}"/>
              </a:ext>
            </a:extLst>
          </p:cNvPr>
          <p:cNvSpPr>
            <a:spLocks xmlns:a="http://schemas.openxmlformats.org/drawingml/2006/main" noGrp="1"/>
          </p:cNvSpPr>
          <p:nvPr/>
        </p:nvSpPr>
        <p:spPr>
          <a:xfrm xmlns:a="http://schemas.openxmlformats.org/drawingml/2006/main">
            <a:off x="1438275" y="48387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median window delay</a:t>
            </a:r>
          </a:p>
        </p:txBody>
      </p:sp>
      <p:sp>
        <p:nvSpPr>
          <p:cNvPr id="21" name="">
            <a:extLst xmlns:a="http://schemas.openxmlformats.org/drawingml/2006/main">
              <a:ext uri="{FF2B5EF4-FFF2-40B4-BE49-F238E27FC236}">
                <a16:creationId xmlns:a16="http://schemas.microsoft.com/office/drawing/2014/main" id="{38A413A5-0C2F-4440-8A33-F69600F3A81F}"/>
              </a:ext>
            </a:extLst>
          </p:cNvPr>
          <p:cNvSpPr>
            <a:spLocks xmlns:a="http://schemas.openxmlformats.org/drawingml/2006/main" noGrp="1"/>
          </p:cNvSpPr>
          <p:nvPr/>
        </p:nvSpPr>
        <p:spPr>
          <a:xfrm xmlns:a="http://schemas.openxmlformats.org/drawingml/2006/main">
            <a:off x="3143250" y="44291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EAF0"/>
                </a:solidFill>
              </a:defRPr>
            </a:pPr>
            <a:r>
              <a:rPr sz="1275" b="1">
                <a:solidFill>
                  <a:srgbClr val="E5EAF0"/>
                </a:solidFill>
              </a:rPr>
              <a:t>5 / 5 attacks detected</a:t>
            </a:r>
          </a:p>
          <a:p xmlns:a="http://schemas.openxmlformats.org/drawingml/2006/main">
            <a:pPr algn="ctr">
              <a:defRPr sz="1275" b="1">
                <a:solidFill>
                  <a:srgbClr val="E5EAF0"/>
                </a:solidFill>
              </a:defRPr>
            </a:pPr>
            <a:r>
              <a:rPr sz="1275" b="1">
                <a:solidFill>
                  <a:srgbClr val="E5EAF0"/>
                </a:solidFill>
              </a:rPr>
              <a:t>0 / 5 controls alerted</a:t>
            </a:r>
          </a:p>
        </p:txBody>
      </p:sp>
      <p:sp>
        <p:nvSpPr>
          <p:cNvPr id="22" name="">
            <a:extLst xmlns:a="http://schemas.openxmlformats.org/drawingml/2006/main">
              <a:ext uri="{FF2B5EF4-FFF2-40B4-BE49-F238E27FC236}">
                <a16:creationId xmlns:a16="http://schemas.microsoft.com/office/drawing/2014/main" id="{99E7453D-92DA-40EA-8D5B-EC27A551AAAE}"/>
              </a:ext>
            </a:extLst>
          </p:cNvPr>
          <p:cNvSpPr>
            <a:spLocks xmlns:a="http://schemas.openxmlformats.org/drawingml/2006/main" noGrp="1"/>
          </p:cNvSpPr>
          <p:nvPr/>
        </p:nvSpPr>
        <p:spPr>
          <a:xfrm xmlns:a="http://schemas.openxmlformats.org/drawingml/2006/main">
            <a:off x="6619875" y="4171950"/>
            <a:ext cx="4572000" cy="1257300"/>
          </a:xfrm>
          <a:prstGeom xmlns:a="http://schemas.openxmlformats.org/drawingml/2006/main" prst="roundRect">
            <a:avLst>
              <a:gd name="adj" fmla="val 6061"/>
            </a:avLst>
          </a:prstGeom>
          <a:solidFill xmlns:a="http://schemas.openxmlformats.org/drawingml/2006/main">
            <a:srgbClr val="121C27"/>
          </a:solidFill>
          <a:ln xmlns:a="http://schemas.openxmlformats.org/drawingml/2006/main" w="9525">
            <a:solidFill>
              <a:srgbClr val="F59E0B"/>
            </a:solidFill>
            <a:prstDash val="solid"/>
          </a:ln>
        </p:spPr>
      </p:sp>
      <p:sp>
        <p:nvSpPr>
          <p:cNvPr id="23" name="">
            <a:extLst xmlns:a="http://schemas.openxmlformats.org/drawingml/2006/main">
              <a:ext uri="{FF2B5EF4-FFF2-40B4-BE49-F238E27FC236}">
                <a16:creationId xmlns:a16="http://schemas.microsoft.com/office/drawing/2014/main" id="{77B2FBDA-3BC3-47D8-80C1-14A7E4A1D5FD}"/>
              </a:ext>
            </a:extLst>
          </p:cNvPr>
          <p:cNvSpPr>
            <a:spLocks xmlns:a="http://schemas.openxmlformats.org/drawingml/2006/main" noGrp="1"/>
          </p:cNvSpPr>
          <p:nvPr/>
        </p:nvSpPr>
        <p:spPr>
          <a:xfrm xmlns:a="http://schemas.openxmlformats.org/drawingml/2006/main">
            <a:off x="7000875" y="436245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59E0B"/>
                </a:solidFill>
              </a:defRPr>
            </a:pPr>
            <a:r>
              <a:rPr sz="2700" b="1">
                <a:solidFill>
                  <a:srgbClr val="F59E0B"/>
                </a:solidFill>
              </a:rPr>
              <a:t>60 s</a:t>
            </a:r>
          </a:p>
        </p:txBody>
      </p:sp>
      <p:sp>
        <p:nvSpPr>
          <p:cNvPr id="24" name="">
            <a:extLst xmlns:a="http://schemas.openxmlformats.org/drawingml/2006/main">
              <a:ext uri="{FF2B5EF4-FFF2-40B4-BE49-F238E27FC236}">
                <a16:creationId xmlns:a16="http://schemas.microsoft.com/office/drawing/2014/main" id="{34EE2181-3031-435A-AD86-8AD8B11B5E17}"/>
              </a:ext>
            </a:extLst>
          </p:cNvPr>
          <p:cNvSpPr>
            <a:spLocks xmlns:a="http://schemas.openxmlformats.org/drawingml/2006/main" noGrp="1"/>
          </p:cNvSpPr>
          <p:nvPr/>
        </p:nvSpPr>
        <p:spPr>
          <a:xfrm xmlns:a="http://schemas.openxmlformats.org/drawingml/2006/main">
            <a:off x="7058025" y="48387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median delay</a:t>
            </a:r>
          </a:p>
        </p:txBody>
      </p:sp>
      <p:sp>
        <p:nvSpPr>
          <p:cNvPr id="25" name="">
            <a:extLst xmlns:a="http://schemas.openxmlformats.org/drawingml/2006/main">
              <a:ext uri="{FF2B5EF4-FFF2-40B4-BE49-F238E27FC236}">
                <a16:creationId xmlns:a16="http://schemas.microsoft.com/office/drawing/2014/main" id="{D17367C0-97CE-4545-85A5-8CDCE7B2F179}"/>
              </a:ext>
            </a:extLst>
          </p:cNvPr>
          <p:cNvSpPr>
            <a:spLocks xmlns:a="http://schemas.openxmlformats.org/drawingml/2006/main" noGrp="1"/>
          </p:cNvSpPr>
          <p:nvPr/>
        </p:nvSpPr>
        <p:spPr>
          <a:xfrm xmlns:a="http://schemas.openxmlformats.org/drawingml/2006/main">
            <a:off x="8763000" y="44291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EAF0"/>
                </a:solidFill>
              </a:defRPr>
            </a:pPr>
            <a:r>
              <a:rPr sz="1275" b="1">
                <a:solidFill>
                  <a:srgbClr val="E5EAF0"/>
                </a:solidFill>
              </a:rPr>
              <a:t>5 / 5 attacks detected</a:t>
            </a:r>
          </a:p>
          <a:p xmlns:a="http://schemas.openxmlformats.org/drawingml/2006/main">
            <a:pPr algn="ctr">
              <a:defRPr sz="1275" b="1">
                <a:solidFill>
                  <a:srgbClr val="E5EAF0"/>
                </a:solidFill>
              </a:defRPr>
            </a:pPr>
            <a:r>
              <a:rPr sz="1275" b="1">
                <a:solidFill>
                  <a:srgbClr val="E5EAF0"/>
                </a:solidFill>
              </a:rPr>
              <a:t>0 / 5 controls alerted</a:t>
            </a:r>
          </a:p>
        </p:txBody>
      </p:sp>
      <p:sp>
        <p:nvSpPr>
          <p:cNvPr id="26" name="">
            <a:extLst xmlns:a="http://schemas.openxmlformats.org/drawingml/2006/main">
              <a:ext uri="{FF2B5EF4-FFF2-40B4-BE49-F238E27FC236}">
                <a16:creationId xmlns:a16="http://schemas.microsoft.com/office/drawing/2014/main" id="{C4124E8F-5E24-49BD-AD7C-1DE1C9AD3D71}"/>
              </a:ext>
            </a:extLst>
          </p:cNvPr>
          <p:cNvSpPr>
            <a:spLocks xmlns:a="http://schemas.openxmlformats.org/drawingml/2006/main" noGrp="1"/>
          </p:cNvSpPr>
          <p:nvPr/>
        </p:nvSpPr>
        <p:spPr>
          <a:xfrm xmlns:a="http://schemas.openxmlformats.org/drawingml/2006/main">
            <a:off x="2190750" y="585787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Mechanism-aware telemetry triggered before labelled classifier errors were available.</a:t>
            </a:r>
          </a:p>
        </p:txBody>
      </p:sp>
    </p:spTree>
    <p:extLst>
      <p:ext uri="{BB962C8B-B14F-4D97-AF65-F5344CB8AC3E}">
        <p14:creationId xmlns:p14="http://schemas.microsoft.com/office/powerpoint/2010/main" val="2147239117"/>
      </p:ext>
    </p:extLst>
  </p:cSld>
</p:sld>
</file>

<file path=ppt/slides/slide15.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3329324-AD29-4AD2-A3B3-53BE0F6E142F}"/>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ROBUSTNESS AND EXTERNAL EVIDENCE</a:t>
            </a:r>
          </a:p>
        </p:txBody>
      </p:sp>
      <p:sp>
        <p:nvSpPr>
          <p:cNvPr id="2" name="">
            <a:extLst xmlns:a="http://schemas.openxmlformats.org/drawingml/2006/main">
              <a:ext uri="{FF2B5EF4-FFF2-40B4-BE49-F238E27FC236}">
                <a16:creationId xmlns:a16="http://schemas.microsoft.com/office/drawing/2014/main" id="{752BF336-EB48-4A98-B4D0-D8C0930707A7}"/>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recovery pattern survives simulator changes, with clear limits</a:t>
            </a:r>
          </a:p>
        </p:txBody>
      </p:sp>
      <p:sp>
        <p:nvSpPr>
          <p:cNvPr id="3" name="">
            <a:extLst xmlns:a="http://schemas.openxmlformats.org/drawingml/2006/main">
              <a:ext uri="{FF2B5EF4-FFF2-40B4-BE49-F238E27FC236}">
                <a16:creationId xmlns:a16="http://schemas.microsoft.com/office/drawing/2014/main" id="{1A8E2A97-B142-4C54-B812-5ED7363595C0}"/>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EB6C41-5C6E-4A8E-ADBF-D2CD136B6E18}"/>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47F29F-0F5D-4152-AED3-9DCECCCA5BD8}"/>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Robustness</a:t>
            </a:r>
          </a:p>
        </p:txBody>
      </p:sp>
      <p:sp>
        <p:nvSpPr>
          <p:cNvPr id="6" name="">
            <a:extLst xmlns:a="http://schemas.openxmlformats.org/drawingml/2006/main">
              <a:ext uri="{FF2B5EF4-FFF2-40B4-BE49-F238E27FC236}">
                <a16:creationId xmlns:a16="http://schemas.microsoft.com/office/drawing/2014/main" id="{A47A7F05-0FEE-4FC5-938B-9AE09D7E104A}"/>
              </a:ext>
            </a:extLst>
          </p:cNvPr>
          <p:cNvSpPr>
            <a:spLocks xmlns:a="http://schemas.openxmlformats.org/drawingml/2006/main" noGrp="1"/>
          </p:cNvSpPr>
          <p:nvPr/>
        </p:nvSpPr>
        <p:spPr>
          <a:xfrm xmlns:a="http://schemas.openxmlformats.org/drawingml/2006/main">
            <a:off x="685800" y="14287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THREE-SEED ADAPTED F1</a:t>
            </a:r>
          </a:p>
        </p:txBody>
      </p:sp>
      <p:sp>
        <p:nvSpPr>
          <p:cNvPr id="7" name="">
            <a:extLst xmlns:a="http://schemas.openxmlformats.org/drawingml/2006/main">
              <a:ext uri="{FF2B5EF4-FFF2-40B4-BE49-F238E27FC236}">
                <a16:creationId xmlns:a16="http://schemas.microsoft.com/office/drawing/2014/main" id="{4D99D29D-5758-4A22-AF33-3166CEE5C299}"/>
              </a:ext>
            </a:extLst>
          </p:cNvPr>
          <p:cNvSpPr>
            <a:spLocks xmlns:a="http://schemas.openxmlformats.org/drawingml/2006/main" noGrp="1"/>
          </p:cNvSpPr>
          <p:nvPr/>
        </p:nvSpPr>
        <p:spPr>
          <a:xfrm xmlns:a="http://schemas.openxmlformats.org/drawingml/2006/main">
            <a:off x="9048750" y="14287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F7FAFC"/>
                </a:solidFill>
              </a:defRPr>
            </a:pPr>
            <a:r>
              <a:rPr sz="1125" b="1">
                <a:solidFill>
                  <a:srgbClr val="F7FAFC"/>
                </a:solidFill>
              </a:rPr>
              <a:t>60 additional Cooja runs</a:t>
            </a:r>
          </a:p>
        </p:txBody>
      </p:sp>
      <p:sp>
        <p:nvSpPr>
          <p:cNvPr id="8" name="">
            <a:extLst xmlns:a="http://schemas.openxmlformats.org/drawingml/2006/main">
              <a:ext uri="{FF2B5EF4-FFF2-40B4-BE49-F238E27FC236}">
                <a16:creationId xmlns:a16="http://schemas.microsoft.com/office/drawing/2014/main" id="{07EFBD59-15A4-41D1-97B2-AC5CDC65C80E}"/>
              </a:ext>
            </a:extLst>
          </p:cNvPr>
          <p:cNvSpPr>
            <a:spLocks xmlns:a="http://schemas.openxmlformats.org/drawingml/2006/main" noGrp="1"/>
          </p:cNvSpPr>
          <p:nvPr/>
        </p:nvSpPr>
        <p:spPr>
          <a:xfrm xmlns:a="http://schemas.openxmlformats.org/drawingml/2006/main">
            <a:off x="714375" y="19526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 Blackhole</a:t>
            </a:r>
          </a:p>
        </p:txBody>
      </p:sp>
      <p:sp>
        <p:nvSpPr>
          <p:cNvPr id="9" name="">
            <a:extLst xmlns:a="http://schemas.openxmlformats.org/drawingml/2006/main">
              <a:ext uri="{FF2B5EF4-FFF2-40B4-BE49-F238E27FC236}">
                <a16:creationId xmlns:a16="http://schemas.microsoft.com/office/drawing/2014/main" id="{530FF863-DB28-4B63-8BA7-7CB403EB8C91}"/>
              </a:ext>
            </a:extLst>
          </p:cNvPr>
          <p:cNvSpPr>
            <a:spLocks xmlns:a="http://schemas.openxmlformats.org/drawingml/2006/main" noGrp="1"/>
          </p:cNvSpPr>
          <p:nvPr/>
        </p:nvSpPr>
        <p:spPr>
          <a:xfrm xmlns:a="http://schemas.openxmlformats.org/drawingml/2006/main">
            <a:off x="3000375" y="198120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F8F3CE-855C-4C57-A3DF-342B2CB88B13}"/>
              </a:ext>
            </a:extLst>
          </p:cNvPr>
          <p:cNvSpPr>
            <a:spLocks xmlns:a="http://schemas.openxmlformats.org/drawingml/2006/main" noGrp="1"/>
          </p:cNvSpPr>
          <p:nvPr/>
        </p:nvSpPr>
        <p:spPr>
          <a:xfrm xmlns:a="http://schemas.openxmlformats.org/drawingml/2006/main">
            <a:off x="3000375" y="1981200"/>
            <a:ext cx="5715000" cy="19050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A1A6F2E-31AA-4AA9-91A1-F21D43FA2BA0}"/>
              </a:ext>
            </a:extLst>
          </p:cNvPr>
          <p:cNvSpPr>
            <a:spLocks xmlns:a="http://schemas.openxmlformats.org/drawingml/2006/main" noGrp="1"/>
          </p:cNvSpPr>
          <p:nvPr/>
        </p:nvSpPr>
        <p:spPr>
          <a:xfrm xmlns:a="http://schemas.openxmlformats.org/drawingml/2006/main">
            <a:off x="8905875" y="19335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34D399"/>
                </a:solidFill>
              </a:defRPr>
            </a:pPr>
            <a:r>
              <a:rPr sz="1275" b="1">
                <a:solidFill>
                  <a:srgbClr val="34D399"/>
                </a:solidFill>
              </a:rPr>
              <a:t>1.000</a:t>
            </a:r>
          </a:p>
        </p:txBody>
      </p:sp>
      <p:sp>
        <p:nvSpPr>
          <p:cNvPr id="12" name="">
            <a:extLst xmlns:a="http://schemas.openxmlformats.org/drawingml/2006/main">
              <a:ext uri="{FF2B5EF4-FFF2-40B4-BE49-F238E27FC236}">
                <a16:creationId xmlns:a16="http://schemas.microsoft.com/office/drawing/2014/main" id="{9D71B657-A327-4977-BF43-A926139264A3}"/>
              </a:ext>
            </a:extLst>
          </p:cNvPr>
          <p:cNvSpPr>
            <a:spLocks xmlns:a="http://schemas.openxmlformats.org/drawingml/2006/main" noGrp="1"/>
          </p:cNvSpPr>
          <p:nvPr/>
        </p:nvSpPr>
        <p:spPr>
          <a:xfrm xmlns:a="http://schemas.openxmlformats.org/drawingml/2006/main">
            <a:off x="714375" y="25050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 Sinkhole</a:t>
            </a:r>
          </a:p>
        </p:txBody>
      </p:sp>
      <p:sp>
        <p:nvSpPr>
          <p:cNvPr id="13" name="">
            <a:extLst xmlns:a="http://schemas.openxmlformats.org/drawingml/2006/main">
              <a:ext uri="{FF2B5EF4-FFF2-40B4-BE49-F238E27FC236}">
                <a16:creationId xmlns:a16="http://schemas.microsoft.com/office/drawing/2014/main" id="{B9E83662-62B0-4FFE-B2A8-CEE16178DB67}"/>
              </a:ext>
            </a:extLst>
          </p:cNvPr>
          <p:cNvSpPr>
            <a:spLocks xmlns:a="http://schemas.openxmlformats.org/drawingml/2006/main" noGrp="1"/>
          </p:cNvSpPr>
          <p:nvPr/>
        </p:nvSpPr>
        <p:spPr>
          <a:xfrm xmlns:a="http://schemas.openxmlformats.org/drawingml/2006/main">
            <a:off x="3000375" y="253365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903269-4FA8-47EC-B562-373B3A096AF0}"/>
              </a:ext>
            </a:extLst>
          </p:cNvPr>
          <p:cNvSpPr>
            <a:spLocks xmlns:a="http://schemas.openxmlformats.org/drawingml/2006/main" noGrp="1"/>
          </p:cNvSpPr>
          <p:nvPr/>
        </p:nvSpPr>
        <p:spPr>
          <a:xfrm xmlns:a="http://schemas.openxmlformats.org/drawingml/2006/main">
            <a:off x="3000375" y="2533650"/>
            <a:ext cx="5715000" cy="19050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E05A0F-F94E-4301-BEEF-3BCD25205C52}"/>
              </a:ext>
            </a:extLst>
          </p:cNvPr>
          <p:cNvSpPr>
            <a:spLocks xmlns:a="http://schemas.openxmlformats.org/drawingml/2006/main" noGrp="1"/>
          </p:cNvSpPr>
          <p:nvPr/>
        </p:nvSpPr>
        <p:spPr>
          <a:xfrm xmlns:a="http://schemas.openxmlformats.org/drawingml/2006/main">
            <a:off x="8905875" y="24860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34D399"/>
                </a:solidFill>
              </a:defRPr>
            </a:pPr>
            <a:r>
              <a:rPr sz="1275" b="1">
                <a:solidFill>
                  <a:srgbClr val="34D399"/>
                </a:solidFill>
              </a:rPr>
              <a:t>1.000</a:t>
            </a:r>
          </a:p>
        </p:txBody>
      </p:sp>
      <p:sp>
        <p:nvSpPr>
          <p:cNvPr id="16" name="">
            <a:extLst xmlns:a="http://schemas.openxmlformats.org/drawingml/2006/main">
              <a:ext uri="{FF2B5EF4-FFF2-40B4-BE49-F238E27FC236}">
                <a16:creationId xmlns:a16="http://schemas.microsoft.com/office/drawing/2014/main" id="{9D7FA1E8-1624-4311-8EB8-671469778F33}"/>
              </a:ext>
            </a:extLst>
          </p:cNvPr>
          <p:cNvSpPr>
            <a:spLocks xmlns:a="http://schemas.openxmlformats.org/drawingml/2006/main" noGrp="1"/>
          </p:cNvSpPr>
          <p:nvPr/>
        </p:nvSpPr>
        <p:spPr>
          <a:xfrm xmlns:a="http://schemas.openxmlformats.org/drawingml/2006/main">
            <a:off x="714375" y="30575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 Sybil</a:t>
            </a:r>
          </a:p>
        </p:txBody>
      </p:sp>
      <p:sp>
        <p:nvSpPr>
          <p:cNvPr id="17" name="">
            <a:extLst xmlns:a="http://schemas.openxmlformats.org/drawingml/2006/main">
              <a:ext uri="{FF2B5EF4-FFF2-40B4-BE49-F238E27FC236}">
                <a16:creationId xmlns:a16="http://schemas.microsoft.com/office/drawing/2014/main" id="{AB1E6725-0B59-4DD1-A69F-3CA13BC2325B}"/>
              </a:ext>
            </a:extLst>
          </p:cNvPr>
          <p:cNvSpPr>
            <a:spLocks xmlns:a="http://schemas.openxmlformats.org/drawingml/2006/main" noGrp="1"/>
          </p:cNvSpPr>
          <p:nvPr/>
        </p:nvSpPr>
        <p:spPr>
          <a:xfrm xmlns:a="http://schemas.openxmlformats.org/drawingml/2006/main">
            <a:off x="3000375" y="308610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4536D7-4223-42A3-BBF0-851B361A384C}"/>
              </a:ext>
            </a:extLst>
          </p:cNvPr>
          <p:cNvSpPr>
            <a:spLocks xmlns:a="http://schemas.openxmlformats.org/drawingml/2006/main" noGrp="1"/>
          </p:cNvSpPr>
          <p:nvPr/>
        </p:nvSpPr>
        <p:spPr>
          <a:xfrm xmlns:a="http://schemas.openxmlformats.org/drawingml/2006/main">
            <a:off x="3000375" y="3086100"/>
            <a:ext cx="5686425" cy="19050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813AED3-5B29-4CA3-9250-460BBE8228A4}"/>
              </a:ext>
            </a:extLst>
          </p:cNvPr>
          <p:cNvSpPr>
            <a:spLocks xmlns:a="http://schemas.openxmlformats.org/drawingml/2006/main" noGrp="1"/>
          </p:cNvSpPr>
          <p:nvPr/>
        </p:nvSpPr>
        <p:spPr>
          <a:xfrm xmlns:a="http://schemas.openxmlformats.org/drawingml/2006/main">
            <a:off x="8905875" y="30384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34D399"/>
                </a:solidFill>
              </a:defRPr>
            </a:pPr>
            <a:r>
              <a:rPr sz="1275" b="1">
                <a:solidFill>
                  <a:srgbClr val="34D399"/>
                </a:solidFill>
              </a:rPr>
              <a:t>0.995</a:t>
            </a:r>
          </a:p>
        </p:txBody>
      </p:sp>
      <p:sp>
        <p:nvSpPr>
          <p:cNvPr id="20" name="">
            <a:extLst xmlns:a="http://schemas.openxmlformats.org/drawingml/2006/main">
              <a:ext uri="{FF2B5EF4-FFF2-40B4-BE49-F238E27FC236}">
                <a16:creationId xmlns:a16="http://schemas.microsoft.com/office/drawing/2014/main" id="{92B928E3-13A6-427C-BF3F-D1B4BB9233F4}"/>
              </a:ext>
            </a:extLst>
          </p:cNvPr>
          <p:cNvSpPr>
            <a:spLocks xmlns:a="http://schemas.openxmlformats.org/drawingml/2006/main" noGrp="1"/>
          </p:cNvSpPr>
          <p:nvPr/>
        </p:nvSpPr>
        <p:spPr>
          <a:xfrm xmlns:a="http://schemas.openxmlformats.org/drawingml/2006/main">
            <a:off x="714375" y="36099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Blackhole</a:t>
            </a:r>
          </a:p>
        </p:txBody>
      </p:sp>
      <p:sp>
        <p:nvSpPr>
          <p:cNvPr id="21" name="">
            <a:extLst xmlns:a="http://schemas.openxmlformats.org/drawingml/2006/main">
              <a:ext uri="{FF2B5EF4-FFF2-40B4-BE49-F238E27FC236}">
                <a16:creationId xmlns:a16="http://schemas.microsoft.com/office/drawing/2014/main" id="{53ED549F-2F86-4ECA-9406-F17ADA1E1D1E}"/>
              </a:ext>
            </a:extLst>
          </p:cNvPr>
          <p:cNvSpPr>
            <a:spLocks xmlns:a="http://schemas.openxmlformats.org/drawingml/2006/main" noGrp="1"/>
          </p:cNvSpPr>
          <p:nvPr/>
        </p:nvSpPr>
        <p:spPr>
          <a:xfrm xmlns:a="http://schemas.openxmlformats.org/drawingml/2006/main">
            <a:off x="3000375" y="363855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AC31D38-8649-40CC-837F-F75ED45A909C}"/>
              </a:ext>
            </a:extLst>
          </p:cNvPr>
          <p:cNvSpPr>
            <a:spLocks xmlns:a="http://schemas.openxmlformats.org/drawingml/2006/main" noGrp="1"/>
          </p:cNvSpPr>
          <p:nvPr/>
        </p:nvSpPr>
        <p:spPr>
          <a:xfrm xmlns:a="http://schemas.openxmlformats.org/drawingml/2006/main">
            <a:off x="3000375" y="3638550"/>
            <a:ext cx="5715000" cy="19050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FA40DB-D083-4847-B7FB-7F1495161C37}"/>
              </a:ext>
            </a:extLst>
          </p:cNvPr>
          <p:cNvSpPr>
            <a:spLocks xmlns:a="http://schemas.openxmlformats.org/drawingml/2006/main" noGrp="1"/>
          </p:cNvSpPr>
          <p:nvPr/>
        </p:nvSpPr>
        <p:spPr>
          <a:xfrm xmlns:a="http://schemas.openxmlformats.org/drawingml/2006/main">
            <a:off x="8905875" y="35909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34D399"/>
                </a:solidFill>
              </a:defRPr>
            </a:pPr>
            <a:r>
              <a:rPr sz="1275" b="1">
                <a:solidFill>
                  <a:srgbClr val="34D399"/>
                </a:solidFill>
              </a:rPr>
              <a:t>1.000</a:t>
            </a:r>
          </a:p>
        </p:txBody>
      </p:sp>
      <p:sp>
        <p:nvSpPr>
          <p:cNvPr id="24" name="">
            <a:extLst xmlns:a="http://schemas.openxmlformats.org/drawingml/2006/main">
              <a:ext uri="{FF2B5EF4-FFF2-40B4-BE49-F238E27FC236}">
                <a16:creationId xmlns:a16="http://schemas.microsoft.com/office/drawing/2014/main" id="{B63D2102-22DD-4D27-88B0-808C7E1C2BA2}"/>
              </a:ext>
            </a:extLst>
          </p:cNvPr>
          <p:cNvSpPr>
            <a:spLocks xmlns:a="http://schemas.openxmlformats.org/drawingml/2006/main" noGrp="1"/>
          </p:cNvSpPr>
          <p:nvPr/>
        </p:nvSpPr>
        <p:spPr>
          <a:xfrm xmlns:a="http://schemas.openxmlformats.org/drawingml/2006/main">
            <a:off x="714375" y="41624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Sinkhole</a:t>
            </a:r>
          </a:p>
        </p:txBody>
      </p:sp>
      <p:sp>
        <p:nvSpPr>
          <p:cNvPr id="25" name="">
            <a:extLst xmlns:a="http://schemas.openxmlformats.org/drawingml/2006/main">
              <a:ext uri="{FF2B5EF4-FFF2-40B4-BE49-F238E27FC236}">
                <a16:creationId xmlns:a16="http://schemas.microsoft.com/office/drawing/2014/main" id="{98FA89A6-4CB3-4EC9-BDDF-2E573287317E}"/>
              </a:ext>
            </a:extLst>
          </p:cNvPr>
          <p:cNvSpPr>
            <a:spLocks xmlns:a="http://schemas.openxmlformats.org/drawingml/2006/main" noGrp="1"/>
          </p:cNvSpPr>
          <p:nvPr/>
        </p:nvSpPr>
        <p:spPr>
          <a:xfrm xmlns:a="http://schemas.openxmlformats.org/drawingml/2006/main">
            <a:off x="3000375" y="419100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C5D5308-6AC1-4E5E-8934-5D59D233DFAD}"/>
              </a:ext>
            </a:extLst>
          </p:cNvPr>
          <p:cNvSpPr>
            <a:spLocks xmlns:a="http://schemas.openxmlformats.org/drawingml/2006/main" noGrp="1"/>
          </p:cNvSpPr>
          <p:nvPr/>
        </p:nvSpPr>
        <p:spPr>
          <a:xfrm xmlns:a="http://schemas.openxmlformats.org/drawingml/2006/main">
            <a:off x="3000375" y="4191000"/>
            <a:ext cx="5715000" cy="190500"/>
          </a:xfrm>
          <a:prstGeom xmlns:a="http://schemas.openxmlformats.org/drawingml/2006/main" prst="roundRect">
            <a:avLst>
              <a:gd name="adj" fmla="val 40000"/>
            </a:avLst>
          </a:prstGeom>
          <a:solidFill xmlns:a="http://schemas.openxmlformats.org/drawingml/2006/main">
            <a:srgbClr val="34D39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C50A07F-1154-4E9A-BB05-1BE860088BCD}"/>
              </a:ext>
            </a:extLst>
          </p:cNvPr>
          <p:cNvSpPr>
            <a:spLocks xmlns:a="http://schemas.openxmlformats.org/drawingml/2006/main" noGrp="1"/>
          </p:cNvSpPr>
          <p:nvPr/>
        </p:nvSpPr>
        <p:spPr>
          <a:xfrm xmlns:a="http://schemas.openxmlformats.org/drawingml/2006/main">
            <a:off x="8905875" y="41433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34D399"/>
                </a:solidFill>
              </a:defRPr>
            </a:pPr>
            <a:r>
              <a:rPr sz="1275" b="1">
                <a:solidFill>
                  <a:srgbClr val="34D399"/>
                </a:solidFill>
              </a:rPr>
              <a:t>1.000</a:t>
            </a:r>
          </a:p>
        </p:txBody>
      </p:sp>
      <p:sp>
        <p:nvSpPr>
          <p:cNvPr id="28" name="">
            <a:extLst xmlns:a="http://schemas.openxmlformats.org/drawingml/2006/main">
              <a:ext uri="{FF2B5EF4-FFF2-40B4-BE49-F238E27FC236}">
                <a16:creationId xmlns:a16="http://schemas.microsoft.com/office/drawing/2014/main" id="{09634B46-4280-40B2-9CF2-4C10A041F9F3}"/>
              </a:ext>
            </a:extLst>
          </p:cNvPr>
          <p:cNvSpPr>
            <a:spLocks xmlns:a="http://schemas.openxmlformats.org/drawingml/2006/main" noGrp="1"/>
          </p:cNvSpPr>
          <p:nvPr/>
        </p:nvSpPr>
        <p:spPr>
          <a:xfrm xmlns:a="http://schemas.openxmlformats.org/drawingml/2006/main">
            <a:off x="714375" y="471487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Sybil</a:t>
            </a:r>
          </a:p>
        </p:txBody>
      </p:sp>
      <p:sp>
        <p:nvSpPr>
          <p:cNvPr id="29" name="">
            <a:extLst xmlns:a="http://schemas.openxmlformats.org/drawingml/2006/main">
              <a:ext uri="{FF2B5EF4-FFF2-40B4-BE49-F238E27FC236}">
                <a16:creationId xmlns:a16="http://schemas.microsoft.com/office/drawing/2014/main" id="{B8A34E58-5070-4277-9ECE-52E6DF30FB6E}"/>
              </a:ext>
            </a:extLst>
          </p:cNvPr>
          <p:cNvSpPr>
            <a:spLocks xmlns:a="http://schemas.openxmlformats.org/drawingml/2006/main" noGrp="1"/>
          </p:cNvSpPr>
          <p:nvPr/>
        </p:nvSpPr>
        <p:spPr>
          <a:xfrm xmlns:a="http://schemas.openxmlformats.org/drawingml/2006/main">
            <a:off x="3000375" y="4743450"/>
            <a:ext cx="5715000" cy="190500"/>
          </a:xfrm>
          <a:prstGeom xmlns:a="http://schemas.openxmlformats.org/drawingml/2006/main" prst="roundRect">
            <a:avLst>
              <a:gd name="adj" fmla="val 40000"/>
            </a:avLst>
          </a:prstGeom>
          <a:solidFill xmlns:a="http://schemas.openxmlformats.org/drawingml/2006/main">
            <a:srgbClr val="17233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8DD2567-364A-4733-94C0-D410A3E9E8A2}"/>
              </a:ext>
            </a:extLst>
          </p:cNvPr>
          <p:cNvSpPr>
            <a:spLocks xmlns:a="http://schemas.openxmlformats.org/drawingml/2006/main" noGrp="1"/>
          </p:cNvSpPr>
          <p:nvPr/>
        </p:nvSpPr>
        <p:spPr>
          <a:xfrm xmlns:a="http://schemas.openxmlformats.org/drawingml/2006/main">
            <a:off x="3000375" y="4743450"/>
            <a:ext cx="5354955" cy="190500"/>
          </a:xfrm>
          <a:prstGeom xmlns:a="http://schemas.openxmlformats.org/drawingml/2006/main" prst="roundRect">
            <a:avLst>
              <a:gd name="adj" fmla="val 40000"/>
            </a:avLst>
          </a:prstGeom>
          <a:solidFill xmlns:a="http://schemas.openxmlformats.org/drawingml/2006/main">
            <a:srgbClr val="F59E0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43EA7BF-36E3-4224-921A-FE04D106C10A}"/>
              </a:ext>
            </a:extLst>
          </p:cNvPr>
          <p:cNvSpPr>
            <a:spLocks xmlns:a="http://schemas.openxmlformats.org/drawingml/2006/main" noGrp="1"/>
          </p:cNvSpPr>
          <p:nvPr/>
        </p:nvSpPr>
        <p:spPr>
          <a:xfrm xmlns:a="http://schemas.openxmlformats.org/drawingml/2006/main">
            <a:off x="8905875" y="46958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F59E0B"/>
                </a:solidFill>
              </a:defRPr>
            </a:pPr>
            <a:r>
              <a:rPr sz="1275" b="1">
                <a:solidFill>
                  <a:srgbClr val="F59E0B"/>
                </a:solidFill>
              </a:rPr>
              <a:t>0.937</a:t>
            </a:r>
          </a:p>
        </p:txBody>
      </p:sp>
      <p:sp>
        <p:nvSpPr>
          <p:cNvPr id="32" name="">
            <a:extLst xmlns:a="http://schemas.openxmlformats.org/drawingml/2006/main">
              <a:ext uri="{FF2B5EF4-FFF2-40B4-BE49-F238E27FC236}">
                <a16:creationId xmlns:a16="http://schemas.microsoft.com/office/drawing/2014/main" id="{22E22A03-B0BE-4E66-81A0-6027FCDE658A}"/>
              </a:ext>
            </a:extLst>
          </p:cNvPr>
          <p:cNvSpPr>
            <a:spLocks xmlns:a="http://schemas.openxmlformats.org/drawingml/2006/main" noGrp="1"/>
          </p:cNvSpPr>
          <p:nvPr/>
        </p:nvSpPr>
        <p:spPr>
          <a:xfrm xmlns:a="http://schemas.openxmlformats.org/drawingml/2006/main">
            <a:off x="714375" y="5381625"/>
            <a:ext cx="8953500" cy="666750"/>
          </a:xfrm>
          <a:prstGeom xmlns:a="http://schemas.openxmlformats.org/drawingml/2006/main" prst="roundRect">
            <a:avLst>
              <a:gd name="adj" fmla="val 11429"/>
            </a:avLst>
          </a:prstGeom>
          <a:solidFill xmlns:a="http://schemas.openxmlformats.org/drawingml/2006/main">
            <a:srgbClr val="0E151E"/>
          </a:solidFill>
          <a:ln xmlns:a="http://schemas.openxmlformats.org/drawingml/2006/main" w="9525">
            <a:solidFill>
              <a:srgbClr val="F59E0B"/>
            </a:solidFill>
            <a:prstDash val="solid"/>
          </a:ln>
        </p:spPr>
      </p:sp>
      <p:sp>
        <p:nvSpPr>
          <p:cNvPr id="33" name="">
            <a:extLst xmlns:a="http://schemas.openxmlformats.org/drawingml/2006/main">
              <a:ext uri="{FF2B5EF4-FFF2-40B4-BE49-F238E27FC236}">
                <a16:creationId xmlns:a16="http://schemas.microsoft.com/office/drawing/2014/main" id="{BB934111-BE6B-406A-ACC9-9011C2058346}"/>
              </a:ext>
            </a:extLst>
          </p:cNvPr>
          <p:cNvSpPr>
            <a:spLocks xmlns:a="http://schemas.openxmlformats.org/drawingml/2006/main" noGrp="1"/>
          </p:cNvSpPr>
          <p:nvPr/>
        </p:nvSpPr>
        <p:spPr>
          <a:xfrm xmlns:a="http://schemas.openxmlformats.org/drawingml/2006/main">
            <a:off x="1000125" y="548640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Lossy Sybil is the weakest adapted condition: F1 0.937, FPR 0.046.</a:t>
            </a:r>
          </a:p>
        </p:txBody>
      </p:sp>
      <p:sp>
        <p:nvSpPr>
          <p:cNvPr id="34" name="">
            <a:extLst xmlns:a="http://schemas.openxmlformats.org/drawingml/2006/main">
              <a:ext uri="{FF2B5EF4-FFF2-40B4-BE49-F238E27FC236}">
                <a16:creationId xmlns:a16="http://schemas.microsoft.com/office/drawing/2014/main" id="{976CA420-BA45-48AA-8262-364A0E0E393E}"/>
              </a:ext>
            </a:extLst>
          </p:cNvPr>
          <p:cNvSpPr>
            <a:spLocks xmlns:a="http://schemas.openxmlformats.org/drawingml/2006/main" noGrp="1"/>
          </p:cNvSpPr>
          <p:nvPr/>
        </p:nvSpPr>
        <p:spPr>
          <a:xfrm xmlns:a="http://schemas.openxmlformats.org/drawingml/2006/main">
            <a:off x="9906000" y="1952625"/>
            <a:ext cx="1714500" cy="3429000"/>
          </a:xfrm>
          <a:prstGeom xmlns:a="http://schemas.openxmlformats.org/drawingml/2006/main" prst="roundRect">
            <a:avLst>
              <a:gd name="adj" fmla="val 4444"/>
            </a:avLst>
          </a:prstGeom>
          <a:solidFill xmlns:a="http://schemas.openxmlformats.org/drawingml/2006/main">
            <a:srgbClr val="121C27"/>
          </a:solidFill>
          <a:ln xmlns:a="http://schemas.openxmlformats.org/drawingml/2006/main" w="9525">
            <a:solidFill>
              <a:srgbClr val="2C3A49"/>
            </a:solidFill>
            <a:prstDash val="solid"/>
          </a:ln>
        </p:spPr>
      </p:sp>
      <p:sp>
        <p:nvSpPr>
          <p:cNvPr id="35" name="">
            <a:extLst xmlns:a="http://schemas.openxmlformats.org/drawingml/2006/main">
              <a:ext uri="{FF2B5EF4-FFF2-40B4-BE49-F238E27FC236}">
                <a16:creationId xmlns:a16="http://schemas.microsoft.com/office/drawing/2014/main" id="{93D1A859-0628-417D-B5A0-500AA8B6959F}"/>
              </a:ext>
            </a:extLst>
          </p:cNvPr>
          <p:cNvSpPr>
            <a:spLocks xmlns:a="http://schemas.openxmlformats.org/drawingml/2006/main" noGrp="1"/>
          </p:cNvSpPr>
          <p:nvPr/>
        </p:nvSpPr>
        <p:spPr>
          <a:xfrm xmlns:a="http://schemas.openxmlformats.org/drawingml/2006/main">
            <a:off x="10048875" y="2095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0A5FA"/>
                </a:solidFill>
              </a:defRPr>
            </a:pPr>
            <a:r>
              <a:rPr sz="1350" b="1">
                <a:solidFill>
                  <a:srgbClr val="60A5FA"/>
                </a:solidFill>
              </a:rPr>
              <a:t>External direction check</a:t>
            </a:r>
          </a:p>
        </p:txBody>
      </p:sp>
      <p:sp>
        <p:nvSpPr>
          <p:cNvPr id="36" name="">
            <a:extLst xmlns:a="http://schemas.openxmlformats.org/drawingml/2006/main">
              <a:ext uri="{FF2B5EF4-FFF2-40B4-BE49-F238E27FC236}">
                <a16:creationId xmlns:a16="http://schemas.microsoft.com/office/drawing/2014/main" id="{AF8F224F-7E75-4E5B-8658-ED45DA315A2C}"/>
              </a:ext>
            </a:extLst>
          </p:cNvPr>
          <p:cNvSpPr>
            <a:spLocks xmlns:a="http://schemas.openxmlformats.org/drawingml/2006/main" noGrp="1"/>
          </p:cNvSpPr>
          <p:nvPr/>
        </p:nvSpPr>
        <p:spPr>
          <a:xfrm xmlns:a="http://schemas.openxmlformats.org/drawingml/2006/main">
            <a:off x="10077450" y="2905125"/>
            <a:ext cx="1381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60A5FA"/>
                </a:solidFill>
              </a:defRPr>
            </a:pPr>
            <a:r>
              <a:rPr sz="2700" b="1">
                <a:solidFill>
                  <a:srgbClr val="60A5FA"/>
                </a:solidFill>
              </a:rPr>
              <a:t>0.088</a:t>
            </a:r>
          </a:p>
        </p:txBody>
      </p:sp>
      <p:sp>
        <p:nvSpPr>
          <p:cNvPr id="37" name="">
            <a:extLst xmlns:a="http://schemas.openxmlformats.org/drawingml/2006/main">
              <a:ext uri="{FF2B5EF4-FFF2-40B4-BE49-F238E27FC236}">
                <a16:creationId xmlns:a16="http://schemas.microsoft.com/office/drawing/2014/main" id="{E494A427-C455-4C8D-9719-5C9BC4C6FB97}"/>
              </a:ext>
            </a:extLst>
          </p:cNvPr>
          <p:cNvSpPr>
            <a:spLocks xmlns:a="http://schemas.openxmlformats.org/drawingml/2006/main" noGrp="1"/>
          </p:cNvSpPr>
          <p:nvPr/>
        </p:nvSpPr>
        <p:spPr>
          <a:xfrm xmlns:a="http://schemas.openxmlformats.org/drawingml/2006/main">
            <a:off x="10134600" y="3381375"/>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Gope-data F1</a:t>
            </a:r>
          </a:p>
        </p:txBody>
      </p:sp>
      <p:sp>
        <p:nvSpPr>
          <p:cNvPr id="38" name="">
            <a:extLst xmlns:a="http://schemas.openxmlformats.org/drawingml/2006/main">
              <a:ext uri="{FF2B5EF4-FFF2-40B4-BE49-F238E27FC236}">
                <a16:creationId xmlns:a16="http://schemas.microsoft.com/office/drawing/2014/main" id="{76E3237B-27E1-4EF6-AC40-22585D2E8934}"/>
              </a:ext>
            </a:extLst>
          </p:cNvPr>
          <p:cNvSpPr>
            <a:spLocks xmlns:a="http://schemas.openxmlformats.org/drawingml/2006/main" noGrp="1"/>
          </p:cNvSpPr>
          <p:nvPr/>
        </p:nvSpPr>
        <p:spPr>
          <a:xfrm xmlns:a="http://schemas.openxmlformats.org/drawingml/2006/main">
            <a:off x="10096500" y="3905250"/>
            <a:ext cx="1333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5EAF0"/>
                </a:solidFill>
              </a:defRPr>
            </a:pPr>
            <a:r>
              <a:rPr sz="1050" b="1">
                <a:solidFill>
                  <a:srgbClr val="E5EAF0"/>
                </a:solidFill>
              </a:rPr>
              <a:t>Blackhole -&gt; Sinkhole</a:t>
            </a:r>
          </a:p>
          <a:p xmlns:a="http://schemas.openxmlformats.org/drawingml/2006/main">
            <a:pPr algn="ctr">
              <a:defRPr sz="1050" b="1">
                <a:solidFill>
                  <a:srgbClr val="E5EAF0"/>
                </a:solidFill>
              </a:defRPr>
            </a:pPr>
            <a:r>
              <a:rPr sz="1050" b="1">
                <a:solidFill>
                  <a:srgbClr val="E5EAF0"/>
                </a:solidFill>
              </a:rPr>
              <a:t>recall 0.047</a:t>
            </a:r>
          </a:p>
        </p:txBody>
      </p:sp>
      <p:sp>
        <p:nvSpPr>
          <p:cNvPr id="39" name="">
            <a:extLst xmlns:a="http://schemas.openxmlformats.org/drawingml/2006/main">
              <a:ext uri="{FF2B5EF4-FFF2-40B4-BE49-F238E27FC236}">
                <a16:creationId xmlns:a16="http://schemas.microsoft.com/office/drawing/2014/main" id="{A0C16D1E-FA00-4FC6-9863-8AC63E8A9673}"/>
              </a:ext>
            </a:extLst>
          </p:cNvPr>
          <p:cNvSpPr>
            <a:spLocks xmlns:a="http://schemas.openxmlformats.org/drawingml/2006/main" noGrp="1"/>
          </p:cNvSpPr>
          <p:nvPr/>
        </p:nvSpPr>
        <p:spPr>
          <a:xfrm xmlns:a="http://schemas.openxmlformats.org/drawingml/2006/main">
            <a:off x="10067925" y="4695825"/>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97A3B2"/>
                </a:solidFill>
              </a:defRPr>
            </a:pPr>
            <a:r>
              <a:rPr sz="900" b="1">
                <a:solidFill>
                  <a:srgbClr val="97A3B2"/>
                </a:solidFill>
              </a:rPr>
              <a:t>Different simulator, schema and split. Direction only.</a:t>
            </a:r>
          </a:p>
        </p:txBody>
      </p:sp>
    </p:spTree>
    <p:extLst>
      <p:ext uri="{BB962C8B-B14F-4D97-AF65-F5344CB8AC3E}">
        <p14:creationId xmlns:p14="http://schemas.microsoft.com/office/powerpoint/2010/main" val="2047812726"/>
      </p:ext>
    </p:extLst>
  </p:cSld>
</p:sld>
</file>

<file path=ppt/slides/slide16.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4511B6B-4F2F-433F-BA87-3D8EFFF5AFB6}"/>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OPERATIONAL EXTENSIONS</a:t>
            </a:r>
          </a:p>
        </p:txBody>
      </p:sp>
      <p:sp>
        <p:nvSpPr>
          <p:cNvPr id="2" name="">
            <a:extLst xmlns:a="http://schemas.openxmlformats.org/drawingml/2006/main">
              <a:ext uri="{FF2B5EF4-FFF2-40B4-BE49-F238E27FC236}">
                <a16:creationId xmlns:a16="http://schemas.microsoft.com/office/drawing/2014/main" id="{DA95845E-478F-43A9-99B6-99050EDE19C2}"/>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More sophistication did not automatically improve the system</a:t>
            </a:r>
          </a:p>
        </p:txBody>
      </p:sp>
      <p:sp>
        <p:nvSpPr>
          <p:cNvPr id="3" name="">
            <a:extLst xmlns:a="http://schemas.openxmlformats.org/drawingml/2006/main">
              <a:ext uri="{FF2B5EF4-FFF2-40B4-BE49-F238E27FC236}">
                <a16:creationId xmlns:a16="http://schemas.microsoft.com/office/drawing/2014/main" id="{07BB081B-F3D2-4FC5-8F4C-6FD44255EF10}"/>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BADE27-D13C-43E7-A077-6ED28B7D0B3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82D87F-6C3D-4D8D-8CEE-5E3C7FC1D2E0}"/>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Trust, defence and RL</a:t>
            </a:r>
          </a:p>
        </p:txBody>
      </p:sp>
      <p:sp>
        <p:nvSpPr>
          <p:cNvPr id="6" name="">
            <a:extLst xmlns:a="http://schemas.openxmlformats.org/drawingml/2006/main">
              <a:ext uri="{FF2B5EF4-FFF2-40B4-BE49-F238E27FC236}">
                <a16:creationId xmlns:a16="http://schemas.microsoft.com/office/drawing/2014/main" id="{04BA96EC-1E7D-43CA-9361-2447FC1CFEFB}"/>
              </a:ext>
            </a:extLst>
          </p:cNvPr>
          <p:cNvSpPr>
            <a:spLocks xmlns:a="http://schemas.openxmlformats.org/drawingml/2006/main" noGrp="1"/>
          </p:cNvSpPr>
          <p:nvPr/>
        </p:nvSpPr>
        <p:spPr>
          <a:xfrm xmlns:a="http://schemas.openxmlformats.org/drawingml/2006/main">
            <a:off x="523875" y="1666875"/>
            <a:ext cx="3333750" cy="2952750"/>
          </a:xfrm>
          <a:prstGeom xmlns:a="http://schemas.openxmlformats.org/drawingml/2006/main" prst="roundRect">
            <a:avLst>
              <a:gd name="adj" fmla="val 2581"/>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6F282430-8457-4474-A4CE-6DC391AD311D}"/>
              </a:ext>
            </a:extLst>
          </p:cNvPr>
          <p:cNvSpPr>
            <a:spLocks xmlns:a="http://schemas.openxmlformats.org/drawingml/2006/main" noGrp="1"/>
          </p:cNvSpPr>
          <p:nvPr/>
        </p:nvSpPr>
        <p:spPr>
          <a:xfrm xmlns:a="http://schemas.openxmlformats.org/drawingml/2006/main">
            <a:off x="523875" y="1666875"/>
            <a:ext cx="47625" cy="295275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376F5B-C2EF-440E-B4DA-96DA0E63C768}"/>
              </a:ext>
            </a:extLst>
          </p:cNvPr>
          <p:cNvSpPr>
            <a:spLocks xmlns:a="http://schemas.openxmlformats.org/drawingml/2006/main" noGrp="1"/>
          </p:cNvSpPr>
          <p:nvPr/>
        </p:nvSpPr>
        <p:spPr>
          <a:xfrm xmlns:a="http://schemas.openxmlformats.org/drawingml/2006/main">
            <a:off x="733425" y="178117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TRUST FEATURES</a:t>
            </a:r>
          </a:p>
        </p:txBody>
      </p:sp>
      <p:sp>
        <p:nvSpPr>
          <p:cNvPr id="9" name="">
            <a:extLst xmlns:a="http://schemas.openxmlformats.org/drawingml/2006/main">
              <a:ext uri="{FF2B5EF4-FFF2-40B4-BE49-F238E27FC236}">
                <a16:creationId xmlns:a16="http://schemas.microsoft.com/office/drawing/2014/main" id="{0D219C6C-695F-42B8-9394-B12A257C8A3E}"/>
              </a:ext>
            </a:extLst>
          </p:cNvPr>
          <p:cNvSpPr>
            <a:spLocks xmlns:a="http://schemas.openxmlformats.org/drawingml/2006/main" noGrp="1"/>
          </p:cNvSpPr>
          <p:nvPr/>
        </p:nvSpPr>
        <p:spPr>
          <a:xfrm xmlns:a="http://schemas.openxmlformats.org/drawingml/2006/main">
            <a:off x="733425" y="2105025"/>
            <a:ext cx="29718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NO DETECTION GAIN</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Static F1</a:t>
            </a:r>
          </a:p>
          <a:p xmlns:a="http://schemas.openxmlformats.org/drawingml/2006/main">
            <a:pPr algn="l">
              <a:defRPr sz="1050" b="0">
                <a:solidFill>
                  <a:srgbClr val="97A3B2"/>
                </a:solidFill>
              </a:defRPr>
            </a:pPr>
            <a:r>
              <a:rPr sz="1050" b="0">
                <a:solidFill>
                  <a:srgbClr val="97A3B2"/>
                </a:solidFill>
              </a:rPr>
              <a:t>0.182 -&gt; 0.182</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Three-seed F1</a:t>
            </a:r>
          </a:p>
          <a:p xmlns:a="http://schemas.openxmlformats.org/drawingml/2006/main">
            <a:pPr algn="l">
              <a:defRPr sz="1050" b="0">
                <a:solidFill>
                  <a:srgbClr val="97A3B2"/>
                </a:solidFill>
              </a:defRPr>
            </a:pPr>
            <a:r>
              <a:rPr sz="1050" b="0">
                <a:solidFill>
                  <a:srgbClr val="97A3B2"/>
                </a:solidFill>
              </a:rPr>
              <a:t>0.879 -&gt; 0.879</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Useful as diagnostic evidence, not as an accuracy claim.</a:t>
            </a:r>
          </a:p>
        </p:txBody>
      </p:sp>
      <p:sp>
        <p:nvSpPr>
          <p:cNvPr id="10" name="">
            <a:extLst xmlns:a="http://schemas.openxmlformats.org/drawingml/2006/main">
              <a:ext uri="{FF2B5EF4-FFF2-40B4-BE49-F238E27FC236}">
                <a16:creationId xmlns:a16="http://schemas.microsoft.com/office/drawing/2014/main" id="{67FDF907-2EF3-47CD-BB93-245AD3233FE2}"/>
              </a:ext>
            </a:extLst>
          </p:cNvPr>
          <p:cNvSpPr>
            <a:spLocks xmlns:a="http://schemas.openxmlformats.org/drawingml/2006/main" noGrp="1"/>
          </p:cNvSpPr>
          <p:nvPr/>
        </p:nvSpPr>
        <p:spPr>
          <a:xfrm xmlns:a="http://schemas.openxmlformats.org/drawingml/2006/main">
            <a:off x="4429125" y="1666875"/>
            <a:ext cx="3333750" cy="2952750"/>
          </a:xfrm>
          <a:prstGeom xmlns:a="http://schemas.openxmlformats.org/drawingml/2006/main" prst="roundRect">
            <a:avLst>
              <a:gd name="adj" fmla="val 2581"/>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214E72AB-B06A-439B-9AAA-8A6E0A5A5A37}"/>
              </a:ext>
            </a:extLst>
          </p:cNvPr>
          <p:cNvSpPr>
            <a:spLocks xmlns:a="http://schemas.openxmlformats.org/drawingml/2006/main" noGrp="1"/>
          </p:cNvSpPr>
          <p:nvPr/>
        </p:nvSpPr>
        <p:spPr>
          <a:xfrm xmlns:a="http://schemas.openxmlformats.org/drawingml/2006/main">
            <a:off x="4429125" y="1666875"/>
            <a:ext cx="47625" cy="2952750"/>
          </a:xfrm>
          <a:prstGeom xmlns:a="http://schemas.openxmlformats.org/drawingml/2006/main" prst="rect">
            <a:avLst/>
          </a:prstGeom>
          <a:solidFill xmlns:a="http://schemas.openxmlformats.org/drawingml/2006/main">
            <a:srgbClr val="FB718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8C0829-3D88-4F64-89F6-1071B57FBAB6}"/>
              </a:ext>
            </a:extLst>
          </p:cNvPr>
          <p:cNvSpPr>
            <a:spLocks xmlns:a="http://schemas.openxmlformats.org/drawingml/2006/main" noGrp="1"/>
          </p:cNvSpPr>
          <p:nvPr/>
        </p:nvSpPr>
        <p:spPr>
          <a:xfrm xmlns:a="http://schemas.openxmlformats.org/drawingml/2006/main">
            <a:off x="4638675" y="178117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ACTIVE DEFENCE</a:t>
            </a:r>
          </a:p>
        </p:txBody>
      </p:sp>
      <p:sp>
        <p:nvSpPr>
          <p:cNvPr id="13" name="">
            <a:extLst xmlns:a="http://schemas.openxmlformats.org/drawingml/2006/main">
              <a:ext uri="{FF2B5EF4-FFF2-40B4-BE49-F238E27FC236}">
                <a16:creationId xmlns:a16="http://schemas.microsoft.com/office/drawing/2014/main" id="{050B4525-2702-4CE2-B8BF-52A61CE80C21}"/>
              </a:ext>
            </a:extLst>
          </p:cNvPr>
          <p:cNvSpPr>
            <a:spLocks xmlns:a="http://schemas.openxmlformats.org/drawingml/2006/main" noGrp="1"/>
          </p:cNvSpPr>
          <p:nvPr/>
        </p:nvSpPr>
        <p:spPr>
          <a:xfrm xmlns:a="http://schemas.openxmlformats.org/drawingml/2006/main">
            <a:off x="4638675" y="2105025"/>
            <a:ext cx="29718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DESTABILISED ROUTING</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Application responses</a:t>
            </a:r>
          </a:p>
          <a:p xmlns:a="http://schemas.openxmlformats.org/drawingml/2006/main">
            <a:pPr algn="l">
              <a:defRPr sz="1050" b="0">
                <a:solidFill>
                  <a:srgbClr val="97A3B2"/>
                </a:solidFill>
              </a:defRPr>
            </a:pPr>
            <a:r>
              <a:rPr sz="1050" b="0">
                <a:solidFill>
                  <a:srgbClr val="97A3B2"/>
                </a:solidFill>
              </a:rPr>
              <a:t>417 -&gt; 87</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Radio transmissions</a:t>
            </a:r>
          </a:p>
          <a:p xmlns:a="http://schemas.openxmlformats.org/drawingml/2006/main">
            <a:pPr algn="l">
              <a:defRPr sz="1050" b="0">
                <a:solidFill>
                  <a:srgbClr val="97A3B2"/>
                </a:solidFill>
              </a:defRPr>
            </a:pPr>
            <a:r>
              <a:rPr sz="1050" b="0">
                <a:solidFill>
                  <a:srgbClr val="97A3B2"/>
                </a:solidFill>
              </a:rPr>
              <a:t>5,217 -&gt; 35,020</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Detection did not make intervention safe.</a:t>
            </a:r>
          </a:p>
        </p:txBody>
      </p:sp>
      <p:sp>
        <p:nvSpPr>
          <p:cNvPr id="14" name="">
            <a:extLst xmlns:a="http://schemas.openxmlformats.org/drawingml/2006/main">
              <a:ext uri="{FF2B5EF4-FFF2-40B4-BE49-F238E27FC236}">
                <a16:creationId xmlns:a16="http://schemas.microsoft.com/office/drawing/2014/main" id="{C7D5C5CF-77A4-4406-B1D6-5B221E0FF5BB}"/>
              </a:ext>
            </a:extLst>
          </p:cNvPr>
          <p:cNvSpPr>
            <a:spLocks xmlns:a="http://schemas.openxmlformats.org/drawingml/2006/main" noGrp="1"/>
          </p:cNvSpPr>
          <p:nvPr/>
        </p:nvSpPr>
        <p:spPr>
          <a:xfrm xmlns:a="http://schemas.openxmlformats.org/drawingml/2006/main">
            <a:off x="8334375" y="1666875"/>
            <a:ext cx="3333750" cy="2952750"/>
          </a:xfrm>
          <a:prstGeom xmlns:a="http://schemas.openxmlformats.org/drawingml/2006/main" prst="roundRect">
            <a:avLst>
              <a:gd name="adj" fmla="val 2581"/>
            </a:avLst>
          </a:prstGeom>
          <a:solidFill xmlns:a="http://schemas.openxmlformats.org/drawingml/2006/main">
            <a:srgbClr val="121C27"/>
          </a:solidFill>
          <a:ln xmlns:a="http://schemas.openxmlformats.org/drawingml/2006/main" w="9525">
            <a:solidFill>
              <a:srgbClr val="2C3A49"/>
            </a:solidFill>
            <a:prstDash val="solid"/>
          </a:ln>
        </p:spPr>
      </p:sp>
      <p:sp>
        <p:nvSpPr>
          <p:cNvPr id="15" name="">
            <a:extLst xmlns:a="http://schemas.openxmlformats.org/drawingml/2006/main">
              <a:ext uri="{FF2B5EF4-FFF2-40B4-BE49-F238E27FC236}">
                <a16:creationId xmlns:a16="http://schemas.microsoft.com/office/drawing/2014/main" id="{3FA28C07-3186-4E68-A779-6F7AD99FCD39}"/>
              </a:ext>
            </a:extLst>
          </p:cNvPr>
          <p:cNvSpPr>
            <a:spLocks xmlns:a="http://schemas.openxmlformats.org/drawingml/2006/main" noGrp="1"/>
          </p:cNvSpPr>
          <p:nvPr/>
        </p:nvSpPr>
        <p:spPr>
          <a:xfrm xmlns:a="http://schemas.openxmlformats.org/drawingml/2006/main">
            <a:off x="8334375" y="1666875"/>
            <a:ext cx="47625" cy="2952750"/>
          </a:xfrm>
          <a:prstGeom xmlns:a="http://schemas.openxmlformats.org/drawingml/2006/main" prst="rect">
            <a:avLst/>
          </a:prstGeom>
          <a:solidFill xmlns:a="http://schemas.openxmlformats.org/drawingml/2006/main">
            <a:srgbClr val="A78B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3D9FE55-72ED-469A-B57F-7B219B2FD04F}"/>
              </a:ext>
            </a:extLst>
          </p:cNvPr>
          <p:cNvSpPr>
            <a:spLocks xmlns:a="http://schemas.openxmlformats.org/drawingml/2006/main" noGrp="1"/>
          </p:cNvSpPr>
          <p:nvPr/>
        </p:nvSpPr>
        <p:spPr>
          <a:xfrm xmlns:a="http://schemas.openxmlformats.org/drawingml/2006/main">
            <a:off x="8543925" y="178117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DQN / DDQN</a:t>
            </a:r>
          </a:p>
        </p:txBody>
      </p:sp>
      <p:sp>
        <p:nvSpPr>
          <p:cNvPr id="17" name="">
            <a:extLst xmlns:a="http://schemas.openxmlformats.org/drawingml/2006/main">
              <a:ext uri="{FF2B5EF4-FFF2-40B4-BE49-F238E27FC236}">
                <a16:creationId xmlns:a16="http://schemas.microsoft.com/office/drawing/2014/main" id="{DF3C8C96-D84A-4AFA-AA00-7D0382DC0C44}"/>
              </a:ext>
            </a:extLst>
          </p:cNvPr>
          <p:cNvSpPr>
            <a:spLocks xmlns:a="http://schemas.openxmlformats.org/drawingml/2006/main" noGrp="1"/>
          </p:cNvSpPr>
          <p:nvPr/>
        </p:nvSpPr>
        <p:spPr>
          <a:xfrm xmlns:a="http://schemas.openxmlformats.org/drawingml/2006/main">
            <a:off x="8543925" y="2105025"/>
            <a:ext cx="29718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DID NOT BEAT THE BASELINE</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Always incremental F1</a:t>
            </a:r>
          </a:p>
          <a:p xmlns:a="http://schemas.openxmlformats.org/drawingml/2006/main">
            <a:pPr algn="l">
              <a:defRPr sz="1050" b="0">
                <a:solidFill>
                  <a:srgbClr val="97A3B2"/>
                </a:solidFill>
              </a:defRPr>
            </a:pPr>
            <a:r>
              <a:rPr sz="1050" b="0">
                <a:solidFill>
                  <a:srgbClr val="97A3B2"/>
                </a:solidFill>
              </a:rPr>
              <a:t>0.667</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Best RL controller F1</a:t>
            </a:r>
          </a:p>
          <a:p xmlns:a="http://schemas.openxmlformats.org/drawingml/2006/main">
            <a:pPr algn="l">
              <a:defRPr sz="1050" b="0">
                <a:solidFill>
                  <a:srgbClr val="97A3B2"/>
                </a:solidFill>
              </a:defRPr>
            </a:pPr>
            <a:r>
              <a:rPr sz="1050" b="0">
                <a:solidFill>
                  <a:srgbClr val="97A3B2"/>
                </a:solidFill>
              </a:rPr>
              <a:t>0.571</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Complexity did not justify itself.</a:t>
            </a:r>
          </a:p>
        </p:txBody>
      </p:sp>
      <p:sp>
        <p:nvSpPr>
          <p:cNvPr id="18" name="">
            <a:extLst xmlns:a="http://schemas.openxmlformats.org/drawingml/2006/main">
              <a:ext uri="{FF2B5EF4-FFF2-40B4-BE49-F238E27FC236}">
                <a16:creationId xmlns:a16="http://schemas.microsoft.com/office/drawing/2014/main" id="{63552044-F042-490C-92C8-1E1909A34C81}"/>
              </a:ext>
            </a:extLst>
          </p:cNvPr>
          <p:cNvSpPr>
            <a:spLocks xmlns:a="http://schemas.openxmlformats.org/drawingml/2006/main" noGrp="1"/>
          </p:cNvSpPr>
          <p:nvPr/>
        </p:nvSpPr>
        <p:spPr>
          <a:xfrm xmlns:a="http://schemas.openxmlformats.org/drawingml/2006/main">
            <a:off x="1476375" y="5572125"/>
            <a:ext cx="9239250" cy="590550"/>
          </a:xfrm>
          <a:prstGeom xmlns:a="http://schemas.openxmlformats.org/drawingml/2006/main" prst="roundRect">
            <a:avLst>
              <a:gd name="adj" fmla="val 12903"/>
            </a:avLst>
          </a:prstGeom>
          <a:solidFill xmlns:a="http://schemas.openxmlformats.org/drawingml/2006/main">
            <a:srgbClr val="0E151E"/>
          </a:solidFill>
          <a:ln xmlns:a="http://schemas.openxmlformats.org/drawingml/2006/main" w="9525">
            <a:solidFill>
              <a:srgbClr val="F59E0B"/>
            </a:solidFill>
            <a:prstDash val="solid"/>
          </a:ln>
        </p:spPr>
      </p:sp>
      <p:sp>
        <p:nvSpPr>
          <p:cNvPr id="19" name="">
            <a:extLst xmlns:a="http://schemas.openxmlformats.org/drawingml/2006/main">
              <a:ext uri="{FF2B5EF4-FFF2-40B4-BE49-F238E27FC236}">
                <a16:creationId xmlns:a16="http://schemas.microsoft.com/office/drawing/2014/main" id="{A682A42F-4463-4E0C-BC1F-0CAA9237B1DE}"/>
              </a:ext>
            </a:extLst>
          </p:cNvPr>
          <p:cNvSpPr>
            <a:spLocks xmlns:a="http://schemas.openxmlformats.org/drawingml/2006/main" noGrp="1"/>
          </p:cNvSpPr>
          <p:nvPr/>
        </p:nvSpPr>
        <p:spPr>
          <a:xfrm xmlns:a="http://schemas.openxmlformats.org/drawingml/2006/main">
            <a:off x="1714500" y="567690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Extra complexity is useful only when it improves the correct objective without unacceptable network cost.</a:t>
            </a:r>
          </a:p>
        </p:txBody>
      </p:sp>
    </p:spTree>
    <p:extLst>
      <p:ext uri="{BB962C8B-B14F-4D97-AF65-F5344CB8AC3E}">
        <p14:creationId xmlns:p14="http://schemas.microsoft.com/office/powerpoint/2010/main" val="162586287"/>
      </p:ext>
    </p:extLst>
  </p:cSld>
</p:sld>
</file>

<file path=ppt/slides/slide17.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7EA819-07E6-4371-A70E-940C46CD0D71}"/>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EXPLANATION LAYER</a:t>
            </a:r>
          </a:p>
        </p:txBody>
      </p:sp>
      <p:sp>
        <p:nvSpPr>
          <p:cNvPr id="2" name="">
            <a:extLst xmlns:a="http://schemas.openxmlformats.org/drawingml/2006/main">
              <a:ext uri="{FF2B5EF4-FFF2-40B4-BE49-F238E27FC236}">
                <a16:creationId xmlns:a16="http://schemas.microsoft.com/office/drawing/2014/main" id="{F11CFFBE-C5BE-4908-9667-D7F4D328DACB}"/>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local LLM explains evidence produced by the IDS pipeline</a:t>
            </a:r>
          </a:p>
        </p:txBody>
      </p:sp>
      <p:sp>
        <p:nvSpPr>
          <p:cNvPr id="3" name="">
            <a:extLst xmlns:a="http://schemas.openxmlformats.org/drawingml/2006/main">
              <a:ext uri="{FF2B5EF4-FFF2-40B4-BE49-F238E27FC236}">
                <a16:creationId xmlns:a16="http://schemas.microsoft.com/office/drawing/2014/main" id="{DE9EBBC0-6A39-4065-A42D-F974B743D2C2}"/>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D9A212-EE6A-4EF9-BE26-EDCAEF175F64}"/>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1EB848-87ED-42D5-B0A7-33412A484389}"/>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Local LLM</a:t>
            </a:r>
          </a:p>
        </p:txBody>
      </p:sp>
      <p:sp>
        <p:nvSpPr>
          <p:cNvPr id="6" name="">
            <a:extLst xmlns:a="http://schemas.openxmlformats.org/drawingml/2006/main">
              <a:ext uri="{FF2B5EF4-FFF2-40B4-BE49-F238E27FC236}">
                <a16:creationId xmlns:a16="http://schemas.microsoft.com/office/drawing/2014/main" id="{D84FE538-7BBD-464C-AE6B-3251CB38C638}"/>
              </a:ext>
            </a:extLst>
          </p:cNvPr>
          <p:cNvSpPr>
            <a:spLocks xmlns:a="http://schemas.openxmlformats.org/drawingml/2006/main" noGrp="1"/>
          </p:cNvSpPr>
          <p:nvPr/>
        </p:nvSpPr>
        <p:spPr>
          <a:xfrm xmlns:a="http://schemas.openxmlformats.org/drawingml/2006/main">
            <a:off x="523875" y="1476375"/>
            <a:ext cx="3143250" cy="37147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A6C3AC1B-F790-4F82-A3AF-8C26D12A6B7B}"/>
              </a:ext>
            </a:extLst>
          </p:cNvPr>
          <p:cNvSpPr>
            <a:spLocks xmlns:a="http://schemas.openxmlformats.org/drawingml/2006/main" noGrp="1"/>
          </p:cNvSpPr>
          <p:nvPr/>
        </p:nvSpPr>
        <p:spPr>
          <a:xfrm xmlns:a="http://schemas.openxmlformats.org/drawingml/2006/main">
            <a:off x="714375" y="1657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2D3EE"/>
                </a:solidFill>
              </a:defRPr>
            </a:pPr>
            <a:r>
              <a:rPr sz="1125" b="1">
                <a:solidFill>
                  <a:srgbClr val="22D3EE"/>
                </a:solidFill>
              </a:rPr>
              <a:t>STRUCTURED EVIDENCE</a:t>
            </a:r>
          </a:p>
        </p:txBody>
      </p:sp>
      <p:sp>
        <p:nvSpPr>
          <p:cNvPr id="8" name="">
            <a:extLst xmlns:a="http://schemas.openxmlformats.org/drawingml/2006/main">
              <a:ext uri="{FF2B5EF4-FFF2-40B4-BE49-F238E27FC236}">
                <a16:creationId xmlns:a16="http://schemas.microsoft.com/office/drawing/2014/main" id="{FCA1CD6A-815F-42A6-8B44-579C088B75A2}"/>
              </a:ext>
            </a:extLst>
          </p:cNvPr>
          <p:cNvSpPr>
            <a:spLocks xmlns:a="http://schemas.openxmlformats.org/drawingml/2006/main" noGrp="1"/>
          </p:cNvSpPr>
          <p:nvPr/>
        </p:nvSpPr>
        <p:spPr>
          <a:xfrm xmlns:a="http://schemas.openxmlformats.org/drawingml/2006/main">
            <a:off x="781050" y="2114550"/>
            <a:ext cx="26289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E5EAF0"/>
                </a:solidFill>
              </a:defRPr>
            </a:pPr>
            <a:r>
              <a:rPr sz="1200" b="0">
                <a:solidFill>
                  <a:srgbClr val="E5EAF0"/>
                </a:solidFill>
              </a:rPr>
              <a:t>Window: 300-360 s</a:t>
            </a:r>
          </a:p>
          <a:p xmlns:a="http://schemas.openxmlformats.org/drawingml/2006/main">
            <a:r>
              <a:t/>
            </a:r>
          </a:p>
          <a:p xmlns:a="http://schemas.openxmlformats.org/drawingml/2006/main">
            <a:pPr algn="l">
              <a:defRPr sz="1200" b="0">
                <a:solidFill>
                  <a:srgbClr val="E5EAF0"/>
                </a:solidFill>
              </a:defRPr>
            </a:pPr>
            <a:r>
              <a:rPr sz="1200" b="0">
                <a:solidFill>
                  <a:srgbClr val="E5EAF0"/>
                </a:solidFill>
              </a:rPr>
              <a:t>Low-rank DIO count: +14</a:t>
            </a:r>
          </a:p>
          <a:p xmlns:a="http://schemas.openxmlformats.org/drawingml/2006/main">
            <a:pPr algn="l">
              <a:defRPr sz="1200" b="0">
                <a:solidFill>
                  <a:srgbClr val="E5EAF0"/>
                </a:solidFill>
              </a:defRPr>
            </a:pPr>
            <a:r>
              <a:rPr sz="1200" b="0">
                <a:solidFill>
                  <a:srgbClr val="E5EAF0"/>
                </a:solidFill>
              </a:rPr>
              <a:t>Minimum non-root rank: -128</a:t>
            </a:r>
          </a:p>
          <a:p xmlns:a="http://schemas.openxmlformats.org/drawingml/2006/main">
            <a:pPr algn="l">
              <a:defRPr sz="1200" b="0">
                <a:solidFill>
                  <a:srgbClr val="E5EAF0"/>
                </a:solidFill>
              </a:defRPr>
            </a:pPr>
            <a:r>
              <a:rPr sz="1200" b="0">
                <a:solidFill>
                  <a:srgbClr val="E5EAF0"/>
                </a:solidFill>
              </a:rPr>
              <a:t>Rank trust alert: 1</a:t>
            </a:r>
          </a:p>
          <a:p xmlns:a="http://schemas.openxmlformats.org/drawingml/2006/main">
            <a:r>
              <a:t/>
            </a:r>
          </a:p>
          <a:p xmlns:a="http://schemas.openxmlformats.org/drawingml/2006/main">
            <a:pPr algn="l">
              <a:defRPr sz="1200" b="0">
                <a:solidFill>
                  <a:srgbClr val="E5EAF0"/>
                </a:solidFill>
              </a:defRPr>
            </a:pPr>
            <a:r>
              <a:rPr sz="1200" b="0">
                <a:solidFill>
                  <a:srgbClr val="E5EAF0"/>
                </a:solidFill>
              </a:rPr>
              <a:t>Static transfer: weak</a:t>
            </a:r>
          </a:p>
          <a:p xmlns:a="http://schemas.openxmlformats.org/drawingml/2006/main">
            <a:pPr algn="l">
              <a:defRPr sz="1200" b="0">
                <a:solidFill>
                  <a:srgbClr val="E5EAF0"/>
                </a:solidFill>
              </a:defRPr>
            </a:pPr>
            <a:r>
              <a:rPr sz="1200" b="0">
                <a:solidFill>
                  <a:srgbClr val="E5EAF0"/>
                </a:solidFill>
              </a:rPr>
              <a:t>Adaptation: improved</a:t>
            </a:r>
          </a:p>
          <a:p xmlns:a="http://schemas.openxmlformats.org/drawingml/2006/main">
            <a:pPr algn="l">
              <a:defRPr sz="1200" b="0">
                <a:solidFill>
                  <a:srgbClr val="E5EAF0"/>
                </a:solidFill>
              </a:defRPr>
            </a:pPr>
            <a:r>
              <a:rPr sz="1200" b="0">
                <a:solidFill>
                  <a:srgbClr val="E5EAF0"/>
                </a:solidFill>
              </a:rPr>
              <a:t>Drift alert: present</a:t>
            </a:r>
          </a:p>
        </p:txBody>
      </p:sp>
      <p:sp>
        <p:nvSpPr>
          <p:cNvPr id="9" name="">
            <a:extLst xmlns:a="http://schemas.openxmlformats.org/drawingml/2006/main">
              <a:ext uri="{FF2B5EF4-FFF2-40B4-BE49-F238E27FC236}">
                <a16:creationId xmlns:a16="http://schemas.microsoft.com/office/drawing/2014/main" id="{B9509472-8719-405A-B80B-1F6CC67551B1}"/>
              </a:ext>
            </a:extLst>
          </p:cNvPr>
          <p:cNvSpPr>
            <a:spLocks xmlns:a="http://schemas.openxmlformats.org/drawingml/2006/main" noGrp="1"/>
          </p:cNvSpPr>
          <p:nvPr/>
        </p:nvSpPr>
        <p:spPr>
          <a:xfrm xmlns:a="http://schemas.openxmlformats.org/drawingml/2006/main">
            <a:off x="3857625" y="3048000"/>
            <a:ext cx="400050" cy="4000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10D996-5F40-4FE4-8443-0024F06C90B3}"/>
              </a:ext>
            </a:extLst>
          </p:cNvPr>
          <p:cNvSpPr>
            <a:spLocks xmlns:a="http://schemas.openxmlformats.org/drawingml/2006/main" noGrp="1"/>
          </p:cNvSpPr>
          <p:nvPr/>
        </p:nvSpPr>
        <p:spPr>
          <a:xfrm xmlns:a="http://schemas.openxmlformats.org/drawingml/2006/main">
            <a:off x="4457700" y="2143125"/>
            <a:ext cx="2571750" cy="2381250"/>
          </a:xfrm>
          <a:prstGeom xmlns:a="http://schemas.openxmlformats.org/drawingml/2006/main" prst="roundRect">
            <a:avLst>
              <a:gd name="adj" fmla="val 3200"/>
            </a:avLst>
          </a:prstGeom>
          <a:solidFill xmlns:a="http://schemas.openxmlformats.org/drawingml/2006/main">
            <a:srgbClr val="A78BFA">
              <a:alpha val="7843"/>
            </a:srgbClr>
          </a:solidFill>
          <a:ln xmlns:a="http://schemas.openxmlformats.org/drawingml/2006/main" w="9525">
            <a:solidFill>
              <a:srgbClr val="A78BFA"/>
            </a:solidFill>
            <a:prstDash val="solid"/>
          </a:ln>
        </p:spPr>
      </p:sp>
      <p:sp>
        <p:nvSpPr>
          <p:cNvPr id="11" name="">
            <a:extLst xmlns:a="http://schemas.openxmlformats.org/drawingml/2006/main">
              <a:ext uri="{FF2B5EF4-FFF2-40B4-BE49-F238E27FC236}">
                <a16:creationId xmlns:a16="http://schemas.microsoft.com/office/drawing/2014/main" id="{38C9992C-EE99-48CB-A167-86814727F2CC}"/>
              </a:ext>
            </a:extLst>
          </p:cNvPr>
          <p:cNvSpPr>
            <a:spLocks xmlns:a="http://schemas.openxmlformats.org/drawingml/2006/main" noGrp="1"/>
          </p:cNvSpPr>
          <p:nvPr/>
        </p:nvSpPr>
        <p:spPr>
          <a:xfrm xmlns:a="http://schemas.openxmlformats.org/drawingml/2006/main">
            <a:off x="5257800" y="2400300"/>
            <a:ext cx="952500" cy="95250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12" name="">
            <a:extLst xmlns:a="http://schemas.openxmlformats.org/drawingml/2006/main">
              <a:ext uri="{FF2B5EF4-FFF2-40B4-BE49-F238E27FC236}">
                <a16:creationId xmlns:a16="http://schemas.microsoft.com/office/drawing/2014/main" id="{22C3BF73-6E6F-4FE7-8666-4E7667D383A2}"/>
              </a:ext>
            </a:extLst>
          </p:cNvPr>
          <p:cNvSpPr>
            <a:spLocks xmlns:a="http://schemas.openxmlformats.org/drawingml/2006/main" noGrp="1"/>
          </p:cNvSpPr>
          <p:nvPr/>
        </p:nvSpPr>
        <p:spPr>
          <a:xfrm xmlns:a="http://schemas.openxmlformats.org/drawingml/2006/main">
            <a:off x="5257800" y="2400300"/>
            <a:ext cx="95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A78BFA"/>
                </a:solidFill>
              </a:defRPr>
            </a:pPr>
            <a:r>
              <a:rPr sz="1500" b="1">
                <a:solidFill>
                  <a:srgbClr val="A78BFA"/>
                </a:solidFill>
              </a:rPr>
              <a:t>QWEN</a:t>
            </a:r>
          </a:p>
          <a:p xmlns:a="http://schemas.openxmlformats.org/drawingml/2006/main">
            <a:pPr algn="ctr">
              <a:defRPr sz="1500" b="1">
                <a:solidFill>
                  <a:srgbClr val="A78BFA"/>
                </a:solidFill>
              </a:defRPr>
            </a:pPr>
            <a:r>
              <a:rPr sz="1500" b="1">
                <a:solidFill>
                  <a:srgbClr val="A78BFA"/>
                </a:solidFill>
              </a:rPr>
              <a:t>2.5:3B</a:t>
            </a:r>
          </a:p>
        </p:txBody>
      </p:sp>
      <p:sp>
        <p:nvSpPr>
          <p:cNvPr id="13" name="">
            <a:extLst xmlns:a="http://schemas.openxmlformats.org/drawingml/2006/main">
              <a:ext uri="{FF2B5EF4-FFF2-40B4-BE49-F238E27FC236}">
                <a16:creationId xmlns:a16="http://schemas.microsoft.com/office/drawing/2014/main" id="{100D2C03-E5BB-4E18-893A-526FB7AFD748}"/>
              </a:ext>
            </a:extLst>
          </p:cNvPr>
          <p:cNvSpPr>
            <a:spLocks xmlns:a="http://schemas.openxmlformats.org/drawingml/2006/main" noGrp="1"/>
          </p:cNvSpPr>
          <p:nvPr/>
        </p:nvSpPr>
        <p:spPr>
          <a:xfrm xmlns:a="http://schemas.openxmlformats.org/drawingml/2006/main">
            <a:off x="4762500" y="3600450"/>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E5EAF0"/>
                </a:solidFill>
              </a:defRPr>
            </a:pPr>
            <a:r>
              <a:rPr sz="1125" b="1">
                <a:solidFill>
                  <a:srgbClr val="E5EAF0"/>
                </a:solidFill>
              </a:rPr>
              <a:t>Local Ollama runtime</a:t>
            </a:r>
          </a:p>
          <a:p xmlns:a="http://schemas.openxmlformats.org/drawingml/2006/main">
            <a:pPr algn="ctr">
              <a:defRPr sz="1125" b="1">
                <a:solidFill>
                  <a:srgbClr val="E5EAF0"/>
                </a:solidFill>
              </a:defRPr>
            </a:pPr>
            <a:r>
              <a:rPr sz="1125" b="1">
                <a:solidFill>
                  <a:srgbClr val="E5EAF0"/>
                </a:solidFill>
              </a:rPr>
              <a:t>No cloud key required</a:t>
            </a:r>
          </a:p>
        </p:txBody>
      </p:sp>
      <p:sp>
        <p:nvSpPr>
          <p:cNvPr id="14" name="">
            <a:extLst xmlns:a="http://schemas.openxmlformats.org/drawingml/2006/main">
              <a:ext uri="{FF2B5EF4-FFF2-40B4-BE49-F238E27FC236}">
                <a16:creationId xmlns:a16="http://schemas.microsoft.com/office/drawing/2014/main" id="{0D8031DE-31A3-4AFA-9DD1-89F7CD0DEC55}"/>
              </a:ext>
            </a:extLst>
          </p:cNvPr>
          <p:cNvSpPr>
            <a:spLocks xmlns:a="http://schemas.openxmlformats.org/drawingml/2006/main" noGrp="1"/>
          </p:cNvSpPr>
          <p:nvPr/>
        </p:nvSpPr>
        <p:spPr>
          <a:xfrm xmlns:a="http://schemas.openxmlformats.org/drawingml/2006/main">
            <a:off x="7219950" y="3048000"/>
            <a:ext cx="400050" cy="4000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03D37AB-5A76-45D7-B5EC-5AFF827DD44D}"/>
              </a:ext>
            </a:extLst>
          </p:cNvPr>
          <p:cNvSpPr>
            <a:spLocks xmlns:a="http://schemas.openxmlformats.org/drawingml/2006/main" noGrp="1"/>
          </p:cNvSpPr>
          <p:nvPr/>
        </p:nvSpPr>
        <p:spPr>
          <a:xfrm xmlns:a="http://schemas.openxmlformats.org/drawingml/2006/main">
            <a:off x="7810500" y="1476375"/>
            <a:ext cx="3857625" cy="3714750"/>
          </a:xfrm>
          <a:prstGeom xmlns:a="http://schemas.openxmlformats.org/drawingml/2006/main" prst="roundRect">
            <a:avLst>
              <a:gd name="adj" fmla="val 2051"/>
            </a:avLst>
          </a:prstGeom>
          <a:solidFill xmlns:a="http://schemas.openxmlformats.org/drawingml/2006/main">
            <a:srgbClr val="121C27"/>
          </a:solidFill>
          <a:ln xmlns:a="http://schemas.openxmlformats.org/drawingml/2006/main" w="9525">
            <a:solidFill>
              <a:srgbClr val="2C3A49"/>
            </a:solidFill>
            <a:prstDash val="solid"/>
          </a:ln>
        </p:spPr>
      </p:sp>
      <p:sp>
        <p:nvSpPr>
          <p:cNvPr id="16" name="">
            <a:extLst xmlns:a="http://schemas.openxmlformats.org/drawingml/2006/main">
              <a:ext uri="{FF2B5EF4-FFF2-40B4-BE49-F238E27FC236}">
                <a16:creationId xmlns:a16="http://schemas.microsoft.com/office/drawing/2014/main" id="{A349EC55-CE5F-42B6-9826-780ECE97B6AF}"/>
              </a:ext>
            </a:extLst>
          </p:cNvPr>
          <p:cNvSpPr>
            <a:spLocks xmlns:a="http://schemas.openxmlformats.org/drawingml/2006/main" noGrp="1"/>
          </p:cNvSpPr>
          <p:nvPr/>
        </p:nvSpPr>
        <p:spPr>
          <a:xfrm xmlns:a="http://schemas.openxmlformats.org/drawingml/2006/main">
            <a:off x="8001000" y="1657350"/>
            <a:ext cx="3476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9E0B"/>
                </a:solidFill>
              </a:defRPr>
            </a:pPr>
            <a:r>
              <a:rPr sz="1125" b="1">
                <a:solidFill>
                  <a:srgbClr val="F59E0B"/>
                </a:solidFill>
              </a:rPr>
              <a:t>ACTUAL ABRIDGED OUTPUT</a:t>
            </a:r>
          </a:p>
        </p:txBody>
      </p:sp>
      <p:sp>
        <p:nvSpPr>
          <p:cNvPr id="17" name="">
            <a:extLst xmlns:a="http://schemas.openxmlformats.org/drawingml/2006/main">
              <a:ext uri="{FF2B5EF4-FFF2-40B4-BE49-F238E27FC236}">
                <a16:creationId xmlns:a16="http://schemas.microsoft.com/office/drawing/2014/main" id="{9ED04C96-808F-4427-A41D-2ADADA23D8C3}"/>
              </a:ext>
            </a:extLst>
          </p:cNvPr>
          <p:cNvSpPr>
            <a:spLocks xmlns:a="http://schemas.openxmlformats.org/drawingml/2006/main" noGrp="1"/>
          </p:cNvSpPr>
          <p:nvPr/>
        </p:nvSpPr>
        <p:spPr>
          <a:xfrm xmlns:a="http://schemas.openxmlformats.org/drawingml/2006/main">
            <a:off x="8096250" y="2190750"/>
            <a:ext cx="32861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F7FAFC"/>
                </a:solidFill>
              </a:defRPr>
            </a:pPr>
            <a:r>
              <a:rPr sz="1350" b="0">
                <a:solidFill>
                  <a:srgbClr val="F7FAFC"/>
                </a:solidFill>
              </a:rPr>
              <a:t>"There has been a significant increase in low-rank DIO observations and a decrease in the minimum non-root rank.</a:t>
            </a:r>
          </a:p>
          <a:p xmlns:a="http://schemas.openxmlformats.org/drawingml/2006/main">
            <a:r>
              <a:t/>
            </a:r>
          </a:p>
          <a:p xmlns:a="http://schemas.openxmlformats.org/drawingml/2006/main">
            <a:pPr algn="l">
              <a:defRPr sz="1350" b="0">
                <a:solidFill>
                  <a:srgbClr val="F7FAFC"/>
                </a:solidFill>
              </a:defRPr>
            </a:pPr>
            <a:r>
              <a:rPr sz="1350" b="0">
                <a:solidFill>
                  <a:srgbClr val="F7FAFC"/>
                </a:solidFill>
              </a:rPr>
              <a:t>These changes suggest a possible drift and should be investigated further."</a:t>
            </a:r>
          </a:p>
        </p:txBody>
      </p:sp>
      <p:sp>
        <p:nvSpPr>
          <p:cNvPr id="18" name="">
            <a:extLst xmlns:a="http://schemas.openxmlformats.org/drawingml/2006/main">
              <a:ext uri="{FF2B5EF4-FFF2-40B4-BE49-F238E27FC236}">
                <a16:creationId xmlns:a16="http://schemas.microsoft.com/office/drawing/2014/main" id="{C05D8BD9-66F8-4863-821C-443B3C53ED5A}"/>
              </a:ext>
            </a:extLst>
          </p:cNvPr>
          <p:cNvSpPr>
            <a:spLocks xmlns:a="http://schemas.openxmlformats.org/drawingml/2006/main" noGrp="1"/>
          </p:cNvSpPr>
          <p:nvPr/>
        </p:nvSpPr>
        <p:spPr>
          <a:xfrm xmlns:a="http://schemas.openxmlformats.org/drawingml/2006/main">
            <a:off x="8096250" y="4267200"/>
            <a:ext cx="328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97A3B2"/>
                </a:solidFill>
              </a:defRPr>
            </a:pPr>
            <a:r>
              <a:rPr sz="1050" b="1">
                <a:solidFill>
                  <a:srgbClr val="97A3B2"/>
                </a:solidFill>
              </a:rPr>
              <a:t>Confidence: medium | limitation stated</a:t>
            </a:r>
          </a:p>
        </p:txBody>
      </p:sp>
      <p:sp>
        <p:nvSpPr>
          <p:cNvPr id="19" name="">
            <a:extLst xmlns:a="http://schemas.openxmlformats.org/drawingml/2006/main">
              <a:ext uri="{FF2B5EF4-FFF2-40B4-BE49-F238E27FC236}">
                <a16:creationId xmlns:a16="http://schemas.microsoft.com/office/drawing/2014/main" id="{8565F7CA-C7A8-43D5-80B2-7BF09BBE8FE5}"/>
              </a:ext>
            </a:extLst>
          </p:cNvPr>
          <p:cNvSpPr>
            <a:spLocks xmlns:a="http://schemas.openxmlformats.org/drawingml/2006/main" noGrp="1"/>
          </p:cNvSpPr>
          <p:nvPr/>
        </p:nvSpPr>
        <p:spPr>
          <a:xfrm xmlns:a="http://schemas.openxmlformats.org/drawingml/2006/main">
            <a:off x="1000125" y="5381625"/>
            <a:ext cx="10191750" cy="685800"/>
          </a:xfrm>
          <a:prstGeom xmlns:a="http://schemas.openxmlformats.org/drawingml/2006/main" prst="roundRect">
            <a:avLst>
              <a:gd name="adj" fmla="val 11111"/>
            </a:avLst>
          </a:prstGeom>
          <a:solidFill xmlns:a="http://schemas.openxmlformats.org/drawingml/2006/main">
            <a:srgbClr val="0E151E"/>
          </a:solidFill>
          <a:ln xmlns:a="http://schemas.openxmlformats.org/drawingml/2006/main" w="9525">
            <a:solidFill>
              <a:srgbClr val="22D3EE"/>
            </a:solidFill>
            <a:prstDash val="solid"/>
          </a:ln>
        </p:spPr>
      </p:sp>
      <p:sp>
        <p:nvSpPr>
          <p:cNvPr id="20" name="">
            <a:extLst xmlns:a="http://schemas.openxmlformats.org/drawingml/2006/main">
              <a:ext uri="{FF2B5EF4-FFF2-40B4-BE49-F238E27FC236}">
                <a16:creationId xmlns:a16="http://schemas.microsoft.com/office/drawing/2014/main" id="{F2DEAC07-4EF5-482D-ABBD-D353B0A4872C}"/>
              </a:ext>
            </a:extLst>
          </p:cNvPr>
          <p:cNvSpPr>
            <a:spLocks xmlns:a="http://schemas.openxmlformats.org/drawingml/2006/main" noGrp="1"/>
          </p:cNvSpPr>
          <p:nvPr/>
        </p:nvSpPr>
        <p:spPr>
          <a:xfrm xmlns:a="http://schemas.openxmlformats.org/drawingml/2006/main">
            <a:off x="1238250" y="5505450"/>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7FAFC"/>
                </a:solidFill>
              </a:defRPr>
            </a:pPr>
            <a:r>
              <a:rPr sz="2100" b="1">
                <a:solidFill>
                  <a:srgbClr val="F7FAFC"/>
                </a:solidFill>
              </a:rPr>
              <a:t>THE IDS DETECTS. THE LLM EXPLAINS.</a:t>
            </a:r>
          </a:p>
        </p:txBody>
      </p:sp>
      <p:sp>
        <p:nvSpPr>
          <p:cNvPr id="21" name="">
            <a:extLst xmlns:a="http://schemas.openxmlformats.org/drawingml/2006/main">
              <a:ext uri="{FF2B5EF4-FFF2-40B4-BE49-F238E27FC236}">
                <a16:creationId xmlns:a16="http://schemas.microsoft.com/office/drawing/2014/main" id="{7251EE76-9EA7-4489-A59E-3D18152C0F83}"/>
              </a:ext>
            </a:extLst>
          </p:cNvPr>
          <p:cNvSpPr>
            <a:spLocks xmlns:a="http://schemas.openxmlformats.org/drawingml/2006/main" noGrp="1"/>
          </p:cNvSpPr>
          <p:nvPr/>
        </p:nvSpPr>
        <p:spPr>
          <a:xfrm xmlns:a="http://schemas.openxmlformats.org/drawingml/2006/main">
            <a:off x="3333750" y="6172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97A3B2"/>
                </a:solidFill>
              </a:defRPr>
            </a:pPr>
            <a:r>
              <a:rPr sz="975" b="1">
                <a:solidFill>
                  <a:srgbClr val="97A3B2"/>
                </a:solidFill>
              </a:rPr>
              <a:t>Real Sinkhole evidence shown | full nine-case evaluation follows</a:t>
            </a:r>
          </a:p>
        </p:txBody>
      </p:sp>
    </p:spTree>
    <p:extLst>
      <p:ext uri="{BB962C8B-B14F-4D97-AF65-F5344CB8AC3E}">
        <p14:creationId xmlns:p14="http://schemas.microsoft.com/office/powerpoint/2010/main" val="1387298819"/>
      </p:ext>
    </p:extLst>
  </p:cSld>
</p:sld>
</file>

<file path=ppt/slides/slide18.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4097A4-142D-4274-9637-C24AF1D21D4D}"/>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LLM EVALUATION</a:t>
            </a:r>
          </a:p>
        </p:txBody>
      </p:sp>
      <p:sp>
        <p:nvSpPr>
          <p:cNvPr id="2" name="">
            <a:extLst xmlns:a="http://schemas.openxmlformats.org/drawingml/2006/main">
              <a:ext uri="{FF2B5EF4-FFF2-40B4-BE49-F238E27FC236}">
                <a16:creationId xmlns:a16="http://schemas.microsoft.com/office/drawing/2014/main" id="{FE71DAEF-BAA2-42D6-882C-0A7318FB2EEB}"/>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nine explanations pass structural checks, not human evaluation</a:t>
            </a:r>
          </a:p>
        </p:txBody>
      </p:sp>
      <p:sp>
        <p:nvSpPr>
          <p:cNvPr id="3" name="">
            <a:extLst xmlns:a="http://schemas.openxmlformats.org/drawingml/2006/main">
              <a:ext uri="{FF2B5EF4-FFF2-40B4-BE49-F238E27FC236}">
                <a16:creationId xmlns:a16="http://schemas.microsoft.com/office/drawing/2014/main" id="{1629EC96-EE09-4115-9473-C553D198823B}"/>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95169C-F0D6-4F72-8FB0-5AC4783867E6}"/>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56531A-035D-4527-8413-D59882C21DBF}"/>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Local LLM</a:t>
            </a:r>
          </a:p>
        </p:txBody>
      </p:sp>
      <p:sp>
        <p:nvSpPr>
          <p:cNvPr id="6" name="">
            <a:extLst xmlns:a="http://schemas.openxmlformats.org/drawingml/2006/main">
              <a:ext uri="{FF2B5EF4-FFF2-40B4-BE49-F238E27FC236}">
                <a16:creationId xmlns:a16="http://schemas.microsoft.com/office/drawing/2014/main" id="{BB498709-4CD3-487E-B25B-02776B81CAB4}"/>
              </a:ext>
            </a:extLst>
          </p:cNvPr>
          <p:cNvSpPr>
            <a:spLocks xmlns:a="http://schemas.openxmlformats.org/drawingml/2006/main" noGrp="1"/>
          </p:cNvSpPr>
          <p:nvPr/>
        </p:nvSpPr>
        <p:spPr>
          <a:xfrm xmlns:a="http://schemas.openxmlformats.org/drawingml/2006/main">
            <a:off x="857250" y="1695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A78BFA"/>
                </a:solidFill>
              </a:defRPr>
            </a:pPr>
            <a:r>
              <a:rPr sz="2700" b="1">
                <a:solidFill>
                  <a:srgbClr val="A78BFA"/>
                </a:solidFill>
              </a:rPr>
              <a:t>9</a:t>
            </a:r>
          </a:p>
        </p:txBody>
      </p:sp>
      <p:sp>
        <p:nvSpPr>
          <p:cNvPr id="7" name="">
            <a:extLst xmlns:a="http://schemas.openxmlformats.org/drawingml/2006/main">
              <a:ext uri="{FF2B5EF4-FFF2-40B4-BE49-F238E27FC236}">
                <a16:creationId xmlns:a16="http://schemas.microsoft.com/office/drawing/2014/main" id="{D5DD6270-E897-4C3E-8DC1-27F7E0764C4F}"/>
              </a:ext>
            </a:extLst>
          </p:cNvPr>
          <p:cNvSpPr>
            <a:spLocks xmlns:a="http://schemas.openxmlformats.org/drawingml/2006/main" noGrp="1"/>
          </p:cNvSpPr>
          <p:nvPr/>
        </p:nvSpPr>
        <p:spPr>
          <a:xfrm xmlns:a="http://schemas.openxmlformats.org/drawingml/2006/main">
            <a:off x="914400" y="2171700"/>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attack-family cases</a:t>
            </a:r>
          </a:p>
        </p:txBody>
      </p:sp>
      <p:sp>
        <p:nvSpPr>
          <p:cNvPr id="8" name="">
            <a:extLst xmlns:a="http://schemas.openxmlformats.org/drawingml/2006/main">
              <a:ext uri="{FF2B5EF4-FFF2-40B4-BE49-F238E27FC236}">
                <a16:creationId xmlns:a16="http://schemas.microsoft.com/office/drawing/2014/main" id="{A34AEEEC-BC1A-429B-8FE4-AC855A8E3A31}"/>
              </a:ext>
            </a:extLst>
          </p:cNvPr>
          <p:cNvSpPr>
            <a:spLocks xmlns:a="http://schemas.openxmlformats.org/drawingml/2006/main" noGrp="1"/>
          </p:cNvSpPr>
          <p:nvPr/>
        </p:nvSpPr>
        <p:spPr>
          <a:xfrm xmlns:a="http://schemas.openxmlformats.org/drawingml/2006/main">
            <a:off x="3524250" y="1695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100%</a:t>
            </a:r>
          </a:p>
        </p:txBody>
      </p:sp>
      <p:sp>
        <p:nvSpPr>
          <p:cNvPr id="9" name="">
            <a:extLst xmlns:a="http://schemas.openxmlformats.org/drawingml/2006/main">
              <a:ext uri="{FF2B5EF4-FFF2-40B4-BE49-F238E27FC236}">
                <a16:creationId xmlns:a16="http://schemas.microsoft.com/office/drawing/2014/main" id="{FEC38201-050F-4A2C-A132-7538290D0D33}"/>
              </a:ext>
            </a:extLst>
          </p:cNvPr>
          <p:cNvSpPr>
            <a:spLocks xmlns:a="http://schemas.openxmlformats.org/drawingml/2006/main" noGrp="1"/>
          </p:cNvSpPr>
          <p:nvPr/>
        </p:nvSpPr>
        <p:spPr>
          <a:xfrm xmlns:a="http://schemas.openxmlformats.org/drawingml/2006/main">
            <a:off x="3581400" y="2171700"/>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schema-valid outputs</a:t>
            </a:r>
          </a:p>
        </p:txBody>
      </p:sp>
      <p:sp>
        <p:nvSpPr>
          <p:cNvPr id="10" name="">
            <a:extLst xmlns:a="http://schemas.openxmlformats.org/drawingml/2006/main">
              <a:ext uri="{FF2B5EF4-FFF2-40B4-BE49-F238E27FC236}">
                <a16:creationId xmlns:a16="http://schemas.microsoft.com/office/drawing/2014/main" id="{95B381EA-4580-4949-9BBF-EDDE52805079}"/>
              </a:ext>
            </a:extLst>
          </p:cNvPr>
          <p:cNvSpPr>
            <a:spLocks xmlns:a="http://schemas.openxmlformats.org/drawingml/2006/main" noGrp="1"/>
          </p:cNvSpPr>
          <p:nvPr/>
        </p:nvSpPr>
        <p:spPr>
          <a:xfrm xmlns:a="http://schemas.openxmlformats.org/drawingml/2006/main">
            <a:off x="6191250" y="16954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2D3EE"/>
                </a:solidFill>
              </a:defRPr>
            </a:pPr>
            <a:r>
              <a:rPr sz="2700" b="1">
                <a:solidFill>
                  <a:srgbClr val="22D3EE"/>
                </a:solidFill>
              </a:rPr>
              <a:t>7.78 / 10</a:t>
            </a:r>
          </a:p>
        </p:txBody>
      </p:sp>
      <p:sp>
        <p:nvSpPr>
          <p:cNvPr id="11" name="">
            <a:extLst xmlns:a="http://schemas.openxmlformats.org/drawingml/2006/main">
              <a:ext uri="{FF2B5EF4-FFF2-40B4-BE49-F238E27FC236}">
                <a16:creationId xmlns:a16="http://schemas.microsoft.com/office/drawing/2014/main" id="{E2F97A5D-E8BF-4AEE-A6C0-9E60BA47CD66}"/>
              </a:ext>
            </a:extLst>
          </p:cNvPr>
          <p:cNvSpPr>
            <a:spLocks xmlns:a="http://schemas.openxmlformats.org/drawingml/2006/main" noGrp="1"/>
          </p:cNvSpPr>
          <p:nvPr/>
        </p:nvSpPr>
        <p:spPr>
          <a:xfrm xmlns:a="http://schemas.openxmlformats.org/drawingml/2006/main">
            <a:off x="6248400" y="21717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mean evidence-alignment score</a:t>
            </a:r>
          </a:p>
        </p:txBody>
      </p:sp>
      <p:sp>
        <p:nvSpPr>
          <p:cNvPr id="12" name="">
            <a:extLst xmlns:a="http://schemas.openxmlformats.org/drawingml/2006/main">
              <a:ext uri="{FF2B5EF4-FFF2-40B4-BE49-F238E27FC236}">
                <a16:creationId xmlns:a16="http://schemas.microsoft.com/office/drawing/2014/main" id="{093A5537-6EBC-4A8D-A5AF-F5AF09AAE1BA}"/>
              </a:ext>
            </a:extLst>
          </p:cNvPr>
          <p:cNvSpPr>
            <a:spLocks xmlns:a="http://schemas.openxmlformats.org/drawingml/2006/main" noGrp="1"/>
          </p:cNvSpPr>
          <p:nvPr/>
        </p:nvSpPr>
        <p:spPr>
          <a:xfrm xmlns:a="http://schemas.openxmlformats.org/drawingml/2006/main">
            <a:off x="9239250" y="1695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0%</a:t>
            </a:r>
          </a:p>
        </p:txBody>
      </p:sp>
      <p:sp>
        <p:nvSpPr>
          <p:cNvPr id="13" name="">
            <a:extLst xmlns:a="http://schemas.openxmlformats.org/drawingml/2006/main">
              <a:ext uri="{FF2B5EF4-FFF2-40B4-BE49-F238E27FC236}">
                <a16:creationId xmlns:a16="http://schemas.microsoft.com/office/drawing/2014/main" id="{B3DE8F67-267B-4369-9836-E86DBDFFB5F4}"/>
              </a:ext>
            </a:extLst>
          </p:cNvPr>
          <p:cNvSpPr>
            <a:spLocks xmlns:a="http://schemas.openxmlformats.org/drawingml/2006/main" noGrp="1"/>
          </p:cNvSpPr>
          <p:nvPr/>
        </p:nvSpPr>
        <p:spPr>
          <a:xfrm xmlns:a="http://schemas.openxmlformats.org/drawingml/2006/main">
            <a:off x="9296400" y="2171700"/>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unsupported-claim flags</a:t>
            </a:r>
          </a:p>
        </p:txBody>
      </p:sp>
      <p:sp>
        <p:nvSpPr>
          <p:cNvPr id="14" name="">
            <a:extLst xmlns:a="http://schemas.openxmlformats.org/drawingml/2006/main">
              <a:ext uri="{FF2B5EF4-FFF2-40B4-BE49-F238E27FC236}">
                <a16:creationId xmlns:a16="http://schemas.microsoft.com/office/drawing/2014/main" id="{5C5577E4-D065-4F3C-918F-01709921E3BB}"/>
              </a:ext>
            </a:extLst>
          </p:cNvPr>
          <p:cNvSpPr>
            <a:spLocks xmlns:a="http://schemas.openxmlformats.org/drawingml/2006/main" noGrp="1"/>
          </p:cNvSpPr>
          <p:nvPr/>
        </p:nvSpPr>
        <p:spPr>
          <a:xfrm xmlns:a="http://schemas.openxmlformats.org/drawingml/2006/main">
            <a:off x="714375" y="3238500"/>
            <a:ext cx="5048250" cy="2095500"/>
          </a:xfrm>
          <a:prstGeom xmlns:a="http://schemas.openxmlformats.org/drawingml/2006/main" prst="roundRect">
            <a:avLst>
              <a:gd name="adj" fmla="val 3636"/>
            </a:avLst>
          </a:prstGeom>
          <a:solidFill xmlns:a="http://schemas.openxmlformats.org/drawingml/2006/main">
            <a:srgbClr val="121C27"/>
          </a:solidFill>
          <a:ln xmlns:a="http://schemas.openxmlformats.org/drawingml/2006/main" w="9525">
            <a:solidFill>
              <a:srgbClr val="34D399"/>
            </a:solidFill>
            <a:prstDash val="solid"/>
          </a:ln>
        </p:spPr>
      </p:sp>
      <p:sp>
        <p:nvSpPr>
          <p:cNvPr id="15" name="">
            <a:extLst xmlns:a="http://schemas.openxmlformats.org/drawingml/2006/main">
              <a:ext uri="{FF2B5EF4-FFF2-40B4-BE49-F238E27FC236}">
                <a16:creationId xmlns:a16="http://schemas.microsoft.com/office/drawing/2014/main" id="{FDD66D2C-DB63-4D0C-8F7A-42340E36B045}"/>
              </a:ext>
            </a:extLst>
          </p:cNvPr>
          <p:cNvSpPr>
            <a:spLocks xmlns:a="http://schemas.openxmlformats.org/drawingml/2006/main" noGrp="1"/>
          </p:cNvSpPr>
          <p:nvPr/>
        </p:nvSpPr>
        <p:spPr>
          <a:xfrm xmlns:a="http://schemas.openxmlformats.org/drawingml/2006/main">
            <a:off x="952500" y="3429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34D399"/>
                </a:solidFill>
              </a:defRPr>
            </a:pPr>
            <a:r>
              <a:rPr sz="1650" b="1">
                <a:solidFill>
                  <a:srgbClr val="34D399"/>
                </a:solidFill>
              </a:rPr>
              <a:t>What this supports</a:t>
            </a:r>
          </a:p>
        </p:txBody>
      </p:sp>
      <p:sp>
        <p:nvSpPr>
          <p:cNvPr id="16" name="">
            <a:extLst xmlns:a="http://schemas.openxmlformats.org/drawingml/2006/main">
              <a:ext uri="{FF2B5EF4-FFF2-40B4-BE49-F238E27FC236}">
                <a16:creationId xmlns:a16="http://schemas.microsoft.com/office/drawing/2014/main" id="{1E46F187-BF77-4919-99B8-8ED3FAE4A6C7}"/>
              </a:ext>
            </a:extLst>
          </p:cNvPr>
          <p:cNvSpPr>
            <a:spLocks xmlns:a="http://schemas.openxmlformats.org/drawingml/2006/main" noGrp="1"/>
          </p:cNvSpPr>
          <p:nvPr/>
        </p:nvSpPr>
        <p:spPr>
          <a:xfrm xmlns:a="http://schemas.openxmlformats.org/drawingml/2006/main">
            <a:off x="1047750" y="3924300"/>
            <a:ext cx="4333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 the local model followed the required JSON structure</a:t>
            </a:r>
          </a:p>
          <a:p xmlns:a="http://schemas.openxmlformats.org/drawingml/2006/main">
            <a:pPr algn="l">
              <a:defRPr sz="1275" b="0">
                <a:solidFill>
                  <a:srgbClr val="E5EAF0"/>
                </a:solidFill>
              </a:defRPr>
            </a:pPr>
            <a:r>
              <a:rPr sz="1275" b="0">
                <a:solidFill>
                  <a:srgbClr val="E5EAF0"/>
                </a:solidFill>
              </a:rPr>
              <a:t>- explanations referred to supplied evidence</a:t>
            </a:r>
          </a:p>
          <a:p xmlns:a="http://schemas.openxmlformats.org/drawingml/2006/main">
            <a:pPr algn="l">
              <a:defRPr sz="1275" b="0">
                <a:solidFill>
                  <a:srgbClr val="E5EAF0"/>
                </a:solidFill>
              </a:defRPr>
            </a:pPr>
            <a:r>
              <a:rPr sz="1275" b="0">
                <a:solidFill>
                  <a:srgbClr val="E5EAF0"/>
                </a:solidFill>
              </a:rPr>
              <a:t>- limitations and uncertainty were usually present</a:t>
            </a:r>
          </a:p>
          <a:p xmlns:a="http://schemas.openxmlformats.org/drawingml/2006/main">
            <a:pPr algn="l">
              <a:defRPr sz="1275" b="0">
                <a:solidFill>
                  <a:srgbClr val="E5EAF0"/>
                </a:solidFill>
              </a:defRPr>
            </a:pPr>
            <a:r>
              <a:rPr sz="1275" b="0">
                <a:solidFill>
                  <a:srgbClr val="E5EAF0"/>
                </a:solidFill>
              </a:rPr>
              <a:t>- all nine attack cases were processed locally</a:t>
            </a:r>
          </a:p>
        </p:txBody>
      </p:sp>
      <p:sp>
        <p:nvSpPr>
          <p:cNvPr id="17" name="">
            <a:extLst xmlns:a="http://schemas.openxmlformats.org/drawingml/2006/main">
              <a:ext uri="{FF2B5EF4-FFF2-40B4-BE49-F238E27FC236}">
                <a16:creationId xmlns:a16="http://schemas.microsoft.com/office/drawing/2014/main" id="{911ED5E8-C276-462D-A752-B9800F5D6448}"/>
              </a:ext>
            </a:extLst>
          </p:cNvPr>
          <p:cNvSpPr>
            <a:spLocks xmlns:a="http://schemas.openxmlformats.org/drawingml/2006/main" noGrp="1"/>
          </p:cNvSpPr>
          <p:nvPr/>
        </p:nvSpPr>
        <p:spPr>
          <a:xfrm xmlns:a="http://schemas.openxmlformats.org/drawingml/2006/main">
            <a:off x="6429375" y="3238500"/>
            <a:ext cx="5048250" cy="2095500"/>
          </a:xfrm>
          <a:prstGeom xmlns:a="http://schemas.openxmlformats.org/drawingml/2006/main" prst="roundRect">
            <a:avLst>
              <a:gd name="adj" fmla="val 3636"/>
            </a:avLst>
          </a:prstGeom>
          <a:solidFill xmlns:a="http://schemas.openxmlformats.org/drawingml/2006/main">
            <a:srgbClr val="121C27"/>
          </a:solidFill>
          <a:ln xmlns:a="http://schemas.openxmlformats.org/drawingml/2006/main" w="9525">
            <a:solidFill>
              <a:srgbClr val="FB7185"/>
            </a:solidFill>
            <a:prstDash val="solid"/>
          </a:ln>
        </p:spPr>
      </p:sp>
      <p:sp>
        <p:nvSpPr>
          <p:cNvPr id="18" name="">
            <a:extLst xmlns:a="http://schemas.openxmlformats.org/drawingml/2006/main">
              <a:ext uri="{FF2B5EF4-FFF2-40B4-BE49-F238E27FC236}">
                <a16:creationId xmlns:a16="http://schemas.microsoft.com/office/drawing/2014/main" id="{F57A0147-D1D8-414B-BF2B-CB9B666D5F4B}"/>
              </a:ext>
            </a:extLst>
          </p:cNvPr>
          <p:cNvSpPr>
            <a:spLocks xmlns:a="http://schemas.openxmlformats.org/drawingml/2006/main" noGrp="1"/>
          </p:cNvSpPr>
          <p:nvPr/>
        </p:nvSpPr>
        <p:spPr>
          <a:xfrm xmlns:a="http://schemas.openxmlformats.org/drawingml/2006/main">
            <a:off x="6667500" y="3429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B7185"/>
                </a:solidFill>
              </a:defRPr>
            </a:pPr>
            <a:r>
              <a:rPr sz="1650" b="1">
                <a:solidFill>
                  <a:srgbClr val="FB7185"/>
                </a:solidFill>
              </a:rPr>
              <a:t>What this does not prove</a:t>
            </a:r>
          </a:p>
        </p:txBody>
      </p:sp>
      <p:sp>
        <p:nvSpPr>
          <p:cNvPr id="19" name="">
            <a:extLst xmlns:a="http://schemas.openxmlformats.org/drawingml/2006/main">
              <a:ext uri="{FF2B5EF4-FFF2-40B4-BE49-F238E27FC236}">
                <a16:creationId xmlns:a16="http://schemas.microsoft.com/office/drawing/2014/main" id="{08B4A053-5A67-4663-A5AD-FAAD65196194}"/>
              </a:ext>
            </a:extLst>
          </p:cNvPr>
          <p:cNvSpPr>
            <a:spLocks xmlns:a="http://schemas.openxmlformats.org/drawingml/2006/main" noGrp="1"/>
          </p:cNvSpPr>
          <p:nvPr/>
        </p:nvSpPr>
        <p:spPr>
          <a:xfrm xmlns:a="http://schemas.openxmlformats.org/drawingml/2006/main">
            <a:off x="6762750" y="3924300"/>
            <a:ext cx="4333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 analysts found the explanations useful</a:t>
            </a:r>
          </a:p>
          <a:p xmlns:a="http://schemas.openxmlformats.org/drawingml/2006/main">
            <a:pPr algn="l">
              <a:defRPr sz="1275" b="0">
                <a:solidFill>
                  <a:srgbClr val="E5EAF0"/>
                </a:solidFill>
              </a:defRPr>
            </a:pPr>
            <a:r>
              <a:rPr sz="1275" b="0">
                <a:solidFill>
                  <a:srgbClr val="E5EAF0"/>
                </a:solidFill>
              </a:rPr>
              <a:t>- every protocol term was technically precise</a:t>
            </a:r>
          </a:p>
          <a:p xmlns:a="http://schemas.openxmlformats.org/drawingml/2006/main">
            <a:pPr algn="l">
              <a:defRPr sz="1275" b="0">
                <a:solidFill>
                  <a:srgbClr val="E5EAF0"/>
                </a:solidFill>
              </a:defRPr>
            </a:pPr>
            <a:r>
              <a:rPr sz="1275" b="0">
                <a:solidFill>
                  <a:srgbClr val="E5EAF0"/>
                </a:solidFill>
              </a:rPr>
              <a:t>- the score is equivalent to human judgement</a:t>
            </a:r>
          </a:p>
          <a:p xmlns:a="http://schemas.openxmlformats.org/drawingml/2006/main">
            <a:pPr algn="l">
              <a:defRPr sz="1275" b="0">
                <a:solidFill>
                  <a:srgbClr val="E5EAF0"/>
                </a:solidFill>
              </a:defRPr>
            </a:pPr>
            <a:r>
              <a:rPr sz="1275" b="0">
                <a:solidFill>
                  <a:srgbClr val="E5EAF0"/>
                </a:solidFill>
              </a:rPr>
              <a:t>- the model would remain reliable on unseen deployments</a:t>
            </a:r>
          </a:p>
        </p:txBody>
      </p:sp>
      <p:sp>
        <p:nvSpPr>
          <p:cNvPr id="20" name="">
            <a:extLst xmlns:a="http://schemas.openxmlformats.org/drawingml/2006/main">
              <a:ext uri="{FF2B5EF4-FFF2-40B4-BE49-F238E27FC236}">
                <a16:creationId xmlns:a16="http://schemas.microsoft.com/office/drawing/2014/main" id="{64561C98-49A3-45E0-B690-7161B42703AE}"/>
              </a:ext>
            </a:extLst>
          </p:cNvPr>
          <p:cNvSpPr>
            <a:spLocks xmlns:a="http://schemas.openxmlformats.org/drawingml/2006/main" noGrp="1"/>
          </p:cNvSpPr>
          <p:nvPr/>
        </p:nvSpPr>
        <p:spPr>
          <a:xfrm xmlns:a="http://schemas.openxmlformats.org/drawingml/2006/main">
            <a:off x="2095500" y="5715000"/>
            <a:ext cx="8001000" cy="495300"/>
          </a:xfrm>
          <a:prstGeom xmlns:a="http://schemas.openxmlformats.org/drawingml/2006/main" prst="roundRect">
            <a:avLst>
              <a:gd name="adj" fmla="val 15385"/>
            </a:avLst>
          </a:prstGeom>
          <a:solidFill xmlns:a="http://schemas.openxmlformats.org/drawingml/2006/main">
            <a:srgbClr val="0E151E"/>
          </a:solidFill>
          <a:ln xmlns:a="http://schemas.openxmlformats.org/drawingml/2006/main" w="9525">
            <a:solidFill>
              <a:srgbClr val="F59E0B"/>
            </a:solidFill>
            <a:prstDash val="solid"/>
          </a:ln>
        </p:spPr>
      </p:sp>
      <p:sp>
        <p:nvSpPr>
          <p:cNvPr id="21" name="">
            <a:extLst xmlns:a="http://schemas.openxmlformats.org/drawingml/2006/main">
              <a:ext uri="{FF2B5EF4-FFF2-40B4-BE49-F238E27FC236}">
                <a16:creationId xmlns:a16="http://schemas.microsoft.com/office/drawing/2014/main" id="{728F5A14-9C2E-464E-9241-5AFB5E1C55E5}"/>
              </a:ext>
            </a:extLst>
          </p:cNvPr>
          <p:cNvSpPr>
            <a:spLocks xmlns:a="http://schemas.openxmlformats.org/drawingml/2006/main" noGrp="1"/>
          </p:cNvSpPr>
          <p:nvPr/>
        </p:nvSpPr>
        <p:spPr>
          <a:xfrm xmlns:a="http://schemas.openxmlformats.org/drawingml/2006/main">
            <a:off x="2333625" y="579120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7FAFC"/>
                </a:solidFill>
              </a:defRPr>
            </a:pPr>
            <a:r>
              <a:rPr sz="1500" b="1">
                <a:solidFill>
                  <a:srgbClr val="F7FAFC"/>
                </a:solidFill>
              </a:rPr>
              <a:t>The result is evidence-grounded automatic screening, not a human analyst study.</a:t>
            </a:r>
          </a:p>
        </p:txBody>
      </p:sp>
    </p:spTree>
    <p:extLst>
      <p:ext uri="{BB962C8B-B14F-4D97-AF65-F5344CB8AC3E}">
        <p14:creationId xmlns:p14="http://schemas.microsoft.com/office/powerpoint/2010/main" val="250462635"/>
      </p:ext>
    </p:extLst>
  </p:cSld>
</p:sld>
</file>

<file path=ppt/slides/slide19.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41BFE51-B281-441A-8FDA-CED3B67F48AD}"/>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CRITICAL REFLECTION</a:t>
            </a:r>
          </a:p>
        </p:txBody>
      </p:sp>
      <p:sp>
        <p:nvSpPr>
          <p:cNvPr id="2" name="">
            <a:extLst xmlns:a="http://schemas.openxmlformats.org/drawingml/2006/main">
              <a:ext uri="{FF2B5EF4-FFF2-40B4-BE49-F238E27FC236}">
                <a16:creationId xmlns:a16="http://schemas.microsoft.com/office/drawing/2014/main" id="{6635D4C7-37DE-4D24-B6E7-EEC31244151B}"/>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Failures changed the method and narrowed the claims</a:t>
            </a:r>
          </a:p>
        </p:txBody>
      </p:sp>
      <p:sp>
        <p:nvSpPr>
          <p:cNvPr id="3" name="">
            <a:extLst xmlns:a="http://schemas.openxmlformats.org/drawingml/2006/main">
              <a:ext uri="{FF2B5EF4-FFF2-40B4-BE49-F238E27FC236}">
                <a16:creationId xmlns:a16="http://schemas.microsoft.com/office/drawing/2014/main" id="{57D6C183-E95B-4D09-879A-A673AACA4B0B}"/>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56C0D2-2CE1-42B8-BC54-DF5829A0407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04FEF4-27DC-489D-8456-781C227A0943}"/>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Discussion</a:t>
            </a:r>
          </a:p>
        </p:txBody>
      </p:sp>
      <p:sp>
        <p:nvSpPr>
          <p:cNvPr id="6" name="">
            <a:extLst xmlns:a="http://schemas.openxmlformats.org/drawingml/2006/main">
              <a:ext uri="{FF2B5EF4-FFF2-40B4-BE49-F238E27FC236}">
                <a16:creationId xmlns:a16="http://schemas.microsoft.com/office/drawing/2014/main" id="{4EBF503F-8491-40CB-8A75-E78AB770EB7E}"/>
              </a:ext>
            </a:extLst>
          </p:cNvPr>
          <p:cNvSpPr>
            <a:spLocks xmlns:a="http://schemas.openxmlformats.org/drawingml/2006/main" noGrp="1"/>
          </p:cNvSpPr>
          <p:nvPr/>
        </p:nvSpPr>
        <p:spPr>
          <a:xfrm xmlns:a="http://schemas.openxmlformats.org/drawingml/2006/main">
            <a:off x="647700" y="14001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B7185"/>
                </a:solidFill>
              </a:defRPr>
            </a:pPr>
            <a:r>
              <a:rPr sz="825" b="1">
                <a:solidFill>
                  <a:srgbClr val="FB7185"/>
                </a:solidFill>
              </a:rPr>
              <a:t>PROBLEM OBSERVED</a:t>
            </a:r>
          </a:p>
        </p:txBody>
      </p:sp>
      <p:sp>
        <p:nvSpPr>
          <p:cNvPr id="7" name="">
            <a:extLst xmlns:a="http://schemas.openxmlformats.org/drawingml/2006/main">
              <a:ext uri="{FF2B5EF4-FFF2-40B4-BE49-F238E27FC236}">
                <a16:creationId xmlns:a16="http://schemas.microsoft.com/office/drawing/2014/main" id="{21C1F3DA-1E03-4577-A8C8-2C5A675A02F4}"/>
              </a:ext>
            </a:extLst>
          </p:cNvPr>
          <p:cNvSpPr>
            <a:spLocks xmlns:a="http://schemas.openxmlformats.org/drawingml/2006/main" noGrp="1"/>
          </p:cNvSpPr>
          <p:nvPr/>
        </p:nvSpPr>
        <p:spPr>
          <a:xfrm xmlns:a="http://schemas.openxmlformats.org/drawingml/2006/main">
            <a:off x="4524375" y="14001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CORRECTION MADE</a:t>
            </a:r>
          </a:p>
        </p:txBody>
      </p:sp>
      <p:sp>
        <p:nvSpPr>
          <p:cNvPr id="8" name="">
            <a:extLst xmlns:a="http://schemas.openxmlformats.org/drawingml/2006/main">
              <a:ext uri="{FF2B5EF4-FFF2-40B4-BE49-F238E27FC236}">
                <a16:creationId xmlns:a16="http://schemas.microsoft.com/office/drawing/2014/main" id="{DD14A707-2A16-4DAC-B79B-A4A2E261FBE7}"/>
              </a:ext>
            </a:extLst>
          </p:cNvPr>
          <p:cNvSpPr>
            <a:spLocks xmlns:a="http://schemas.openxmlformats.org/drawingml/2006/main" noGrp="1"/>
          </p:cNvSpPr>
          <p:nvPr/>
        </p:nvSpPr>
        <p:spPr>
          <a:xfrm xmlns:a="http://schemas.openxmlformats.org/drawingml/2006/main">
            <a:off x="8429625" y="14001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34D399"/>
                </a:solidFill>
              </a:defRPr>
            </a:pPr>
            <a:r>
              <a:rPr sz="825" b="1">
                <a:solidFill>
                  <a:srgbClr val="34D399"/>
                </a:solidFill>
              </a:rPr>
              <a:t>RESEARCH LESSON</a:t>
            </a:r>
          </a:p>
        </p:txBody>
      </p:sp>
      <p:sp>
        <p:nvSpPr>
          <p:cNvPr id="9" name="">
            <a:extLst xmlns:a="http://schemas.openxmlformats.org/drawingml/2006/main">
              <a:ext uri="{FF2B5EF4-FFF2-40B4-BE49-F238E27FC236}">
                <a16:creationId xmlns:a16="http://schemas.microsoft.com/office/drawing/2014/main" id="{760210A3-705C-418B-B7EE-58512BD146B9}"/>
              </a:ext>
            </a:extLst>
          </p:cNvPr>
          <p:cNvSpPr>
            <a:spLocks xmlns:a="http://schemas.openxmlformats.org/drawingml/2006/main" noGrp="1"/>
          </p:cNvSpPr>
          <p:nvPr/>
        </p:nvSpPr>
        <p:spPr>
          <a:xfrm xmlns:a="http://schemas.openxmlformats.org/drawingml/2006/main">
            <a:off x="571500" y="1952625"/>
            <a:ext cx="11049000" cy="1000125"/>
          </a:xfrm>
          <a:prstGeom xmlns:a="http://schemas.openxmlformats.org/drawingml/2006/main" prst="roundRect">
            <a:avLst>
              <a:gd name="adj" fmla="val 7619"/>
            </a:avLst>
          </a:prstGeom>
          <a:solidFill xmlns:a="http://schemas.openxmlformats.org/drawingml/2006/main">
            <a:srgbClr val="121C27"/>
          </a:solidFill>
          <a:ln xmlns:a="http://schemas.openxmlformats.org/drawingml/2006/main" w="9525">
            <a:solidFill>
              <a:srgbClr val="2C3A49"/>
            </a:solidFill>
            <a:prstDash val="solid"/>
          </a:ln>
        </p:spPr>
      </p:sp>
      <p:sp>
        <p:nvSpPr>
          <p:cNvPr id="10" name="">
            <a:extLst xmlns:a="http://schemas.openxmlformats.org/drawingml/2006/main">
              <a:ext uri="{FF2B5EF4-FFF2-40B4-BE49-F238E27FC236}">
                <a16:creationId xmlns:a16="http://schemas.microsoft.com/office/drawing/2014/main" id="{FC155347-C54E-4F35-B814-4274C99713E0}"/>
              </a:ext>
            </a:extLst>
          </p:cNvPr>
          <p:cNvSpPr>
            <a:spLocks xmlns:a="http://schemas.openxmlformats.org/drawingml/2006/main" noGrp="1"/>
          </p:cNvSpPr>
          <p:nvPr/>
        </p:nvSpPr>
        <p:spPr>
          <a:xfrm xmlns:a="http://schemas.openxmlformats.org/drawingml/2006/main">
            <a:off x="571500" y="1952625"/>
            <a:ext cx="47625" cy="1000125"/>
          </a:xfrm>
          <a:prstGeom xmlns:a="http://schemas.openxmlformats.org/drawingml/2006/main" prst="rect">
            <a:avLst/>
          </a:prstGeom>
          <a:solidFill xmlns:a="http://schemas.openxmlformats.org/drawingml/2006/main">
            <a:srgbClr val="FB718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64DABD-1CBE-4947-8C6A-BFDC45BEA5F8}"/>
              </a:ext>
            </a:extLst>
          </p:cNvPr>
          <p:cNvSpPr>
            <a:spLocks xmlns:a="http://schemas.openxmlformats.org/drawingml/2006/main" noGrp="1"/>
          </p:cNvSpPr>
          <p:nvPr/>
        </p:nvSpPr>
        <p:spPr>
          <a:xfrm xmlns:a="http://schemas.openxmlformats.org/drawingml/2006/main">
            <a:off x="781050" y="21240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Coarse features missed Sinkhole</a:t>
            </a:r>
          </a:p>
        </p:txBody>
      </p:sp>
      <p:sp>
        <p:nvSpPr>
          <p:cNvPr id="12" name="">
            <a:extLst xmlns:a="http://schemas.openxmlformats.org/drawingml/2006/main">
              <a:ext uri="{FF2B5EF4-FFF2-40B4-BE49-F238E27FC236}">
                <a16:creationId xmlns:a16="http://schemas.microsoft.com/office/drawing/2014/main" id="{D88BFA91-C246-4275-8F71-F43403FEF734}"/>
              </a:ext>
            </a:extLst>
          </p:cNvPr>
          <p:cNvSpPr>
            <a:spLocks xmlns:a="http://schemas.openxmlformats.org/drawingml/2006/main" noGrp="1"/>
          </p:cNvSpPr>
          <p:nvPr/>
        </p:nvSpPr>
        <p:spPr>
          <a:xfrm xmlns:a="http://schemas.openxmlformats.org/drawingml/2006/main">
            <a:off x="4095750" y="2295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68F9504-ED3C-418E-B7A8-D0016A6D001C}"/>
              </a:ext>
            </a:extLst>
          </p:cNvPr>
          <p:cNvSpPr>
            <a:spLocks xmlns:a="http://schemas.openxmlformats.org/drawingml/2006/main" noGrp="1"/>
          </p:cNvSpPr>
          <p:nvPr/>
        </p:nvSpPr>
        <p:spPr>
          <a:xfrm xmlns:a="http://schemas.openxmlformats.org/drawingml/2006/main">
            <a:off x="4572000" y="212407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Added rank, parent and routing-state evidence</a:t>
            </a:r>
          </a:p>
        </p:txBody>
      </p:sp>
      <p:sp>
        <p:nvSpPr>
          <p:cNvPr id="14" name="">
            <a:extLst xmlns:a="http://schemas.openxmlformats.org/drawingml/2006/main">
              <a:ext uri="{FF2B5EF4-FFF2-40B4-BE49-F238E27FC236}">
                <a16:creationId xmlns:a16="http://schemas.microsoft.com/office/drawing/2014/main" id="{76382605-4867-46BE-8174-FD938B160B92}"/>
              </a:ext>
            </a:extLst>
          </p:cNvPr>
          <p:cNvSpPr>
            <a:spLocks xmlns:a="http://schemas.openxmlformats.org/drawingml/2006/main" noGrp="1"/>
          </p:cNvSpPr>
          <p:nvPr/>
        </p:nvSpPr>
        <p:spPr>
          <a:xfrm xmlns:a="http://schemas.openxmlformats.org/drawingml/2006/main">
            <a:off x="7810500" y="2295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8D37D6-D5DD-46F3-80F2-F8C85AA00CB9}"/>
              </a:ext>
            </a:extLst>
          </p:cNvPr>
          <p:cNvSpPr>
            <a:spLocks xmlns:a="http://schemas.openxmlformats.org/drawingml/2006/main" noGrp="1"/>
          </p:cNvSpPr>
          <p:nvPr/>
        </p:nvSpPr>
        <p:spPr>
          <a:xfrm xmlns:a="http://schemas.openxmlformats.org/drawingml/2006/main">
            <a:off x="8334375" y="2124075"/>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34D399"/>
                </a:solidFill>
              </a:defRPr>
            </a:pPr>
            <a:r>
              <a:rPr sz="1275" b="1">
                <a:solidFill>
                  <a:srgbClr val="34D399"/>
                </a:solidFill>
              </a:rPr>
              <a:t>Features must expose the mechanism</a:t>
            </a:r>
          </a:p>
        </p:txBody>
      </p:sp>
      <p:sp>
        <p:nvSpPr>
          <p:cNvPr id="16" name="">
            <a:extLst xmlns:a="http://schemas.openxmlformats.org/drawingml/2006/main">
              <a:ext uri="{FF2B5EF4-FFF2-40B4-BE49-F238E27FC236}">
                <a16:creationId xmlns:a16="http://schemas.microsoft.com/office/drawing/2014/main" id="{35A505D8-D331-413E-93C4-1ECE48DC7DC6}"/>
              </a:ext>
            </a:extLst>
          </p:cNvPr>
          <p:cNvSpPr>
            <a:spLocks xmlns:a="http://schemas.openxmlformats.org/drawingml/2006/main" noGrp="1"/>
          </p:cNvSpPr>
          <p:nvPr/>
        </p:nvSpPr>
        <p:spPr>
          <a:xfrm xmlns:a="http://schemas.openxmlformats.org/drawingml/2006/main">
            <a:off x="571500" y="3095625"/>
            <a:ext cx="11049000" cy="1000125"/>
          </a:xfrm>
          <a:prstGeom xmlns:a="http://schemas.openxmlformats.org/drawingml/2006/main" prst="roundRect">
            <a:avLst>
              <a:gd name="adj" fmla="val 7619"/>
            </a:avLst>
          </a:prstGeom>
          <a:solidFill xmlns:a="http://schemas.openxmlformats.org/drawingml/2006/main">
            <a:srgbClr val="121C27"/>
          </a:solidFill>
          <a:ln xmlns:a="http://schemas.openxmlformats.org/drawingml/2006/main" w="9525">
            <a:solidFill>
              <a:srgbClr val="2C3A49"/>
            </a:solidFill>
            <a:prstDash val="solid"/>
          </a:ln>
        </p:spPr>
      </p:sp>
      <p:sp>
        <p:nvSpPr>
          <p:cNvPr id="17" name="">
            <a:extLst xmlns:a="http://schemas.openxmlformats.org/drawingml/2006/main">
              <a:ext uri="{FF2B5EF4-FFF2-40B4-BE49-F238E27FC236}">
                <a16:creationId xmlns:a16="http://schemas.microsoft.com/office/drawing/2014/main" id="{F8EBB856-10FF-4D70-8928-C1D83B9BF992}"/>
              </a:ext>
            </a:extLst>
          </p:cNvPr>
          <p:cNvSpPr>
            <a:spLocks xmlns:a="http://schemas.openxmlformats.org/drawingml/2006/main" noGrp="1"/>
          </p:cNvSpPr>
          <p:nvPr/>
        </p:nvSpPr>
        <p:spPr>
          <a:xfrm xmlns:a="http://schemas.openxmlformats.org/drawingml/2006/main">
            <a:off x="571500" y="3095625"/>
            <a:ext cx="47625" cy="10001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CC933A-7939-4800-A99D-8FB2599D1BDF}"/>
              </a:ext>
            </a:extLst>
          </p:cNvPr>
          <p:cNvSpPr>
            <a:spLocks xmlns:a="http://schemas.openxmlformats.org/drawingml/2006/main" noGrp="1"/>
          </p:cNvSpPr>
          <p:nvPr/>
        </p:nvSpPr>
        <p:spPr>
          <a:xfrm xmlns:a="http://schemas.openxmlformats.org/drawingml/2006/main">
            <a:off x="781050" y="32670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Random-row leakage risk</a:t>
            </a:r>
          </a:p>
        </p:txBody>
      </p:sp>
      <p:sp>
        <p:nvSpPr>
          <p:cNvPr id="19" name="">
            <a:extLst xmlns:a="http://schemas.openxmlformats.org/drawingml/2006/main">
              <a:ext uri="{FF2B5EF4-FFF2-40B4-BE49-F238E27FC236}">
                <a16:creationId xmlns:a16="http://schemas.microsoft.com/office/drawing/2014/main" id="{8ED582E3-679E-40EE-92AE-2BB00D3D3F42}"/>
              </a:ext>
            </a:extLst>
          </p:cNvPr>
          <p:cNvSpPr>
            <a:spLocks xmlns:a="http://schemas.openxmlformats.org/drawingml/2006/main" noGrp="1"/>
          </p:cNvSpPr>
          <p:nvPr/>
        </p:nvSpPr>
        <p:spPr>
          <a:xfrm xmlns:a="http://schemas.openxmlformats.org/drawingml/2006/main">
            <a:off x="4095750" y="3438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C98A84-2E4B-480A-8FCA-B828471C1941}"/>
              </a:ext>
            </a:extLst>
          </p:cNvPr>
          <p:cNvSpPr>
            <a:spLocks xmlns:a="http://schemas.openxmlformats.org/drawingml/2006/main" noGrp="1"/>
          </p:cNvSpPr>
          <p:nvPr/>
        </p:nvSpPr>
        <p:spPr>
          <a:xfrm xmlns:a="http://schemas.openxmlformats.org/drawingml/2006/main">
            <a:off x="4572000" y="326707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Separated complete seeds and runs</a:t>
            </a:r>
          </a:p>
        </p:txBody>
      </p:sp>
      <p:sp>
        <p:nvSpPr>
          <p:cNvPr id="21" name="">
            <a:extLst xmlns:a="http://schemas.openxmlformats.org/drawingml/2006/main">
              <a:ext uri="{FF2B5EF4-FFF2-40B4-BE49-F238E27FC236}">
                <a16:creationId xmlns:a16="http://schemas.microsoft.com/office/drawing/2014/main" id="{BC7BD339-3B06-47A6-9B86-82C89C052887}"/>
              </a:ext>
            </a:extLst>
          </p:cNvPr>
          <p:cNvSpPr>
            <a:spLocks xmlns:a="http://schemas.openxmlformats.org/drawingml/2006/main" noGrp="1"/>
          </p:cNvSpPr>
          <p:nvPr/>
        </p:nvSpPr>
        <p:spPr>
          <a:xfrm xmlns:a="http://schemas.openxmlformats.org/drawingml/2006/main">
            <a:off x="7810500" y="3438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74A34A-1081-41B9-BC3E-EA8EF9B07E5D}"/>
              </a:ext>
            </a:extLst>
          </p:cNvPr>
          <p:cNvSpPr>
            <a:spLocks xmlns:a="http://schemas.openxmlformats.org/drawingml/2006/main" noGrp="1"/>
          </p:cNvSpPr>
          <p:nvPr/>
        </p:nvSpPr>
        <p:spPr>
          <a:xfrm xmlns:a="http://schemas.openxmlformats.org/drawingml/2006/main">
            <a:off x="8334375" y="3267075"/>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34D399"/>
                </a:solidFill>
              </a:defRPr>
            </a:pPr>
            <a:r>
              <a:rPr sz="1275" b="1">
                <a:solidFill>
                  <a:srgbClr val="34D399"/>
                </a:solidFill>
              </a:rPr>
              <a:t>The split unit matters as much as the model</a:t>
            </a:r>
          </a:p>
        </p:txBody>
      </p:sp>
      <p:sp>
        <p:nvSpPr>
          <p:cNvPr id="23" name="">
            <a:extLst xmlns:a="http://schemas.openxmlformats.org/drawingml/2006/main">
              <a:ext uri="{FF2B5EF4-FFF2-40B4-BE49-F238E27FC236}">
                <a16:creationId xmlns:a16="http://schemas.microsoft.com/office/drawing/2014/main" id="{41E508BF-1409-4A96-B156-2D798B770D0C}"/>
              </a:ext>
            </a:extLst>
          </p:cNvPr>
          <p:cNvSpPr>
            <a:spLocks xmlns:a="http://schemas.openxmlformats.org/drawingml/2006/main" noGrp="1"/>
          </p:cNvSpPr>
          <p:nvPr/>
        </p:nvSpPr>
        <p:spPr>
          <a:xfrm xmlns:a="http://schemas.openxmlformats.org/drawingml/2006/main">
            <a:off x="571500" y="4238625"/>
            <a:ext cx="11049000" cy="1000125"/>
          </a:xfrm>
          <a:prstGeom xmlns:a="http://schemas.openxmlformats.org/drawingml/2006/main" prst="roundRect">
            <a:avLst>
              <a:gd name="adj" fmla="val 7619"/>
            </a:avLst>
          </a:prstGeom>
          <a:solidFill xmlns:a="http://schemas.openxmlformats.org/drawingml/2006/main">
            <a:srgbClr val="121C27"/>
          </a:solidFill>
          <a:ln xmlns:a="http://schemas.openxmlformats.org/drawingml/2006/main" w="9525">
            <a:solidFill>
              <a:srgbClr val="2C3A49"/>
            </a:solidFill>
            <a:prstDash val="solid"/>
          </a:ln>
        </p:spPr>
      </p:sp>
      <p:sp>
        <p:nvSpPr>
          <p:cNvPr id="24" name="">
            <a:extLst xmlns:a="http://schemas.openxmlformats.org/drawingml/2006/main">
              <a:ext uri="{FF2B5EF4-FFF2-40B4-BE49-F238E27FC236}">
                <a16:creationId xmlns:a16="http://schemas.microsoft.com/office/drawing/2014/main" id="{90D6A49B-4D53-41D5-8D9E-6BDFD51AE288}"/>
              </a:ext>
            </a:extLst>
          </p:cNvPr>
          <p:cNvSpPr>
            <a:spLocks xmlns:a="http://schemas.openxmlformats.org/drawingml/2006/main" noGrp="1"/>
          </p:cNvSpPr>
          <p:nvPr/>
        </p:nvSpPr>
        <p:spPr>
          <a:xfrm xmlns:a="http://schemas.openxmlformats.org/drawingml/2006/main">
            <a:off x="571500" y="4238625"/>
            <a:ext cx="47625" cy="1000125"/>
          </a:xfrm>
          <a:prstGeom xmlns:a="http://schemas.openxmlformats.org/drawingml/2006/main" prst="rect">
            <a:avLst/>
          </a:prstGeom>
          <a:solidFill xmlns:a="http://schemas.openxmlformats.org/drawingml/2006/main">
            <a:srgbClr val="FB71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65110FC-890F-4EF5-A037-2D3575AA097A}"/>
              </a:ext>
            </a:extLst>
          </p:cNvPr>
          <p:cNvSpPr>
            <a:spLocks xmlns:a="http://schemas.openxmlformats.org/drawingml/2006/main" noGrp="1"/>
          </p:cNvSpPr>
          <p:nvPr/>
        </p:nvSpPr>
        <p:spPr>
          <a:xfrm xmlns:a="http://schemas.openxmlformats.org/drawingml/2006/main">
            <a:off x="781050" y="44100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Active defence destabilised routing</a:t>
            </a:r>
          </a:p>
        </p:txBody>
      </p:sp>
      <p:sp>
        <p:nvSpPr>
          <p:cNvPr id="26" name="">
            <a:extLst xmlns:a="http://schemas.openxmlformats.org/drawingml/2006/main">
              <a:ext uri="{FF2B5EF4-FFF2-40B4-BE49-F238E27FC236}">
                <a16:creationId xmlns:a16="http://schemas.microsoft.com/office/drawing/2014/main" id="{67F656DA-400A-4749-8EA1-EDDBAB8860F9}"/>
              </a:ext>
            </a:extLst>
          </p:cNvPr>
          <p:cNvSpPr>
            <a:spLocks xmlns:a="http://schemas.openxmlformats.org/drawingml/2006/main" noGrp="1"/>
          </p:cNvSpPr>
          <p:nvPr/>
        </p:nvSpPr>
        <p:spPr>
          <a:xfrm xmlns:a="http://schemas.openxmlformats.org/drawingml/2006/main">
            <a:off x="4095750" y="4581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4FB47E4-03D6-4F5B-B758-8113B001C6FB}"/>
              </a:ext>
            </a:extLst>
          </p:cNvPr>
          <p:cNvSpPr>
            <a:spLocks xmlns:a="http://schemas.openxmlformats.org/drawingml/2006/main" noGrp="1"/>
          </p:cNvSpPr>
          <p:nvPr/>
        </p:nvSpPr>
        <p:spPr>
          <a:xfrm xmlns:a="http://schemas.openxmlformats.org/drawingml/2006/main">
            <a:off x="4572000" y="441007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5EAF0"/>
                </a:solidFill>
              </a:defRPr>
            </a:pPr>
            <a:r>
              <a:rPr sz="1275" b="0">
                <a:solidFill>
                  <a:srgbClr val="E5EAF0"/>
                </a:solidFill>
              </a:rPr>
              <a:t>Measured response, radio and churn cost</a:t>
            </a:r>
          </a:p>
        </p:txBody>
      </p:sp>
      <p:sp>
        <p:nvSpPr>
          <p:cNvPr id="28" name="">
            <a:extLst xmlns:a="http://schemas.openxmlformats.org/drawingml/2006/main">
              <a:ext uri="{FF2B5EF4-FFF2-40B4-BE49-F238E27FC236}">
                <a16:creationId xmlns:a16="http://schemas.microsoft.com/office/drawing/2014/main" id="{B44F6FAA-1994-4332-8444-91B830F51A0E}"/>
              </a:ext>
            </a:extLst>
          </p:cNvPr>
          <p:cNvSpPr>
            <a:spLocks xmlns:a="http://schemas.openxmlformats.org/drawingml/2006/main" noGrp="1"/>
          </p:cNvSpPr>
          <p:nvPr/>
        </p:nvSpPr>
        <p:spPr>
          <a:xfrm xmlns:a="http://schemas.openxmlformats.org/drawingml/2006/main">
            <a:off x="7810500" y="4581525"/>
            <a:ext cx="285750" cy="285750"/>
          </a:xfrm>
          <a:prstGeom xmlns:a="http://schemas.openxmlformats.org/drawingml/2006/main" prst="chevron">
            <a:avLst/>
          </a:prstGeom>
          <a:solidFill xmlns:a="http://schemas.openxmlformats.org/drawingml/2006/main">
            <a:srgbClr val="2C3A4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0AF9635-93A7-4EFF-8B18-391386997800}"/>
              </a:ext>
            </a:extLst>
          </p:cNvPr>
          <p:cNvSpPr>
            <a:spLocks xmlns:a="http://schemas.openxmlformats.org/drawingml/2006/main" noGrp="1"/>
          </p:cNvSpPr>
          <p:nvPr/>
        </p:nvSpPr>
        <p:spPr>
          <a:xfrm xmlns:a="http://schemas.openxmlformats.org/drawingml/2006/main">
            <a:off x="8334375" y="4410075"/>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34D399"/>
                </a:solidFill>
              </a:defRPr>
            </a:pPr>
            <a:r>
              <a:rPr sz="1275" b="1">
                <a:solidFill>
                  <a:srgbClr val="34D399"/>
                </a:solidFill>
              </a:rPr>
              <a:t>Detection does not guarantee safe mitigation</a:t>
            </a:r>
          </a:p>
        </p:txBody>
      </p:sp>
      <p:sp>
        <p:nvSpPr>
          <p:cNvPr id="30" name="">
            <a:extLst xmlns:a="http://schemas.openxmlformats.org/drawingml/2006/main">
              <a:ext uri="{FF2B5EF4-FFF2-40B4-BE49-F238E27FC236}">
                <a16:creationId xmlns:a16="http://schemas.microsoft.com/office/drawing/2014/main" id="{C8362171-0BDF-49A7-A249-6B44A2531DE0}"/>
              </a:ext>
            </a:extLst>
          </p:cNvPr>
          <p:cNvSpPr>
            <a:spLocks xmlns:a="http://schemas.openxmlformats.org/drawingml/2006/main" noGrp="1"/>
          </p:cNvSpPr>
          <p:nvPr/>
        </p:nvSpPr>
        <p:spPr>
          <a:xfrm xmlns:a="http://schemas.openxmlformats.org/drawingml/2006/main">
            <a:off x="1714500" y="5619750"/>
            <a:ext cx="8763000" cy="552450"/>
          </a:xfrm>
          <a:prstGeom xmlns:a="http://schemas.openxmlformats.org/drawingml/2006/main" prst="roundRect">
            <a:avLst>
              <a:gd name="adj" fmla="val 13793"/>
            </a:avLst>
          </a:prstGeom>
          <a:solidFill xmlns:a="http://schemas.openxmlformats.org/drawingml/2006/main">
            <a:srgbClr val="0E151E"/>
          </a:solidFill>
          <a:ln xmlns:a="http://schemas.openxmlformats.org/drawingml/2006/main" w="9525">
            <a:solidFill>
              <a:srgbClr val="22D3EE"/>
            </a:solidFill>
            <a:prstDash val="solid"/>
          </a:ln>
        </p:spPr>
      </p:sp>
      <p:sp>
        <p:nvSpPr>
          <p:cNvPr id="31" name="">
            <a:extLst xmlns:a="http://schemas.openxmlformats.org/drawingml/2006/main">
              <a:ext uri="{FF2B5EF4-FFF2-40B4-BE49-F238E27FC236}">
                <a16:creationId xmlns:a16="http://schemas.microsoft.com/office/drawing/2014/main" id="{2E1CDB72-5218-49A1-A894-511BE3938988}"/>
              </a:ext>
            </a:extLst>
          </p:cNvPr>
          <p:cNvSpPr>
            <a:spLocks xmlns:a="http://schemas.openxmlformats.org/drawingml/2006/main" noGrp="1"/>
          </p:cNvSpPr>
          <p:nvPr/>
        </p:nvSpPr>
        <p:spPr>
          <a:xfrm xmlns:a="http://schemas.openxmlformats.org/drawingml/2006/main">
            <a:off x="1952625" y="5715000"/>
            <a:ext cx="828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7FAFC"/>
                </a:solidFill>
              </a:defRPr>
            </a:pPr>
            <a:r>
              <a:rPr sz="1425" b="1">
                <a:solidFill>
                  <a:srgbClr val="F7FAFC"/>
                </a:solidFill>
              </a:rPr>
              <a:t>The contribution includes correcting failed assumptions, not only reporting the best score.</a:t>
            </a:r>
          </a:p>
        </p:txBody>
      </p:sp>
    </p:spTree>
    <p:extLst>
      <p:ext uri="{BB962C8B-B14F-4D97-AF65-F5344CB8AC3E}">
        <p14:creationId xmlns:p14="http://schemas.microsoft.com/office/powerpoint/2010/main" val="374789011"/>
      </p:ext>
    </p:extLst>
  </p:cSld>
</p:sld>
</file>

<file path=ppt/slides/slide20.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938DCDB-1AE0-4164-B4C8-300AAEE994FC}"/>
              </a:ext>
            </a:extLst>
          </p:cNvPr>
          <p:cNvSpPr>
            <a:spLocks xmlns:a="http://schemas.openxmlformats.org/drawingml/2006/main" noGrp="1"/>
          </p:cNvSpPr>
          <p:nvPr/>
        </p:nvSpPr>
        <p:spPr>
          <a:xfrm xmlns:a="http://schemas.openxmlformats.org/drawingml/2006/main">
            <a:off x="590550" y="361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2D3EE"/>
                </a:solidFill>
              </a:defRPr>
            </a:pPr>
            <a:r>
              <a:rPr sz="975" b="1">
                <a:solidFill>
                  <a:srgbClr val="22D3EE"/>
                </a:solidFill>
              </a:rPr>
              <a:t>CONCLUSIONS</a:t>
            </a:r>
          </a:p>
        </p:txBody>
      </p:sp>
      <p:sp>
        <p:nvSpPr>
          <p:cNvPr id="2" name="">
            <a:extLst xmlns:a="http://schemas.openxmlformats.org/drawingml/2006/main">
              <a:ext uri="{FF2B5EF4-FFF2-40B4-BE49-F238E27FC236}">
                <a16:creationId xmlns:a16="http://schemas.microsoft.com/office/drawing/2014/main" id="{57EF50F2-176E-4D0C-9861-0ECF6D0B4DC4}"/>
              </a:ext>
            </a:extLst>
          </p:cNvPr>
          <p:cNvSpPr>
            <a:spLocks xmlns:a="http://schemas.openxmlformats.org/drawingml/2006/main" noGrp="1"/>
          </p:cNvSpPr>
          <p:nvPr/>
        </p:nvSpPr>
        <p:spPr>
          <a:xfrm xmlns:a="http://schemas.openxmlformats.org/drawingml/2006/main">
            <a:off x="590550" y="7429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F7FAFC"/>
                </a:solidFill>
              </a:defRPr>
            </a:pPr>
            <a:r>
              <a:rPr sz="3000" b="1">
                <a:solidFill>
                  <a:srgbClr val="F7FAFC"/>
                </a:solidFill>
              </a:rPr>
              <a:t>What the evidence supports</a:t>
            </a:r>
          </a:p>
        </p:txBody>
      </p:sp>
      <p:sp>
        <p:nvSpPr>
          <p:cNvPr id="3" name="">
            <a:extLst xmlns:a="http://schemas.openxmlformats.org/drawingml/2006/main">
              <a:ext uri="{FF2B5EF4-FFF2-40B4-BE49-F238E27FC236}">
                <a16:creationId xmlns:a16="http://schemas.microsoft.com/office/drawing/2014/main" id="{D8910ED8-A332-4056-A5B7-EF68780AEC19}"/>
              </a:ext>
            </a:extLst>
          </p:cNvPr>
          <p:cNvSpPr>
            <a:spLocks xmlns:a="http://schemas.openxmlformats.org/drawingml/2006/main" noGrp="1"/>
          </p:cNvSpPr>
          <p:nvPr/>
        </p:nvSpPr>
        <p:spPr>
          <a:xfrm xmlns:a="http://schemas.openxmlformats.org/drawingml/2006/main">
            <a:off x="666750" y="1638300"/>
            <a:ext cx="457200" cy="457200"/>
          </a:xfrm>
          <a:prstGeom xmlns:a="http://schemas.openxmlformats.org/drawingml/2006/main" prst="ellipse">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4" name="">
            <a:extLst xmlns:a="http://schemas.openxmlformats.org/drawingml/2006/main">
              <a:ext uri="{FF2B5EF4-FFF2-40B4-BE49-F238E27FC236}">
                <a16:creationId xmlns:a16="http://schemas.microsoft.com/office/drawing/2014/main" id="{21CC6C5C-2A4F-4382-A752-7088F8015D8C}"/>
              </a:ext>
            </a:extLst>
          </p:cNvPr>
          <p:cNvSpPr>
            <a:spLocks xmlns:a="http://schemas.openxmlformats.org/drawingml/2006/main" noGrp="1"/>
          </p:cNvSpPr>
          <p:nvPr/>
        </p:nvSpPr>
        <p:spPr>
          <a:xfrm xmlns:a="http://schemas.openxmlformats.org/drawingml/2006/main">
            <a:off x="666750" y="16383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B7185"/>
                </a:solidFill>
              </a:defRPr>
            </a:pPr>
            <a:r>
              <a:rPr sz="1425" b="1">
                <a:solidFill>
                  <a:srgbClr val="FB7185"/>
                </a:solidFill>
              </a:rPr>
              <a:t>1</a:t>
            </a:r>
          </a:p>
        </p:txBody>
      </p:sp>
      <p:sp>
        <p:nvSpPr>
          <p:cNvPr id="5" name="">
            <a:extLst xmlns:a="http://schemas.openxmlformats.org/drawingml/2006/main">
              <a:ext uri="{FF2B5EF4-FFF2-40B4-BE49-F238E27FC236}">
                <a16:creationId xmlns:a16="http://schemas.microsoft.com/office/drawing/2014/main" id="{E034FF8C-A40D-481B-B7EA-E057D81D6FB1}"/>
              </a:ext>
            </a:extLst>
          </p:cNvPr>
          <p:cNvSpPr>
            <a:spLocks xmlns:a="http://schemas.openxmlformats.org/drawingml/2006/main" noGrp="1"/>
          </p:cNvSpPr>
          <p:nvPr/>
        </p:nvSpPr>
        <p:spPr>
          <a:xfrm xmlns:a="http://schemas.openxmlformats.org/drawingml/2006/main">
            <a:off x="1381125" y="15811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Static transfer is brittle</a:t>
            </a:r>
          </a:p>
        </p:txBody>
      </p:sp>
      <p:sp>
        <p:nvSpPr>
          <p:cNvPr id="6" name="">
            <a:extLst xmlns:a="http://schemas.openxmlformats.org/drawingml/2006/main">
              <a:ext uri="{FF2B5EF4-FFF2-40B4-BE49-F238E27FC236}">
                <a16:creationId xmlns:a16="http://schemas.microsoft.com/office/drawing/2014/main" id="{44A29F9B-71C4-4217-9EAA-A16F93876259}"/>
              </a:ext>
            </a:extLst>
          </p:cNvPr>
          <p:cNvSpPr>
            <a:spLocks xmlns:a="http://schemas.openxmlformats.org/drawingml/2006/main" noGrp="1"/>
          </p:cNvSpPr>
          <p:nvPr/>
        </p:nvSpPr>
        <p:spPr>
          <a:xfrm xmlns:a="http://schemas.openxmlformats.org/drawingml/2006/main">
            <a:off x="5334000" y="158115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48 of 72 cross-attack CART pairs miss every attack window.</a:t>
            </a:r>
          </a:p>
        </p:txBody>
      </p:sp>
      <p:sp>
        <p:nvSpPr>
          <p:cNvPr id="7" name="">
            <a:extLst xmlns:a="http://schemas.openxmlformats.org/drawingml/2006/main">
              <a:ext uri="{FF2B5EF4-FFF2-40B4-BE49-F238E27FC236}">
                <a16:creationId xmlns:a16="http://schemas.microsoft.com/office/drawing/2014/main" id="{60E0D3E6-CD3C-4D80-B88B-D3484C38767C}"/>
              </a:ext>
            </a:extLst>
          </p:cNvPr>
          <p:cNvSpPr>
            <a:spLocks xmlns:a="http://schemas.openxmlformats.org/drawingml/2006/main" noGrp="1"/>
          </p:cNvSpPr>
          <p:nvPr/>
        </p:nvSpPr>
        <p:spPr>
          <a:xfrm xmlns:a="http://schemas.openxmlformats.org/drawingml/2006/main">
            <a:off x="666750" y="2457450"/>
            <a:ext cx="457200" cy="45720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8" name="">
            <a:extLst xmlns:a="http://schemas.openxmlformats.org/drawingml/2006/main">
              <a:ext uri="{FF2B5EF4-FFF2-40B4-BE49-F238E27FC236}">
                <a16:creationId xmlns:a16="http://schemas.microsoft.com/office/drawing/2014/main" id="{E90DE08E-9A70-4AC0-BA97-6EBAEB860261}"/>
              </a:ext>
            </a:extLst>
          </p:cNvPr>
          <p:cNvSpPr>
            <a:spLocks xmlns:a="http://schemas.openxmlformats.org/drawingml/2006/main" noGrp="1"/>
          </p:cNvSpPr>
          <p:nvPr/>
        </p:nvSpPr>
        <p:spPr>
          <a:xfrm xmlns:a="http://schemas.openxmlformats.org/drawingml/2006/main">
            <a:off x="666750" y="24574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2D3EE"/>
                </a:solidFill>
              </a:defRPr>
            </a:pPr>
            <a:r>
              <a:rPr sz="1425" b="1">
                <a:solidFill>
                  <a:srgbClr val="22D3EE"/>
                </a:solidFill>
              </a:rPr>
              <a:t>2</a:t>
            </a:r>
          </a:p>
        </p:txBody>
      </p:sp>
      <p:sp>
        <p:nvSpPr>
          <p:cNvPr id="9" name="">
            <a:extLst xmlns:a="http://schemas.openxmlformats.org/drawingml/2006/main">
              <a:ext uri="{FF2B5EF4-FFF2-40B4-BE49-F238E27FC236}">
                <a16:creationId xmlns:a16="http://schemas.microsoft.com/office/drawing/2014/main" id="{F52B7BB3-52E4-4ED9-8163-E3D4E905B61F}"/>
              </a:ext>
            </a:extLst>
          </p:cNvPr>
          <p:cNvSpPr>
            <a:spLocks xmlns:a="http://schemas.openxmlformats.org/drawingml/2006/main" noGrp="1"/>
          </p:cNvSpPr>
          <p:nvPr/>
        </p:nvSpPr>
        <p:spPr>
          <a:xfrm xmlns:a="http://schemas.openxmlformats.org/drawingml/2006/main">
            <a:off x="1381125" y="24003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Features determine adaptability</a:t>
            </a:r>
          </a:p>
        </p:txBody>
      </p:sp>
      <p:sp>
        <p:nvSpPr>
          <p:cNvPr id="10" name="">
            <a:extLst xmlns:a="http://schemas.openxmlformats.org/drawingml/2006/main">
              <a:ext uri="{FF2B5EF4-FFF2-40B4-BE49-F238E27FC236}">
                <a16:creationId xmlns:a16="http://schemas.microsoft.com/office/drawing/2014/main" id="{183942C8-2816-4BCD-A1C0-1382E5CFFEE0}"/>
              </a:ext>
            </a:extLst>
          </p:cNvPr>
          <p:cNvSpPr>
            <a:spLocks xmlns:a="http://schemas.openxmlformats.org/drawingml/2006/main" noGrp="1"/>
          </p:cNvSpPr>
          <p:nvPr/>
        </p:nvSpPr>
        <p:spPr>
          <a:xfrm xmlns:a="http://schemas.openxmlformats.org/drawingml/2006/main">
            <a:off x="5334000" y="240030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Routing-state evidence changes the Blackhole-to-Sinkhole result.</a:t>
            </a:r>
          </a:p>
        </p:txBody>
      </p:sp>
      <p:sp>
        <p:nvSpPr>
          <p:cNvPr id="11" name="">
            <a:extLst xmlns:a="http://schemas.openxmlformats.org/drawingml/2006/main">
              <a:ext uri="{FF2B5EF4-FFF2-40B4-BE49-F238E27FC236}">
                <a16:creationId xmlns:a16="http://schemas.microsoft.com/office/drawing/2014/main" id="{BAD66CC9-2456-4DE3-88D9-864C63A14AA3}"/>
              </a:ext>
            </a:extLst>
          </p:cNvPr>
          <p:cNvSpPr>
            <a:spLocks xmlns:a="http://schemas.openxmlformats.org/drawingml/2006/main" noGrp="1"/>
          </p:cNvSpPr>
          <p:nvPr/>
        </p:nvSpPr>
        <p:spPr>
          <a:xfrm xmlns:a="http://schemas.openxmlformats.org/drawingml/2006/main">
            <a:off x="666750" y="3276600"/>
            <a:ext cx="457200" cy="457200"/>
          </a:xfrm>
          <a:prstGeom xmlns:a="http://schemas.openxmlformats.org/drawingml/2006/main" prst="ellipse">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12" name="">
            <a:extLst xmlns:a="http://schemas.openxmlformats.org/drawingml/2006/main">
              <a:ext uri="{FF2B5EF4-FFF2-40B4-BE49-F238E27FC236}">
                <a16:creationId xmlns:a16="http://schemas.microsoft.com/office/drawing/2014/main" id="{34C01151-C102-48D6-8B45-C9A13BBA4670}"/>
              </a:ext>
            </a:extLst>
          </p:cNvPr>
          <p:cNvSpPr>
            <a:spLocks xmlns:a="http://schemas.openxmlformats.org/drawingml/2006/main" noGrp="1"/>
          </p:cNvSpPr>
          <p:nvPr/>
        </p:nvSpPr>
        <p:spPr>
          <a:xfrm xmlns:a="http://schemas.openxmlformats.org/drawingml/2006/main">
            <a:off x="666750" y="3276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34D399"/>
                </a:solidFill>
              </a:defRPr>
            </a:pPr>
            <a:r>
              <a:rPr sz="1425" b="1">
                <a:solidFill>
                  <a:srgbClr val="34D399"/>
                </a:solidFill>
              </a:rPr>
              <a:t>3</a:t>
            </a:r>
          </a:p>
        </p:txBody>
      </p:sp>
      <p:sp>
        <p:nvSpPr>
          <p:cNvPr id="13" name="">
            <a:extLst xmlns:a="http://schemas.openxmlformats.org/drawingml/2006/main">
              <a:ext uri="{FF2B5EF4-FFF2-40B4-BE49-F238E27FC236}">
                <a16:creationId xmlns:a16="http://schemas.microsoft.com/office/drawing/2014/main" id="{6A573DF0-576E-4976-BB19-C171727A2C8D}"/>
              </a:ext>
            </a:extLst>
          </p:cNvPr>
          <p:cNvSpPr>
            <a:spLocks xmlns:a="http://schemas.openxmlformats.org/drawingml/2006/main" noGrp="1"/>
          </p:cNvSpPr>
          <p:nvPr/>
        </p:nvSpPr>
        <p:spPr>
          <a:xfrm xmlns:a="http://schemas.openxmlformats.org/drawingml/2006/main">
            <a:off x="1381125" y="3219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Limited adaptation often recovers performance</a:t>
            </a:r>
          </a:p>
        </p:txBody>
      </p:sp>
      <p:sp>
        <p:nvSpPr>
          <p:cNvPr id="14" name="">
            <a:extLst xmlns:a="http://schemas.openxmlformats.org/drawingml/2006/main">
              <a:ext uri="{FF2B5EF4-FFF2-40B4-BE49-F238E27FC236}">
                <a16:creationId xmlns:a16="http://schemas.microsoft.com/office/drawing/2014/main" id="{01750A9D-0902-4572-99C9-A52AF5BFA40E}"/>
              </a:ext>
            </a:extLst>
          </p:cNvPr>
          <p:cNvSpPr>
            <a:spLocks xmlns:a="http://schemas.openxmlformats.org/drawingml/2006/main" noGrp="1"/>
          </p:cNvSpPr>
          <p:nvPr/>
        </p:nvSpPr>
        <p:spPr>
          <a:xfrm xmlns:a="http://schemas.openxmlformats.org/drawingml/2006/main">
            <a:off x="5334000" y="321945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Mean F1 rises from 0.182 to 0.826 after one complete target seed.</a:t>
            </a:r>
          </a:p>
        </p:txBody>
      </p:sp>
      <p:sp>
        <p:nvSpPr>
          <p:cNvPr id="15" name="">
            <a:extLst xmlns:a="http://schemas.openxmlformats.org/drawingml/2006/main">
              <a:ext uri="{FF2B5EF4-FFF2-40B4-BE49-F238E27FC236}">
                <a16:creationId xmlns:a16="http://schemas.microsoft.com/office/drawing/2014/main" id="{840CC5C5-49C9-44B0-A8D1-D142EB8E041C}"/>
              </a:ext>
            </a:extLst>
          </p:cNvPr>
          <p:cNvSpPr>
            <a:spLocks xmlns:a="http://schemas.openxmlformats.org/drawingml/2006/main" noGrp="1"/>
          </p:cNvSpPr>
          <p:nvPr/>
        </p:nvSpPr>
        <p:spPr>
          <a:xfrm xmlns:a="http://schemas.openxmlformats.org/drawingml/2006/main">
            <a:off x="666750" y="4095750"/>
            <a:ext cx="457200" cy="457200"/>
          </a:xfrm>
          <a:prstGeom xmlns:a="http://schemas.openxmlformats.org/drawingml/2006/main" prst="ellipse">
            <a:avLst/>
          </a:prstGeom>
          <a:solidFill xmlns:a="http://schemas.openxmlformats.org/drawingml/2006/main">
            <a:srgbClr val="FACC15">
              <a:alpha val="13333"/>
            </a:srgbClr>
          </a:solidFill>
          <a:ln xmlns:a="http://schemas.openxmlformats.org/drawingml/2006/main" w="9525">
            <a:solidFill>
              <a:srgbClr val="FACC15"/>
            </a:solidFill>
            <a:prstDash val="solid"/>
          </a:ln>
        </p:spPr>
      </p:sp>
      <p:sp>
        <p:nvSpPr>
          <p:cNvPr id="16" name="">
            <a:extLst xmlns:a="http://schemas.openxmlformats.org/drawingml/2006/main">
              <a:ext uri="{FF2B5EF4-FFF2-40B4-BE49-F238E27FC236}">
                <a16:creationId xmlns:a16="http://schemas.microsoft.com/office/drawing/2014/main" id="{2BA56FDD-A433-4637-A7F1-135703A34703}"/>
              </a:ext>
            </a:extLst>
          </p:cNvPr>
          <p:cNvSpPr>
            <a:spLocks xmlns:a="http://schemas.openxmlformats.org/drawingml/2006/main" noGrp="1"/>
          </p:cNvSpPr>
          <p:nvPr/>
        </p:nvSpPr>
        <p:spPr>
          <a:xfrm xmlns:a="http://schemas.openxmlformats.org/drawingml/2006/main">
            <a:off x="666750" y="4095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ACC15"/>
                </a:solidFill>
              </a:defRPr>
            </a:pPr>
            <a:r>
              <a:rPr sz="1425" b="1">
                <a:solidFill>
                  <a:srgbClr val="FACC15"/>
                </a:solidFill>
              </a:rPr>
              <a:t>4</a:t>
            </a:r>
          </a:p>
        </p:txBody>
      </p:sp>
      <p:sp>
        <p:nvSpPr>
          <p:cNvPr id="17" name="">
            <a:extLst xmlns:a="http://schemas.openxmlformats.org/drawingml/2006/main">
              <a:ext uri="{FF2B5EF4-FFF2-40B4-BE49-F238E27FC236}">
                <a16:creationId xmlns:a16="http://schemas.microsoft.com/office/drawing/2014/main" id="{4E4CE4D4-51CF-4F53-8441-CA51D642AEC6}"/>
              </a:ext>
            </a:extLst>
          </p:cNvPr>
          <p:cNvSpPr>
            <a:spLocks xmlns:a="http://schemas.openxmlformats.org/drawingml/2006/main" noGrp="1"/>
          </p:cNvSpPr>
          <p:nvPr/>
        </p:nvSpPr>
        <p:spPr>
          <a:xfrm xmlns:a="http://schemas.openxmlformats.org/drawingml/2006/main">
            <a:off x="1381125" y="40386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Sybil adds an identity-based surface</a:t>
            </a:r>
          </a:p>
        </p:txBody>
      </p:sp>
      <p:sp>
        <p:nvSpPr>
          <p:cNvPr id="18" name="">
            <a:extLst xmlns:a="http://schemas.openxmlformats.org/drawingml/2006/main">
              <a:ext uri="{FF2B5EF4-FFF2-40B4-BE49-F238E27FC236}">
                <a16:creationId xmlns:a16="http://schemas.microsoft.com/office/drawing/2014/main" id="{B689D0EA-18F2-41ED-8C0D-2EE84CB39A73}"/>
              </a:ext>
            </a:extLst>
          </p:cNvPr>
          <p:cNvSpPr>
            <a:spLocks xmlns:a="http://schemas.openxmlformats.org/drawingml/2006/main" noGrp="1"/>
          </p:cNvSpPr>
          <p:nvPr/>
        </p:nvSpPr>
        <p:spPr>
          <a:xfrm xmlns:a="http://schemas.openxmlformats.org/drawingml/2006/main">
            <a:off x="5334000" y="403860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Static transfer is weak; one held-out adaptation seed reaches F1 0.968.</a:t>
            </a:r>
          </a:p>
        </p:txBody>
      </p:sp>
      <p:sp>
        <p:nvSpPr>
          <p:cNvPr id="19" name="">
            <a:extLst xmlns:a="http://schemas.openxmlformats.org/drawingml/2006/main">
              <a:ext uri="{FF2B5EF4-FFF2-40B4-BE49-F238E27FC236}">
                <a16:creationId xmlns:a16="http://schemas.microsoft.com/office/drawing/2014/main" id="{CE0902F6-FEC5-4570-82FB-09FD8F5CED1D}"/>
              </a:ext>
            </a:extLst>
          </p:cNvPr>
          <p:cNvSpPr>
            <a:spLocks xmlns:a="http://schemas.openxmlformats.org/drawingml/2006/main" noGrp="1"/>
          </p:cNvSpPr>
          <p:nvPr/>
        </p:nvSpPr>
        <p:spPr>
          <a:xfrm xmlns:a="http://schemas.openxmlformats.org/drawingml/2006/main">
            <a:off x="666750" y="4914900"/>
            <a:ext cx="457200" cy="45720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20" name="">
            <a:extLst xmlns:a="http://schemas.openxmlformats.org/drawingml/2006/main">
              <a:ext uri="{FF2B5EF4-FFF2-40B4-BE49-F238E27FC236}">
                <a16:creationId xmlns:a16="http://schemas.microsoft.com/office/drawing/2014/main" id="{B1146A4E-F8AC-4566-8789-42C0961CDE91}"/>
              </a:ext>
            </a:extLst>
          </p:cNvPr>
          <p:cNvSpPr>
            <a:spLocks xmlns:a="http://schemas.openxmlformats.org/drawingml/2006/main" noGrp="1"/>
          </p:cNvSpPr>
          <p:nvPr/>
        </p:nvSpPr>
        <p:spPr>
          <a:xfrm xmlns:a="http://schemas.openxmlformats.org/drawingml/2006/main">
            <a:off x="666750" y="4914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A78BFA"/>
                </a:solidFill>
              </a:defRPr>
            </a:pPr>
            <a:r>
              <a:rPr sz="1425" b="1">
                <a:solidFill>
                  <a:srgbClr val="A78BFA"/>
                </a:solidFill>
              </a:rPr>
              <a:t>5</a:t>
            </a:r>
          </a:p>
        </p:txBody>
      </p:sp>
      <p:sp>
        <p:nvSpPr>
          <p:cNvPr id="21" name="">
            <a:extLst xmlns:a="http://schemas.openxmlformats.org/drawingml/2006/main">
              <a:ext uri="{FF2B5EF4-FFF2-40B4-BE49-F238E27FC236}">
                <a16:creationId xmlns:a16="http://schemas.microsoft.com/office/drawing/2014/main" id="{84A56AF0-DE5A-4AA0-BEBF-586389E0B757}"/>
              </a:ext>
            </a:extLst>
          </p:cNvPr>
          <p:cNvSpPr>
            <a:spLocks xmlns:a="http://schemas.openxmlformats.org/drawingml/2006/main" noGrp="1"/>
          </p:cNvSpPr>
          <p:nvPr/>
        </p:nvSpPr>
        <p:spPr>
          <a:xfrm xmlns:a="http://schemas.openxmlformats.org/drawingml/2006/main">
            <a:off x="1381125" y="4857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AFC"/>
                </a:solidFill>
              </a:defRPr>
            </a:pPr>
            <a:r>
              <a:rPr sz="1350" b="1">
                <a:solidFill>
                  <a:srgbClr val="F7FAFC"/>
                </a:solidFill>
              </a:rPr>
              <a:t>Explanation must remain evidence-grounded</a:t>
            </a:r>
          </a:p>
        </p:txBody>
      </p:sp>
      <p:sp>
        <p:nvSpPr>
          <p:cNvPr id="22" name="">
            <a:extLst xmlns:a="http://schemas.openxmlformats.org/drawingml/2006/main">
              <a:ext uri="{FF2B5EF4-FFF2-40B4-BE49-F238E27FC236}">
                <a16:creationId xmlns:a16="http://schemas.microsoft.com/office/drawing/2014/main" id="{0CBA005D-D0F0-4A87-8517-4D840D0EF103}"/>
              </a:ext>
            </a:extLst>
          </p:cNvPr>
          <p:cNvSpPr>
            <a:spLocks xmlns:a="http://schemas.openxmlformats.org/drawingml/2006/main" noGrp="1"/>
          </p:cNvSpPr>
          <p:nvPr/>
        </p:nvSpPr>
        <p:spPr>
          <a:xfrm xmlns:a="http://schemas.openxmlformats.org/drawingml/2006/main">
            <a:off x="5334000" y="485775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The local LLM describes measured results but does not replace detection.</a:t>
            </a:r>
          </a:p>
        </p:txBody>
      </p:sp>
      <p:sp>
        <p:nvSpPr>
          <p:cNvPr id="23" name="">
            <a:extLst xmlns:a="http://schemas.openxmlformats.org/drawingml/2006/main">
              <a:ext uri="{FF2B5EF4-FFF2-40B4-BE49-F238E27FC236}">
                <a16:creationId xmlns:a16="http://schemas.microsoft.com/office/drawing/2014/main" id="{C7187623-EA09-40AD-872F-BFA438BC6D18}"/>
              </a:ext>
            </a:extLst>
          </p:cNvPr>
          <p:cNvSpPr>
            <a:spLocks xmlns:a="http://schemas.openxmlformats.org/drawingml/2006/main" noGrp="1"/>
          </p:cNvSpPr>
          <p:nvPr/>
        </p:nvSpPr>
        <p:spPr>
          <a:xfrm xmlns:a="http://schemas.openxmlformats.org/drawingml/2006/main">
            <a:off x="1143000" y="5791200"/>
            <a:ext cx="9906000" cy="552450"/>
          </a:xfrm>
          <a:prstGeom xmlns:a="http://schemas.openxmlformats.org/drawingml/2006/main" prst="roundRect">
            <a:avLst>
              <a:gd name="adj" fmla="val 13793"/>
            </a:avLst>
          </a:prstGeom>
          <a:solidFill xmlns:a="http://schemas.openxmlformats.org/drawingml/2006/main">
            <a:srgbClr val="0E151E"/>
          </a:solidFill>
          <a:ln xmlns:a="http://schemas.openxmlformats.org/drawingml/2006/main" w="9525">
            <a:solidFill>
              <a:srgbClr val="22D3EE"/>
            </a:solidFill>
            <a:prstDash val="solid"/>
          </a:ln>
        </p:spPr>
      </p:sp>
      <p:sp>
        <p:nvSpPr>
          <p:cNvPr id="24" name="">
            <a:extLst xmlns:a="http://schemas.openxmlformats.org/drawingml/2006/main">
              <a:ext uri="{FF2B5EF4-FFF2-40B4-BE49-F238E27FC236}">
                <a16:creationId xmlns:a16="http://schemas.microsoft.com/office/drawing/2014/main" id="{AD4FD22C-7BC5-4884-81D1-B8389114D0B6}"/>
              </a:ext>
            </a:extLst>
          </p:cNvPr>
          <p:cNvSpPr>
            <a:spLocks xmlns:a="http://schemas.openxmlformats.org/drawingml/2006/main" noGrp="1"/>
          </p:cNvSpPr>
          <p:nvPr/>
        </p:nvSpPr>
        <p:spPr>
          <a:xfrm xmlns:a="http://schemas.openxmlformats.org/drawingml/2006/main">
            <a:off x="1428750" y="58769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7FAFC"/>
                </a:solidFill>
              </a:defRPr>
            </a:pPr>
            <a:r>
              <a:rPr sz="1650" b="1">
                <a:solidFill>
                  <a:srgbClr val="F7FAFC"/>
                </a:solidFill>
              </a:rPr>
              <a:t>Changing attacks require adaptive detection and understandable evidence.</a:t>
            </a:r>
          </a:p>
        </p:txBody>
      </p:sp>
      <p:sp>
        <p:nvSpPr>
          <p:cNvPr id="25" name="">
            <a:extLst xmlns:a="http://schemas.openxmlformats.org/drawingml/2006/main">
              <a:ext uri="{FF2B5EF4-FFF2-40B4-BE49-F238E27FC236}">
                <a16:creationId xmlns:a16="http://schemas.microsoft.com/office/drawing/2014/main" id="{2A4769FD-061D-42FE-B35C-6920D91E9CA3}"/>
              </a:ext>
            </a:extLst>
          </p:cNvPr>
          <p:cNvSpPr>
            <a:spLocks xmlns:a="http://schemas.openxmlformats.org/drawingml/2006/main" noGrp="1"/>
          </p:cNvSpPr>
          <p:nvPr/>
        </p:nvSpPr>
        <p:spPr>
          <a:xfrm xmlns:a="http://schemas.openxmlformats.org/drawingml/2006/main">
            <a:off x="590550" y="64770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Questions</a:t>
            </a:r>
          </a:p>
        </p:txBody>
      </p:sp>
      <p:sp>
        <p:nvSpPr>
          <p:cNvPr id="26" name="">
            <a:extLst xmlns:a="http://schemas.openxmlformats.org/drawingml/2006/main">
              <a:ext uri="{FF2B5EF4-FFF2-40B4-BE49-F238E27FC236}">
                <a16:creationId xmlns:a16="http://schemas.microsoft.com/office/drawing/2014/main" id="{32AFB5F3-5F53-44AC-A2A9-679DDAD37855}"/>
              </a:ext>
            </a:extLst>
          </p:cNvPr>
          <p:cNvSpPr>
            <a:spLocks xmlns:a="http://schemas.openxmlformats.org/drawingml/2006/main" noGrp="1"/>
          </p:cNvSpPr>
          <p:nvPr/>
        </p:nvSpPr>
        <p:spPr>
          <a:xfrm xmlns:a="http://schemas.openxmlformats.org/drawingml/2006/main">
            <a:off x="9525000" y="6477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97A3B2"/>
                </a:solidFill>
              </a:defRPr>
            </a:pPr>
            <a:r>
              <a:rPr sz="900" b="1">
                <a:solidFill>
                  <a:srgbClr val="97A3B2"/>
                </a:solidFill>
              </a:rPr>
              <a:t>AL-MIZAAN JAMAL</a:t>
            </a:r>
          </a:p>
        </p:txBody>
      </p:sp>
    </p:spTree>
    <p:extLst>
      <p:ext uri="{BB962C8B-B14F-4D97-AF65-F5344CB8AC3E}">
        <p14:creationId xmlns:p14="http://schemas.microsoft.com/office/powerpoint/2010/main" val="698102625"/>
      </p:ext>
    </p:extLst>
  </p:cSld>
</p:sld>
</file>

<file path=ppt/slides/slide21.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7870881E-8636-4BC9-8584-FF967556B151}"/>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5BA34341-B597-4B60-A91A-95D9E942C4B2}"/>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Full attack-family campaign</a:t>
            </a:r>
          </a:p>
        </p:txBody>
      </p:sp>
      <p:sp>
        <p:nvSpPr>
          <p:cNvPr id="3" name="">
            <a:extLst xmlns:a="http://schemas.openxmlformats.org/drawingml/2006/main">
              <a:ext uri="{FF2B5EF4-FFF2-40B4-BE49-F238E27FC236}">
                <a16:creationId xmlns:a16="http://schemas.microsoft.com/office/drawing/2014/main" id="{1FC9ADCB-685A-4FBB-A260-1837C5DED4D4}"/>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39A065B-CC50-45D4-B885-AA70613EB4B9}"/>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E19A35-0A4C-4C0B-B365-1D998CA95E78}"/>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B154D01E-76A1-4E0B-9B78-F93BA865544F}"/>
              </a:ext>
            </a:extLst>
          </p:cNvPr>
          <p:cNvSpPr>
            <a:spLocks xmlns:a="http://schemas.openxmlformats.org/drawingml/2006/main" noGrp="1"/>
          </p:cNvSpPr>
          <p:nvPr/>
        </p:nvSpPr>
        <p:spPr>
          <a:xfrm xmlns:a="http://schemas.openxmlformats.org/drawingml/2006/main">
            <a:off x="619125" y="14287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FAMILY</a:t>
            </a:r>
          </a:p>
        </p:txBody>
      </p:sp>
      <p:sp>
        <p:nvSpPr>
          <p:cNvPr id="7" name="">
            <a:extLst xmlns:a="http://schemas.openxmlformats.org/drawingml/2006/main">
              <a:ext uri="{FF2B5EF4-FFF2-40B4-BE49-F238E27FC236}">
                <a16:creationId xmlns:a16="http://schemas.microsoft.com/office/drawing/2014/main" id="{BEFF16A5-5EBB-4E90-83D2-194225DE650B}"/>
              </a:ext>
            </a:extLst>
          </p:cNvPr>
          <p:cNvSpPr>
            <a:spLocks xmlns:a="http://schemas.openxmlformats.org/drawingml/2006/main" noGrp="1"/>
          </p:cNvSpPr>
          <p:nvPr/>
        </p:nvSpPr>
        <p:spPr>
          <a:xfrm xmlns:a="http://schemas.openxmlformats.org/drawingml/2006/main">
            <a:off x="2952750" y="14287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SURFACE</a:t>
            </a:r>
          </a:p>
        </p:txBody>
      </p:sp>
      <p:sp>
        <p:nvSpPr>
          <p:cNvPr id="8" name="">
            <a:extLst xmlns:a="http://schemas.openxmlformats.org/drawingml/2006/main">
              <a:ext uri="{FF2B5EF4-FFF2-40B4-BE49-F238E27FC236}">
                <a16:creationId xmlns:a16="http://schemas.microsoft.com/office/drawing/2014/main" id="{BEDE1400-6ABC-4228-8AA2-683D101E6978}"/>
              </a:ext>
            </a:extLst>
          </p:cNvPr>
          <p:cNvSpPr>
            <a:spLocks xmlns:a="http://schemas.openxmlformats.org/drawingml/2006/main" noGrp="1"/>
          </p:cNvSpPr>
          <p:nvPr/>
        </p:nvSpPr>
        <p:spPr>
          <a:xfrm xmlns:a="http://schemas.openxmlformats.org/drawingml/2006/main">
            <a:off x="4762500" y="1428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VALIDATED MECHANISM</a:t>
            </a:r>
          </a:p>
        </p:txBody>
      </p:sp>
      <p:sp>
        <p:nvSpPr>
          <p:cNvPr id="9" name="">
            <a:extLst xmlns:a="http://schemas.openxmlformats.org/drawingml/2006/main">
              <a:ext uri="{FF2B5EF4-FFF2-40B4-BE49-F238E27FC236}">
                <a16:creationId xmlns:a16="http://schemas.microsoft.com/office/drawing/2014/main" id="{A5EF4B1A-9B5D-42FE-B5A6-75A68D37B2D1}"/>
              </a:ext>
            </a:extLst>
          </p:cNvPr>
          <p:cNvSpPr>
            <a:spLocks xmlns:a="http://schemas.openxmlformats.org/drawingml/2006/main" noGrp="1"/>
          </p:cNvSpPr>
          <p:nvPr/>
        </p:nvSpPr>
        <p:spPr>
          <a:xfrm xmlns:a="http://schemas.openxmlformats.org/drawingml/2006/main">
            <a:off x="9906000" y="14287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ATTACK + CONTROL</a:t>
            </a:r>
          </a:p>
        </p:txBody>
      </p:sp>
      <p:sp>
        <p:nvSpPr>
          <p:cNvPr id="10" name="">
            <a:extLst xmlns:a="http://schemas.openxmlformats.org/drawingml/2006/main">
              <a:ext uri="{FF2B5EF4-FFF2-40B4-BE49-F238E27FC236}">
                <a16:creationId xmlns:a16="http://schemas.microsoft.com/office/drawing/2014/main" id="{A367F6B6-B749-4AC9-B3A8-E50C19406F56}"/>
              </a:ext>
            </a:extLst>
          </p:cNvPr>
          <p:cNvSpPr>
            <a:spLocks xmlns:a="http://schemas.openxmlformats.org/drawingml/2006/main" noGrp="1"/>
          </p:cNvSpPr>
          <p:nvPr/>
        </p:nvSpPr>
        <p:spPr>
          <a:xfrm xmlns:a="http://schemas.openxmlformats.org/drawingml/2006/main">
            <a:off x="523875" y="1752600"/>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ADA36F29-727A-4EC5-B21A-E6C09BCFE35C}"/>
              </a:ext>
            </a:extLst>
          </p:cNvPr>
          <p:cNvSpPr>
            <a:spLocks xmlns:a="http://schemas.openxmlformats.org/drawingml/2006/main" noGrp="1"/>
          </p:cNvSpPr>
          <p:nvPr/>
        </p:nvSpPr>
        <p:spPr>
          <a:xfrm xmlns:a="http://schemas.openxmlformats.org/drawingml/2006/main">
            <a:off x="685800" y="1752600"/>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Blackhole</a:t>
            </a:r>
          </a:p>
        </p:txBody>
      </p:sp>
      <p:sp>
        <p:nvSpPr>
          <p:cNvPr id="12" name="">
            <a:extLst xmlns:a="http://schemas.openxmlformats.org/drawingml/2006/main">
              <a:ext uri="{FF2B5EF4-FFF2-40B4-BE49-F238E27FC236}">
                <a16:creationId xmlns:a16="http://schemas.microsoft.com/office/drawing/2014/main" id="{6F127491-C2DB-4785-823D-E16B4EC89CD1}"/>
              </a:ext>
            </a:extLst>
          </p:cNvPr>
          <p:cNvSpPr>
            <a:spLocks xmlns:a="http://schemas.openxmlformats.org/drawingml/2006/main" noGrp="1"/>
          </p:cNvSpPr>
          <p:nvPr/>
        </p:nvSpPr>
        <p:spPr>
          <a:xfrm xmlns:a="http://schemas.openxmlformats.org/drawingml/2006/main">
            <a:off x="2952750" y="1752600"/>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Forwarding</a:t>
            </a:r>
          </a:p>
        </p:txBody>
      </p:sp>
      <p:sp>
        <p:nvSpPr>
          <p:cNvPr id="13" name="">
            <a:extLst xmlns:a="http://schemas.openxmlformats.org/drawingml/2006/main">
              <a:ext uri="{FF2B5EF4-FFF2-40B4-BE49-F238E27FC236}">
                <a16:creationId xmlns:a16="http://schemas.microsoft.com/office/drawing/2014/main" id="{31BCE4AF-5F6A-4D53-B70D-DD92A785734D}"/>
              </a:ext>
            </a:extLst>
          </p:cNvPr>
          <p:cNvSpPr>
            <a:spLocks xmlns:a="http://schemas.openxmlformats.org/drawingml/2006/main" noGrp="1"/>
          </p:cNvSpPr>
          <p:nvPr/>
        </p:nvSpPr>
        <p:spPr>
          <a:xfrm xmlns:a="http://schemas.openxmlformats.org/drawingml/2006/main">
            <a:off x="4762500" y="17526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Drop forwarded packets</a:t>
            </a:r>
          </a:p>
        </p:txBody>
      </p:sp>
      <p:sp>
        <p:nvSpPr>
          <p:cNvPr id="14" name="">
            <a:extLst xmlns:a="http://schemas.openxmlformats.org/drawingml/2006/main">
              <a:ext uri="{FF2B5EF4-FFF2-40B4-BE49-F238E27FC236}">
                <a16:creationId xmlns:a16="http://schemas.microsoft.com/office/drawing/2014/main" id="{C5C30DDB-EA6A-45CE-826C-E0775935CE5D}"/>
              </a:ext>
            </a:extLst>
          </p:cNvPr>
          <p:cNvSpPr>
            <a:spLocks xmlns:a="http://schemas.openxmlformats.org/drawingml/2006/main" noGrp="1"/>
          </p:cNvSpPr>
          <p:nvPr/>
        </p:nvSpPr>
        <p:spPr>
          <a:xfrm xmlns:a="http://schemas.openxmlformats.org/drawingml/2006/main">
            <a:off x="10096500" y="1752600"/>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15" name="">
            <a:extLst xmlns:a="http://schemas.openxmlformats.org/drawingml/2006/main">
              <a:ext uri="{FF2B5EF4-FFF2-40B4-BE49-F238E27FC236}">
                <a16:creationId xmlns:a16="http://schemas.microsoft.com/office/drawing/2014/main" id="{3B66AF7C-AE1A-4550-AF71-9DAF19267B80}"/>
              </a:ext>
            </a:extLst>
          </p:cNvPr>
          <p:cNvSpPr>
            <a:spLocks xmlns:a="http://schemas.openxmlformats.org/drawingml/2006/main" noGrp="1"/>
          </p:cNvSpPr>
          <p:nvPr/>
        </p:nvSpPr>
        <p:spPr>
          <a:xfrm xmlns:a="http://schemas.openxmlformats.org/drawingml/2006/main">
            <a:off x="523875" y="2257425"/>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16" name="">
            <a:extLst xmlns:a="http://schemas.openxmlformats.org/drawingml/2006/main">
              <a:ext uri="{FF2B5EF4-FFF2-40B4-BE49-F238E27FC236}">
                <a16:creationId xmlns:a16="http://schemas.microsoft.com/office/drawing/2014/main" id="{6732F1B9-58C5-4C4C-887D-007BD0E0EC03}"/>
              </a:ext>
            </a:extLst>
          </p:cNvPr>
          <p:cNvSpPr>
            <a:spLocks xmlns:a="http://schemas.openxmlformats.org/drawingml/2006/main" noGrp="1"/>
          </p:cNvSpPr>
          <p:nvPr/>
        </p:nvSpPr>
        <p:spPr>
          <a:xfrm xmlns:a="http://schemas.openxmlformats.org/drawingml/2006/main">
            <a:off x="685800" y="2257425"/>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Sinkhole</a:t>
            </a:r>
          </a:p>
        </p:txBody>
      </p:sp>
      <p:sp>
        <p:nvSpPr>
          <p:cNvPr id="17" name="">
            <a:extLst xmlns:a="http://schemas.openxmlformats.org/drawingml/2006/main">
              <a:ext uri="{FF2B5EF4-FFF2-40B4-BE49-F238E27FC236}">
                <a16:creationId xmlns:a16="http://schemas.microsoft.com/office/drawing/2014/main" id="{93D571E9-B8A8-4894-8C9E-081608DBB5AD}"/>
              </a:ext>
            </a:extLst>
          </p:cNvPr>
          <p:cNvSpPr>
            <a:spLocks xmlns:a="http://schemas.openxmlformats.org/drawingml/2006/main" noGrp="1"/>
          </p:cNvSpPr>
          <p:nvPr/>
        </p:nvSpPr>
        <p:spPr>
          <a:xfrm xmlns:a="http://schemas.openxmlformats.org/drawingml/2006/main">
            <a:off x="2952750" y="22574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Rank</a:t>
            </a:r>
          </a:p>
        </p:txBody>
      </p:sp>
      <p:sp>
        <p:nvSpPr>
          <p:cNvPr id="18" name="">
            <a:extLst xmlns:a="http://schemas.openxmlformats.org/drawingml/2006/main">
              <a:ext uri="{FF2B5EF4-FFF2-40B4-BE49-F238E27FC236}">
                <a16:creationId xmlns:a16="http://schemas.microsoft.com/office/drawing/2014/main" id="{00957C45-7C84-462F-BC37-58D1CF2596C3}"/>
              </a:ext>
            </a:extLst>
          </p:cNvPr>
          <p:cNvSpPr>
            <a:spLocks xmlns:a="http://schemas.openxmlformats.org/drawingml/2006/main" noGrp="1"/>
          </p:cNvSpPr>
          <p:nvPr/>
        </p:nvSpPr>
        <p:spPr>
          <a:xfrm xmlns:a="http://schemas.openxmlformats.org/drawingml/2006/main">
            <a:off x="4762500" y="225742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Advertise rank 128 instead of 256</a:t>
            </a:r>
          </a:p>
        </p:txBody>
      </p:sp>
      <p:sp>
        <p:nvSpPr>
          <p:cNvPr id="19" name="">
            <a:extLst xmlns:a="http://schemas.openxmlformats.org/drawingml/2006/main">
              <a:ext uri="{FF2B5EF4-FFF2-40B4-BE49-F238E27FC236}">
                <a16:creationId xmlns:a16="http://schemas.microsoft.com/office/drawing/2014/main" id="{E84AD1E1-194A-40B4-BA09-31EB1FB0DBF9}"/>
              </a:ext>
            </a:extLst>
          </p:cNvPr>
          <p:cNvSpPr>
            <a:spLocks xmlns:a="http://schemas.openxmlformats.org/drawingml/2006/main" noGrp="1"/>
          </p:cNvSpPr>
          <p:nvPr/>
        </p:nvSpPr>
        <p:spPr>
          <a:xfrm xmlns:a="http://schemas.openxmlformats.org/drawingml/2006/main">
            <a:off x="10096500" y="2257425"/>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20" name="">
            <a:extLst xmlns:a="http://schemas.openxmlformats.org/drawingml/2006/main">
              <a:ext uri="{FF2B5EF4-FFF2-40B4-BE49-F238E27FC236}">
                <a16:creationId xmlns:a16="http://schemas.microsoft.com/office/drawing/2014/main" id="{998C778E-0DBA-4FB1-9934-56AF278D0A52}"/>
              </a:ext>
            </a:extLst>
          </p:cNvPr>
          <p:cNvSpPr>
            <a:spLocks xmlns:a="http://schemas.openxmlformats.org/drawingml/2006/main" noGrp="1"/>
          </p:cNvSpPr>
          <p:nvPr/>
        </p:nvSpPr>
        <p:spPr>
          <a:xfrm xmlns:a="http://schemas.openxmlformats.org/drawingml/2006/main">
            <a:off x="523875" y="2762250"/>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21" name="">
            <a:extLst xmlns:a="http://schemas.openxmlformats.org/drawingml/2006/main">
              <a:ext uri="{FF2B5EF4-FFF2-40B4-BE49-F238E27FC236}">
                <a16:creationId xmlns:a16="http://schemas.microsoft.com/office/drawing/2014/main" id="{F6FEAB39-E4A7-4601-9E71-E4E01AC49C7F}"/>
              </a:ext>
            </a:extLst>
          </p:cNvPr>
          <p:cNvSpPr>
            <a:spLocks xmlns:a="http://schemas.openxmlformats.org/drawingml/2006/main" noGrp="1"/>
          </p:cNvSpPr>
          <p:nvPr/>
        </p:nvSpPr>
        <p:spPr>
          <a:xfrm xmlns:a="http://schemas.openxmlformats.org/drawingml/2006/main">
            <a:off x="685800" y="2762250"/>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DIS Flood</a:t>
            </a:r>
          </a:p>
        </p:txBody>
      </p:sp>
      <p:sp>
        <p:nvSpPr>
          <p:cNvPr id="22" name="">
            <a:extLst xmlns:a="http://schemas.openxmlformats.org/drawingml/2006/main">
              <a:ext uri="{FF2B5EF4-FFF2-40B4-BE49-F238E27FC236}">
                <a16:creationId xmlns:a16="http://schemas.microsoft.com/office/drawing/2014/main" id="{E1702BC5-8F5B-4218-B938-B118126A3931}"/>
              </a:ext>
            </a:extLst>
          </p:cNvPr>
          <p:cNvSpPr>
            <a:spLocks xmlns:a="http://schemas.openxmlformats.org/drawingml/2006/main" noGrp="1"/>
          </p:cNvSpPr>
          <p:nvPr/>
        </p:nvSpPr>
        <p:spPr>
          <a:xfrm xmlns:a="http://schemas.openxmlformats.org/drawingml/2006/main">
            <a:off x="2952750" y="2762250"/>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Control</a:t>
            </a:r>
          </a:p>
        </p:txBody>
      </p:sp>
      <p:sp>
        <p:nvSpPr>
          <p:cNvPr id="23" name="">
            <a:extLst xmlns:a="http://schemas.openxmlformats.org/drawingml/2006/main">
              <a:ext uri="{FF2B5EF4-FFF2-40B4-BE49-F238E27FC236}">
                <a16:creationId xmlns:a16="http://schemas.microsoft.com/office/drawing/2014/main" id="{C73D4A99-04E6-4518-9918-2E3262C6C4B1}"/>
              </a:ext>
            </a:extLst>
          </p:cNvPr>
          <p:cNvSpPr>
            <a:spLocks xmlns:a="http://schemas.openxmlformats.org/drawingml/2006/main" noGrp="1"/>
          </p:cNvSpPr>
          <p:nvPr/>
        </p:nvSpPr>
        <p:spPr>
          <a:xfrm xmlns:a="http://schemas.openxmlformats.org/drawingml/2006/main">
            <a:off x="4762500" y="276225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Repeated DIS transmission</a:t>
            </a:r>
          </a:p>
        </p:txBody>
      </p:sp>
      <p:sp>
        <p:nvSpPr>
          <p:cNvPr id="24" name="">
            <a:extLst xmlns:a="http://schemas.openxmlformats.org/drawingml/2006/main">
              <a:ext uri="{FF2B5EF4-FFF2-40B4-BE49-F238E27FC236}">
                <a16:creationId xmlns:a16="http://schemas.microsoft.com/office/drawing/2014/main" id="{1523492C-475A-432D-95DA-F693294CB321}"/>
              </a:ext>
            </a:extLst>
          </p:cNvPr>
          <p:cNvSpPr>
            <a:spLocks xmlns:a="http://schemas.openxmlformats.org/drawingml/2006/main" noGrp="1"/>
          </p:cNvSpPr>
          <p:nvPr/>
        </p:nvSpPr>
        <p:spPr>
          <a:xfrm xmlns:a="http://schemas.openxmlformats.org/drawingml/2006/main">
            <a:off x="10096500" y="2762250"/>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25" name="">
            <a:extLst xmlns:a="http://schemas.openxmlformats.org/drawingml/2006/main">
              <a:ext uri="{FF2B5EF4-FFF2-40B4-BE49-F238E27FC236}">
                <a16:creationId xmlns:a16="http://schemas.microsoft.com/office/drawing/2014/main" id="{49C5D168-A84A-4B0D-ABDB-25EA659B6B45}"/>
              </a:ext>
            </a:extLst>
          </p:cNvPr>
          <p:cNvSpPr>
            <a:spLocks xmlns:a="http://schemas.openxmlformats.org/drawingml/2006/main" noGrp="1"/>
          </p:cNvSpPr>
          <p:nvPr/>
        </p:nvSpPr>
        <p:spPr>
          <a:xfrm xmlns:a="http://schemas.openxmlformats.org/drawingml/2006/main">
            <a:off x="523875" y="3267075"/>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26" name="">
            <a:extLst xmlns:a="http://schemas.openxmlformats.org/drawingml/2006/main">
              <a:ext uri="{FF2B5EF4-FFF2-40B4-BE49-F238E27FC236}">
                <a16:creationId xmlns:a16="http://schemas.microsoft.com/office/drawing/2014/main" id="{AC50283A-2003-439F-B0C5-C03FC0D5A346}"/>
              </a:ext>
            </a:extLst>
          </p:cNvPr>
          <p:cNvSpPr>
            <a:spLocks xmlns:a="http://schemas.openxmlformats.org/drawingml/2006/main" noGrp="1"/>
          </p:cNvSpPr>
          <p:nvPr/>
        </p:nvSpPr>
        <p:spPr>
          <a:xfrm xmlns:a="http://schemas.openxmlformats.org/drawingml/2006/main">
            <a:off x="685800" y="3267075"/>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Grayhole</a:t>
            </a:r>
          </a:p>
        </p:txBody>
      </p:sp>
      <p:sp>
        <p:nvSpPr>
          <p:cNvPr id="27" name="">
            <a:extLst xmlns:a="http://schemas.openxmlformats.org/drawingml/2006/main">
              <a:ext uri="{FF2B5EF4-FFF2-40B4-BE49-F238E27FC236}">
                <a16:creationId xmlns:a16="http://schemas.microsoft.com/office/drawing/2014/main" id="{9349E32D-291C-47CF-BFF7-0D7880CDF721}"/>
              </a:ext>
            </a:extLst>
          </p:cNvPr>
          <p:cNvSpPr>
            <a:spLocks xmlns:a="http://schemas.openxmlformats.org/drawingml/2006/main" noGrp="1"/>
          </p:cNvSpPr>
          <p:nvPr/>
        </p:nvSpPr>
        <p:spPr>
          <a:xfrm xmlns:a="http://schemas.openxmlformats.org/drawingml/2006/main">
            <a:off x="2952750" y="326707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Forwarding</a:t>
            </a:r>
          </a:p>
        </p:txBody>
      </p:sp>
      <p:sp>
        <p:nvSpPr>
          <p:cNvPr id="28" name="">
            <a:extLst xmlns:a="http://schemas.openxmlformats.org/drawingml/2006/main">
              <a:ext uri="{FF2B5EF4-FFF2-40B4-BE49-F238E27FC236}">
                <a16:creationId xmlns:a16="http://schemas.microsoft.com/office/drawing/2014/main" id="{EBEBAA87-B3C4-47E1-95A3-0691A9EC876C}"/>
              </a:ext>
            </a:extLst>
          </p:cNvPr>
          <p:cNvSpPr>
            <a:spLocks xmlns:a="http://schemas.openxmlformats.org/drawingml/2006/main" noGrp="1"/>
          </p:cNvSpPr>
          <p:nvPr/>
        </p:nvSpPr>
        <p:spPr>
          <a:xfrm xmlns:a="http://schemas.openxmlformats.org/drawingml/2006/main">
            <a:off x="4762500" y="326707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Selective packet drop</a:t>
            </a:r>
          </a:p>
        </p:txBody>
      </p:sp>
      <p:sp>
        <p:nvSpPr>
          <p:cNvPr id="29" name="">
            <a:extLst xmlns:a="http://schemas.openxmlformats.org/drawingml/2006/main">
              <a:ext uri="{FF2B5EF4-FFF2-40B4-BE49-F238E27FC236}">
                <a16:creationId xmlns:a16="http://schemas.microsoft.com/office/drawing/2014/main" id="{04577CE9-A49C-4269-9AF9-0D901F873396}"/>
              </a:ext>
            </a:extLst>
          </p:cNvPr>
          <p:cNvSpPr>
            <a:spLocks xmlns:a="http://schemas.openxmlformats.org/drawingml/2006/main" noGrp="1"/>
          </p:cNvSpPr>
          <p:nvPr/>
        </p:nvSpPr>
        <p:spPr>
          <a:xfrm xmlns:a="http://schemas.openxmlformats.org/drawingml/2006/main">
            <a:off x="10096500" y="3267075"/>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30" name="">
            <a:extLst xmlns:a="http://schemas.openxmlformats.org/drawingml/2006/main">
              <a:ext uri="{FF2B5EF4-FFF2-40B4-BE49-F238E27FC236}">
                <a16:creationId xmlns:a16="http://schemas.microsoft.com/office/drawing/2014/main" id="{CBDA7702-CFA5-423E-8DB5-26CBAA43E4E0}"/>
              </a:ext>
            </a:extLst>
          </p:cNvPr>
          <p:cNvSpPr>
            <a:spLocks xmlns:a="http://schemas.openxmlformats.org/drawingml/2006/main" noGrp="1"/>
          </p:cNvSpPr>
          <p:nvPr/>
        </p:nvSpPr>
        <p:spPr>
          <a:xfrm xmlns:a="http://schemas.openxmlformats.org/drawingml/2006/main">
            <a:off x="523875" y="3771900"/>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31" name="">
            <a:extLst xmlns:a="http://schemas.openxmlformats.org/drawingml/2006/main">
              <a:ext uri="{FF2B5EF4-FFF2-40B4-BE49-F238E27FC236}">
                <a16:creationId xmlns:a16="http://schemas.microsoft.com/office/drawing/2014/main" id="{156DADAD-EB98-4096-9737-2087F586FDAB}"/>
              </a:ext>
            </a:extLst>
          </p:cNvPr>
          <p:cNvSpPr>
            <a:spLocks xmlns:a="http://schemas.openxmlformats.org/drawingml/2006/main" noGrp="1"/>
          </p:cNvSpPr>
          <p:nvPr/>
        </p:nvSpPr>
        <p:spPr>
          <a:xfrm xmlns:a="http://schemas.openxmlformats.org/drawingml/2006/main">
            <a:off x="685800" y="3771900"/>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Increase Rank</a:t>
            </a:r>
          </a:p>
        </p:txBody>
      </p:sp>
      <p:sp>
        <p:nvSpPr>
          <p:cNvPr id="32" name="">
            <a:extLst xmlns:a="http://schemas.openxmlformats.org/drawingml/2006/main">
              <a:ext uri="{FF2B5EF4-FFF2-40B4-BE49-F238E27FC236}">
                <a16:creationId xmlns:a16="http://schemas.microsoft.com/office/drawing/2014/main" id="{BAD288F4-C7FE-4026-A0E1-A604302A6B43}"/>
              </a:ext>
            </a:extLst>
          </p:cNvPr>
          <p:cNvSpPr>
            <a:spLocks xmlns:a="http://schemas.openxmlformats.org/drawingml/2006/main" noGrp="1"/>
          </p:cNvSpPr>
          <p:nvPr/>
        </p:nvSpPr>
        <p:spPr>
          <a:xfrm xmlns:a="http://schemas.openxmlformats.org/drawingml/2006/main">
            <a:off x="2952750" y="3771900"/>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Rank</a:t>
            </a:r>
          </a:p>
        </p:txBody>
      </p:sp>
      <p:sp>
        <p:nvSpPr>
          <p:cNvPr id="33" name="">
            <a:extLst xmlns:a="http://schemas.openxmlformats.org/drawingml/2006/main">
              <a:ext uri="{FF2B5EF4-FFF2-40B4-BE49-F238E27FC236}">
                <a16:creationId xmlns:a16="http://schemas.microsoft.com/office/drawing/2014/main" id="{F274D42A-DE2B-4A6A-800C-32A4F75C97AE}"/>
              </a:ext>
            </a:extLst>
          </p:cNvPr>
          <p:cNvSpPr>
            <a:spLocks xmlns:a="http://schemas.openxmlformats.org/drawingml/2006/main" noGrp="1"/>
          </p:cNvSpPr>
          <p:nvPr/>
        </p:nvSpPr>
        <p:spPr>
          <a:xfrm xmlns:a="http://schemas.openxmlformats.org/drawingml/2006/main">
            <a:off x="4762500" y="37719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Advertise degraded rank</a:t>
            </a:r>
          </a:p>
        </p:txBody>
      </p:sp>
      <p:sp>
        <p:nvSpPr>
          <p:cNvPr id="34" name="">
            <a:extLst xmlns:a="http://schemas.openxmlformats.org/drawingml/2006/main">
              <a:ext uri="{FF2B5EF4-FFF2-40B4-BE49-F238E27FC236}">
                <a16:creationId xmlns:a16="http://schemas.microsoft.com/office/drawing/2014/main" id="{FAA045E2-7355-4DA7-8B11-D1E2A34D8733}"/>
              </a:ext>
            </a:extLst>
          </p:cNvPr>
          <p:cNvSpPr>
            <a:spLocks xmlns:a="http://schemas.openxmlformats.org/drawingml/2006/main" noGrp="1"/>
          </p:cNvSpPr>
          <p:nvPr/>
        </p:nvSpPr>
        <p:spPr>
          <a:xfrm xmlns:a="http://schemas.openxmlformats.org/drawingml/2006/main">
            <a:off x="10096500" y="3771900"/>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35" name="">
            <a:extLst xmlns:a="http://schemas.openxmlformats.org/drawingml/2006/main">
              <a:ext uri="{FF2B5EF4-FFF2-40B4-BE49-F238E27FC236}">
                <a16:creationId xmlns:a16="http://schemas.microsoft.com/office/drawing/2014/main" id="{848F84F2-AD81-49DE-9333-B9E6018DE1B5}"/>
              </a:ext>
            </a:extLst>
          </p:cNvPr>
          <p:cNvSpPr>
            <a:spLocks xmlns:a="http://schemas.openxmlformats.org/drawingml/2006/main" noGrp="1"/>
          </p:cNvSpPr>
          <p:nvPr/>
        </p:nvSpPr>
        <p:spPr>
          <a:xfrm xmlns:a="http://schemas.openxmlformats.org/drawingml/2006/main">
            <a:off x="523875" y="4276725"/>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36" name="">
            <a:extLst xmlns:a="http://schemas.openxmlformats.org/drawingml/2006/main">
              <a:ext uri="{FF2B5EF4-FFF2-40B4-BE49-F238E27FC236}">
                <a16:creationId xmlns:a16="http://schemas.microsoft.com/office/drawing/2014/main" id="{AB55C02A-6056-4521-92F4-84E592DF1760}"/>
              </a:ext>
            </a:extLst>
          </p:cNvPr>
          <p:cNvSpPr>
            <a:spLocks xmlns:a="http://schemas.openxmlformats.org/drawingml/2006/main" noGrp="1"/>
          </p:cNvSpPr>
          <p:nvPr/>
        </p:nvSpPr>
        <p:spPr>
          <a:xfrm xmlns:a="http://schemas.openxmlformats.org/drawingml/2006/main">
            <a:off x="685800" y="4276725"/>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DIO Suppression</a:t>
            </a:r>
          </a:p>
        </p:txBody>
      </p:sp>
      <p:sp>
        <p:nvSpPr>
          <p:cNvPr id="37" name="">
            <a:extLst xmlns:a="http://schemas.openxmlformats.org/drawingml/2006/main">
              <a:ext uri="{FF2B5EF4-FFF2-40B4-BE49-F238E27FC236}">
                <a16:creationId xmlns:a16="http://schemas.microsoft.com/office/drawing/2014/main" id="{0542FCD9-1D64-4556-94E6-7F00F7CEEAF9}"/>
              </a:ext>
            </a:extLst>
          </p:cNvPr>
          <p:cNvSpPr>
            <a:spLocks xmlns:a="http://schemas.openxmlformats.org/drawingml/2006/main" noGrp="1"/>
          </p:cNvSpPr>
          <p:nvPr/>
        </p:nvSpPr>
        <p:spPr>
          <a:xfrm xmlns:a="http://schemas.openxmlformats.org/drawingml/2006/main">
            <a:off x="2952750" y="427672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Control</a:t>
            </a:r>
          </a:p>
        </p:txBody>
      </p:sp>
      <p:sp>
        <p:nvSpPr>
          <p:cNvPr id="38" name="">
            <a:extLst xmlns:a="http://schemas.openxmlformats.org/drawingml/2006/main">
              <a:ext uri="{FF2B5EF4-FFF2-40B4-BE49-F238E27FC236}">
                <a16:creationId xmlns:a16="http://schemas.microsoft.com/office/drawing/2014/main" id="{080B879C-9332-4169-B789-D90E233EC48A}"/>
              </a:ext>
            </a:extLst>
          </p:cNvPr>
          <p:cNvSpPr>
            <a:spLocks xmlns:a="http://schemas.openxmlformats.org/drawingml/2006/main" noGrp="1"/>
          </p:cNvSpPr>
          <p:nvPr/>
        </p:nvSpPr>
        <p:spPr>
          <a:xfrm xmlns:a="http://schemas.openxmlformats.org/drawingml/2006/main">
            <a:off x="4762500" y="427672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Suppress DIO transmission</a:t>
            </a:r>
          </a:p>
        </p:txBody>
      </p:sp>
      <p:sp>
        <p:nvSpPr>
          <p:cNvPr id="39" name="">
            <a:extLst xmlns:a="http://schemas.openxmlformats.org/drawingml/2006/main">
              <a:ext uri="{FF2B5EF4-FFF2-40B4-BE49-F238E27FC236}">
                <a16:creationId xmlns:a16="http://schemas.microsoft.com/office/drawing/2014/main" id="{C473249C-3450-4C3B-9B92-B08C51DEB43A}"/>
              </a:ext>
            </a:extLst>
          </p:cNvPr>
          <p:cNvSpPr>
            <a:spLocks xmlns:a="http://schemas.openxmlformats.org/drawingml/2006/main" noGrp="1"/>
          </p:cNvSpPr>
          <p:nvPr/>
        </p:nvSpPr>
        <p:spPr>
          <a:xfrm xmlns:a="http://schemas.openxmlformats.org/drawingml/2006/main">
            <a:off x="10096500" y="4276725"/>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40" name="">
            <a:extLst xmlns:a="http://schemas.openxmlformats.org/drawingml/2006/main">
              <a:ext uri="{FF2B5EF4-FFF2-40B4-BE49-F238E27FC236}">
                <a16:creationId xmlns:a16="http://schemas.microsoft.com/office/drawing/2014/main" id="{036F4FB2-17B6-4247-84D8-C2E36637E6DD}"/>
              </a:ext>
            </a:extLst>
          </p:cNvPr>
          <p:cNvSpPr>
            <a:spLocks xmlns:a="http://schemas.openxmlformats.org/drawingml/2006/main" noGrp="1"/>
          </p:cNvSpPr>
          <p:nvPr/>
        </p:nvSpPr>
        <p:spPr>
          <a:xfrm xmlns:a="http://schemas.openxmlformats.org/drawingml/2006/main">
            <a:off x="523875" y="4781550"/>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41" name="">
            <a:extLst xmlns:a="http://schemas.openxmlformats.org/drawingml/2006/main">
              <a:ext uri="{FF2B5EF4-FFF2-40B4-BE49-F238E27FC236}">
                <a16:creationId xmlns:a16="http://schemas.microsoft.com/office/drawing/2014/main" id="{623CA1BB-9230-45B1-8FCD-F54246345760}"/>
              </a:ext>
            </a:extLst>
          </p:cNvPr>
          <p:cNvSpPr>
            <a:spLocks xmlns:a="http://schemas.openxmlformats.org/drawingml/2006/main" noGrp="1"/>
          </p:cNvSpPr>
          <p:nvPr/>
        </p:nvSpPr>
        <p:spPr>
          <a:xfrm xmlns:a="http://schemas.openxmlformats.org/drawingml/2006/main">
            <a:off x="685800" y="4781550"/>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Worst Parent</a:t>
            </a:r>
          </a:p>
        </p:txBody>
      </p:sp>
      <p:sp>
        <p:nvSpPr>
          <p:cNvPr id="42" name="">
            <a:extLst xmlns:a="http://schemas.openxmlformats.org/drawingml/2006/main">
              <a:ext uri="{FF2B5EF4-FFF2-40B4-BE49-F238E27FC236}">
                <a16:creationId xmlns:a16="http://schemas.microsoft.com/office/drawing/2014/main" id="{34B34CAE-E497-44DB-AC04-E863C410B177}"/>
              </a:ext>
            </a:extLst>
          </p:cNvPr>
          <p:cNvSpPr>
            <a:spLocks xmlns:a="http://schemas.openxmlformats.org/drawingml/2006/main" noGrp="1"/>
          </p:cNvSpPr>
          <p:nvPr/>
        </p:nvSpPr>
        <p:spPr>
          <a:xfrm xmlns:a="http://schemas.openxmlformats.org/drawingml/2006/main">
            <a:off x="2952750" y="4781550"/>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Route</a:t>
            </a:r>
          </a:p>
        </p:txBody>
      </p:sp>
      <p:sp>
        <p:nvSpPr>
          <p:cNvPr id="43" name="">
            <a:extLst xmlns:a="http://schemas.openxmlformats.org/drawingml/2006/main">
              <a:ext uri="{FF2B5EF4-FFF2-40B4-BE49-F238E27FC236}">
                <a16:creationId xmlns:a16="http://schemas.microsoft.com/office/drawing/2014/main" id="{FB6603CB-0855-443D-92F8-4C74E1EC4B79}"/>
              </a:ext>
            </a:extLst>
          </p:cNvPr>
          <p:cNvSpPr>
            <a:spLocks xmlns:a="http://schemas.openxmlformats.org/drawingml/2006/main" noGrp="1"/>
          </p:cNvSpPr>
          <p:nvPr/>
        </p:nvSpPr>
        <p:spPr>
          <a:xfrm xmlns:a="http://schemas.openxmlformats.org/drawingml/2006/main">
            <a:off x="4762500" y="478155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Choose poor parent</a:t>
            </a:r>
          </a:p>
        </p:txBody>
      </p:sp>
      <p:sp>
        <p:nvSpPr>
          <p:cNvPr id="44" name="">
            <a:extLst xmlns:a="http://schemas.openxmlformats.org/drawingml/2006/main">
              <a:ext uri="{FF2B5EF4-FFF2-40B4-BE49-F238E27FC236}">
                <a16:creationId xmlns:a16="http://schemas.microsoft.com/office/drawing/2014/main" id="{6C871792-8677-44D3-8878-79C83198705D}"/>
              </a:ext>
            </a:extLst>
          </p:cNvPr>
          <p:cNvSpPr>
            <a:spLocks xmlns:a="http://schemas.openxmlformats.org/drawingml/2006/main" noGrp="1"/>
          </p:cNvSpPr>
          <p:nvPr/>
        </p:nvSpPr>
        <p:spPr>
          <a:xfrm xmlns:a="http://schemas.openxmlformats.org/drawingml/2006/main">
            <a:off x="10096500" y="4781550"/>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45" name="">
            <a:extLst xmlns:a="http://schemas.openxmlformats.org/drawingml/2006/main">
              <a:ext uri="{FF2B5EF4-FFF2-40B4-BE49-F238E27FC236}">
                <a16:creationId xmlns:a16="http://schemas.microsoft.com/office/drawing/2014/main" id="{10DCBCAF-6E33-4D38-9488-51CAB0709D95}"/>
              </a:ext>
            </a:extLst>
          </p:cNvPr>
          <p:cNvSpPr>
            <a:spLocks xmlns:a="http://schemas.openxmlformats.org/drawingml/2006/main" noGrp="1"/>
          </p:cNvSpPr>
          <p:nvPr/>
        </p:nvSpPr>
        <p:spPr>
          <a:xfrm xmlns:a="http://schemas.openxmlformats.org/drawingml/2006/main">
            <a:off x="523875" y="5286375"/>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46" name="">
            <a:extLst xmlns:a="http://schemas.openxmlformats.org/drawingml/2006/main">
              <a:ext uri="{FF2B5EF4-FFF2-40B4-BE49-F238E27FC236}">
                <a16:creationId xmlns:a16="http://schemas.microsoft.com/office/drawing/2014/main" id="{55AD1515-5F74-4E0E-9769-65F45791648C}"/>
              </a:ext>
            </a:extLst>
          </p:cNvPr>
          <p:cNvSpPr>
            <a:spLocks xmlns:a="http://schemas.openxmlformats.org/drawingml/2006/main" noGrp="1"/>
          </p:cNvSpPr>
          <p:nvPr/>
        </p:nvSpPr>
        <p:spPr>
          <a:xfrm xmlns:a="http://schemas.openxmlformats.org/drawingml/2006/main">
            <a:off x="685800" y="5286375"/>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7FAFC"/>
                </a:solidFill>
              </a:defRPr>
            </a:pPr>
            <a:r>
              <a:rPr sz="1050" b="1">
                <a:solidFill>
                  <a:srgbClr val="F7FAFC"/>
                </a:solidFill>
              </a:rPr>
              <a:t>Wormhole</a:t>
            </a:r>
          </a:p>
        </p:txBody>
      </p:sp>
      <p:sp>
        <p:nvSpPr>
          <p:cNvPr id="47" name="">
            <a:extLst xmlns:a="http://schemas.openxmlformats.org/drawingml/2006/main">
              <a:ext uri="{FF2B5EF4-FFF2-40B4-BE49-F238E27FC236}">
                <a16:creationId xmlns:a16="http://schemas.microsoft.com/office/drawing/2014/main" id="{A34D98E2-BED5-4720-A65E-31DA2324133B}"/>
              </a:ext>
            </a:extLst>
          </p:cNvPr>
          <p:cNvSpPr>
            <a:spLocks xmlns:a="http://schemas.openxmlformats.org/drawingml/2006/main" noGrp="1"/>
          </p:cNvSpPr>
          <p:nvPr/>
        </p:nvSpPr>
        <p:spPr>
          <a:xfrm xmlns:a="http://schemas.openxmlformats.org/drawingml/2006/main">
            <a:off x="2952750" y="5286375"/>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Path</a:t>
            </a:r>
          </a:p>
        </p:txBody>
      </p:sp>
      <p:sp>
        <p:nvSpPr>
          <p:cNvPr id="48" name="">
            <a:extLst xmlns:a="http://schemas.openxmlformats.org/drawingml/2006/main">
              <a:ext uri="{FF2B5EF4-FFF2-40B4-BE49-F238E27FC236}">
                <a16:creationId xmlns:a16="http://schemas.microsoft.com/office/drawing/2014/main" id="{B9065E51-A9D7-42E9-AC9E-DCAFB1B5338B}"/>
              </a:ext>
            </a:extLst>
          </p:cNvPr>
          <p:cNvSpPr>
            <a:spLocks xmlns:a="http://schemas.openxmlformats.org/drawingml/2006/main" noGrp="1"/>
          </p:cNvSpPr>
          <p:nvPr/>
        </p:nvSpPr>
        <p:spPr>
          <a:xfrm xmlns:a="http://schemas.openxmlformats.org/drawingml/2006/main">
            <a:off x="4762500" y="528637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Directed radio tunnel</a:t>
            </a:r>
          </a:p>
        </p:txBody>
      </p:sp>
      <p:sp>
        <p:nvSpPr>
          <p:cNvPr id="49" name="">
            <a:extLst xmlns:a="http://schemas.openxmlformats.org/drawingml/2006/main">
              <a:ext uri="{FF2B5EF4-FFF2-40B4-BE49-F238E27FC236}">
                <a16:creationId xmlns:a16="http://schemas.microsoft.com/office/drawing/2014/main" id="{34C50352-C49D-4785-ABC4-8C78CF83BDFA}"/>
              </a:ext>
            </a:extLst>
          </p:cNvPr>
          <p:cNvSpPr>
            <a:spLocks xmlns:a="http://schemas.openxmlformats.org/drawingml/2006/main" noGrp="1"/>
          </p:cNvSpPr>
          <p:nvPr/>
        </p:nvSpPr>
        <p:spPr>
          <a:xfrm xmlns:a="http://schemas.openxmlformats.org/drawingml/2006/main">
            <a:off x="10096500" y="5286375"/>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50" name="">
            <a:extLst xmlns:a="http://schemas.openxmlformats.org/drawingml/2006/main">
              <a:ext uri="{FF2B5EF4-FFF2-40B4-BE49-F238E27FC236}">
                <a16:creationId xmlns:a16="http://schemas.microsoft.com/office/drawing/2014/main" id="{823415E7-7988-42A4-A32F-4F3373598FBF}"/>
              </a:ext>
            </a:extLst>
          </p:cNvPr>
          <p:cNvSpPr>
            <a:spLocks xmlns:a="http://schemas.openxmlformats.org/drawingml/2006/main" noGrp="1"/>
          </p:cNvSpPr>
          <p:nvPr/>
        </p:nvSpPr>
        <p:spPr>
          <a:xfrm xmlns:a="http://schemas.openxmlformats.org/drawingml/2006/main">
            <a:off x="523875" y="5791200"/>
            <a:ext cx="11144250" cy="447675"/>
          </a:xfrm>
          <a:prstGeom xmlns:a="http://schemas.openxmlformats.org/drawingml/2006/main" prst="roundRect">
            <a:avLst>
              <a:gd name="adj" fmla="val 17021"/>
            </a:avLst>
          </a:prstGeom>
          <a:solidFill xmlns:a="http://schemas.openxmlformats.org/drawingml/2006/main">
            <a:srgbClr val="121C27"/>
          </a:solidFill>
          <a:ln xmlns:a="http://schemas.openxmlformats.org/drawingml/2006/main" w="9525">
            <a:solidFill>
              <a:srgbClr val="2C3A49"/>
            </a:solidFill>
            <a:prstDash val="solid"/>
          </a:ln>
        </p:spPr>
      </p:sp>
      <p:sp>
        <p:nvSpPr>
          <p:cNvPr id="51" name="">
            <a:extLst xmlns:a="http://schemas.openxmlformats.org/drawingml/2006/main">
              <a:ext uri="{FF2B5EF4-FFF2-40B4-BE49-F238E27FC236}">
                <a16:creationId xmlns:a16="http://schemas.microsoft.com/office/drawing/2014/main" id="{B1FCBCD2-02A8-482C-ADDD-6746648A2566}"/>
              </a:ext>
            </a:extLst>
          </p:cNvPr>
          <p:cNvSpPr>
            <a:spLocks xmlns:a="http://schemas.openxmlformats.org/drawingml/2006/main" noGrp="1"/>
          </p:cNvSpPr>
          <p:nvPr/>
        </p:nvSpPr>
        <p:spPr>
          <a:xfrm xmlns:a="http://schemas.openxmlformats.org/drawingml/2006/main">
            <a:off x="685800" y="5791200"/>
            <a:ext cx="2000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ACC15"/>
                </a:solidFill>
              </a:defRPr>
            </a:pPr>
            <a:r>
              <a:rPr sz="1050" b="1">
                <a:solidFill>
                  <a:srgbClr val="FACC15"/>
                </a:solidFill>
              </a:rPr>
              <a:t>Sybil</a:t>
            </a:r>
          </a:p>
        </p:txBody>
      </p:sp>
      <p:sp>
        <p:nvSpPr>
          <p:cNvPr id="52" name="">
            <a:extLst xmlns:a="http://schemas.openxmlformats.org/drawingml/2006/main">
              <a:ext uri="{FF2B5EF4-FFF2-40B4-BE49-F238E27FC236}">
                <a16:creationId xmlns:a16="http://schemas.microsoft.com/office/drawing/2014/main" id="{6768DD09-7049-44DE-B075-CB5693B0A245}"/>
              </a:ext>
            </a:extLst>
          </p:cNvPr>
          <p:cNvSpPr>
            <a:spLocks xmlns:a="http://schemas.openxmlformats.org/drawingml/2006/main" noGrp="1"/>
          </p:cNvSpPr>
          <p:nvPr/>
        </p:nvSpPr>
        <p:spPr>
          <a:xfrm xmlns:a="http://schemas.openxmlformats.org/drawingml/2006/main">
            <a:off x="2952750" y="5791200"/>
            <a:ext cx="1428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Identity</a:t>
            </a:r>
          </a:p>
        </p:txBody>
      </p:sp>
      <p:sp>
        <p:nvSpPr>
          <p:cNvPr id="53" name="">
            <a:extLst xmlns:a="http://schemas.openxmlformats.org/drawingml/2006/main">
              <a:ext uri="{FF2B5EF4-FFF2-40B4-BE49-F238E27FC236}">
                <a16:creationId xmlns:a16="http://schemas.microsoft.com/office/drawing/2014/main" id="{EEFEB29C-C935-4298-959D-E73F2337BD21}"/>
              </a:ext>
            </a:extLst>
          </p:cNvPr>
          <p:cNvSpPr>
            <a:spLocks xmlns:a="http://schemas.openxmlformats.org/drawingml/2006/main" noGrp="1"/>
          </p:cNvSpPr>
          <p:nvPr/>
        </p:nvSpPr>
        <p:spPr>
          <a:xfrm xmlns:a="http://schemas.openxmlformats.org/drawingml/2006/main">
            <a:off x="4762500" y="57912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E5EAF0"/>
                </a:solidFill>
              </a:defRPr>
            </a:pPr>
            <a:r>
              <a:rPr sz="1050" b="0">
                <a:solidFill>
                  <a:srgbClr val="E5EAF0"/>
                </a:solidFill>
              </a:rPr>
              <a:t>Rotate DIO source identity</a:t>
            </a:r>
          </a:p>
        </p:txBody>
      </p:sp>
      <p:sp>
        <p:nvSpPr>
          <p:cNvPr id="54" name="">
            <a:extLst xmlns:a="http://schemas.openxmlformats.org/drawingml/2006/main">
              <a:ext uri="{FF2B5EF4-FFF2-40B4-BE49-F238E27FC236}">
                <a16:creationId xmlns:a16="http://schemas.microsoft.com/office/drawing/2014/main" id="{F617D4A4-E0D3-435D-90D3-9220A3472A71}"/>
              </a:ext>
            </a:extLst>
          </p:cNvPr>
          <p:cNvSpPr>
            <a:spLocks xmlns:a="http://schemas.openxmlformats.org/drawingml/2006/main" noGrp="1"/>
          </p:cNvSpPr>
          <p:nvPr/>
        </p:nvSpPr>
        <p:spPr>
          <a:xfrm xmlns:a="http://schemas.openxmlformats.org/drawingml/2006/main">
            <a:off x="10096500" y="5791200"/>
            <a:ext cx="114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5 + 5</a:t>
            </a:r>
          </a:p>
        </p:txBody>
      </p:sp>
      <p:sp>
        <p:nvSpPr>
          <p:cNvPr id="55" name="">
            <a:extLst xmlns:a="http://schemas.openxmlformats.org/drawingml/2006/main">
              <a:ext uri="{FF2B5EF4-FFF2-40B4-BE49-F238E27FC236}">
                <a16:creationId xmlns:a16="http://schemas.microsoft.com/office/drawing/2014/main" id="{77C936A4-8081-432E-9A94-BD578E1DEB20}"/>
              </a:ext>
            </a:extLst>
          </p:cNvPr>
          <p:cNvSpPr>
            <a:spLocks xmlns:a="http://schemas.openxmlformats.org/drawingml/2006/main" noGrp="1"/>
          </p:cNvSpPr>
          <p:nvPr/>
        </p:nvSpPr>
        <p:spPr>
          <a:xfrm xmlns:a="http://schemas.openxmlformats.org/drawingml/2006/main">
            <a:off x="3429000" y="61912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2D3EE"/>
                </a:solidFill>
              </a:defRPr>
            </a:pPr>
            <a:r>
              <a:rPr sz="1275" b="1">
                <a:solidFill>
                  <a:srgbClr val="22D3EE"/>
                </a:solidFill>
              </a:rPr>
              <a:t>Baseline campaign total: 90 validated simulations</a:t>
            </a:r>
          </a:p>
        </p:txBody>
      </p:sp>
    </p:spTree>
    <p:extLst>
      <p:ext uri="{BB962C8B-B14F-4D97-AF65-F5344CB8AC3E}">
        <p14:creationId xmlns:p14="http://schemas.microsoft.com/office/powerpoint/2010/main" val="654470705"/>
      </p:ext>
    </p:extLst>
  </p:cSld>
</p:sld>
</file>

<file path=ppt/slides/slide22.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2DBCFD-B403-4FF4-83CE-2464C1B8C002}"/>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312928A0-5869-48BD-8FF0-A3A540AEFB55}"/>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Static transfer fails across two model families</a:t>
            </a:r>
          </a:p>
        </p:txBody>
      </p:sp>
      <p:sp>
        <p:nvSpPr>
          <p:cNvPr id="3" name="">
            <a:extLst xmlns:a="http://schemas.openxmlformats.org/drawingml/2006/main">
              <a:ext uri="{FF2B5EF4-FFF2-40B4-BE49-F238E27FC236}">
                <a16:creationId xmlns:a16="http://schemas.microsoft.com/office/drawing/2014/main" id="{9F65A79A-AC21-4DCF-9FBA-BF2489212499}"/>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E839FD-E01F-4C7E-9F6F-16D518E09995}"/>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CFBB1D-EF9A-497C-83E8-D327A370523B}"/>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49FC3E0F-124A-4336-9ED6-BB82E01DC1F8}"/>
              </a:ext>
            </a:extLst>
          </p:cNvPr>
          <p:cNvSpPr>
            <a:spLocks xmlns:a="http://schemas.openxmlformats.org/drawingml/2006/main" noGrp="1"/>
          </p:cNvSpPr>
          <p:nvPr/>
        </p:nvSpPr>
        <p:spPr>
          <a:xfrm xmlns:a="http://schemas.openxmlformats.org/drawingml/2006/main">
            <a:off x="666750" y="1524000"/>
            <a:ext cx="4953000" cy="3810000"/>
          </a:xfrm>
          <a:prstGeom xmlns:a="http://schemas.openxmlformats.org/drawingml/2006/main" prst="roundRect">
            <a:avLst>
              <a:gd name="adj" fmla="val 2000"/>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20EE35F9-5617-4198-B305-42353A82571A}"/>
              </a:ext>
            </a:extLst>
          </p:cNvPr>
          <p:cNvSpPr>
            <a:spLocks xmlns:a="http://schemas.openxmlformats.org/drawingml/2006/main" noGrp="1"/>
          </p:cNvSpPr>
          <p:nvPr/>
        </p:nvSpPr>
        <p:spPr>
          <a:xfrm xmlns:a="http://schemas.openxmlformats.org/drawingml/2006/main">
            <a:off x="857250" y="17145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2D3EE"/>
                </a:solidFill>
              </a:defRPr>
            </a:pPr>
            <a:r>
              <a:rPr sz="2025" b="1">
                <a:solidFill>
                  <a:srgbClr val="22D3EE"/>
                </a:solidFill>
              </a:rPr>
              <a:t>CART</a:t>
            </a:r>
          </a:p>
        </p:txBody>
      </p:sp>
      <p:sp>
        <p:nvSpPr>
          <p:cNvPr id="8" name="">
            <a:extLst xmlns:a="http://schemas.openxmlformats.org/drawingml/2006/main">
              <a:ext uri="{FF2B5EF4-FFF2-40B4-BE49-F238E27FC236}">
                <a16:creationId xmlns:a16="http://schemas.microsoft.com/office/drawing/2014/main" id="{E9D188D7-710E-48E2-A9EB-CB016A4194DD}"/>
              </a:ext>
            </a:extLst>
          </p:cNvPr>
          <p:cNvSpPr>
            <a:spLocks xmlns:a="http://schemas.openxmlformats.org/drawingml/2006/main" noGrp="1"/>
          </p:cNvSpPr>
          <p:nvPr/>
        </p:nvSpPr>
        <p:spPr>
          <a:xfrm xmlns:a="http://schemas.openxmlformats.org/drawingml/2006/main">
            <a:off x="1143000" y="236220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48 / 72</a:t>
            </a:r>
          </a:p>
        </p:txBody>
      </p:sp>
      <p:sp>
        <p:nvSpPr>
          <p:cNvPr id="9" name="">
            <a:extLst xmlns:a="http://schemas.openxmlformats.org/drawingml/2006/main">
              <a:ext uri="{FF2B5EF4-FFF2-40B4-BE49-F238E27FC236}">
                <a16:creationId xmlns:a16="http://schemas.microsoft.com/office/drawing/2014/main" id="{EAA6B938-4555-44ED-A7B3-DEDB21E8BC98}"/>
              </a:ext>
            </a:extLst>
          </p:cNvPr>
          <p:cNvSpPr>
            <a:spLocks xmlns:a="http://schemas.openxmlformats.org/drawingml/2006/main" noGrp="1"/>
          </p:cNvSpPr>
          <p:nvPr/>
        </p:nvSpPr>
        <p:spPr>
          <a:xfrm xmlns:a="http://schemas.openxmlformats.org/drawingml/2006/main">
            <a:off x="1200150" y="28384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zero-recall pairs</a:t>
            </a:r>
          </a:p>
        </p:txBody>
      </p:sp>
      <p:sp>
        <p:nvSpPr>
          <p:cNvPr id="10" name="">
            <a:extLst xmlns:a="http://schemas.openxmlformats.org/drawingml/2006/main">
              <a:ext uri="{FF2B5EF4-FFF2-40B4-BE49-F238E27FC236}">
                <a16:creationId xmlns:a16="http://schemas.microsoft.com/office/drawing/2014/main" id="{0E60D7F8-6BEE-46D5-A2FA-FDB2AE7DA624}"/>
              </a:ext>
            </a:extLst>
          </p:cNvPr>
          <p:cNvSpPr>
            <a:spLocks xmlns:a="http://schemas.openxmlformats.org/drawingml/2006/main" noGrp="1"/>
          </p:cNvSpPr>
          <p:nvPr/>
        </p:nvSpPr>
        <p:spPr>
          <a:xfrm xmlns:a="http://schemas.openxmlformats.org/drawingml/2006/main">
            <a:off x="3333750" y="236220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6 / 72</a:t>
            </a:r>
          </a:p>
        </p:txBody>
      </p:sp>
      <p:sp>
        <p:nvSpPr>
          <p:cNvPr id="11" name="">
            <a:extLst xmlns:a="http://schemas.openxmlformats.org/drawingml/2006/main">
              <a:ext uri="{FF2B5EF4-FFF2-40B4-BE49-F238E27FC236}">
                <a16:creationId xmlns:a16="http://schemas.microsoft.com/office/drawing/2014/main" id="{4DE33DD5-A032-4888-97AE-CFB8A7FABE00}"/>
              </a:ext>
            </a:extLst>
          </p:cNvPr>
          <p:cNvSpPr>
            <a:spLocks xmlns:a="http://schemas.openxmlformats.org/drawingml/2006/main" noGrp="1"/>
          </p:cNvSpPr>
          <p:nvPr/>
        </p:nvSpPr>
        <p:spPr>
          <a:xfrm xmlns:a="http://schemas.openxmlformats.org/drawingml/2006/main">
            <a:off x="3390900" y="28384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F1 at least 0.8</a:t>
            </a:r>
          </a:p>
        </p:txBody>
      </p:sp>
      <p:sp>
        <p:nvSpPr>
          <p:cNvPr id="12" name="">
            <a:extLst xmlns:a="http://schemas.openxmlformats.org/drawingml/2006/main">
              <a:ext uri="{FF2B5EF4-FFF2-40B4-BE49-F238E27FC236}">
                <a16:creationId xmlns:a16="http://schemas.microsoft.com/office/drawing/2014/main" id="{49682AB9-94C1-4D53-ABA0-D7FD556F1B8B}"/>
              </a:ext>
            </a:extLst>
          </p:cNvPr>
          <p:cNvSpPr>
            <a:spLocks xmlns:a="http://schemas.openxmlformats.org/drawingml/2006/main" noGrp="1"/>
          </p:cNvSpPr>
          <p:nvPr/>
        </p:nvSpPr>
        <p:spPr>
          <a:xfrm xmlns:a="http://schemas.openxmlformats.org/drawingml/2006/main">
            <a:off x="2238375" y="37147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22D3EE"/>
                </a:solidFill>
              </a:defRPr>
            </a:pPr>
            <a:r>
              <a:rPr sz="2700" b="1">
                <a:solidFill>
                  <a:srgbClr val="22D3EE"/>
                </a:solidFill>
              </a:rPr>
              <a:t>0.1822</a:t>
            </a:r>
          </a:p>
        </p:txBody>
      </p:sp>
      <p:sp>
        <p:nvSpPr>
          <p:cNvPr id="13" name="">
            <a:extLst xmlns:a="http://schemas.openxmlformats.org/drawingml/2006/main">
              <a:ext uri="{FF2B5EF4-FFF2-40B4-BE49-F238E27FC236}">
                <a16:creationId xmlns:a16="http://schemas.microsoft.com/office/drawing/2014/main" id="{ED9F729C-F5DE-4F9A-AC28-69CF08625357}"/>
              </a:ext>
            </a:extLst>
          </p:cNvPr>
          <p:cNvSpPr>
            <a:spLocks xmlns:a="http://schemas.openxmlformats.org/drawingml/2006/main" noGrp="1"/>
          </p:cNvSpPr>
          <p:nvPr/>
        </p:nvSpPr>
        <p:spPr>
          <a:xfrm xmlns:a="http://schemas.openxmlformats.org/drawingml/2006/main">
            <a:off x="2295525" y="4191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mean F1</a:t>
            </a:r>
          </a:p>
        </p:txBody>
      </p:sp>
      <p:sp>
        <p:nvSpPr>
          <p:cNvPr id="14" name="">
            <a:extLst xmlns:a="http://schemas.openxmlformats.org/drawingml/2006/main">
              <a:ext uri="{FF2B5EF4-FFF2-40B4-BE49-F238E27FC236}">
                <a16:creationId xmlns:a16="http://schemas.microsoft.com/office/drawing/2014/main" id="{479A6543-741F-492D-828D-CD7618BE16B8}"/>
              </a:ext>
            </a:extLst>
          </p:cNvPr>
          <p:cNvSpPr>
            <a:spLocks xmlns:a="http://schemas.openxmlformats.org/drawingml/2006/main" noGrp="1"/>
          </p:cNvSpPr>
          <p:nvPr/>
        </p:nvSpPr>
        <p:spPr>
          <a:xfrm xmlns:a="http://schemas.openxmlformats.org/drawingml/2006/main">
            <a:off x="6572250" y="1524000"/>
            <a:ext cx="4953000" cy="3810000"/>
          </a:xfrm>
          <a:prstGeom xmlns:a="http://schemas.openxmlformats.org/drawingml/2006/main" prst="roundRect">
            <a:avLst>
              <a:gd name="adj" fmla="val 2000"/>
            </a:avLst>
          </a:prstGeom>
          <a:solidFill xmlns:a="http://schemas.openxmlformats.org/drawingml/2006/main">
            <a:srgbClr val="121C27"/>
          </a:solidFill>
          <a:ln xmlns:a="http://schemas.openxmlformats.org/drawingml/2006/main" w="9525">
            <a:solidFill>
              <a:srgbClr val="2C3A49"/>
            </a:solidFill>
            <a:prstDash val="solid"/>
          </a:ln>
        </p:spPr>
      </p:sp>
      <p:sp>
        <p:nvSpPr>
          <p:cNvPr id="15" name="">
            <a:extLst xmlns:a="http://schemas.openxmlformats.org/drawingml/2006/main">
              <a:ext uri="{FF2B5EF4-FFF2-40B4-BE49-F238E27FC236}">
                <a16:creationId xmlns:a16="http://schemas.microsoft.com/office/drawing/2014/main" id="{6EEDC6F1-EFBC-49CB-8424-DD6F5F895D43}"/>
              </a:ext>
            </a:extLst>
          </p:cNvPr>
          <p:cNvSpPr>
            <a:spLocks xmlns:a="http://schemas.openxmlformats.org/drawingml/2006/main" noGrp="1"/>
          </p:cNvSpPr>
          <p:nvPr/>
        </p:nvSpPr>
        <p:spPr>
          <a:xfrm xmlns:a="http://schemas.openxmlformats.org/drawingml/2006/main">
            <a:off x="6762750" y="17145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F59E0B"/>
                </a:solidFill>
              </a:defRPr>
            </a:pPr>
            <a:r>
              <a:rPr sz="2025" b="1">
                <a:solidFill>
                  <a:srgbClr val="F59E0B"/>
                </a:solidFill>
              </a:rPr>
              <a:t>GAUSSIAN</a:t>
            </a:r>
          </a:p>
        </p:txBody>
      </p:sp>
      <p:sp>
        <p:nvSpPr>
          <p:cNvPr id="16" name="">
            <a:extLst xmlns:a="http://schemas.openxmlformats.org/drawingml/2006/main">
              <a:ext uri="{FF2B5EF4-FFF2-40B4-BE49-F238E27FC236}">
                <a16:creationId xmlns:a16="http://schemas.microsoft.com/office/drawing/2014/main" id="{9B949BCB-D23C-4613-8A2F-C6237F612D2F}"/>
              </a:ext>
            </a:extLst>
          </p:cNvPr>
          <p:cNvSpPr>
            <a:spLocks xmlns:a="http://schemas.openxmlformats.org/drawingml/2006/main" noGrp="1"/>
          </p:cNvSpPr>
          <p:nvPr/>
        </p:nvSpPr>
        <p:spPr>
          <a:xfrm xmlns:a="http://schemas.openxmlformats.org/drawingml/2006/main">
            <a:off x="7048500" y="236220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66 / 72</a:t>
            </a:r>
          </a:p>
        </p:txBody>
      </p:sp>
      <p:sp>
        <p:nvSpPr>
          <p:cNvPr id="17" name="">
            <a:extLst xmlns:a="http://schemas.openxmlformats.org/drawingml/2006/main">
              <a:ext uri="{FF2B5EF4-FFF2-40B4-BE49-F238E27FC236}">
                <a16:creationId xmlns:a16="http://schemas.microsoft.com/office/drawing/2014/main" id="{9D680FEE-4C9A-4623-AD5A-4BDB037395A7}"/>
              </a:ext>
            </a:extLst>
          </p:cNvPr>
          <p:cNvSpPr>
            <a:spLocks xmlns:a="http://schemas.openxmlformats.org/drawingml/2006/main" noGrp="1"/>
          </p:cNvSpPr>
          <p:nvPr/>
        </p:nvSpPr>
        <p:spPr>
          <a:xfrm xmlns:a="http://schemas.openxmlformats.org/drawingml/2006/main">
            <a:off x="7105650" y="28384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zero-recall pairs</a:t>
            </a:r>
          </a:p>
        </p:txBody>
      </p:sp>
      <p:sp>
        <p:nvSpPr>
          <p:cNvPr id="18" name="">
            <a:extLst xmlns:a="http://schemas.openxmlformats.org/drawingml/2006/main">
              <a:ext uri="{FF2B5EF4-FFF2-40B4-BE49-F238E27FC236}">
                <a16:creationId xmlns:a16="http://schemas.microsoft.com/office/drawing/2014/main" id="{E08D21B3-2685-404C-A7E3-8E84C489EF23}"/>
              </a:ext>
            </a:extLst>
          </p:cNvPr>
          <p:cNvSpPr>
            <a:spLocks xmlns:a="http://schemas.openxmlformats.org/drawingml/2006/main" noGrp="1"/>
          </p:cNvSpPr>
          <p:nvPr/>
        </p:nvSpPr>
        <p:spPr>
          <a:xfrm xmlns:a="http://schemas.openxmlformats.org/drawingml/2006/main">
            <a:off x="9239250" y="236220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B7185"/>
                </a:solidFill>
              </a:defRPr>
            </a:pPr>
            <a:r>
              <a:rPr sz="2700" b="1">
                <a:solidFill>
                  <a:srgbClr val="FB7185"/>
                </a:solidFill>
              </a:rPr>
              <a:t>0 / 72</a:t>
            </a:r>
          </a:p>
        </p:txBody>
      </p:sp>
      <p:sp>
        <p:nvSpPr>
          <p:cNvPr id="19" name="">
            <a:extLst xmlns:a="http://schemas.openxmlformats.org/drawingml/2006/main">
              <a:ext uri="{FF2B5EF4-FFF2-40B4-BE49-F238E27FC236}">
                <a16:creationId xmlns:a16="http://schemas.microsoft.com/office/drawing/2014/main" id="{AF910D36-F63B-4364-908C-1111F0677446}"/>
              </a:ext>
            </a:extLst>
          </p:cNvPr>
          <p:cNvSpPr>
            <a:spLocks xmlns:a="http://schemas.openxmlformats.org/drawingml/2006/main" noGrp="1"/>
          </p:cNvSpPr>
          <p:nvPr/>
        </p:nvSpPr>
        <p:spPr>
          <a:xfrm xmlns:a="http://schemas.openxmlformats.org/drawingml/2006/main">
            <a:off x="9296400" y="28384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F1 at least 0.8</a:t>
            </a:r>
          </a:p>
        </p:txBody>
      </p:sp>
      <p:sp>
        <p:nvSpPr>
          <p:cNvPr id="20" name="">
            <a:extLst xmlns:a="http://schemas.openxmlformats.org/drawingml/2006/main">
              <a:ext uri="{FF2B5EF4-FFF2-40B4-BE49-F238E27FC236}">
                <a16:creationId xmlns:a16="http://schemas.microsoft.com/office/drawing/2014/main" id="{94840425-F2E4-44DC-A53D-751BAA874F33}"/>
              </a:ext>
            </a:extLst>
          </p:cNvPr>
          <p:cNvSpPr>
            <a:spLocks xmlns:a="http://schemas.openxmlformats.org/drawingml/2006/main" noGrp="1"/>
          </p:cNvSpPr>
          <p:nvPr/>
        </p:nvSpPr>
        <p:spPr>
          <a:xfrm xmlns:a="http://schemas.openxmlformats.org/drawingml/2006/main">
            <a:off x="8143875" y="37147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F59E0B"/>
                </a:solidFill>
              </a:defRPr>
            </a:pPr>
            <a:r>
              <a:rPr sz="2700" b="1">
                <a:solidFill>
                  <a:srgbClr val="F59E0B"/>
                </a:solidFill>
              </a:rPr>
              <a:t>0.0362</a:t>
            </a:r>
          </a:p>
        </p:txBody>
      </p:sp>
      <p:sp>
        <p:nvSpPr>
          <p:cNvPr id="21" name="">
            <a:extLst xmlns:a="http://schemas.openxmlformats.org/drawingml/2006/main">
              <a:ext uri="{FF2B5EF4-FFF2-40B4-BE49-F238E27FC236}">
                <a16:creationId xmlns:a16="http://schemas.microsoft.com/office/drawing/2014/main" id="{C5F830DF-341A-463F-AC80-A927D4192DF4}"/>
              </a:ext>
            </a:extLst>
          </p:cNvPr>
          <p:cNvSpPr>
            <a:spLocks xmlns:a="http://schemas.openxmlformats.org/drawingml/2006/main" noGrp="1"/>
          </p:cNvSpPr>
          <p:nvPr/>
        </p:nvSpPr>
        <p:spPr>
          <a:xfrm xmlns:a="http://schemas.openxmlformats.org/drawingml/2006/main">
            <a:off x="8201025" y="4191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mean F1</a:t>
            </a:r>
          </a:p>
        </p:txBody>
      </p:sp>
      <p:sp>
        <p:nvSpPr>
          <p:cNvPr id="22" name="">
            <a:extLst xmlns:a="http://schemas.openxmlformats.org/drawingml/2006/main">
              <a:ext uri="{FF2B5EF4-FFF2-40B4-BE49-F238E27FC236}">
                <a16:creationId xmlns:a16="http://schemas.microsoft.com/office/drawing/2014/main" id="{9068C44B-0F17-4932-BBEC-890B69CB2D78}"/>
              </a:ext>
            </a:extLst>
          </p:cNvPr>
          <p:cNvSpPr>
            <a:spLocks xmlns:a="http://schemas.openxmlformats.org/drawingml/2006/main" noGrp="1"/>
          </p:cNvSpPr>
          <p:nvPr/>
        </p:nvSpPr>
        <p:spPr>
          <a:xfrm xmlns:a="http://schemas.openxmlformats.org/drawingml/2006/main">
            <a:off x="2286000" y="576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7FAFC"/>
                </a:solidFill>
              </a:defRPr>
            </a:pPr>
            <a:r>
              <a:rPr sz="1350" b="1">
                <a:solidFill>
                  <a:srgbClr val="F7FAFC"/>
                </a:solidFill>
              </a:rPr>
              <a:t>Both models support the same direction of failure; CART is stronger but still brittle.</a:t>
            </a:r>
          </a:p>
        </p:txBody>
      </p:sp>
    </p:spTree>
    <p:extLst>
      <p:ext uri="{BB962C8B-B14F-4D97-AF65-F5344CB8AC3E}">
        <p14:creationId xmlns:p14="http://schemas.microsoft.com/office/powerpoint/2010/main" val="1474768562"/>
      </p:ext>
    </p:extLst>
  </p:cSld>
</p:sld>
</file>

<file path=ppt/slides/slide23.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C7DCC0B-E047-480B-81CA-1BDB46910262}"/>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4CD599F0-E1F8-4A84-94FA-86924C3AE984}"/>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Adaptation outcomes depend on the source-target pair</a:t>
            </a:r>
          </a:p>
        </p:txBody>
      </p:sp>
      <p:sp>
        <p:nvSpPr>
          <p:cNvPr id="3" name="">
            <a:extLst xmlns:a="http://schemas.openxmlformats.org/drawingml/2006/main">
              <a:ext uri="{FF2B5EF4-FFF2-40B4-BE49-F238E27FC236}">
                <a16:creationId xmlns:a16="http://schemas.microsoft.com/office/drawing/2014/main" id="{3E1E1BE1-848F-4105-A0EA-9BD631F7254C}"/>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AAF108-944F-4C19-B376-E8C8FCD2F951}"/>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3F40D83-680F-4EF5-BC08-DDED502A3772}"/>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F5DB76FE-19D0-4819-B1CE-0F805539F87F}"/>
              </a:ext>
            </a:extLst>
          </p:cNvPr>
          <p:cNvSpPr>
            <a:spLocks xmlns:a="http://schemas.openxmlformats.org/drawingml/2006/main" noGrp="1"/>
          </p:cNvSpPr>
          <p:nvPr/>
        </p:nvSpPr>
        <p:spPr>
          <a:xfrm xmlns:a="http://schemas.openxmlformats.org/drawingml/2006/main">
            <a:off x="523875" y="1428750"/>
            <a:ext cx="3190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2D3EE"/>
                </a:solidFill>
              </a:defRPr>
            </a:pPr>
            <a:r>
              <a:rPr sz="975" b="1">
                <a:solidFill>
                  <a:srgbClr val="22D3EE"/>
                </a:solidFill>
              </a:rPr>
              <a:t>Source -&gt; target</a:t>
            </a:r>
          </a:p>
        </p:txBody>
      </p:sp>
      <p:sp>
        <p:nvSpPr>
          <p:cNvPr id="7" name="">
            <a:extLst xmlns:a="http://schemas.openxmlformats.org/drawingml/2006/main">
              <a:ext uri="{FF2B5EF4-FFF2-40B4-BE49-F238E27FC236}">
                <a16:creationId xmlns:a16="http://schemas.microsoft.com/office/drawing/2014/main" id="{3D2E0C99-3930-4EE7-A320-46F482F1E008}"/>
              </a:ext>
            </a:extLst>
          </p:cNvPr>
          <p:cNvSpPr>
            <a:spLocks xmlns:a="http://schemas.openxmlformats.org/drawingml/2006/main" noGrp="1"/>
          </p:cNvSpPr>
          <p:nvPr/>
        </p:nvSpPr>
        <p:spPr>
          <a:xfrm xmlns:a="http://schemas.openxmlformats.org/drawingml/2006/main">
            <a:off x="3857625" y="1428750"/>
            <a:ext cx="109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2D3EE"/>
                </a:solidFill>
              </a:defRPr>
            </a:pPr>
            <a:r>
              <a:rPr sz="975" b="1">
                <a:solidFill>
                  <a:srgbClr val="22D3EE"/>
                </a:solidFill>
              </a:rPr>
              <a:t>Static</a:t>
            </a:r>
          </a:p>
        </p:txBody>
      </p:sp>
      <p:sp>
        <p:nvSpPr>
          <p:cNvPr id="8" name="">
            <a:extLst xmlns:a="http://schemas.openxmlformats.org/drawingml/2006/main">
              <a:ext uri="{FF2B5EF4-FFF2-40B4-BE49-F238E27FC236}">
                <a16:creationId xmlns:a16="http://schemas.microsoft.com/office/drawing/2014/main" id="{9233A414-ACB4-4BA2-A0B3-3A9CEF26AD3B}"/>
              </a:ext>
            </a:extLst>
          </p:cNvPr>
          <p:cNvSpPr>
            <a:spLocks xmlns:a="http://schemas.openxmlformats.org/drawingml/2006/main" noGrp="1"/>
          </p:cNvSpPr>
          <p:nvPr/>
        </p:nvSpPr>
        <p:spPr>
          <a:xfrm xmlns:a="http://schemas.openxmlformats.org/drawingml/2006/main">
            <a:off x="5095875" y="1428750"/>
            <a:ext cx="109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2D3EE"/>
                </a:solidFill>
              </a:defRPr>
            </a:pPr>
            <a:r>
              <a:rPr sz="975" b="1">
                <a:solidFill>
                  <a:srgbClr val="22D3EE"/>
                </a:solidFill>
              </a:rPr>
              <a:t>1 seed</a:t>
            </a:r>
          </a:p>
        </p:txBody>
      </p:sp>
      <p:sp>
        <p:nvSpPr>
          <p:cNvPr id="9" name="">
            <a:extLst xmlns:a="http://schemas.openxmlformats.org/drawingml/2006/main">
              <a:ext uri="{FF2B5EF4-FFF2-40B4-BE49-F238E27FC236}">
                <a16:creationId xmlns:a16="http://schemas.microsoft.com/office/drawing/2014/main" id="{7F2050B2-29E4-4A0F-A0AE-5BD92038D204}"/>
              </a:ext>
            </a:extLst>
          </p:cNvPr>
          <p:cNvSpPr>
            <a:spLocks xmlns:a="http://schemas.openxmlformats.org/drawingml/2006/main" noGrp="1"/>
          </p:cNvSpPr>
          <p:nvPr/>
        </p:nvSpPr>
        <p:spPr>
          <a:xfrm xmlns:a="http://schemas.openxmlformats.org/drawingml/2006/main">
            <a:off x="6334125" y="1428750"/>
            <a:ext cx="109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2D3EE"/>
                </a:solidFill>
              </a:defRPr>
            </a:pPr>
            <a:r>
              <a:rPr sz="975" b="1">
                <a:solidFill>
                  <a:srgbClr val="22D3EE"/>
                </a:solidFill>
              </a:rPr>
              <a:t>2 seeds</a:t>
            </a:r>
          </a:p>
        </p:txBody>
      </p:sp>
      <p:sp>
        <p:nvSpPr>
          <p:cNvPr id="10" name="">
            <a:extLst xmlns:a="http://schemas.openxmlformats.org/drawingml/2006/main">
              <a:ext uri="{FF2B5EF4-FFF2-40B4-BE49-F238E27FC236}">
                <a16:creationId xmlns:a16="http://schemas.microsoft.com/office/drawing/2014/main" id="{EC1A08B4-8209-4E61-B56A-5A91EFD2ADE0}"/>
              </a:ext>
            </a:extLst>
          </p:cNvPr>
          <p:cNvSpPr>
            <a:spLocks xmlns:a="http://schemas.openxmlformats.org/drawingml/2006/main" noGrp="1"/>
          </p:cNvSpPr>
          <p:nvPr/>
        </p:nvSpPr>
        <p:spPr>
          <a:xfrm xmlns:a="http://schemas.openxmlformats.org/drawingml/2006/main">
            <a:off x="7572375" y="1428750"/>
            <a:ext cx="109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2D3EE"/>
                </a:solidFill>
              </a:defRPr>
            </a:pPr>
            <a:r>
              <a:rPr sz="975" b="1">
                <a:solidFill>
                  <a:srgbClr val="22D3EE"/>
                </a:solidFill>
              </a:rPr>
              <a:t>3 seeds</a:t>
            </a:r>
          </a:p>
        </p:txBody>
      </p:sp>
      <p:sp>
        <p:nvSpPr>
          <p:cNvPr id="11" name="">
            <a:extLst xmlns:a="http://schemas.openxmlformats.org/drawingml/2006/main">
              <a:ext uri="{FF2B5EF4-FFF2-40B4-BE49-F238E27FC236}">
                <a16:creationId xmlns:a16="http://schemas.microsoft.com/office/drawing/2014/main" id="{9A130450-1F2E-4D5A-A1CE-7594F9EBFF4E}"/>
              </a:ext>
            </a:extLst>
          </p:cNvPr>
          <p:cNvSpPr>
            <a:spLocks xmlns:a="http://schemas.openxmlformats.org/drawingml/2006/main" noGrp="1"/>
          </p:cNvSpPr>
          <p:nvPr/>
        </p:nvSpPr>
        <p:spPr>
          <a:xfrm xmlns:a="http://schemas.openxmlformats.org/drawingml/2006/main">
            <a:off x="8810625" y="1428750"/>
            <a:ext cx="2809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2D3EE"/>
                </a:solidFill>
              </a:defRPr>
            </a:pPr>
            <a:r>
              <a:rPr sz="975" b="1">
                <a:solidFill>
                  <a:srgbClr val="22D3EE"/>
                </a:solidFill>
              </a:rPr>
              <a:t>Pattern</a:t>
            </a:r>
          </a:p>
        </p:txBody>
      </p:sp>
      <p:sp>
        <p:nvSpPr>
          <p:cNvPr id="12" name="">
            <a:extLst xmlns:a="http://schemas.openxmlformats.org/drawingml/2006/main">
              <a:ext uri="{FF2B5EF4-FFF2-40B4-BE49-F238E27FC236}">
                <a16:creationId xmlns:a16="http://schemas.microsoft.com/office/drawing/2014/main" id="{73F18962-0C95-4C6F-AC91-03F686840535}"/>
              </a:ext>
            </a:extLst>
          </p:cNvPr>
          <p:cNvSpPr>
            <a:spLocks xmlns:a="http://schemas.openxmlformats.org/drawingml/2006/main" noGrp="1"/>
          </p:cNvSpPr>
          <p:nvPr/>
        </p:nvSpPr>
        <p:spPr>
          <a:xfrm xmlns:a="http://schemas.openxmlformats.org/drawingml/2006/main">
            <a:off x="428625" y="18097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13" name="">
            <a:extLst xmlns:a="http://schemas.openxmlformats.org/drawingml/2006/main">
              <a:ext uri="{FF2B5EF4-FFF2-40B4-BE49-F238E27FC236}">
                <a16:creationId xmlns:a16="http://schemas.microsoft.com/office/drawing/2014/main" id="{35A22D51-8117-4D25-ABD3-5D9B62B6DE9F}"/>
              </a:ext>
            </a:extLst>
          </p:cNvPr>
          <p:cNvSpPr>
            <a:spLocks xmlns:a="http://schemas.openxmlformats.org/drawingml/2006/main" noGrp="1"/>
          </p:cNvSpPr>
          <p:nvPr/>
        </p:nvSpPr>
        <p:spPr>
          <a:xfrm xmlns:a="http://schemas.openxmlformats.org/drawingml/2006/main">
            <a:off x="523875" y="18097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Blackhole -&gt; DIS Flood</a:t>
            </a:r>
          </a:p>
        </p:txBody>
      </p:sp>
      <p:sp>
        <p:nvSpPr>
          <p:cNvPr id="14" name="">
            <a:extLst xmlns:a="http://schemas.openxmlformats.org/drawingml/2006/main">
              <a:ext uri="{FF2B5EF4-FFF2-40B4-BE49-F238E27FC236}">
                <a16:creationId xmlns:a16="http://schemas.microsoft.com/office/drawing/2014/main" id="{EED1E1E7-CA7D-4057-A46B-449546ABCFEC}"/>
              </a:ext>
            </a:extLst>
          </p:cNvPr>
          <p:cNvSpPr>
            <a:spLocks xmlns:a="http://schemas.openxmlformats.org/drawingml/2006/main" noGrp="1"/>
          </p:cNvSpPr>
          <p:nvPr/>
        </p:nvSpPr>
        <p:spPr>
          <a:xfrm xmlns:a="http://schemas.openxmlformats.org/drawingml/2006/main">
            <a:off x="3857625" y="18097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15" name="">
            <a:extLst xmlns:a="http://schemas.openxmlformats.org/drawingml/2006/main">
              <a:ext uri="{FF2B5EF4-FFF2-40B4-BE49-F238E27FC236}">
                <a16:creationId xmlns:a16="http://schemas.microsoft.com/office/drawing/2014/main" id="{009AF9D7-A7CA-4D68-8502-74AD4E7B7A96}"/>
              </a:ext>
            </a:extLst>
          </p:cNvPr>
          <p:cNvSpPr>
            <a:spLocks xmlns:a="http://schemas.openxmlformats.org/drawingml/2006/main" noGrp="1"/>
          </p:cNvSpPr>
          <p:nvPr/>
        </p:nvSpPr>
        <p:spPr>
          <a:xfrm xmlns:a="http://schemas.openxmlformats.org/drawingml/2006/main">
            <a:off x="5095875" y="18097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16" name="">
            <a:extLst xmlns:a="http://schemas.openxmlformats.org/drawingml/2006/main">
              <a:ext uri="{FF2B5EF4-FFF2-40B4-BE49-F238E27FC236}">
                <a16:creationId xmlns:a16="http://schemas.microsoft.com/office/drawing/2014/main" id="{5B1779D5-261A-4D68-A4E2-89E7EA6E0A36}"/>
              </a:ext>
            </a:extLst>
          </p:cNvPr>
          <p:cNvSpPr>
            <a:spLocks xmlns:a="http://schemas.openxmlformats.org/drawingml/2006/main" noGrp="1"/>
          </p:cNvSpPr>
          <p:nvPr/>
        </p:nvSpPr>
        <p:spPr>
          <a:xfrm xmlns:a="http://schemas.openxmlformats.org/drawingml/2006/main">
            <a:off x="6334125" y="18097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17" name="">
            <a:extLst xmlns:a="http://schemas.openxmlformats.org/drawingml/2006/main">
              <a:ext uri="{FF2B5EF4-FFF2-40B4-BE49-F238E27FC236}">
                <a16:creationId xmlns:a16="http://schemas.microsoft.com/office/drawing/2014/main" id="{7AF90C40-2E4E-49CE-9C18-EF65D9169D12}"/>
              </a:ext>
            </a:extLst>
          </p:cNvPr>
          <p:cNvSpPr>
            <a:spLocks xmlns:a="http://schemas.openxmlformats.org/drawingml/2006/main" noGrp="1"/>
          </p:cNvSpPr>
          <p:nvPr/>
        </p:nvSpPr>
        <p:spPr>
          <a:xfrm xmlns:a="http://schemas.openxmlformats.org/drawingml/2006/main">
            <a:off x="7572375" y="18097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18" name="">
            <a:extLst xmlns:a="http://schemas.openxmlformats.org/drawingml/2006/main">
              <a:ext uri="{FF2B5EF4-FFF2-40B4-BE49-F238E27FC236}">
                <a16:creationId xmlns:a16="http://schemas.microsoft.com/office/drawing/2014/main" id="{67829B7C-A2B1-48E6-82B4-CD1B9AD376D2}"/>
              </a:ext>
            </a:extLst>
          </p:cNvPr>
          <p:cNvSpPr>
            <a:spLocks xmlns:a="http://schemas.openxmlformats.org/drawingml/2006/main" noGrp="1"/>
          </p:cNvSpPr>
          <p:nvPr/>
        </p:nvSpPr>
        <p:spPr>
          <a:xfrm xmlns:a="http://schemas.openxmlformats.org/drawingml/2006/main">
            <a:off x="8810625" y="18097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Immediate recovery</a:t>
            </a:r>
          </a:p>
        </p:txBody>
      </p:sp>
      <p:sp>
        <p:nvSpPr>
          <p:cNvPr id="19" name="">
            <a:extLst xmlns:a="http://schemas.openxmlformats.org/drawingml/2006/main">
              <a:ext uri="{FF2B5EF4-FFF2-40B4-BE49-F238E27FC236}">
                <a16:creationId xmlns:a16="http://schemas.microsoft.com/office/drawing/2014/main" id="{CD81D12D-D3AC-4648-BCED-C0543EEF0136}"/>
              </a:ext>
            </a:extLst>
          </p:cNvPr>
          <p:cNvSpPr>
            <a:spLocks xmlns:a="http://schemas.openxmlformats.org/drawingml/2006/main" noGrp="1"/>
          </p:cNvSpPr>
          <p:nvPr/>
        </p:nvSpPr>
        <p:spPr>
          <a:xfrm xmlns:a="http://schemas.openxmlformats.org/drawingml/2006/main">
            <a:off x="428625" y="25336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20" name="">
            <a:extLst xmlns:a="http://schemas.openxmlformats.org/drawingml/2006/main">
              <a:ext uri="{FF2B5EF4-FFF2-40B4-BE49-F238E27FC236}">
                <a16:creationId xmlns:a16="http://schemas.microsoft.com/office/drawing/2014/main" id="{ECB694F0-687B-4D0F-8713-5F75816986DB}"/>
              </a:ext>
            </a:extLst>
          </p:cNvPr>
          <p:cNvSpPr>
            <a:spLocks xmlns:a="http://schemas.openxmlformats.org/drawingml/2006/main" noGrp="1"/>
          </p:cNvSpPr>
          <p:nvPr/>
        </p:nvSpPr>
        <p:spPr>
          <a:xfrm xmlns:a="http://schemas.openxmlformats.org/drawingml/2006/main">
            <a:off x="523875" y="25336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Blackhole -&gt; Sinkhole</a:t>
            </a:r>
          </a:p>
        </p:txBody>
      </p:sp>
      <p:sp>
        <p:nvSpPr>
          <p:cNvPr id="21" name="">
            <a:extLst xmlns:a="http://schemas.openxmlformats.org/drawingml/2006/main">
              <a:ext uri="{FF2B5EF4-FFF2-40B4-BE49-F238E27FC236}">
                <a16:creationId xmlns:a16="http://schemas.microsoft.com/office/drawing/2014/main" id="{8558DFB8-3890-48EE-BD5A-6C8F21B088CF}"/>
              </a:ext>
            </a:extLst>
          </p:cNvPr>
          <p:cNvSpPr>
            <a:spLocks xmlns:a="http://schemas.openxmlformats.org/drawingml/2006/main" noGrp="1"/>
          </p:cNvSpPr>
          <p:nvPr/>
        </p:nvSpPr>
        <p:spPr>
          <a:xfrm xmlns:a="http://schemas.openxmlformats.org/drawingml/2006/main">
            <a:off x="3857625" y="25336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22" name="">
            <a:extLst xmlns:a="http://schemas.openxmlformats.org/drawingml/2006/main">
              <a:ext uri="{FF2B5EF4-FFF2-40B4-BE49-F238E27FC236}">
                <a16:creationId xmlns:a16="http://schemas.microsoft.com/office/drawing/2014/main" id="{496C29AB-3DA1-468C-BD61-36F7408BEA54}"/>
              </a:ext>
            </a:extLst>
          </p:cNvPr>
          <p:cNvSpPr>
            <a:spLocks xmlns:a="http://schemas.openxmlformats.org/drawingml/2006/main" noGrp="1"/>
          </p:cNvSpPr>
          <p:nvPr/>
        </p:nvSpPr>
        <p:spPr>
          <a:xfrm xmlns:a="http://schemas.openxmlformats.org/drawingml/2006/main">
            <a:off x="5095875" y="25336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0.571</a:t>
            </a:r>
          </a:p>
        </p:txBody>
      </p:sp>
      <p:sp>
        <p:nvSpPr>
          <p:cNvPr id="23" name="">
            <a:extLst xmlns:a="http://schemas.openxmlformats.org/drawingml/2006/main">
              <a:ext uri="{FF2B5EF4-FFF2-40B4-BE49-F238E27FC236}">
                <a16:creationId xmlns:a16="http://schemas.microsoft.com/office/drawing/2014/main" id="{12BCE91E-E4ED-4BA8-8365-610E99E66D9D}"/>
              </a:ext>
            </a:extLst>
          </p:cNvPr>
          <p:cNvSpPr>
            <a:spLocks xmlns:a="http://schemas.openxmlformats.org/drawingml/2006/main" noGrp="1"/>
          </p:cNvSpPr>
          <p:nvPr/>
        </p:nvSpPr>
        <p:spPr>
          <a:xfrm xmlns:a="http://schemas.openxmlformats.org/drawingml/2006/main">
            <a:off x="6334125" y="25336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0.966</a:t>
            </a:r>
          </a:p>
        </p:txBody>
      </p:sp>
      <p:sp>
        <p:nvSpPr>
          <p:cNvPr id="24" name="">
            <a:extLst xmlns:a="http://schemas.openxmlformats.org/drawingml/2006/main">
              <a:ext uri="{FF2B5EF4-FFF2-40B4-BE49-F238E27FC236}">
                <a16:creationId xmlns:a16="http://schemas.microsoft.com/office/drawing/2014/main" id="{665BD646-E721-476D-A292-E2A27B371F1E}"/>
              </a:ext>
            </a:extLst>
          </p:cNvPr>
          <p:cNvSpPr>
            <a:spLocks xmlns:a="http://schemas.openxmlformats.org/drawingml/2006/main" noGrp="1"/>
          </p:cNvSpPr>
          <p:nvPr/>
        </p:nvSpPr>
        <p:spPr>
          <a:xfrm xmlns:a="http://schemas.openxmlformats.org/drawingml/2006/main">
            <a:off x="7572375" y="25336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0.947</a:t>
            </a:r>
          </a:p>
        </p:txBody>
      </p:sp>
      <p:sp>
        <p:nvSpPr>
          <p:cNvPr id="25" name="">
            <a:extLst xmlns:a="http://schemas.openxmlformats.org/drawingml/2006/main">
              <a:ext uri="{FF2B5EF4-FFF2-40B4-BE49-F238E27FC236}">
                <a16:creationId xmlns:a16="http://schemas.microsoft.com/office/drawing/2014/main" id="{2945AAB1-AC4E-4AF6-93E8-EFBC6F022438}"/>
              </a:ext>
            </a:extLst>
          </p:cNvPr>
          <p:cNvSpPr>
            <a:spLocks xmlns:a="http://schemas.openxmlformats.org/drawingml/2006/main" noGrp="1"/>
          </p:cNvSpPr>
          <p:nvPr/>
        </p:nvSpPr>
        <p:spPr>
          <a:xfrm xmlns:a="http://schemas.openxmlformats.org/drawingml/2006/main">
            <a:off x="8810625" y="25336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Two seeds best</a:t>
            </a:r>
          </a:p>
        </p:txBody>
      </p:sp>
      <p:sp>
        <p:nvSpPr>
          <p:cNvPr id="26" name="">
            <a:extLst xmlns:a="http://schemas.openxmlformats.org/drawingml/2006/main">
              <a:ext uri="{FF2B5EF4-FFF2-40B4-BE49-F238E27FC236}">
                <a16:creationId xmlns:a16="http://schemas.microsoft.com/office/drawing/2014/main" id="{C4836574-B404-47B8-8895-3BD021E599E2}"/>
              </a:ext>
            </a:extLst>
          </p:cNvPr>
          <p:cNvSpPr>
            <a:spLocks xmlns:a="http://schemas.openxmlformats.org/drawingml/2006/main" noGrp="1"/>
          </p:cNvSpPr>
          <p:nvPr/>
        </p:nvSpPr>
        <p:spPr>
          <a:xfrm xmlns:a="http://schemas.openxmlformats.org/drawingml/2006/main">
            <a:off x="428625" y="32575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27" name="">
            <a:extLst xmlns:a="http://schemas.openxmlformats.org/drawingml/2006/main">
              <a:ext uri="{FF2B5EF4-FFF2-40B4-BE49-F238E27FC236}">
                <a16:creationId xmlns:a16="http://schemas.microsoft.com/office/drawing/2014/main" id="{20B052CE-F8CE-4951-8ABD-1CFC7D9858AE}"/>
              </a:ext>
            </a:extLst>
          </p:cNvPr>
          <p:cNvSpPr>
            <a:spLocks xmlns:a="http://schemas.openxmlformats.org/drawingml/2006/main" noGrp="1"/>
          </p:cNvSpPr>
          <p:nvPr/>
        </p:nvSpPr>
        <p:spPr>
          <a:xfrm xmlns:a="http://schemas.openxmlformats.org/drawingml/2006/main">
            <a:off x="523875" y="32575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Blackhole -&gt; Wormhole</a:t>
            </a:r>
          </a:p>
        </p:txBody>
      </p:sp>
      <p:sp>
        <p:nvSpPr>
          <p:cNvPr id="28" name="">
            <a:extLst xmlns:a="http://schemas.openxmlformats.org/drawingml/2006/main">
              <a:ext uri="{FF2B5EF4-FFF2-40B4-BE49-F238E27FC236}">
                <a16:creationId xmlns:a16="http://schemas.microsoft.com/office/drawing/2014/main" id="{D1DAF086-FD6E-4EBB-AB5E-75FDD8621EDD}"/>
              </a:ext>
            </a:extLst>
          </p:cNvPr>
          <p:cNvSpPr>
            <a:spLocks xmlns:a="http://schemas.openxmlformats.org/drawingml/2006/main" noGrp="1"/>
          </p:cNvSpPr>
          <p:nvPr/>
        </p:nvSpPr>
        <p:spPr>
          <a:xfrm xmlns:a="http://schemas.openxmlformats.org/drawingml/2006/main">
            <a:off x="3857625" y="32575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29" name="">
            <a:extLst xmlns:a="http://schemas.openxmlformats.org/drawingml/2006/main">
              <a:ext uri="{FF2B5EF4-FFF2-40B4-BE49-F238E27FC236}">
                <a16:creationId xmlns:a16="http://schemas.microsoft.com/office/drawing/2014/main" id="{828D83BD-15A7-4C3A-816E-880245D844B4}"/>
              </a:ext>
            </a:extLst>
          </p:cNvPr>
          <p:cNvSpPr>
            <a:spLocks xmlns:a="http://schemas.openxmlformats.org/drawingml/2006/main" noGrp="1"/>
          </p:cNvSpPr>
          <p:nvPr/>
        </p:nvSpPr>
        <p:spPr>
          <a:xfrm xmlns:a="http://schemas.openxmlformats.org/drawingml/2006/main">
            <a:off x="5095875" y="32575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0.778</a:t>
            </a:r>
          </a:p>
        </p:txBody>
      </p:sp>
      <p:sp>
        <p:nvSpPr>
          <p:cNvPr id="30" name="">
            <a:extLst xmlns:a="http://schemas.openxmlformats.org/drawingml/2006/main">
              <a:ext uri="{FF2B5EF4-FFF2-40B4-BE49-F238E27FC236}">
                <a16:creationId xmlns:a16="http://schemas.microsoft.com/office/drawing/2014/main" id="{A506E41F-8FA9-4084-9E07-34850839D537}"/>
              </a:ext>
            </a:extLst>
          </p:cNvPr>
          <p:cNvSpPr>
            <a:spLocks xmlns:a="http://schemas.openxmlformats.org/drawingml/2006/main" noGrp="1"/>
          </p:cNvSpPr>
          <p:nvPr/>
        </p:nvSpPr>
        <p:spPr>
          <a:xfrm xmlns:a="http://schemas.openxmlformats.org/drawingml/2006/main">
            <a:off x="6334125" y="32575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0.692</a:t>
            </a:r>
          </a:p>
        </p:txBody>
      </p:sp>
      <p:sp>
        <p:nvSpPr>
          <p:cNvPr id="31" name="">
            <a:extLst xmlns:a="http://schemas.openxmlformats.org/drawingml/2006/main">
              <a:ext uri="{FF2B5EF4-FFF2-40B4-BE49-F238E27FC236}">
                <a16:creationId xmlns:a16="http://schemas.microsoft.com/office/drawing/2014/main" id="{16A3073B-A9BB-4452-8B15-4F27E9B97130}"/>
              </a:ext>
            </a:extLst>
          </p:cNvPr>
          <p:cNvSpPr>
            <a:spLocks xmlns:a="http://schemas.openxmlformats.org/drawingml/2006/main" noGrp="1"/>
          </p:cNvSpPr>
          <p:nvPr/>
        </p:nvSpPr>
        <p:spPr>
          <a:xfrm xmlns:a="http://schemas.openxmlformats.org/drawingml/2006/main">
            <a:off x="7572375" y="32575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0.727</a:t>
            </a:r>
          </a:p>
        </p:txBody>
      </p:sp>
      <p:sp>
        <p:nvSpPr>
          <p:cNvPr id="32" name="">
            <a:extLst xmlns:a="http://schemas.openxmlformats.org/drawingml/2006/main">
              <a:ext uri="{FF2B5EF4-FFF2-40B4-BE49-F238E27FC236}">
                <a16:creationId xmlns:a16="http://schemas.microsoft.com/office/drawing/2014/main" id="{DE73F15C-FC6F-48CB-AC02-FB66110ADB4D}"/>
              </a:ext>
            </a:extLst>
          </p:cNvPr>
          <p:cNvSpPr>
            <a:spLocks xmlns:a="http://schemas.openxmlformats.org/drawingml/2006/main" noGrp="1"/>
          </p:cNvSpPr>
          <p:nvPr/>
        </p:nvSpPr>
        <p:spPr>
          <a:xfrm xmlns:a="http://schemas.openxmlformats.org/drawingml/2006/main">
            <a:off x="8810625" y="32575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Non-monotonic</a:t>
            </a:r>
          </a:p>
        </p:txBody>
      </p:sp>
      <p:sp>
        <p:nvSpPr>
          <p:cNvPr id="33" name="">
            <a:extLst xmlns:a="http://schemas.openxmlformats.org/drawingml/2006/main">
              <a:ext uri="{FF2B5EF4-FFF2-40B4-BE49-F238E27FC236}">
                <a16:creationId xmlns:a16="http://schemas.microsoft.com/office/drawing/2014/main" id="{81B6E834-D353-42E0-9334-5C3A0A819851}"/>
              </a:ext>
            </a:extLst>
          </p:cNvPr>
          <p:cNvSpPr>
            <a:spLocks xmlns:a="http://schemas.openxmlformats.org/drawingml/2006/main" noGrp="1"/>
          </p:cNvSpPr>
          <p:nvPr/>
        </p:nvSpPr>
        <p:spPr>
          <a:xfrm xmlns:a="http://schemas.openxmlformats.org/drawingml/2006/main">
            <a:off x="428625" y="39814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34" name="">
            <a:extLst xmlns:a="http://schemas.openxmlformats.org/drawingml/2006/main">
              <a:ext uri="{FF2B5EF4-FFF2-40B4-BE49-F238E27FC236}">
                <a16:creationId xmlns:a16="http://schemas.microsoft.com/office/drawing/2014/main" id="{C6714982-64FC-4BF4-9A4E-8E76A5394ECA}"/>
              </a:ext>
            </a:extLst>
          </p:cNvPr>
          <p:cNvSpPr>
            <a:spLocks xmlns:a="http://schemas.openxmlformats.org/drawingml/2006/main" noGrp="1"/>
          </p:cNvSpPr>
          <p:nvPr/>
        </p:nvSpPr>
        <p:spPr>
          <a:xfrm xmlns:a="http://schemas.openxmlformats.org/drawingml/2006/main">
            <a:off x="523875" y="39814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DIO Suppression -&gt; Sybil</a:t>
            </a:r>
          </a:p>
        </p:txBody>
      </p:sp>
      <p:sp>
        <p:nvSpPr>
          <p:cNvPr id="35" name="">
            <a:extLst xmlns:a="http://schemas.openxmlformats.org/drawingml/2006/main">
              <a:ext uri="{FF2B5EF4-FFF2-40B4-BE49-F238E27FC236}">
                <a16:creationId xmlns:a16="http://schemas.microsoft.com/office/drawing/2014/main" id="{92631076-7C71-4E78-A867-0AFEE85CA7BA}"/>
              </a:ext>
            </a:extLst>
          </p:cNvPr>
          <p:cNvSpPr>
            <a:spLocks xmlns:a="http://schemas.openxmlformats.org/drawingml/2006/main" noGrp="1"/>
          </p:cNvSpPr>
          <p:nvPr/>
        </p:nvSpPr>
        <p:spPr>
          <a:xfrm xmlns:a="http://schemas.openxmlformats.org/drawingml/2006/main">
            <a:off x="3857625" y="39814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36" name="">
            <a:extLst xmlns:a="http://schemas.openxmlformats.org/drawingml/2006/main">
              <a:ext uri="{FF2B5EF4-FFF2-40B4-BE49-F238E27FC236}">
                <a16:creationId xmlns:a16="http://schemas.microsoft.com/office/drawing/2014/main" id="{29D18904-4742-4E75-9A49-1B7890194FF7}"/>
              </a:ext>
            </a:extLst>
          </p:cNvPr>
          <p:cNvSpPr>
            <a:spLocks xmlns:a="http://schemas.openxmlformats.org/drawingml/2006/main" noGrp="1"/>
          </p:cNvSpPr>
          <p:nvPr/>
        </p:nvSpPr>
        <p:spPr>
          <a:xfrm xmlns:a="http://schemas.openxmlformats.org/drawingml/2006/main">
            <a:off x="5095875" y="39814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0.889</a:t>
            </a:r>
          </a:p>
        </p:txBody>
      </p:sp>
      <p:sp>
        <p:nvSpPr>
          <p:cNvPr id="37" name="">
            <a:extLst xmlns:a="http://schemas.openxmlformats.org/drawingml/2006/main">
              <a:ext uri="{FF2B5EF4-FFF2-40B4-BE49-F238E27FC236}">
                <a16:creationId xmlns:a16="http://schemas.microsoft.com/office/drawing/2014/main" id="{7C662EA3-17CB-43CF-90A2-2663637B433B}"/>
              </a:ext>
            </a:extLst>
          </p:cNvPr>
          <p:cNvSpPr>
            <a:spLocks xmlns:a="http://schemas.openxmlformats.org/drawingml/2006/main" noGrp="1"/>
          </p:cNvSpPr>
          <p:nvPr/>
        </p:nvSpPr>
        <p:spPr>
          <a:xfrm xmlns:a="http://schemas.openxmlformats.org/drawingml/2006/main">
            <a:off x="6334125" y="39814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0.846</a:t>
            </a:r>
          </a:p>
        </p:txBody>
      </p:sp>
      <p:sp>
        <p:nvSpPr>
          <p:cNvPr id="38" name="">
            <a:extLst xmlns:a="http://schemas.openxmlformats.org/drawingml/2006/main">
              <a:ext uri="{FF2B5EF4-FFF2-40B4-BE49-F238E27FC236}">
                <a16:creationId xmlns:a16="http://schemas.microsoft.com/office/drawing/2014/main" id="{874966C1-D8DA-43DB-B141-F49CEACEEE59}"/>
              </a:ext>
            </a:extLst>
          </p:cNvPr>
          <p:cNvSpPr>
            <a:spLocks xmlns:a="http://schemas.openxmlformats.org/drawingml/2006/main" noGrp="1"/>
          </p:cNvSpPr>
          <p:nvPr/>
        </p:nvSpPr>
        <p:spPr>
          <a:xfrm xmlns:a="http://schemas.openxmlformats.org/drawingml/2006/main">
            <a:off x="7572375" y="39814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0.750</a:t>
            </a:r>
          </a:p>
        </p:txBody>
      </p:sp>
      <p:sp>
        <p:nvSpPr>
          <p:cNvPr id="39" name="">
            <a:extLst xmlns:a="http://schemas.openxmlformats.org/drawingml/2006/main">
              <a:ext uri="{FF2B5EF4-FFF2-40B4-BE49-F238E27FC236}">
                <a16:creationId xmlns:a16="http://schemas.microsoft.com/office/drawing/2014/main" id="{DCCF999C-9C66-4235-81A0-537776351692}"/>
              </a:ext>
            </a:extLst>
          </p:cNvPr>
          <p:cNvSpPr>
            <a:spLocks xmlns:a="http://schemas.openxmlformats.org/drawingml/2006/main" noGrp="1"/>
          </p:cNvSpPr>
          <p:nvPr/>
        </p:nvSpPr>
        <p:spPr>
          <a:xfrm xmlns:a="http://schemas.openxmlformats.org/drawingml/2006/main">
            <a:off x="8810625" y="39814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Degrades with more data</a:t>
            </a:r>
          </a:p>
        </p:txBody>
      </p:sp>
      <p:sp>
        <p:nvSpPr>
          <p:cNvPr id="40" name="">
            <a:extLst xmlns:a="http://schemas.openxmlformats.org/drawingml/2006/main">
              <a:ext uri="{FF2B5EF4-FFF2-40B4-BE49-F238E27FC236}">
                <a16:creationId xmlns:a16="http://schemas.microsoft.com/office/drawing/2014/main" id="{9E21F143-FB3D-4DA1-940E-CF6598A4D141}"/>
              </a:ext>
            </a:extLst>
          </p:cNvPr>
          <p:cNvSpPr>
            <a:spLocks xmlns:a="http://schemas.openxmlformats.org/drawingml/2006/main" noGrp="1"/>
          </p:cNvSpPr>
          <p:nvPr/>
        </p:nvSpPr>
        <p:spPr>
          <a:xfrm xmlns:a="http://schemas.openxmlformats.org/drawingml/2006/main">
            <a:off x="428625" y="47053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41" name="">
            <a:extLst xmlns:a="http://schemas.openxmlformats.org/drawingml/2006/main">
              <a:ext uri="{FF2B5EF4-FFF2-40B4-BE49-F238E27FC236}">
                <a16:creationId xmlns:a16="http://schemas.microsoft.com/office/drawing/2014/main" id="{01E32C35-905D-419C-8203-9277884D9558}"/>
              </a:ext>
            </a:extLst>
          </p:cNvPr>
          <p:cNvSpPr>
            <a:spLocks xmlns:a="http://schemas.openxmlformats.org/drawingml/2006/main" noGrp="1"/>
          </p:cNvSpPr>
          <p:nvPr/>
        </p:nvSpPr>
        <p:spPr>
          <a:xfrm xmlns:a="http://schemas.openxmlformats.org/drawingml/2006/main">
            <a:off x="523875" y="47053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DIS Flood -&gt; DIO Suppression</a:t>
            </a:r>
          </a:p>
        </p:txBody>
      </p:sp>
      <p:sp>
        <p:nvSpPr>
          <p:cNvPr id="42" name="">
            <a:extLst xmlns:a="http://schemas.openxmlformats.org/drawingml/2006/main">
              <a:ext uri="{FF2B5EF4-FFF2-40B4-BE49-F238E27FC236}">
                <a16:creationId xmlns:a16="http://schemas.microsoft.com/office/drawing/2014/main" id="{1B1F3C01-591A-4686-9411-3594A0C3A3C3}"/>
              </a:ext>
            </a:extLst>
          </p:cNvPr>
          <p:cNvSpPr>
            <a:spLocks xmlns:a="http://schemas.openxmlformats.org/drawingml/2006/main" noGrp="1"/>
          </p:cNvSpPr>
          <p:nvPr/>
        </p:nvSpPr>
        <p:spPr>
          <a:xfrm xmlns:a="http://schemas.openxmlformats.org/drawingml/2006/main">
            <a:off x="3857625" y="47053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43" name="">
            <a:extLst xmlns:a="http://schemas.openxmlformats.org/drawingml/2006/main">
              <a:ext uri="{FF2B5EF4-FFF2-40B4-BE49-F238E27FC236}">
                <a16:creationId xmlns:a16="http://schemas.microsoft.com/office/drawing/2014/main" id="{00CD8E1C-1B0E-4F9D-8360-8E9AF19AE241}"/>
              </a:ext>
            </a:extLst>
          </p:cNvPr>
          <p:cNvSpPr>
            <a:spLocks xmlns:a="http://schemas.openxmlformats.org/drawingml/2006/main" noGrp="1"/>
          </p:cNvSpPr>
          <p:nvPr/>
        </p:nvSpPr>
        <p:spPr>
          <a:xfrm xmlns:a="http://schemas.openxmlformats.org/drawingml/2006/main">
            <a:off x="5095875" y="47053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44" name="">
            <a:extLst xmlns:a="http://schemas.openxmlformats.org/drawingml/2006/main">
              <a:ext uri="{FF2B5EF4-FFF2-40B4-BE49-F238E27FC236}">
                <a16:creationId xmlns:a16="http://schemas.microsoft.com/office/drawing/2014/main" id="{AF3BE2D5-D61E-480F-AF6C-CDFBC7069AE4}"/>
              </a:ext>
            </a:extLst>
          </p:cNvPr>
          <p:cNvSpPr>
            <a:spLocks xmlns:a="http://schemas.openxmlformats.org/drawingml/2006/main" noGrp="1"/>
          </p:cNvSpPr>
          <p:nvPr/>
        </p:nvSpPr>
        <p:spPr>
          <a:xfrm xmlns:a="http://schemas.openxmlformats.org/drawingml/2006/main">
            <a:off x="6334125" y="47053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45" name="">
            <a:extLst xmlns:a="http://schemas.openxmlformats.org/drawingml/2006/main">
              <a:ext uri="{FF2B5EF4-FFF2-40B4-BE49-F238E27FC236}">
                <a16:creationId xmlns:a16="http://schemas.microsoft.com/office/drawing/2014/main" id="{C5AEDF81-D9D1-42D2-8F3E-8CC7AF5D68F7}"/>
              </a:ext>
            </a:extLst>
          </p:cNvPr>
          <p:cNvSpPr>
            <a:spLocks xmlns:a="http://schemas.openxmlformats.org/drawingml/2006/main" noGrp="1"/>
          </p:cNvSpPr>
          <p:nvPr/>
        </p:nvSpPr>
        <p:spPr>
          <a:xfrm xmlns:a="http://schemas.openxmlformats.org/drawingml/2006/main">
            <a:off x="7572375" y="47053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0.000</a:t>
            </a:r>
          </a:p>
        </p:txBody>
      </p:sp>
      <p:sp>
        <p:nvSpPr>
          <p:cNvPr id="46" name="">
            <a:extLst xmlns:a="http://schemas.openxmlformats.org/drawingml/2006/main">
              <a:ext uri="{FF2B5EF4-FFF2-40B4-BE49-F238E27FC236}">
                <a16:creationId xmlns:a16="http://schemas.microsoft.com/office/drawing/2014/main" id="{5BDE769D-60A4-4D3C-9726-053111754C96}"/>
              </a:ext>
            </a:extLst>
          </p:cNvPr>
          <p:cNvSpPr>
            <a:spLocks xmlns:a="http://schemas.openxmlformats.org/drawingml/2006/main" noGrp="1"/>
          </p:cNvSpPr>
          <p:nvPr/>
        </p:nvSpPr>
        <p:spPr>
          <a:xfrm xmlns:a="http://schemas.openxmlformats.org/drawingml/2006/main">
            <a:off x="8810625" y="47053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Persistent failure</a:t>
            </a:r>
          </a:p>
        </p:txBody>
      </p:sp>
      <p:sp>
        <p:nvSpPr>
          <p:cNvPr id="47" name="">
            <a:extLst xmlns:a="http://schemas.openxmlformats.org/drawingml/2006/main">
              <a:ext uri="{FF2B5EF4-FFF2-40B4-BE49-F238E27FC236}">
                <a16:creationId xmlns:a16="http://schemas.microsoft.com/office/drawing/2014/main" id="{4B4A6FFC-9628-4F6F-AC2F-A10AF189798E}"/>
              </a:ext>
            </a:extLst>
          </p:cNvPr>
          <p:cNvSpPr>
            <a:spLocks xmlns:a="http://schemas.openxmlformats.org/drawingml/2006/main" noGrp="1"/>
          </p:cNvSpPr>
          <p:nvPr/>
        </p:nvSpPr>
        <p:spPr>
          <a:xfrm xmlns:a="http://schemas.openxmlformats.org/drawingml/2006/main">
            <a:off x="428625" y="5429250"/>
            <a:ext cx="11239500" cy="609600"/>
          </a:xfrm>
          <a:prstGeom xmlns:a="http://schemas.openxmlformats.org/drawingml/2006/main" prst="roundRect">
            <a:avLst>
              <a:gd name="adj" fmla="val 12500"/>
            </a:avLst>
          </a:prstGeom>
          <a:solidFill xmlns:a="http://schemas.openxmlformats.org/drawingml/2006/main">
            <a:srgbClr val="121C27"/>
          </a:solidFill>
          <a:ln xmlns:a="http://schemas.openxmlformats.org/drawingml/2006/main" w="9525">
            <a:solidFill>
              <a:srgbClr val="2C3A49"/>
            </a:solidFill>
            <a:prstDash val="solid"/>
          </a:ln>
        </p:spPr>
      </p:sp>
      <p:sp>
        <p:nvSpPr>
          <p:cNvPr id="48" name="">
            <a:extLst xmlns:a="http://schemas.openxmlformats.org/drawingml/2006/main">
              <a:ext uri="{FF2B5EF4-FFF2-40B4-BE49-F238E27FC236}">
                <a16:creationId xmlns:a16="http://schemas.microsoft.com/office/drawing/2014/main" id="{D54475E0-01D6-4653-82FF-45F9B9B65C69}"/>
              </a:ext>
            </a:extLst>
          </p:cNvPr>
          <p:cNvSpPr>
            <a:spLocks xmlns:a="http://schemas.openxmlformats.org/drawingml/2006/main" noGrp="1"/>
          </p:cNvSpPr>
          <p:nvPr/>
        </p:nvSpPr>
        <p:spPr>
          <a:xfrm xmlns:a="http://schemas.openxmlformats.org/drawingml/2006/main">
            <a:off x="523875" y="5429250"/>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Grayhole -&gt; Blackhole</a:t>
            </a:r>
          </a:p>
        </p:txBody>
      </p:sp>
      <p:sp>
        <p:nvSpPr>
          <p:cNvPr id="49" name="">
            <a:extLst xmlns:a="http://schemas.openxmlformats.org/drawingml/2006/main">
              <a:ext uri="{FF2B5EF4-FFF2-40B4-BE49-F238E27FC236}">
                <a16:creationId xmlns:a16="http://schemas.microsoft.com/office/drawing/2014/main" id="{E1F4A6BA-DD11-447E-93B9-8618C6AADE9A}"/>
              </a:ext>
            </a:extLst>
          </p:cNvPr>
          <p:cNvSpPr>
            <a:spLocks xmlns:a="http://schemas.openxmlformats.org/drawingml/2006/main" noGrp="1"/>
          </p:cNvSpPr>
          <p:nvPr/>
        </p:nvSpPr>
        <p:spPr>
          <a:xfrm xmlns:a="http://schemas.openxmlformats.org/drawingml/2006/main">
            <a:off x="3857625" y="54292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50" name="">
            <a:extLst xmlns:a="http://schemas.openxmlformats.org/drawingml/2006/main">
              <a:ext uri="{FF2B5EF4-FFF2-40B4-BE49-F238E27FC236}">
                <a16:creationId xmlns:a16="http://schemas.microsoft.com/office/drawing/2014/main" id="{AC42791C-A875-43D4-9F85-2FFDAC65242B}"/>
              </a:ext>
            </a:extLst>
          </p:cNvPr>
          <p:cNvSpPr>
            <a:spLocks xmlns:a="http://schemas.openxmlformats.org/drawingml/2006/main" noGrp="1"/>
          </p:cNvSpPr>
          <p:nvPr/>
        </p:nvSpPr>
        <p:spPr>
          <a:xfrm xmlns:a="http://schemas.openxmlformats.org/drawingml/2006/main">
            <a:off x="5095875" y="54292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51" name="">
            <a:extLst xmlns:a="http://schemas.openxmlformats.org/drawingml/2006/main">
              <a:ext uri="{FF2B5EF4-FFF2-40B4-BE49-F238E27FC236}">
                <a16:creationId xmlns:a16="http://schemas.microsoft.com/office/drawing/2014/main" id="{2CE6B118-0B07-43F1-A8D4-647ED5E89AA2}"/>
              </a:ext>
            </a:extLst>
          </p:cNvPr>
          <p:cNvSpPr>
            <a:spLocks xmlns:a="http://schemas.openxmlformats.org/drawingml/2006/main" noGrp="1"/>
          </p:cNvSpPr>
          <p:nvPr/>
        </p:nvSpPr>
        <p:spPr>
          <a:xfrm xmlns:a="http://schemas.openxmlformats.org/drawingml/2006/main">
            <a:off x="6334125" y="54292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52" name="">
            <a:extLst xmlns:a="http://schemas.openxmlformats.org/drawingml/2006/main">
              <a:ext uri="{FF2B5EF4-FFF2-40B4-BE49-F238E27FC236}">
                <a16:creationId xmlns:a16="http://schemas.microsoft.com/office/drawing/2014/main" id="{FFDC4E88-1D09-44A6-9DF9-A5BA02D71538}"/>
              </a:ext>
            </a:extLst>
          </p:cNvPr>
          <p:cNvSpPr>
            <a:spLocks xmlns:a="http://schemas.openxmlformats.org/drawingml/2006/main" noGrp="1"/>
          </p:cNvSpPr>
          <p:nvPr/>
        </p:nvSpPr>
        <p:spPr>
          <a:xfrm xmlns:a="http://schemas.openxmlformats.org/drawingml/2006/main">
            <a:off x="7572375" y="5429250"/>
            <a:ext cx="109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E5EAF0"/>
                </a:solidFill>
              </a:defRPr>
            </a:pPr>
            <a:r>
              <a:rPr sz="1050" b="0">
                <a:solidFill>
                  <a:srgbClr val="E5EAF0"/>
                </a:solidFill>
              </a:rPr>
              <a:t>1.000</a:t>
            </a:r>
          </a:p>
        </p:txBody>
      </p:sp>
      <p:sp>
        <p:nvSpPr>
          <p:cNvPr id="53" name="">
            <a:extLst xmlns:a="http://schemas.openxmlformats.org/drawingml/2006/main">
              <a:ext uri="{FF2B5EF4-FFF2-40B4-BE49-F238E27FC236}">
                <a16:creationId xmlns:a16="http://schemas.microsoft.com/office/drawing/2014/main" id="{88840F46-E327-4675-B7EC-F220EA70DD1C}"/>
              </a:ext>
            </a:extLst>
          </p:cNvPr>
          <p:cNvSpPr>
            <a:spLocks xmlns:a="http://schemas.openxmlformats.org/drawingml/2006/main" noGrp="1"/>
          </p:cNvSpPr>
          <p:nvPr/>
        </p:nvSpPr>
        <p:spPr>
          <a:xfrm xmlns:a="http://schemas.openxmlformats.org/drawingml/2006/main">
            <a:off x="8810625" y="5429250"/>
            <a:ext cx="2809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Mechanism transfer</a:t>
            </a:r>
          </a:p>
        </p:txBody>
      </p:sp>
    </p:spTree>
    <p:extLst>
      <p:ext uri="{BB962C8B-B14F-4D97-AF65-F5344CB8AC3E}">
        <p14:creationId xmlns:p14="http://schemas.microsoft.com/office/powerpoint/2010/main" val="715088308"/>
      </p:ext>
    </p:extLst>
  </p:cSld>
</p:sld>
</file>

<file path=ppt/slides/slide24.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DD358C3-A3AF-44D8-8E64-BA3DB1BC4BFA}"/>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7212ABDE-BD45-4C72-A649-1A6CFF48D968}"/>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Sybil intensity changes identity evidence more than traffic volume</a:t>
            </a:r>
          </a:p>
        </p:txBody>
      </p:sp>
      <p:sp>
        <p:nvSpPr>
          <p:cNvPr id="3" name="">
            <a:extLst xmlns:a="http://schemas.openxmlformats.org/drawingml/2006/main">
              <a:ext uri="{FF2B5EF4-FFF2-40B4-BE49-F238E27FC236}">
                <a16:creationId xmlns:a16="http://schemas.microsoft.com/office/drawing/2014/main" id="{F00F63F0-FD9F-493B-B1BE-1D763BF9AB09}"/>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EC97BC-DCD2-4EBA-8485-82C71E47C587}"/>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C2D6E2-8A66-4A6A-A509-CCCD050FDE7C}"/>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619119D2-44BD-419F-B607-86186F108375}"/>
              </a:ext>
            </a:extLst>
          </p:cNvPr>
          <p:cNvSpPr>
            <a:spLocks xmlns:a="http://schemas.openxmlformats.org/drawingml/2006/main" noGrp="1"/>
          </p:cNvSpPr>
          <p:nvPr/>
        </p:nvSpPr>
        <p:spPr>
          <a:xfrm xmlns:a="http://schemas.openxmlformats.org/drawingml/2006/main">
            <a:off x="666750" y="14287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ACC15"/>
                </a:solidFill>
              </a:defRPr>
            </a:pPr>
            <a:r>
              <a:rPr sz="825" b="1">
                <a:solidFill>
                  <a:srgbClr val="FACC15"/>
                </a:solidFill>
              </a:rPr>
              <a:t>RATE CAMPAIGN</a:t>
            </a:r>
          </a:p>
        </p:txBody>
      </p:sp>
      <p:sp>
        <p:nvSpPr>
          <p:cNvPr id="7" name="">
            <a:extLst xmlns:a="http://schemas.openxmlformats.org/drawingml/2006/main">
              <a:ext uri="{FF2B5EF4-FFF2-40B4-BE49-F238E27FC236}">
                <a16:creationId xmlns:a16="http://schemas.microsoft.com/office/drawing/2014/main" id="{6C76A4A3-ADBD-4200-B3BC-07FA7B712D01}"/>
              </a:ext>
            </a:extLst>
          </p:cNvPr>
          <p:cNvSpPr>
            <a:spLocks xmlns:a="http://schemas.openxmlformats.org/drawingml/2006/main" noGrp="1"/>
          </p:cNvSpPr>
          <p:nvPr/>
        </p:nvSpPr>
        <p:spPr>
          <a:xfrm xmlns:a="http://schemas.openxmlformats.org/drawingml/2006/main">
            <a:off x="762000" y="2000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Control spoof markers</a:t>
            </a:r>
          </a:p>
        </p:txBody>
      </p:sp>
      <p:sp>
        <p:nvSpPr>
          <p:cNvPr id="8" name="">
            <a:extLst xmlns:a="http://schemas.openxmlformats.org/drawingml/2006/main">
              <a:ext uri="{FF2B5EF4-FFF2-40B4-BE49-F238E27FC236}">
                <a16:creationId xmlns:a16="http://schemas.microsoft.com/office/drawing/2014/main" id="{F8797597-4627-453C-AC77-55939BB82F35}"/>
              </a:ext>
            </a:extLst>
          </p:cNvPr>
          <p:cNvSpPr>
            <a:spLocks xmlns:a="http://schemas.openxmlformats.org/drawingml/2006/main" noGrp="1"/>
          </p:cNvSpPr>
          <p:nvPr/>
        </p:nvSpPr>
        <p:spPr>
          <a:xfrm xmlns:a="http://schemas.openxmlformats.org/drawingml/2006/main">
            <a:off x="2619375" y="202882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1448A48-2FEB-436B-8564-298A29054195}"/>
              </a:ext>
            </a:extLst>
          </p:cNvPr>
          <p:cNvSpPr>
            <a:spLocks xmlns:a="http://schemas.openxmlformats.org/drawingml/2006/main" noGrp="1"/>
          </p:cNvSpPr>
          <p:nvPr/>
        </p:nvSpPr>
        <p:spPr>
          <a:xfrm xmlns:a="http://schemas.openxmlformats.org/drawingml/2006/main">
            <a:off x="2619375" y="2028825"/>
            <a:ext cx="28575" cy="17145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6BF05C-6C85-4B2C-B88A-2B2AADB6E70C}"/>
              </a:ext>
            </a:extLst>
          </p:cNvPr>
          <p:cNvSpPr>
            <a:spLocks xmlns:a="http://schemas.openxmlformats.org/drawingml/2006/main" noGrp="1"/>
          </p:cNvSpPr>
          <p:nvPr/>
        </p:nvSpPr>
        <p:spPr>
          <a:xfrm xmlns:a="http://schemas.openxmlformats.org/drawingml/2006/main">
            <a:off x="5257800" y="19907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0A5FA"/>
                </a:solidFill>
              </a:defRPr>
            </a:pPr>
            <a:r>
              <a:rPr sz="975" b="1">
                <a:solidFill>
                  <a:srgbClr val="60A5FA"/>
                </a:solidFill>
              </a:rPr>
              <a:t>0</a:t>
            </a:r>
          </a:p>
        </p:txBody>
      </p:sp>
      <p:sp>
        <p:nvSpPr>
          <p:cNvPr id="11" name="">
            <a:extLst xmlns:a="http://schemas.openxmlformats.org/drawingml/2006/main">
              <a:ext uri="{FF2B5EF4-FFF2-40B4-BE49-F238E27FC236}">
                <a16:creationId xmlns:a16="http://schemas.microsoft.com/office/drawing/2014/main" id="{A9090A93-22DA-4DA3-A4B3-B29BDC32B850}"/>
              </a:ext>
            </a:extLst>
          </p:cNvPr>
          <p:cNvSpPr>
            <a:spLocks xmlns:a="http://schemas.openxmlformats.org/drawingml/2006/main" noGrp="1"/>
          </p:cNvSpPr>
          <p:nvPr/>
        </p:nvSpPr>
        <p:spPr>
          <a:xfrm xmlns:a="http://schemas.openxmlformats.org/drawingml/2006/main">
            <a:off x="762000" y="24765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Low-rate spoof markers</a:t>
            </a:r>
          </a:p>
        </p:txBody>
      </p:sp>
      <p:sp>
        <p:nvSpPr>
          <p:cNvPr id="12" name="">
            <a:extLst xmlns:a="http://schemas.openxmlformats.org/drawingml/2006/main">
              <a:ext uri="{FF2B5EF4-FFF2-40B4-BE49-F238E27FC236}">
                <a16:creationId xmlns:a16="http://schemas.microsoft.com/office/drawing/2014/main" id="{E126DC82-3424-41D7-BD8C-C583BE862EB6}"/>
              </a:ext>
            </a:extLst>
          </p:cNvPr>
          <p:cNvSpPr>
            <a:spLocks xmlns:a="http://schemas.openxmlformats.org/drawingml/2006/main" noGrp="1"/>
          </p:cNvSpPr>
          <p:nvPr/>
        </p:nvSpPr>
        <p:spPr>
          <a:xfrm xmlns:a="http://schemas.openxmlformats.org/drawingml/2006/main">
            <a:off x="2619375" y="250507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5845346-F912-4BC5-AB5D-7B6FF476F95F}"/>
              </a:ext>
            </a:extLst>
          </p:cNvPr>
          <p:cNvSpPr>
            <a:spLocks xmlns:a="http://schemas.openxmlformats.org/drawingml/2006/main" noGrp="1"/>
          </p:cNvSpPr>
          <p:nvPr/>
        </p:nvSpPr>
        <p:spPr>
          <a:xfrm xmlns:a="http://schemas.openxmlformats.org/drawingml/2006/main">
            <a:off x="2619375" y="2505075"/>
            <a:ext cx="233065" cy="171450"/>
          </a:xfrm>
          <a:prstGeom xmlns:a="http://schemas.openxmlformats.org/drawingml/2006/main" prst="roundRect">
            <a:avLst>
              <a:gd name="adj" fmla="val 44444"/>
            </a:avLst>
          </a:prstGeom>
          <a:solidFill xmlns:a="http://schemas.openxmlformats.org/drawingml/2006/main">
            <a:srgbClr val="F59E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E62E124-2432-41BD-8C0D-9229B18BAA6E}"/>
              </a:ext>
            </a:extLst>
          </p:cNvPr>
          <p:cNvSpPr>
            <a:spLocks xmlns:a="http://schemas.openxmlformats.org/drawingml/2006/main" noGrp="1"/>
          </p:cNvSpPr>
          <p:nvPr/>
        </p:nvSpPr>
        <p:spPr>
          <a:xfrm xmlns:a="http://schemas.openxmlformats.org/drawingml/2006/main">
            <a:off x="5257800" y="24669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59E0B"/>
                </a:solidFill>
              </a:defRPr>
            </a:pPr>
            <a:r>
              <a:rPr sz="975" b="1">
                <a:solidFill>
                  <a:srgbClr val="F59E0B"/>
                </a:solidFill>
              </a:rPr>
              <a:t>29</a:t>
            </a:r>
          </a:p>
        </p:txBody>
      </p:sp>
      <p:sp>
        <p:nvSpPr>
          <p:cNvPr id="15" name="">
            <a:extLst xmlns:a="http://schemas.openxmlformats.org/drawingml/2006/main">
              <a:ext uri="{FF2B5EF4-FFF2-40B4-BE49-F238E27FC236}">
                <a16:creationId xmlns:a16="http://schemas.microsoft.com/office/drawing/2014/main" id="{14AA22FD-8DCC-433D-82C7-7448AB3DAB0E}"/>
              </a:ext>
            </a:extLst>
          </p:cNvPr>
          <p:cNvSpPr>
            <a:spLocks xmlns:a="http://schemas.openxmlformats.org/drawingml/2006/main" noGrp="1"/>
          </p:cNvSpPr>
          <p:nvPr/>
        </p:nvSpPr>
        <p:spPr>
          <a:xfrm xmlns:a="http://schemas.openxmlformats.org/drawingml/2006/main">
            <a:off x="762000" y="2952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High-rate spoof markers</a:t>
            </a:r>
          </a:p>
        </p:txBody>
      </p:sp>
      <p:sp>
        <p:nvSpPr>
          <p:cNvPr id="16" name="">
            <a:extLst xmlns:a="http://schemas.openxmlformats.org/drawingml/2006/main">
              <a:ext uri="{FF2B5EF4-FFF2-40B4-BE49-F238E27FC236}">
                <a16:creationId xmlns:a16="http://schemas.microsoft.com/office/drawing/2014/main" id="{94AD9A1F-B0AF-4036-B71E-46011459A5EB}"/>
              </a:ext>
            </a:extLst>
          </p:cNvPr>
          <p:cNvSpPr>
            <a:spLocks xmlns:a="http://schemas.openxmlformats.org/drawingml/2006/main" noGrp="1"/>
          </p:cNvSpPr>
          <p:nvPr/>
        </p:nvSpPr>
        <p:spPr>
          <a:xfrm xmlns:a="http://schemas.openxmlformats.org/drawingml/2006/main">
            <a:off x="2619375" y="298132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F34F92-8FDC-4D8C-AA73-9F3CB8843D5F}"/>
              </a:ext>
            </a:extLst>
          </p:cNvPr>
          <p:cNvSpPr>
            <a:spLocks xmlns:a="http://schemas.openxmlformats.org/drawingml/2006/main" noGrp="1"/>
          </p:cNvSpPr>
          <p:nvPr/>
        </p:nvSpPr>
        <p:spPr>
          <a:xfrm xmlns:a="http://schemas.openxmlformats.org/drawingml/2006/main">
            <a:off x="2619375" y="2981325"/>
            <a:ext cx="2402979" cy="171450"/>
          </a:xfrm>
          <a:prstGeom xmlns:a="http://schemas.openxmlformats.org/drawingml/2006/main" prst="roundRect">
            <a:avLst>
              <a:gd name="adj" fmla="val 44444"/>
            </a:avLst>
          </a:prstGeom>
          <a:solidFill xmlns:a="http://schemas.openxmlformats.org/drawingml/2006/main">
            <a:srgbClr val="FB71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2598521-708A-432C-B491-F52411D1B1B3}"/>
              </a:ext>
            </a:extLst>
          </p:cNvPr>
          <p:cNvSpPr>
            <a:spLocks xmlns:a="http://schemas.openxmlformats.org/drawingml/2006/main" noGrp="1"/>
          </p:cNvSpPr>
          <p:nvPr/>
        </p:nvSpPr>
        <p:spPr>
          <a:xfrm xmlns:a="http://schemas.openxmlformats.org/drawingml/2006/main">
            <a:off x="5257800" y="29432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B7185"/>
                </a:solidFill>
              </a:defRPr>
            </a:pPr>
            <a:r>
              <a:rPr sz="975" b="1">
                <a:solidFill>
                  <a:srgbClr val="FB7185"/>
                </a:solidFill>
              </a:rPr>
              <a:t>299</a:t>
            </a:r>
          </a:p>
        </p:txBody>
      </p:sp>
      <p:sp>
        <p:nvSpPr>
          <p:cNvPr id="19" name="">
            <a:extLst xmlns:a="http://schemas.openxmlformats.org/drawingml/2006/main">
              <a:ext uri="{FF2B5EF4-FFF2-40B4-BE49-F238E27FC236}">
                <a16:creationId xmlns:a16="http://schemas.microsoft.com/office/drawing/2014/main" id="{82A6ABCB-5549-46E3-A35A-6A5CB4B4AC3D}"/>
              </a:ext>
            </a:extLst>
          </p:cNvPr>
          <p:cNvSpPr>
            <a:spLocks xmlns:a="http://schemas.openxmlformats.org/drawingml/2006/main" noGrp="1"/>
          </p:cNvSpPr>
          <p:nvPr/>
        </p:nvSpPr>
        <p:spPr>
          <a:xfrm xmlns:a="http://schemas.openxmlformats.org/drawingml/2006/main">
            <a:off x="762000" y="3714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Control mean radio TX</a:t>
            </a:r>
          </a:p>
        </p:txBody>
      </p:sp>
      <p:sp>
        <p:nvSpPr>
          <p:cNvPr id="20" name="">
            <a:extLst xmlns:a="http://schemas.openxmlformats.org/drawingml/2006/main">
              <a:ext uri="{FF2B5EF4-FFF2-40B4-BE49-F238E27FC236}">
                <a16:creationId xmlns:a16="http://schemas.microsoft.com/office/drawing/2014/main" id="{29DB164A-652B-44A6-A70B-7188205E0863}"/>
              </a:ext>
            </a:extLst>
          </p:cNvPr>
          <p:cNvSpPr>
            <a:spLocks xmlns:a="http://schemas.openxmlformats.org/drawingml/2006/main" noGrp="1"/>
          </p:cNvSpPr>
          <p:nvPr/>
        </p:nvSpPr>
        <p:spPr>
          <a:xfrm xmlns:a="http://schemas.openxmlformats.org/drawingml/2006/main">
            <a:off x="2619375" y="374332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866874A-186F-4203-8B0B-DA1A04E4FB09}"/>
              </a:ext>
            </a:extLst>
          </p:cNvPr>
          <p:cNvSpPr>
            <a:spLocks xmlns:a="http://schemas.openxmlformats.org/drawingml/2006/main" noGrp="1"/>
          </p:cNvSpPr>
          <p:nvPr/>
        </p:nvSpPr>
        <p:spPr>
          <a:xfrm xmlns:a="http://schemas.openxmlformats.org/drawingml/2006/main">
            <a:off x="2619375" y="3743325"/>
            <a:ext cx="2432063" cy="171450"/>
          </a:xfrm>
          <a:prstGeom xmlns:a="http://schemas.openxmlformats.org/drawingml/2006/main" prst="roundRect">
            <a:avLst>
              <a:gd name="adj" fmla="val 44444"/>
            </a:avLst>
          </a:prstGeom>
          <a:solidFill xmlns:a="http://schemas.openxmlformats.org/drawingml/2006/main">
            <a:srgbClr val="60A5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046C0D6-CB85-4AC1-B5BD-BC709CE532CC}"/>
              </a:ext>
            </a:extLst>
          </p:cNvPr>
          <p:cNvSpPr>
            <a:spLocks xmlns:a="http://schemas.openxmlformats.org/drawingml/2006/main" noGrp="1"/>
          </p:cNvSpPr>
          <p:nvPr/>
        </p:nvSpPr>
        <p:spPr>
          <a:xfrm xmlns:a="http://schemas.openxmlformats.org/drawingml/2006/main">
            <a:off x="5257800" y="37052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0A5FA"/>
                </a:solidFill>
              </a:defRPr>
            </a:pPr>
            <a:r>
              <a:rPr sz="975" b="1">
                <a:solidFill>
                  <a:srgbClr val="60A5FA"/>
                </a:solidFill>
              </a:rPr>
              <a:t>8,984</a:t>
            </a:r>
          </a:p>
        </p:txBody>
      </p:sp>
      <p:sp>
        <p:nvSpPr>
          <p:cNvPr id="23" name="">
            <a:extLst xmlns:a="http://schemas.openxmlformats.org/drawingml/2006/main">
              <a:ext uri="{FF2B5EF4-FFF2-40B4-BE49-F238E27FC236}">
                <a16:creationId xmlns:a16="http://schemas.microsoft.com/office/drawing/2014/main" id="{E86DD3C7-0025-42C3-A5E0-49E02F6969FE}"/>
              </a:ext>
            </a:extLst>
          </p:cNvPr>
          <p:cNvSpPr>
            <a:spLocks xmlns:a="http://schemas.openxmlformats.org/drawingml/2006/main" noGrp="1"/>
          </p:cNvSpPr>
          <p:nvPr/>
        </p:nvSpPr>
        <p:spPr>
          <a:xfrm xmlns:a="http://schemas.openxmlformats.org/drawingml/2006/main">
            <a:off x="762000" y="4191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Low-rate mean radio TX</a:t>
            </a:r>
          </a:p>
        </p:txBody>
      </p:sp>
      <p:sp>
        <p:nvSpPr>
          <p:cNvPr id="24" name="">
            <a:extLst xmlns:a="http://schemas.openxmlformats.org/drawingml/2006/main">
              <a:ext uri="{FF2B5EF4-FFF2-40B4-BE49-F238E27FC236}">
                <a16:creationId xmlns:a16="http://schemas.microsoft.com/office/drawing/2014/main" id="{B6EC5F60-8C52-4EEF-B0D5-2701FA2F16C9}"/>
              </a:ext>
            </a:extLst>
          </p:cNvPr>
          <p:cNvSpPr>
            <a:spLocks xmlns:a="http://schemas.openxmlformats.org/drawingml/2006/main" noGrp="1"/>
          </p:cNvSpPr>
          <p:nvPr/>
        </p:nvSpPr>
        <p:spPr>
          <a:xfrm xmlns:a="http://schemas.openxmlformats.org/drawingml/2006/main">
            <a:off x="2619375" y="421957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1916FC4-9B05-4BFE-8719-E117C505E67E}"/>
              </a:ext>
            </a:extLst>
          </p:cNvPr>
          <p:cNvSpPr>
            <a:spLocks xmlns:a="http://schemas.openxmlformats.org/drawingml/2006/main" noGrp="1"/>
          </p:cNvSpPr>
          <p:nvPr/>
        </p:nvSpPr>
        <p:spPr>
          <a:xfrm xmlns:a="http://schemas.openxmlformats.org/drawingml/2006/main">
            <a:off x="2619375" y="4219575"/>
            <a:ext cx="2441809" cy="171450"/>
          </a:xfrm>
          <a:prstGeom xmlns:a="http://schemas.openxmlformats.org/drawingml/2006/main" prst="roundRect">
            <a:avLst>
              <a:gd name="adj" fmla="val 44444"/>
            </a:avLst>
          </a:prstGeom>
          <a:solidFill xmlns:a="http://schemas.openxmlformats.org/drawingml/2006/main">
            <a:srgbClr val="F59E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9042CF-6AA7-442B-AAD8-FC836F957645}"/>
              </a:ext>
            </a:extLst>
          </p:cNvPr>
          <p:cNvSpPr>
            <a:spLocks xmlns:a="http://schemas.openxmlformats.org/drawingml/2006/main" noGrp="1"/>
          </p:cNvSpPr>
          <p:nvPr/>
        </p:nvSpPr>
        <p:spPr>
          <a:xfrm xmlns:a="http://schemas.openxmlformats.org/drawingml/2006/main">
            <a:off x="5257800" y="41814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59E0B"/>
                </a:solidFill>
              </a:defRPr>
            </a:pPr>
            <a:r>
              <a:rPr sz="975" b="1">
                <a:solidFill>
                  <a:srgbClr val="F59E0B"/>
                </a:solidFill>
              </a:rPr>
              <a:t>9,020</a:t>
            </a:r>
          </a:p>
        </p:txBody>
      </p:sp>
      <p:sp>
        <p:nvSpPr>
          <p:cNvPr id="27" name="">
            <a:extLst xmlns:a="http://schemas.openxmlformats.org/drawingml/2006/main">
              <a:ext uri="{FF2B5EF4-FFF2-40B4-BE49-F238E27FC236}">
                <a16:creationId xmlns:a16="http://schemas.microsoft.com/office/drawing/2014/main" id="{71494336-7B9C-4BA8-8A9C-461C30E86ABC}"/>
              </a:ext>
            </a:extLst>
          </p:cNvPr>
          <p:cNvSpPr>
            <a:spLocks xmlns:a="http://schemas.openxmlformats.org/drawingml/2006/main" noGrp="1"/>
          </p:cNvSpPr>
          <p:nvPr/>
        </p:nvSpPr>
        <p:spPr>
          <a:xfrm xmlns:a="http://schemas.openxmlformats.org/drawingml/2006/main">
            <a:off x="762000" y="4667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High-rate mean radio TX</a:t>
            </a:r>
          </a:p>
        </p:txBody>
      </p:sp>
      <p:sp>
        <p:nvSpPr>
          <p:cNvPr id="28" name="">
            <a:extLst xmlns:a="http://schemas.openxmlformats.org/drawingml/2006/main">
              <a:ext uri="{FF2B5EF4-FFF2-40B4-BE49-F238E27FC236}">
                <a16:creationId xmlns:a16="http://schemas.microsoft.com/office/drawing/2014/main" id="{A9FCB4CB-C89F-4793-83B3-FBDEB6AF6854}"/>
              </a:ext>
            </a:extLst>
          </p:cNvPr>
          <p:cNvSpPr>
            <a:spLocks xmlns:a="http://schemas.openxmlformats.org/drawingml/2006/main" noGrp="1"/>
          </p:cNvSpPr>
          <p:nvPr/>
        </p:nvSpPr>
        <p:spPr>
          <a:xfrm xmlns:a="http://schemas.openxmlformats.org/drawingml/2006/main">
            <a:off x="2619375" y="4695825"/>
            <a:ext cx="257175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D98072B-6FC4-45C4-A2D0-C352DDC44AE7}"/>
              </a:ext>
            </a:extLst>
          </p:cNvPr>
          <p:cNvSpPr>
            <a:spLocks xmlns:a="http://schemas.openxmlformats.org/drawingml/2006/main" noGrp="1"/>
          </p:cNvSpPr>
          <p:nvPr/>
        </p:nvSpPr>
        <p:spPr>
          <a:xfrm xmlns:a="http://schemas.openxmlformats.org/drawingml/2006/main">
            <a:off x="2619375" y="4695825"/>
            <a:ext cx="2517879" cy="171450"/>
          </a:xfrm>
          <a:prstGeom xmlns:a="http://schemas.openxmlformats.org/drawingml/2006/main" prst="roundRect">
            <a:avLst>
              <a:gd name="adj" fmla="val 44444"/>
            </a:avLst>
          </a:prstGeom>
          <a:solidFill xmlns:a="http://schemas.openxmlformats.org/drawingml/2006/main">
            <a:srgbClr val="FB718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1AEAF57-EC0E-490C-9777-3C9CC0EF0D00}"/>
              </a:ext>
            </a:extLst>
          </p:cNvPr>
          <p:cNvSpPr>
            <a:spLocks xmlns:a="http://schemas.openxmlformats.org/drawingml/2006/main" noGrp="1"/>
          </p:cNvSpPr>
          <p:nvPr/>
        </p:nvSpPr>
        <p:spPr>
          <a:xfrm xmlns:a="http://schemas.openxmlformats.org/drawingml/2006/main">
            <a:off x="5257800" y="46577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FB7185"/>
                </a:solidFill>
              </a:defRPr>
            </a:pPr>
            <a:r>
              <a:rPr sz="975" b="1">
                <a:solidFill>
                  <a:srgbClr val="FB7185"/>
                </a:solidFill>
              </a:rPr>
              <a:t>9,301</a:t>
            </a:r>
          </a:p>
        </p:txBody>
      </p:sp>
      <p:sp>
        <p:nvSpPr>
          <p:cNvPr id="31" name="">
            <a:extLst xmlns:a="http://schemas.openxmlformats.org/drawingml/2006/main">
              <a:ext uri="{FF2B5EF4-FFF2-40B4-BE49-F238E27FC236}">
                <a16:creationId xmlns:a16="http://schemas.microsoft.com/office/drawing/2014/main" id="{B49689A8-320A-4A7E-B090-76F7369D8E2C}"/>
              </a:ext>
            </a:extLst>
          </p:cNvPr>
          <p:cNvSpPr>
            <a:spLocks xmlns:a="http://schemas.openxmlformats.org/drawingml/2006/main" noGrp="1"/>
          </p:cNvSpPr>
          <p:nvPr/>
        </p:nvSpPr>
        <p:spPr>
          <a:xfrm xmlns:a="http://schemas.openxmlformats.org/drawingml/2006/main">
            <a:off x="6667500" y="1714500"/>
            <a:ext cx="4381500" cy="31432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32" name="">
            <a:extLst xmlns:a="http://schemas.openxmlformats.org/drawingml/2006/main">
              <a:ext uri="{FF2B5EF4-FFF2-40B4-BE49-F238E27FC236}">
                <a16:creationId xmlns:a16="http://schemas.microsoft.com/office/drawing/2014/main" id="{C01EC557-B599-4661-BE07-903632139C7F}"/>
              </a:ext>
            </a:extLst>
          </p:cNvPr>
          <p:cNvSpPr>
            <a:spLocks xmlns:a="http://schemas.openxmlformats.org/drawingml/2006/main" noGrp="1"/>
          </p:cNvSpPr>
          <p:nvPr/>
        </p:nvSpPr>
        <p:spPr>
          <a:xfrm xmlns:a="http://schemas.openxmlformats.org/drawingml/2006/main">
            <a:off x="6905625" y="1905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2D3EE"/>
                </a:solidFill>
              </a:defRPr>
            </a:pPr>
            <a:r>
              <a:rPr sz="1800" b="1">
                <a:solidFill>
                  <a:srgbClr val="22D3EE"/>
                </a:solidFill>
              </a:rPr>
              <a:t>Identity monitor</a:t>
            </a:r>
          </a:p>
        </p:txBody>
      </p:sp>
      <p:sp>
        <p:nvSpPr>
          <p:cNvPr id="33" name="">
            <a:extLst xmlns:a="http://schemas.openxmlformats.org/drawingml/2006/main">
              <a:ext uri="{FF2B5EF4-FFF2-40B4-BE49-F238E27FC236}">
                <a16:creationId xmlns:a16="http://schemas.microsoft.com/office/drawing/2014/main" id="{D849E935-8344-4073-A927-1A8088EAC659}"/>
              </a:ext>
            </a:extLst>
          </p:cNvPr>
          <p:cNvSpPr>
            <a:spLocks xmlns:a="http://schemas.openxmlformats.org/drawingml/2006/main" noGrp="1"/>
          </p:cNvSpPr>
          <p:nvPr/>
        </p:nvSpPr>
        <p:spPr>
          <a:xfrm xmlns:a="http://schemas.openxmlformats.org/drawingml/2006/main">
            <a:off x="7000875" y="2552700"/>
            <a:ext cx="176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34D399"/>
                </a:solidFill>
              </a:defRPr>
            </a:pPr>
            <a:r>
              <a:rPr sz="2700" b="1">
                <a:solidFill>
                  <a:srgbClr val="34D399"/>
                </a:solidFill>
              </a:rPr>
              <a:t>50 / 50</a:t>
            </a:r>
          </a:p>
        </p:txBody>
      </p:sp>
      <p:sp>
        <p:nvSpPr>
          <p:cNvPr id="34" name="">
            <a:extLst xmlns:a="http://schemas.openxmlformats.org/drawingml/2006/main">
              <a:ext uri="{FF2B5EF4-FFF2-40B4-BE49-F238E27FC236}">
                <a16:creationId xmlns:a16="http://schemas.microsoft.com/office/drawing/2014/main" id="{21C5836F-F478-4370-8EFF-A20AAADBEB85}"/>
              </a:ext>
            </a:extLst>
          </p:cNvPr>
          <p:cNvSpPr>
            <a:spLocks xmlns:a="http://schemas.openxmlformats.org/drawingml/2006/main" noGrp="1"/>
          </p:cNvSpPr>
          <p:nvPr/>
        </p:nvSpPr>
        <p:spPr>
          <a:xfrm xmlns:a="http://schemas.openxmlformats.org/drawingml/2006/main">
            <a:off x="7058025" y="3028950"/>
            <a:ext cx="1647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post-activation attack windows alerted</a:t>
            </a:r>
          </a:p>
        </p:txBody>
      </p:sp>
      <p:sp>
        <p:nvSpPr>
          <p:cNvPr id="35" name="">
            <a:extLst xmlns:a="http://schemas.openxmlformats.org/drawingml/2006/main">
              <a:ext uri="{FF2B5EF4-FFF2-40B4-BE49-F238E27FC236}">
                <a16:creationId xmlns:a16="http://schemas.microsoft.com/office/drawing/2014/main" id="{BE3E3D2A-1996-4AAB-BC81-654FD556F44E}"/>
              </a:ext>
            </a:extLst>
          </p:cNvPr>
          <p:cNvSpPr>
            <a:spLocks xmlns:a="http://schemas.openxmlformats.org/drawingml/2006/main" noGrp="1"/>
          </p:cNvSpPr>
          <p:nvPr/>
        </p:nvSpPr>
        <p:spPr>
          <a:xfrm xmlns:a="http://schemas.openxmlformats.org/drawingml/2006/main">
            <a:off x="9001125" y="2552700"/>
            <a:ext cx="1666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60A5FA"/>
                </a:solidFill>
              </a:defRPr>
            </a:pPr>
            <a:r>
              <a:rPr sz="2700" b="1">
                <a:solidFill>
                  <a:srgbClr val="60A5FA"/>
                </a:solidFill>
              </a:rPr>
              <a:t>0 / 45</a:t>
            </a:r>
          </a:p>
        </p:txBody>
      </p:sp>
      <p:sp>
        <p:nvSpPr>
          <p:cNvPr id="36" name="">
            <a:extLst xmlns:a="http://schemas.openxmlformats.org/drawingml/2006/main">
              <a:ext uri="{FF2B5EF4-FFF2-40B4-BE49-F238E27FC236}">
                <a16:creationId xmlns:a16="http://schemas.microsoft.com/office/drawing/2014/main" id="{10491521-6A1F-4DC6-9FEE-CEF23269C10E}"/>
              </a:ext>
            </a:extLst>
          </p:cNvPr>
          <p:cNvSpPr>
            <a:spLocks xmlns:a="http://schemas.openxmlformats.org/drawingml/2006/main" noGrp="1"/>
          </p:cNvSpPr>
          <p:nvPr/>
        </p:nvSpPr>
        <p:spPr>
          <a:xfrm xmlns:a="http://schemas.openxmlformats.org/drawingml/2006/main">
            <a:off x="9058275" y="3028950"/>
            <a:ext cx="155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7A3B2"/>
                </a:solidFill>
              </a:defRPr>
            </a:pPr>
            <a:r>
              <a:rPr sz="1050" b="0">
                <a:solidFill>
                  <a:srgbClr val="97A3B2"/>
                </a:solidFill>
              </a:rPr>
              <a:t>control windows alerted</a:t>
            </a:r>
          </a:p>
        </p:txBody>
      </p:sp>
      <p:sp>
        <p:nvSpPr>
          <p:cNvPr id="37" name="">
            <a:extLst xmlns:a="http://schemas.openxmlformats.org/drawingml/2006/main">
              <a:ext uri="{FF2B5EF4-FFF2-40B4-BE49-F238E27FC236}">
                <a16:creationId xmlns:a16="http://schemas.microsoft.com/office/drawing/2014/main" id="{173E173C-FC31-46DC-8C1C-37299E18DD56}"/>
              </a:ext>
            </a:extLst>
          </p:cNvPr>
          <p:cNvSpPr>
            <a:spLocks xmlns:a="http://schemas.openxmlformats.org/drawingml/2006/main" noGrp="1"/>
          </p:cNvSpPr>
          <p:nvPr/>
        </p:nvSpPr>
        <p:spPr>
          <a:xfrm xmlns:a="http://schemas.openxmlformats.org/drawingml/2006/main">
            <a:off x="7334250" y="40005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97A3B2"/>
                </a:solidFill>
              </a:defRPr>
            </a:pPr>
            <a:r>
              <a:rPr sz="1200" b="1">
                <a:solidFill>
                  <a:srgbClr val="97A3B2"/>
                </a:solidFill>
              </a:rPr>
              <a:t>Controlled address-plan result</a:t>
            </a:r>
          </a:p>
          <a:p xmlns:a="http://schemas.openxmlformats.org/drawingml/2006/main">
            <a:pPr algn="ctr">
              <a:defRPr sz="1200" b="1">
                <a:solidFill>
                  <a:srgbClr val="97A3B2"/>
                </a:solidFill>
              </a:defRPr>
            </a:pPr>
            <a:r>
              <a:rPr sz="1200" b="1">
                <a:solidFill>
                  <a:srgbClr val="97A3B2"/>
                </a:solidFill>
              </a:rPr>
              <a:t>Not a universal deployed defence</a:t>
            </a:r>
          </a:p>
        </p:txBody>
      </p:sp>
    </p:spTree>
    <p:extLst>
      <p:ext uri="{BB962C8B-B14F-4D97-AF65-F5344CB8AC3E}">
        <p14:creationId xmlns:p14="http://schemas.microsoft.com/office/powerpoint/2010/main" val="1456053334"/>
      </p:ext>
    </p:extLst>
  </p:cSld>
</p:sld>
</file>

<file path=ppt/slides/slide25.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4865BD-C033-4C01-87D9-3531FD982FD6}"/>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B9BA4440-2EB4-401D-9CC3-7E2B187A64FC}"/>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CUSUM reacts before delayed error monitoring</a:t>
            </a:r>
          </a:p>
        </p:txBody>
      </p:sp>
      <p:sp>
        <p:nvSpPr>
          <p:cNvPr id="3" name="">
            <a:extLst xmlns:a="http://schemas.openxmlformats.org/drawingml/2006/main">
              <a:ext uri="{FF2B5EF4-FFF2-40B4-BE49-F238E27FC236}">
                <a16:creationId xmlns:a16="http://schemas.microsoft.com/office/drawing/2014/main" id="{45CC1912-988C-42D4-BB07-9ACF879CE0B9}"/>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05757C-93A4-472C-BE9E-03498F0FA2F1}"/>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D044F2-78A6-4254-A2E7-D69ABC17D2B7}"/>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0C54FFC0-71F4-4A00-BCB8-16B77A8B6CED}"/>
              </a:ext>
            </a:extLst>
          </p:cNvPr>
          <p:cNvSpPr>
            <a:spLocks xmlns:a="http://schemas.openxmlformats.org/drawingml/2006/main" noGrp="1"/>
          </p:cNvSpPr>
          <p:nvPr/>
        </p:nvSpPr>
        <p:spPr>
          <a:xfrm xmlns:a="http://schemas.openxmlformats.org/drawingml/2006/main">
            <a:off x="762000" y="1666875"/>
            <a:ext cx="4762500" cy="31432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BBC7A945-8217-42C4-9B2B-D3B13BD380A7}"/>
              </a:ext>
            </a:extLst>
          </p:cNvPr>
          <p:cNvSpPr>
            <a:spLocks xmlns:a="http://schemas.openxmlformats.org/drawingml/2006/main" noGrp="1"/>
          </p:cNvSpPr>
          <p:nvPr/>
        </p:nvSpPr>
        <p:spPr>
          <a:xfrm xmlns:a="http://schemas.openxmlformats.org/drawingml/2006/main">
            <a:off x="762000" y="1666875"/>
            <a:ext cx="47625" cy="314325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04BA74-55BC-428C-A221-6259E4BA41CF}"/>
              </a:ext>
            </a:extLst>
          </p:cNvPr>
          <p:cNvSpPr>
            <a:spLocks xmlns:a="http://schemas.openxmlformats.org/drawingml/2006/main" noGrp="1"/>
          </p:cNvSpPr>
          <p:nvPr/>
        </p:nvSpPr>
        <p:spPr>
          <a:xfrm xmlns:a="http://schemas.openxmlformats.org/drawingml/2006/main">
            <a:off x="971550" y="1781175"/>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CUSUM</a:t>
            </a:r>
          </a:p>
        </p:txBody>
      </p:sp>
      <p:sp>
        <p:nvSpPr>
          <p:cNvPr id="9" name="">
            <a:extLst xmlns:a="http://schemas.openxmlformats.org/drawingml/2006/main">
              <a:ext uri="{FF2B5EF4-FFF2-40B4-BE49-F238E27FC236}">
                <a16:creationId xmlns:a16="http://schemas.microsoft.com/office/drawing/2014/main" id="{0BC12A97-F23F-4168-B56B-80CC34B0C93A}"/>
              </a:ext>
            </a:extLst>
          </p:cNvPr>
          <p:cNvSpPr>
            <a:spLocks xmlns:a="http://schemas.openxmlformats.org/drawingml/2006/main" noGrp="1"/>
          </p:cNvSpPr>
          <p:nvPr/>
        </p:nvSpPr>
        <p:spPr>
          <a:xfrm xmlns:a="http://schemas.openxmlformats.org/drawingml/2006/main">
            <a:off x="971550" y="2105025"/>
            <a:ext cx="4400550"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Input: low-rank routing-state stream</a:t>
            </a:r>
          </a:p>
          <a:p xmlns:a="http://schemas.openxmlformats.org/drawingml/2006/main">
            <a:pPr algn="l">
              <a:defRPr sz="1050" b="0">
                <a:solidFill>
                  <a:srgbClr val="97A3B2"/>
                </a:solidFill>
              </a:defRPr>
            </a:pPr>
            <a:r>
              <a:rPr sz="1050" b="0">
                <a:solidFill>
                  <a:srgbClr val="97A3B2"/>
                </a:solidFill>
              </a:rPr>
              <a:t>Calibration: controlled baseline</a:t>
            </a:r>
          </a:p>
          <a:p xmlns:a="http://schemas.openxmlformats.org/drawingml/2006/main">
            <a:pPr algn="l">
              <a:defRPr sz="1050" b="0">
                <a:solidFill>
                  <a:srgbClr val="97A3B2"/>
                </a:solidFill>
              </a:defRPr>
            </a:pPr>
            <a:r>
              <a:rPr sz="1050" b="0">
                <a:solidFill>
                  <a:srgbClr val="97A3B2"/>
                </a:solidFill>
              </a:rPr>
              <a:t>Attack detections: 5 / 5</a:t>
            </a:r>
          </a:p>
          <a:p xmlns:a="http://schemas.openxmlformats.org/drawingml/2006/main">
            <a:pPr algn="l">
              <a:defRPr sz="1050" b="0">
                <a:solidFill>
                  <a:srgbClr val="97A3B2"/>
                </a:solidFill>
              </a:defRPr>
            </a:pPr>
            <a:r>
              <a:rPr sz="1050" b="0">
                <a:solidFill>
                  <a:srgbClr val="97A3B2"/>
                </a:solidFill>
              </a:rPr>
              <a:t>Control alerts: 0 / 5</a:t>
            </a:r>
          </a:p>
          <a:p xmlns:a="http://schemas.openxmlformats.org/drawingml/2006/main">
            <a:pPr algn="l">
              <a:defRPr sz="1050" b="0">
                <a:solidFill>
                  <a:srgbClr val="97A3B2"/>
                </a:solidFill>
              </a:defRPr>
            </a:pPr>
            <a:r>
              <a:rPr sz="1050" b="0">
                <a:solidFill>
                  <a:srgbClr val="97A3B2"/>
                </a:solidFill>
              </a:rPr>
              <a:t>Median delay: 0 seconds</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Strength: early mechanism-aware signal</a:t>
            </a:r>
          </a:p>
          <a:p xmlns:a="http://schemas.openxmlformats.org/drawingml/2006/main">
            <a:pPr algn="l">
              <a:defRPr sz="1050" b="0">
                <a:solidFill>
                  <a:srgbClr val="97A3B2"/>
                </a:solidFill>
              </a:defRPr>
            </a:pPr>
            <a:r>
              <a:rPr sz="1050" b="0">
                <a:solidFill>
                  <a:srgbClr val="97A3B2"/>
                </a:solidFill>
              </a:rPr>
              <a:t>Limit: small controlled sample</a:t>
            </a:r>
          </a:p>
        </p:txBody>
      </p:sp>
      <p:sp>
        <p:nvSpPr>
          <p:cNvPr id="10" name="">
            <a:extLst xmlns:a="http://schemas.openxmlformats.org/drawingml/2006/main">
              <a:ext uri="{FF2B5EF4-FFF2-40B4-BE49-F238E27FC236}">
                <a16:creationId xmlns:a16="http://schemas.microsoft.com/office/drawing/2014/main" id="{68E1F499-7A9D-49D8-9E0F-1E7CC46C4D3C}"/>
              </a:ext>
            </a:extLst>
          </p:cNvPr>
          <p:cNvSpPr>
            <a:spLocks xmlns:a="http://schemas.openxmlformats.org/drawingml/2006/main" noGrp="1"/>
          </p:cNvSpPr>
          <p:nvPr/>
        </p:nvSpPr>
        <p:spPr>
          <a:xfrm xmlns:a="http://schemas.openxmlformats.org/drawingml/2006/main">
            <a:off x="6667500" y="1666875"/>
            <a:ext cx="4762500" cy="31432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03806035-3B17-48B1-80CF-14F1BF77F11A}"/>
              </a:ext>
            </a:extLst>
          </p:cNvPr>
          <p:cNvSpPr>
            <a:spLocks xmlns:a="http://schemas.openxmlformats.org/drawingml/2006/main" noGrp="1"/>
          </p:cNvSpPr>
          <p:nvPr/>
        </p:nvSpPr>
        <p:spPr>
          <a:xfrm xmlns:a="http://schemas.openxmlformats.org/drawingml/2006/main">
            <a:off x="6667500" y="1666875"/>
            <a:ext cx="47625" cy="31432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339B15-B3E7-45AA-BED7-BADDBB8A16A5}"/>
              </a:ext>
            </a:extLst>
          </p:cNvPr>
          <p:cNvSpPr>
            <a:spLocks xmlns:a="http://schemas.openxmlformats.org/drawingml/2006/main" noGrp="1"/>
          </p:cNvSpPr>
          <p:nvPr/>
        </p:nvSpPr>
        <p:spPr>
          <a:xfrm xmlns:a="http://schemas.openxmlformats.org/drawingml/2006/main">
            <a:off x="6877050" y="1781175"/>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DDM</a:t>
            </a:r>
          </a:p>
        </p:txBody>
      </p:sp>
      <p:sp>
        <p:nvSpPr>
          <p:cNvPr id="13" name="">
            <a:extLst xmlns:a="http://schemas.openxmlformats.org/drawingml/2006/main">
              <a:ext uri="{FF2B5EF4-FFF2-40B4-BE49-F238E27FC236}">
                <a16:creationId xmlns:a16="http://schemas.microsoft.com/office/drawing/2014/main" id="{85BD2440-070C-4969-B70F-1F783869B541}"/>
              </a:ext>
            </a:extLst>
          </p:cNvPr>
          <p:cNvSpPr>
            <a:spLocks xmlns:a="http://schemas.openxmlformats.org/drawingml/2006/main" noGrp="1"/>
          </p:cNvSpPr>
          <p:nvPr/>
        </p:nvSpPr>
        <p:spPr>
          <a:xfrm xmlns:a="http://schemas.openxmlformats.org/drawingml/2006/main">
            <a:off x="6877050" y="2105025"/>
            <a:ext cx="4400550"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Input: delayed CART error sequence</a:t>
            </a:r>
          </a:p>
          <a:p xmlns:a="http://schemas.openxmlformats.org/drawingml/2006/main">
            <a:pPr algn="l">
              <a:defRPr sz="1050" b="0">
                <a:solidFill>
                  <a:srgbClr val="97A3B2"/>
                </a:solidFill>
              </a:defRPr>
            </a:pPr>
            <a:r>
              <a:rPr sz="1050" b="0">
                <a:solidFill>
                  <a:srgbClr val="97A3B2"/>
                </a:solidFill>
              </a:rPr>
              <a:t>Requires labels or feedback</a:t>
            </a:r>
          </a:p>
          <a:p xmlns:a="http://schemas.openxmlformats.org/drawingml/2006/main">
            <a:pPr algn="l">
              <a:defRPr sz="1050" b="0">
                <a:solidFill>
                  <a:srgbClr val="97A3B2"/>
                </a:solidFill>
              </a:defRPr>
            </a:pPr>
            <a:r>
              <a:rPr sz="1050" b="0">
                <a:solidFill>
                  <a:srgbClr val="97A3B2"/>
                </a:solidFill>
              </a:rPr>
              <a:t>Attack detections: 5 / 5</a:t>
            </a:r>
          </a:p>
          <a:p xmlns:a="http://schemas.openxmlformats.org/drawingml/2006/main">
            <a:pPr algn="l">
              <a:defRPr sz="1050" b="0">
                <a:solidFill>
                  <a:srgbClr val="97A3B2"/>
                </a:solidFill>
              </a:defRPr>
            </a:pPr>
            <a:r>
              <a:rPr sz="1050" b="0">
                <a:solidFill>
                  <a:srgbClr val="97A3B2"/>
                </a:solidFill>
              </a:rPr>
              <a:t>Control alerts: 0 / 5</a:t>
            </a:r>
          </a:p>
          <a:p xmlns:a="http://schemas.openxmlformats.org/drawingml/2006/main">
            <a:pPr algn="l">
              <a:defRPr sz="1050" b="0">
                <a:solidFill>
                  <a:srgbClr val="97A3B2"/>
                </a:solidFill>
              </a:defRPr>
            </a:pPr>
            <a:r>
              <a:rPr sz="1050" b="0">
                <a:solidFill>
                  <a:srgbClr val="97A3B2"/>
                </a:solidFill>
              </a:rPr>
              <a:t>Median delay: 60 seconds</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Strength: model-error monitoring</a:t>
            </a:r>
          </a:p>
          <a:p xmlns:a="http://schemas.openxmlformats.org/drawingml/2006/main">
            <a:pPr algn="l">
              <a:defRPr sz="1050" b="0">
                <a:solidFill>
                  <a:srgbClr val="97A3B2"/>
                </a:solidFill>
              </a:defRPr>
            </a:pPr>
            <a:r>
              <a:rPr sz="1050" b="0">
                <a:solidFill>
                  <a:srgbClr val="97A3B2"/>
                </a:solidFill>
              </a:rPr>
              <a:t>Limit: necessarily reacts later here</a:t>
            </a:r>
          </a:p>
        </p:txBody>
      </p:sp>
      <p:sp>
        <p:nvSpPr>
          <p:cNvPr id="14" name="">
            <a:extLst xmlns:a="http://schemas.openxmlformats.org/drawingml/2006/main">
              <a:ext uri="{FF2B5EF4-FFF2-40B4-BE49-F238E27FC236}">
                <a16:creationId xmlns:a16="http://schemas.microsoft.com/office/drawing/2014/main" id="{7B72997E-9011-4F01-8911-0FCE3CBBA757}"/>
              </a:ext>
            </a:extLst>
          </p:cNvPr>
          <p:cNvSpPr>
            <a:spLocks xmlns:a="http://schemas.openxmlformats.org/drawingml/2006/main" noGrp="1"/>
          </p:cNvSpPr>
          <p:nvPr/>
        </p:nvSpPr>
        <p:spPr>
          <a:xfrm xmlns:a="http://schemas.openxmlformats.org/drawingml/2006/main">
            <a:off x="3143250" y="55245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7FAFC"/>
                </a:solidFill>
              </a:defRPr>
            </a:pPr>
            <a:r>
              <a:rPr sz="1650" b="1">
                <a:solidFill>
                  <a:srgbClr val="F7FAFC"/>
                </a:solidFill>
              </a:rPr>
              <a:t>Detection is the trigger; adaptation is the response.</a:t>
            </a:r>
          </a:p>
        </p:txBody>
      </p:sp>
    </p:spTree>
    <p:extLst>
      <p:ext uri="{BB962C8B-B14F-4D97-AF65-F5344CB8AC3E}">
        <p14:creationId xmlns:p14="http://schemas.microsoft.com/office/powerpoint/2010/main" val="614134705"/>
      </p:ext>
    </p:extLst>
  </p:cSld>
</p:sld>
</file>

<file path=ppt/slides/slide26.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E2B2BBAE-DE53-4AF2-8197-970F9A481BF8}"/>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7931F116-E7C1-4AF8-9478-BE55C07F0C96}"/>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Adaptation remains strong under relocation and lossy radio</a:t>
            </a:r>
          </a:p>
        </p:txBody>
      </p:sp>
      <p:sp>
        <p:nvSpPr>
          <p:cNvPr id="3" name="">
            <a:extLst xmlns:a="http://schemas.openxmlformats.org/drawingml/2006/main">
              <a:ext uri="{FF2B5EF4-FFF2-40B4-BE49-F238E27FC236}">
                <a16:creationId xmlns:a16="http://schemas.microsoft.com/office/drawing/2014/main" id="{3A355C34-6D5A-46F1-813D-3B0804CCD69F}"/>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051CF3-9B9D-4422-906B-96F29A52AD54}"/>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B2B872-53A6-453E-8CB6-BADD393A01C4}"/>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8F34904F-5639-4273-82DF-8EC2A387E3EA}"/>
              </a:ext>
            </a:extLst>
          </p:cNvPr>
          <p:cNvSpPr>
            <a:spLocks xmlns:a="http://schemas.openxmlformats.org/drawingml/2006/main" noGrp="1"/>
          </p:cNvSpPr>
          <p:nvPr/>
        </p:nvSpPr>
        <p:spPr>
          <a:xfrm xmlns:a="http://schemas.openxmlformats.org/drawingml/2006/main">
            <a:off x="857250" y="15240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Condition</a:t>
            </a:r>
          </a:p>
        </p:txBody>
      </p:sp>
      <p:sp>
        <p:nvSpPr>
          <p:cNvPr id="7" name="">
            <a:extLst xmlns:a="http://schemas.openxmlformats.org/drawingml/2006/main">
              <a:ext uri="{FF2B5EF4-FFF2-40B4-BE49-F238E27FC236}">
                <a16:creationId xmlns:a16="http://schemas.microsoft.com/office/drawing/2014/main" id="{3FA46B29-38D7-45D6-871B-7BB2849062D1}"/>
              </a:ext>
            </a:extLst>
          </p:cNvPr>
          <p:cNvSpPr>
            <a:spLocks xmlns:a="http://schemas.openxmlformats.org/drawingml/2006/main" noGrp="1"/>
          </p:cNvSpPr>
          <p:nvPr/>
        </p:nvSpPr>
        <p:spPr>
          <a:xfrm xmlns:a="http://schemas.openxmlformats.org/drawingml/2006/main">
            <a:off x="3095625" y="15240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Family</a:t>
            </a:r>
          </a:p>
        </p:txBody>
      </p:sp>
      <p:sp>
        <p:nvSpPr>
          <p:cNvPr id="8" name="">
            <a:extLst xmlns:a="http://schemas.openxmlformats.org/drawingml/2006/main">
              <a:ext uri="{FF2B5EF4-FFF2-40B4-BE49-F238E27FC236}">
                <a16:creationId xmlns:a16="http://schemas.microsoft.com/office/drawing/2014/main" id="{3C2A5756-141A-4E10-9F06-FEF1C6BD992F}"/>
              </a:ext>
            </a:extLst>
          </p:cNvPr>
          <p:cNvSpPr>
            <a:spLocks xmlns:a="http://schemas.openxmlformats.org/drawingml/2006/main" noGrp="1"/>
          </p:cNvSpPr>
          <p:nvPr/>
        </p:nvSpPr>
        <p:spPr>
          <a:xfrm xmlns:a="http://schemas.openxmlformats.org/drawingml/2006/main">
            <a:off x="5381625" y="1524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Static F1</a:t>
            </a:r>
          </a:p>
        </p:txBody>
      </p:sp>
      <p:sp>
        <p:nvSpPr>
          <p:cNvPr id="9" name="">
            <a:extLst xmlns:a="http://schemas.openxmlformats.org/drawingml/2006/main">
              <a:ext uri="{FF2B5EF4-FFF2-40B4-BE49-F238E27FC236}">
                <a16:creationId xmlns:a16="http://schemas.microsoft.com/office/drawing/2014/main" id="{33F2A34A-0E19-474F-A40D-37892FDB2982}"/>
              </a:ext>
            </a:extLst>
          </p:cNvPr>
          <p:cNvSpPr>
            <a:spLocks xmlns:a="http://schemas.openxmlformats.org/drawingml/2006/main" noGrp="1"/>
          </p:cNvSpPr>
          <p:nvPr/>
        </p:nvSpPr>
        <p:spPr>
          <a:xfrm xmlns:a="http://schemas.openxmlformats.org/drawingml/2006/main">
            <a:off x="7429500" y="1524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3-seed F1</a:t>
            </a:r>
          </a:p>
        </p:txBody>
      </p:sp>
      <p:sp>
        <p:nvSpPr>
          <p:cNvPr id="10" name="">
            <a:extLst xmlns:a="http://schemas.openxmlformats.org/drawingml/2006/main">
              <a:ext uri="{FF2B5EF4-FFF2-40B4-BE49-F238E27FC236}">
                <a16:creationId xmlns:a16="http://schemas.microsoft.com/office/drawing/2014/main" id="{A289AFAF-B95C-46C8-B786-9BF2B90CC2DE}"/>
              </a:ext>
            </a:extLst>
          </p:cNvPr>
          <p:cNvSpPr>
            <a:spLocks xmlns:a="http://schemas.openxmlformats.org/drawingml/2006/main" noGrp="1"/>
          </p:cNvSpPr>
          <p:nvPr/>
        </p:nvSpPr>
        <p:spPr>
          <a:xfrm xmlns:a="http://schemas.openxmlformats.org/drawingml/2006/main">
            <a:off x="9525000" y="1524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3-seed FPR</a:t>
            </a:r>
          </a:p>
        </p:txBody>
      </p:sp>
      <p:sp>
        <p:nvSpPr>
          <p:cNvPr id="11" name="">
            <a:extLst xmlns:a="http://schemas.openxmlformats.org/drawingml/2006/main">
              <a:ext uri="{FF2B5EF4-FFF2-40B4-BE49-F238E27FC236}">
                <a16:creationId xmlns:a16="http://schemas.microsoft.com/office/drawing/2014/main" id="{47628B68-6424-43DB-8EAC-32A1BAC0F024}"/>
              </a:ext>
            </a:extLst>
          </p:cNvPr>
          <p:cNvSpPr>
            <a:spLocks xmlns:a="http://schemas.openxmlformats.org/drawingml/2006/main" noGrp="1"/>
          </p:cNvSpPr>
          <p:nvPr/>
        </p:nvSpPr>
        <p:spPr>
          <a:xfrm xmlns:a="http://schemas.openxmlformats.org/drawingml/2006/main">
            <a:off x="714375" y="195262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12" name="">
            <a:extLst xmlns:a="http://schemas.openxmlformats.org/drawingml/2006/main">
              <a:ext uri="{FF2B5EF4-FFF2-40B4-BE49-F238E27FC236}">
                <a16:creationId xmlns:a16="http://schemas.microsoft.com/office/drawing/2014/main" id="{F7249C89-D0DD-4C34-939B-AB9BF0CE0548}"/>
              </a:ext>
            </a:extLst>
          </p:cNvPr>
          <p:cNvSpPr>
            <a:spLocks xmlns:a="http://schemas.openxmlformats.org/drawingml/2006/main" noGrp="1"/>
          </p:cNvSpPr>
          <p:nvPr/>
        </p:nvSpPr>
        <p:spPr>
          <a:xfrm xmlns:a="http://schemas.openxmlformats.org/drawingml/2006/main">
            <a:off x="857250" y="19526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a:t>
            </a:r>
          </a:p>
        </p:txBody>
      </p:sp>
      <p:sp>
        <p:nvSpPr>
          <p:cNvPr id="13" name="">
            <a:extLst xmlns:a="http://schemas.openxmlformats.org/drawingml/2006/main">
              <a:ext uri="{FF2B5EF4-FFF2-40B4-BE49-F238E27FC236}">
                <a16:creationId xmlns:a16="http://schemas.microsoft.com/office/drawing/2014/main" id="{863E2097-22FB-454A-8D71-DA8FD0F26C83}"/>
              </a:ext>
            </a:extLst>
          </p:cNvPr>
          <p:cNvSpPr>
            <a:spLocks xmlns:a="http://schemas.openxmlformats.org/drawingml/2006/main" noGrp="1"/>
          </p:cNvSpPr>
          <p:nvPr/>
        </p:nvSpPr>
        <p:spPr>
          <a:xfrm xmlns:a="http://schemas.openxmlformats.org/drawingml/2006/main">
            <a:off x="3095625" y="19526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Blackhole</a:t>
            </a:r>
          </a:p>
        </p:txBody>
      </p:sp>
      <p:sp>
        <p:nvSpPr>
          <p:cNvPr id="14" name="">
            <a:extLst xmlns:a="http://schemas.openxmlformats.org/drawingml/2006/main">
              <a:ext uri="{FF2B5EF4-FFF2-40B4-BE49-F238E27FC236}">
                <a16:creationId xmlns:a16="http://schemas.microsoft.com/office/drawing/2014/main" id="{6D4CB1FC-DFAC-4906-B5B5-D267F9E3B02F}"/>
              </a:ext>
            </a:extLst>
          </p:cNvPr>
          <p:cNvSpPr>
            <a:spLocks xmlns:a="http://schemas.openxmlformats.org/drawingml/2006/main" noGrp="1"/>
          </p:cNvSpPr>
          <p:nvPr/>
        </p:nvSpPr>
        <p:spPr>
          <a:xfrm xmlns:a="http://schemas.openxmlformats.org/drawingml/2006/main">
            <a:off x="5381625" y="19526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0.476</a:t>
            </a:r>
          </a:p>
        </p:txBody>
      </p:sp>
      <p:sp>
        <p:nvSpPr>
          <p:cNvPr id="15" name="">
            <a:extLst xmlns:a="http://schemas.openxmlformats.org/drawingml/2006/main">
              <a:ext uri="{FF2B5EF4-FFF2-40B4-BE49-F238E27FC236}">
                <a16:creationId xmlns:a16="http://schemas.microsoft.com/office/drawing/2014/main" id="{60B3FCDF-6672-4883-B420-770A6D0BCB25}"/>
              </a:ext>
            </a:extLst>
          </p:cNvPr>
          <p:cNvSpPr>
            <a:spLocks xmlns:a="http://schemas.openxmlformats.org/drawingml/2006/main" noGrp="1"/>
          </p:cNvSpPr>
          <p:nvPr/>
        </p:nvSpPr>
        <p:spPr>
          <a:xfrm xmlns:a="http://schemas.openxmlformats.org/drawingml/2006/main">
            <a:off x="7429500" y="19526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1.000</a:t>
            </a:r>
          </a:p>
        </p:txBody>
      </p:sp>
      <p:sp>
        <p:nvSpPr>
          <p:cNvPr id="16" name="">
            <a:extLst xmlns:a="http://schemas.openxmlformats.org/drawingml/2006/main">
              <a:ext uri="{FF2B5EF4-FFF2-40B4-BE49-F238E27FC236}">
                <a16:creationId xmlns:a16="http://schemas.microsoft.com/office/drawing/2014/main" id="{70AFC332-EBB9-45B5-856D-C9F4C0707459}"/>
              </a:ext>
            </a:extLst>
          </p:cNvPr>
          <p:cNvSpPr>
            <a:spLocks xmlns:a="http://schemas.openxmlformats.org/drawingml/2006/main" noGrp="1"/>
          </p:cNvSpPr>
          <p:nvPr/>
        </p:nvSpPr>
        <p:spPr>
          <a:xfrm xmlns:a="http://schemas.openxmlformats.org/drawingml/2006/main">
            <a:off x="9525000" y="19526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17" name="">
            <a:extLst xmlns:a="http://schemas.openxmlformats.org/drawingml/2006/main">
              <a:ext uri="{FF2B5EF4-FFF2-40B4-BE49-F238E27FC236}">
                <a16:creationId xmlns:a16="http://schemas.microsoft.com/office/drawing/2014/main" id="{7E8CC498-AA4D-4327-A95F-4210E0CFBB7E}"/>
              </a:ext>
            </a:extLst>
          </p:cNvPr>
          <p:cNvSpPr>
            <a:spLocks xmlns:a="http://schemas.openxmlformats.org/drawingml/2006/main" noGrp="1"/>
          </p:cNvSpPr>
          <p:nvPr/>
        </p:nvSpPr>
        <p:spPr>
          <a:xfrm xmlns:a="http://schemas.openxmlformats.org/drawingml/2006/main">
            <a:off x="714375" y="265747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18" name="">
            <a:extLst xmlns:a="http://schemas.openxmlformats.org/drawingml/2006/main">
              <a:ext uri="{FF2B5EF4-FFF2-40B4-BE49-F238E27FC236}">
                <a16:creationId xmlns:a16="http://schemas.microsoft.com/office/drawing/2014/main" id="{6AA4768D-D9F1-4B2A-BEF6-857FB50408B9}"/>
              </a:ext>
            </a:extLst>
          </p:cNvPr>
          <p:cNvSpPr>
            <a:spLocks xmlns:a="http://schemas.openxmlformats.org/drawingml/2006/main" noGrp="1"/>
          </p:cNvSpPr>
          <p:nvPr/>
        </p:nvSpPr>
        <p:spPr>
          <a:xfrm xmlns:a="http://schemas.openxmlformats.org/drawingml/2006/main">
            <a:off x="857250" y="26574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a:t>
            </a:r>
          </a:p>
        </p:txBody>
      </p:sp>
      <p:sp>
        <p:nvSpPr>
          <p:cNvPr id="19" name="">
            <a:extLst xmlns:a="http://schemas.openxmlformats.org/drawingml/2006/main">
              <a:ext uri="{FF2B5EF4-FFF2-40B4-BE49-F238E27FC236}">
                <a16:creationId xmlns:a16="http://schemas.microsoft.com/office/drawing/2014/main" id="{8A8BD6FB-5702-40D9-A6B1-A27326A48084}"/>
              </a:ext>
            </a:extLst>
          </p:cNvPr>
          <p:cNvSpPr>
            <a:spLocks xmlns:a="http://schemas.openxmlformats.org/drawingml/2006/main" noGrp="1"/>
          </p:cNvSpPr>
          <p:nvPr/>
        </p:nvSpPr>
        <p:spPr>
          <a:xfrm xmlns:a="http://schemas.openxmlformats.org/drawingml/2006/main">
            <a:off x="3095625" y="26574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Sinkhole</a:t>
            </a:r>
          </a:p>
        </p:txBody>
      </p:sp>
      <p:sp>
        <p:nvSpPr>
          <p:cNvPr id="20" name="">
            <a:extLst xmlns:a="http://schemas.openxmlformats.org/drawingml/2006/main">
              <a:ext uri="{FF2B5EF4-FFF2-40B4-BE49-F238E27FC236}">
                <a16:creationId xmlns:a16="http://schemas.microsoft.com/office/drawing/2014/main" id="{A6196213-3677-4630-A9A9-B42F8F7EBECA}"/>
              </a:ext>
            </a:extLst>
          </p:cNvPr>
          <p:cNvSpPr>
            <a:spLocks xmlns:a="http://schemas.openxmlformats.org/drawingml/2006/main" noGrp="1"/>
          </p:cNvSpPr>
          <p:nvPr/>
        </p:nvSpPr>
        <p:spPr>
          <a:xfrm xmlns:a="http://schemas.openxmlformats.org/drawingml/2006/main">
            <a:off x="5381625" y="26574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0.495</a:t>
            </a:r>
          </a:p>
        </p:txBody>
      </p:sp>
      <p:sp>
        <p:nvSpPr>
          <p:cNvPr id="21" name="">
            <a:extLst xmlns:a="http://schemas.openxmlformats.org/drawingml/2006/main">
              <a:ext uri="{FF2B5EF4-FFF2-40B4-BE49-F238E27FC236}">
                <a16:creationId xmlns:a16="http://schemas.microsoft.com/office/drawing/2014/main" id="{8A5CB5B8-E4B3-4125-B816-33998BF05C23}"/>
              </a:ext>
            </a:extLst>
          </p:cNvPr>
          <p:cNvSpPr>
            <a:spLocks xmlns:a="http://schemas.openxmlformats.org/drawingml/2006/main" noGrp="1"/>
          </p:cNvSpPr>
          <p:nvPr/>
        </p:nvSpPr>
        <p:spPr>
          <a:xfrm xmlns:a="http://schemas.openxmlformats.org/drawingml/2006/main">
            <a:off x="7429500" y="26574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1.000</a:t>
            </a:r>
          </a:p>
        </p:txBody>
      </p:sp>
      <p:sp>
        <p:nvSpPr>
          <p:cNvPr id="22" name="">
            <a:extLst xmlns:a="http://schemas.openxmlformats.org/drawingml/2006/main">
              <a:ext uri="{FF2B5EF4-FFF2-40B4-BE49-F238E27FC236}">
                <a16:creationId xmlns:a16="http://schemas.microsoft.com/office/drawing/2014/main" id="{0BC0C3C5-C953-47AE-AFEB-6CE03F3668C0}"/>
              </a:ext>
            </a:extLst>
          </p:cNvPr>
          <p:cNvSpPr>
            <a:spLocks xmlns:a="http://schemas.openxmlformats.org/drawingml/2006/main" noGrp="1"/>
          </p:cNvSpPr>
          <p:nvPr/>
        </p:nvSpPr>
        <p:spPr>
          <a:xfrm xmlns:a="http://schemas.openxmlformats.org/drawingml/2006/main">
            <a:off x="9525000" y="26574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23" name="">
            <a:extLst xmlns:a="http://schemas.openxmlformats.org/drawingml/2006/main">
              <a:ext uri="{FF2B5EF4-FFF2-40B4-BE49-F238E27FC236}">
                <a16:creationId xmlns:a16="http://schemas.microsoft.com/office/drawing/2014/main" id="{25C5E5C1-675E-4F9F-AF2F-5E7E6B09D3B9}"/>
              </a:ext>
            </a:extLst>
          </p:cNvPr>
          <p:cNvSpPr>
            <a:spLocks xmlns:a="http://schemas.openxmlformats.org/drawingml/2006/main" noGrp="1"/>
          </p:cNvSpPr>
          <p:nvPr/>
        </p:nvSpPr>
        <p:spPr>
          <a:xfrm xmlns:a="http://schemas.openxmlformats.org/drawingml/2006/main">
            <a:off x="714375" y="336232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24" name="">
            <a:extLst xmlns:a="http://schemas.openxmlformats.org/drawingml/2006/main">
              <a:ext uri="{FF2B5EF4-FFF2-40B4-BE49-F238E27FC236}">
                <a16:creationId xmlns:a16="http://schemas.microsoft.com/office/drawing/2014/main" id="{B140D811-3DE8-4AB0-985E-150DF606F7CD}"/>
              </a:ext>
            </a:extLst>
          </p:cNvPr>
          <p:cNvSpPr>
            <a:spLocks xmlns:a="http://schemas.openxmlformats.org/drawingml/2006/main" noGrp="1"/>
          </p:cNvSpPr>
          <p:nvPr/>
        </p:nvSpPr>
        <p:spPr>
          <a:xfrm xmlns:a="http://schemas.openxmlformats.org/drawingml/2006/main">
            <a:off x="857250" y="33623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Relocated</a:t>
            </a:r>
          </a:p>
        </p:txBody>
      </p:sp>
      <p:sp>
        <p:nvSpPr>
          <p:cNvPr id="25" name="">
            <a:extLst xmlns:a="http://schemas.openxmlformats.org/drawingml/2006/main">
              <a:ext uri="{FF2B5EF4-FFF2-40B4-BE49-F238E27FC236}">
                <a16:creationId xmlns:a16="http://schemas.microsoft.com/office/drawing/2014/main" id="{333D1ACE-0ECF-43CE-8AF3-71DB5E1CFA96}"/>
              </a:ext>
            </a:extLst>
          </p:cNvPr>
          <p:cNvSpPr>
            <a:spLocks xmlns:a="http://schemas.openxmlformats.org/drawingml/2006/main" noGrp="1"/>
          </p:cNvSpPr>
          <p:nvPr/>
        </p:nvSpPr>
        <p:spPr>
          <a:xfrm xmlns:a="http://schemas.openxmlformats.org/drawingml/2006/main">
            <a:off x="3095625" y="33623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Sybil</a:t>
            </a:r>
          </a:p>
        </p:txBody>
      </p:sp>
      <p:sp>
        <p:nvSpPr>
          <p:cNvPr id="26" name="">
            <a:extLst xmlns:a="http://schemas.openxmlformats.org/drawingml/2006/main">
              <a:ext uri="{FF2B5EF4-FFF2-40B4-BE49-F238E27FC236}">
                <a16:creationId xmlns:a16="http://schemas.microsoft.com/office/drawing/2014/main" id="{5AB4C0B0-49D7-4FF2-B851-A85605C3A2F3}"/>
              </a:ext>
            </a:extLst>
          </p:cNvPr>
          <p:cNvSpPr>
            <a:spLocks xmlns:a="http://schemas.openxmlformats.org/drawingml/2006/main" noGrp="1"/>
          </p:cNvSpPr>
          <p:nvPr/>
        </p:nvSpPr>
        <p:spPr>
          <a:xfrm xmlns:a="http://schemas.openxmlformats.org/drawingml/2006/main">
            <a:off x="5381625" y="33623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0.476</a:t>
            </a:r>
          </a:p>
        </p:txBody>
      </p:sp>
      <p:sp>
        <p:nvSpPr>
          <p:cNvPr id="27" name="">
            <a:extLst xmlns:a="http://schemas.openxmlformats.org/drawingml/2006/main">
              <a:ext uri="{FF2B5EF4-FFF2-40B4-BE49-F238E27FC236}">
                <a16:creationId xmlns:a16="http://schemas.microsoft.com/office/drawing/2014/main" id="{7AE157F5-F218-45EE-AD98-65269C9D4B63}"/>
              </a:ext>
            </a:extLst>
          </p:cNvPr>
          <p:cNvSpPr>
            <a:spLocks xmlns:a="http://schemas.openxmlformats.org/drawingml/2006/main" noGrp="1"/>
          </p:cNvSpPr>
          <p:nvPr/>
        </p:nvSpPr>
        <p:spPr>
          <a:xfrm xmlns:a="http://schemas.openxmlformats.org/drawingml/2006/main">
            <a:off x="7429500" y="33623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0.995</a:t>
            </a:r>
          </a:p>
        </p:txBody>
      </p:sp>
      <p:sp>
        <p:nvSpPr>
          <p:cNvPr id="28" name="">
            <a:extLst xmlns:a="http://schemas.openxmlformats.org/drawingml/2006/main">
              <a:ext uri="{FF2B5EF4-FFF2-40B4-BE49-F238E27FC236}">
                <a16:creationId xmlns:a16="http://schemas.microsoft.com/office/drawing/2014/main" id="{853138BC-7007-4C44-8126-5FA883D5F1CD}"/>
              </a:ext>
            </a:extLst>
          </p:cNvPr>
          <p:cNvSpPr>
            <a:spLocks xmlns:a="http://schemas.openxmlformats.org/drawingml/2006/main" noGrp="1"/>
          </p:cNvSpPr>
          <p:nvPr/>
        </p:nvSpPr>
        <p:spPr>
          <a:xfrm xmlns:a="http://schemas.openxmlformats.org/drawingml/2006/main">
            <a:off x="9525000" y="33623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29" name="">
            <a:extLst xmlns:a="http://schemas.openxmlformats.org/drawingml/2006/main">
              <a:ext uri="{FF2B5EF4-FFF2-40B4-BE49-F238E27FC236}">
                <a16:creationId xmlns:a16="http://schemas.microsoft.com/office/drawing/2014/main" id="{E7097D02-DB70-4751-B961-4CBFF9F103AC}"/>
              </a:ext>
            </a:extLst>
          </p:cNvPr>
          <p:cNvSpPr>
            <a:spLocks xmlns:a="http://schemas.openxmlformats.org/drawingml/2006/main" noGrp="1"/>
          </p:cNvSpPr>
          <p:nvPr/>
        </p:nvSpPr>
        <p:spPr>
          <a:xfrm xmlns:a="http://schemas.openxmlformats.org/drawingml/2006/main">
            <a:off x="714375" y="406717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30" name="">
            <a:extLst xmlns:a="http://schemas.openxmlformats.org/drawingml/2006/main">
              <a:ext uri="{FF2B5EF4-FFF2-40B4-BE49-F238E27FC236}">
                <a16:creationId xmlns:a16="http://schemas.microsoft.com/office/drawing/2014/main" id="{1E2A85A5-F797-45A6-94D7-7C5570BC1F31}"/>
              </a:ext>
            </a:extLst>
          </p:cNvPr>
          <p:cNvSpPr>
            <a:spLocks xmlns:a="http://schemas.openxmlformats.org/drawingml/2006/main" noGrp="1"/>
          </p:cNvSpPr>
          <p:nvPr/>
        </p:nvSpPr>
        <p:spPr>
          <a:xfrm xmlns:a="http://schemas.openxmlformats.org/drawingml/2006/main">
            <a:off x="857250" y="40671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radio</a:t>
            </a:r>
          </a:p>
        </p:txBody>
      </p:sp>
      <p:sp>
        <p:nvSpPr>
          <p:cNvPr id="31" name="">
            <a:extLst xmlns:a="http://schemas.openxmlformats.org/drawingml/2006/main">
              <a:ext uri="{FF2B5EF4-FFF2-40B4-BE49-F238E27FC236}">
                <a16:creationId xmlns:a16="http://schemas.microsoft.com/office/drawing/2014/main" id="{597B1FAE-CDC1-48CA-830F-5E88C404912F}"/>
              </a:ext>
            </a:extLst>
          </p:cNvPr>
          <p:cNvSpPr>
            <a:spLocks xmlns:a="http://schemas.openxmlformats.org/drawingml/2006/main" noGrp="1"/>
          </p:cNvSpPr>
          <p:nvPr/>
        </p:nvSpPr>
        <p:spPr>
          <a:xfrm xmlns:a="http://schemas.openxmlformats.org/drawingml/2006/main">
            <a:off x="3095625" y="40671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Blackhole</a:t>
            </a:r>
          </a:p>
        </p:txBody>
      </p:sp>
      <p:sp>
        <p:nvSpPr>
          <p:cNvPr id="32" name="">
            <a:extLst xmlns:a="http://schemas.openxmlformats.org/drawingml/2006/main">
              <a:ext uri="{FF2B5EF4-FFF2-40B4-BE49-F238E27FC236}">
                <a16:creationId xmlns:a16="http://schemas.microsoft.com/office/drawing/2014/main" id="{A7D04365-DF19-43FA-9049-B78DCEA53987}"/>
              </a:ext>
            </a:extLst>
          </p:cNvPr>
          <p:cNvSpPr>
            <a:spLocks xmlns:a="http://schemas.openxmlformats.org/drawingml/2006/main" noGrp="1"/>
          </p:cNvSpPr>
          <p:nvPr/>
        </p:nvSpPr>
        <p:spPr>
          <a:xfrm xmlns:a="http://schemas.openxmlformats.org/drawingml/2006/main">
            <a:off x="5381625" y="40671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0.476</a:t>
            </a:r>
          </a:p>
        </p:txBody>
      </p:sp>
      <p:sp>
        <p:nvSpPr>
          <p:cNvPr id="33" name="">
            <a:extLst xmlns:a="http://schemas.openxmlformats.org/drawingml/2006/main">
              <a:ext uri="{FF2B5EF4-FFF2-40B4-BE49-F238E27FC236}">
                <a16:creationId xmlns:a16="http://schemas.microsoft.com/office/drawing/2014/main" id="{B1B82E77-CD78-42DC-9DC0-9A3E012132B9}"/>
              </a:ext>
            </a:extLst>
          </p:cNvPr>
          <p:cNvSpPr>
            <a:spLocks xmlns:a="http://schemas.openxmlformats.org/drawingml/2006/main" noGrp="1"/>
          </p:cNvSpPr>
          <p:nvPr/>
        </p:nvSpPr>
        <p:spPr>
          <a:xfrm xmlns:a="http://schemas.openxmlformats.org/drawingml/2006/main">
            <a:off x="7429500" y="40671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1.000</a:t>
            </a:r>
          </a:p>
        </p:txBody>
      </p:sp>
      <p:sp>
        <p:nvSpPr>
          <p:cNvPr id="34" name="">
            <a:extLst xmlns:a="http://schemas.openxmlformats.org/drawingml/2006/main">
              <a:ext uri="{FF2B5EF4-FFF2-40B4-BE49-F238E27FC236}">
                <a16:creationId xmlns:a16="http://schemas.microsoft.com/office/drawing/2014/main" id="{C447FACA-75C0-4FDC-91D8-4CBCB2A09DE8}"/>
              </a:ext>
            </a:extLst>
          </p:cNvPr>
          <p:cNvSpPr>
            <a:spLocks xmlns:a="http://schemas.openxmlformats.org/drawingml/2006/main" noGrp="1"/>
          </p:cNvSpPr>
          <p:nvPr/>
        </p:nvSpPr>
        <p:spPr>
          <a:xfrm xmlns:a="http://schemas.openxmlformats.org/drawingml/2006/main">
            <a:off x="9525000" y="40671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35" name="">
            <a:extLst xmlns:a="http://schemas.openxmlformats.org/drawingml/2006/main">
              <a:ext uri="{FF2B5EF4-FFF2-40B4-BE49-F238E27FC236}">
                <a16:creationId xmlns:a16="http://schemas.microsoft.com/office/drawing/2014/main" id="{FB9C3993-1827-47C6-B05E-73811FC6B22D}"/>
              </a:ext>
            </a:extLst>
          </p:cNvPr>
          <p:cNvSpPr>
            <a:spLocks xmlns:a="http://schemas.openxmlformats.org/drawingml/2006/main" noGrp="1"/>
          </p:cNvSpPr>
          <p:nvPr/>
        </p:nvSpPr>
        <p:spPr>
          <a:xfrm xmlns:a="http://schemas.openxmlformats.org/drawingml/2006/main">
            <a:off x="714375" y="477202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36" name="">
            <a:extLst xmlns:a="http://schemas.openxmlformats.org/drawingml/2006/main">
              <a:ext uri="{FF2B5EF4-FFF2-40B4-BE49-F238E27FC236}">
                <a16:creationId xmlns:a16="http://schemas.microsoft.com/office/drawing/2014/main" id="{8391D49C-64E0-481E-AF7B-DF005ABC30EE}"/>
              </a:ext>
            </a:extLst>
          </p:cNvPr>
          <p:cNvSpPr>
            <a:spLocks xmlns:a="http://schemas.openxmlformats.org/drawingml/2006/main" noGrp="1"/>
          </p:cNvSpPr>
          <p:nvPr/>
        </p:nvSpPr>
        <p:spPr>
          <a:xfrm xmlns:a="http://schemas.openxmlformats.org/drawingml/2006/main">
            <a:off x="857250" y="47720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radio</a:t>
            </a:r>
          </a:p>
        </p:txBody>
      </p:sp>
      <p:sp>
        <p:nvSpPr>
          <p:cNvPr id="37" name="">
            <a:extLst xmlns:a="http://schemas.openxmlformats.org/drawingml/2006/main">
              <a:ext uri="{FF2B5EF4-FFF2-40B4-BE49-F238E27FC236}">
                <a16:creationId xmlns:a16="http://schemas.microsoft.com/office/drawing/2014/main" id="{560828F2-F84A-4A0B-B8F0-B4BFB634054B}"/>
              </a:ext>
            </a:extLst>
          </p:cNvPr>
          <p:cNvSpPr>
            <a:spLocks xmlns:a="http://schemas.openxmlformats.org/drawingml/2006/main" noGrp="1"/>
          </p:cNvSpPr>
          <p:nvPr/>
        </p:nvSpPr>
        <p:spPr>
          <a:xfrm xmlns:a="http://schemas.openxmlformats.org/drawingml/2006/main">
            <a:off x="3095625" y="47720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Sinkhole</a:t>
            </a:r>
          </a:p>
        </p:txBody>
      </p:sp>
      <p:sp>
        <p:nvSpPr>
          <p:cNvPr id="38" name="">
            <a:extLst xmlns:a="http://schemas.openxmlformats.org/drawingml/2006/main">
              <a:ext uri="{FF2B5EF4-FFF2-40B4-BE49-F238E27FC236}">
                <a16:creationId xmlns:a16="http://schemas.microsoft.com/office/drawing/2014/main" id="{6AAA8C25-577A-4F83-AF3F-3DB5B5363E1F}"/>
              </a:ext>
            </a:extLst>
          </p:cNvPr>
          <p:cNvSpPr>
            <a:spLocks xmlns:a="http://schemas.openxmlformats.org/drawingml/2006/main" noGrp="1"/>
          </p:cNvSpPr>
          <p:nvPr/>
        </p:nvSpPr>
        <p:spPr>
          <a:xfrm xmlns:a="http://schemas.openxmlformats.org/drawingml/2006/main">
            <a:off x="5381625" y="47720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1.000</a:t>
            </a:r>
          </a:p>
        </p:txBody>
      </p:sp>
      <p:sp>
        <p:nvSpPr>
          <p:cNvPr id="39" name="">
            <a:extLst xmlns:a="http://schemas.openxmlformats.org/drawingml/2006/main">
              <a:ext uri="{FF2B5EF4-FFF2-40B4-BE49-F238E27FC236}">
                <a16:creationId xmlns:a16="http://schemas.microsoft.com/office/drawing/2014/main" id="{AACDB70F-9926-448E-8496-CFA4D6DABA50}"/>
              </a:ext>
            </a:extLst>
          </p:cNvPr>
          <p:cNvSpPr>
            <a:spLocks xmlns:a="http://schemas.openxmlformats.org/drawingml/2006/main" noGrp="1"/>
          </p:cNvSpPr>
          <p:nvPr/>
        </p:nvSpPr>
        <p:spPr>
          <a:xfrm xmlns:a="http://schemas.openxmlformats.org/drawingml/2006/main">
            <a:off x="7429500" y="47720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1.000</a:t>
            </a:r>
          </a:p>
        </p:txBody>
      </p:sp>
      <p:sp>
        <p:nvSpPr>
          <p:cNvPr id="40" name="">
            <a:extLst xmlns:a="http://schemas.openxmlformats.org/drawingml/2006/main">
              <a:ext uri="{FF2B5EF4-FFF2-40B4-BE49-F238E27FC236}">
                <a16:creationId xmlns:a16="http://schemas.microsoft.com/office/drawing/2014/main" id="{7404E50D-64EB-40AF-9BFD-347DA05500EB}"/>
              </a:ext>
            </a:extLst>
          </p:cNvPr>
          <p:cNvSpPr>
            <a:spLocks xmlns:a="http://schemas.openxmlformats.org/drawingml/2006/main" noGrp="1"/>
          </p:cNvSpPr>
          <p:nvPr/>
        </p:nvSpPr>
        <p:spPr>
          <a:xfrm xmlns:a="http://schemas.openxmlformats.org/drawingml/2006/main">
            <a:off x="9525000" y="477202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41" name="">
            <a:extLst xmlns:a="http://schemas.openxmlformats.org/drawingml/2006/main">
              <a:ext uri="{FF2B5EF4-FFF2-40B4-BE49-F238E27FC236}">
                <a16:creationId xmlns:a16="http://schemas.microsoft.com/office/drawing/2014/main" id="{449012FC-C434-4D01-A621-008C9CAF78F4}"/>
              </a:ext>
            </a:extLst>
          </p:cNvPr>
          <p:cNvSpPr>
            <a:spLocks xmlns:a="http://schemas.openxmlformats.org/drawingml/2006/main" noGrp="1"/>
          </p:cNvSpPr>
          <p:nvPr/>
        </p:nvSpPr>
        <p:spPr>
          <a:xfrm xmlns:a="http://schemas.openxmlformats.org/drawingml/2006/main">
            <a:off x="714375" y="5476875"/>
            <a:ext cx="107632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42" name="">
            <a:extLst xmlns:a="http://schemas.openxmlformats.org/drawingml/2006/main">
              <a:ext uri="{FF2B5EF4-FFF2-40B4-BE49-F238E27FC236}">
                <a16:creationId xmlns:a16="http://schemas.microsoft.com/office/drawing/2014/main" id="{26509C96-A840-4A4B-8E35-903B95668E21}"/>
              </a:ext>
            </a:extLst>
          </p:cNvPr>
          <p:cNvSpPr>
            <a:spLocks xmlns:a="http://schemas.openxmlformats.org/drawingml/2006/main" noGrp="1"/>
          </p:cNvSpPr>
          <p:nvPr/>
        </p:nvSpPr>
        <p:spPr>
          <a:xfrm xmlns:a="http://schemas.openxmlformats.org/drawingml/2006/main">
            <a:off x="857250" y="54768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Lossy radio</a:t>
            </a:r>
          </a:p>
        </p:txBody>
      </p:sp>
      <p:sp>
        <p:nvSpPr>
          <p:cNvPr id="43" name="">
            <a:extLst xmlns:a="http://schemas.openxmlformats.org/drawingml/2006/main">
              <a:ext uri="{FF2B5EF4-FFF2-40B4-BE49-F238E27FC236}">
                <a16:creationId xmlns:a16="http://schemas.microsoft.com/office/drawing/2014/main" id="{75AE7FF0-2120-440C-B8EE-E95B3C8560B8}"/>
              </a:ext>
            </a:extLst>
          </p:cNvPr>
          <p:cNvSpPr>
            <a:spLocks xmlns:a="http://schemas.openxmlformats.org/drawingml/2006/main" noGrp="1"/>
          </p:cNvSpPr>
          <p:nvPr/>
        </p:nvSpPr>
        <p:spPr>
          <a:xfrm xmlns:a="http://schemas.openxmlformats.org/drawingml/2006/main">
            <a:off x="3095625" y="54768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Sybil</a:t>
            </a:r>
          </a:p>
        </p:txBody>
      </p:sp>
      <p:sp>
        <p:nvSpPr>
          <p:cNvPr id="44" name="">
            <a:extLst xmlns:a="http://schemas.openxmlformats.org/drawingml/2006/main">
              <a:ext uri="{FF2B5EF4-FFF2-40B4-BE49-F238E27FC236}">
                <a16:creationId xmlns:a16="http://schemas.microsoft.com/office/drawing/2014/main" id="{39075EA2-1B52-4B3E-8E75-5C76ACD84904}"/>
              </a:ext>
            </a:extLst>
          </p:cNvPr>
          <p:cNvSpPr>
            <a:spLocks xmlns:a="http://schemas.openxmlformats.org/drawingml/2006/main" noGrp="1"/>
          </p:cNvSpPr>
          <p:nvPr/>
        </p:nvSpPr>
        <p:spPr>
          <a:xfrm xmlns:a="http://schemas.openxmlformats.org/drawingml/2006/main">
            <a:off x="5381625" y="54768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0.476</a:t>
            </a:r>
          </a:p>
        </p:txBody>
      </p:sp>
      <p:sp>
        <p:nvSpPr>
          <p:cNvPr id="45" name="">
            <a:extLst xmlns:a="http://schemas.openxmlformats.org/drawingml/2006/main">
              <a:ext uri="{FF2B5EF4-FFF2-40B4-BE49-F238E27FC236}">
                <a16:creationId xmlns:a16="http://schemas.microsoft.com/office/drawing/2014/main" id="{8D0B5837-0A2E-4EA6-B973-5630E9D5C65C}"/>
              </a:ext>
            </a:extLst>
          </p:cNvPr>
          <p:cNvSpPr>
            <a:spLocks xmlns:a="http://schemas.openxmlformats.org/drawingml/2006/main" noGrp="1"/>
          </p:cNvSpPr>
          <p:nvPr/>
        </p:nvSpPr>
        <p:spPr>
          <a:xfrm xmlns:a="http://schemas.openxmlformats.org/drawingml/2006/main">
            <a:off x="7429500" y="54768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0.937</a:t>
            </a:r>
          </a:p>
        </p:txBody>
      </p:sp>
      <p:sp>
        <p:nvSpPr>
          <p:cNvPr id="46" name="">
            <a:extLst xmlns:a="http://schemas.openxmlformats.org/drawingml/2006/main">
              <a:ext uri="{FF2B5EF4-FFF2-40B4-BE49-F238E27FC236}">
                <a16:creationId xmlns:a16="http://schemas.microsoft.com/office/drawing/2014/main" id="{8C4B2D43-85F8-4000-AEBA-0979BB4C6C55}"/>
              </a:ext>
            </a:extLst>
          </p:cNvPr>
          <p:cNvSpPr>
            <a:spLocks xmlns:a="http://schemas.openxmlformats.org/drawingml/2006/main" noGrp="1"/>
          </p:cNvSpPr>
          <p:nvPr/>
        </p:nvSpPr>
        <p:spPr>
          <a:xfrm xmlns:a="http://schemas.openxmlformats.org/drawingml/2006/main">
            <a:off x="9525000" y="5476875"/>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F59E0B"/>
                </a:solidFill>
              </a:defRPr>
            </a:pPr>
            <a:r>
              <a:rPr sz="1125" b="0">
                <a:solidFill>
                  <a:srgbClr val="F59E0B"/>
                </a:solidFill>
              </a:rPr>
              <a:t>0.046</a:t>
            </a:r>
          </a:p>
        </p:txBody>
      </p:sp>
      <p:sp>
        <p:nvSpPr>
          <p:cNvPr id="47" name="">
            <a:extLst xmlns:a="http://schemas.openxmlformats.org/drawingml/2006/main">
              <a:ext uri="{FF2B5EF4-FFF2-40B4-BE49-F238E27FC236}">
                <a16:creationId xmlns:a16="http://schemas.microsoft.com/office/drawing/2014/main" id="{9B35EABA-4581-475B-8754-BCD24A6163C7}"/>
              </a:ext>
            </a:extLst>
          </p:cNvPr>
          <p:cNvSpPr>
            <a:spLocks xmlns:a="http://schemas.openxmlformats.org/drawingml/2006/main" noGrp="1"/>
          </p:cNvSpPr>
          <p:nvPr/>
        </p:nvSpPr>
        <p:spPr>
          <a:xfrm xmlns:a="http://schemas.openxmlformats.org/drawingml/2006/main">
            <a:off x="2333625" y="6191250"/>
            <a:ext cx="752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97A3B2"/>
                </a:solidFill>
              </a:defRPr>
            </a:pPr>
            <a:r>
              <a:rPr sz="1125" b="1">
                <a:solidFill>
                  <a:srgbClr val="97A3B2"/>
                </a:solidFill>
              </a:rPr>
              <a:t>Simulator robustness only: no physical radio, mobility or hardware deployment.</a:t>
            </a:r>
          </a:p>
        </p:txBody>
      </p:sp>
    </p:spTree>
    <p:extLst>
      <p:ext uri="{BB962C8B-B14F-4D97-AF65-F5344CB8AC3E}">
        <p14:creationId xmlns:p14="http://schemas.microsoft.com/office/powerpoint/2010/main" val="556688550"/>
      </p:ext>
    </p:extLst>
  </p:cSld>
</p:sld>
</file>

<file path=ppt/slides/slide27.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F15F674-9620-4918-8AED-F54410F71770}"/>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7DAE747F-49EB-4D41-B445-61DD6F274EB0}"/>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Trust aided diagnosis, while active defence harmed operation</a:t>
            </a:r>
          </a:p>
        </p:txBody>
      </p:sp>
      <p:sp>
        <p:nvSpPr>
          <p:cNvPr id="3" name="">
            <a:extLst xmlns:a="http://schemas.openxmlformats.org/drawingml/2006/main">
              <a:ext uri="{FF2B5EF4-FFF2-40B4-BE49-F238E27FC236}">
                <a16:creationId xmlns:a16="http://schemas.microsoft.com/office/drawing/2014/main" id="{87651A07-F4BC-4404-A528-D60AB8613738}"/>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399754-F933-4CEF-BA25-244C0E507C49}"/>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F692CE-2832-4AB8-8F38-639EE3C34C0E}"/>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0FDE5698-5A3F-4931-9EEF-65D4EC5AE5B4}"/>
              </a:ext>
            </a:extLst>
          </p:cNvPr>
          <p:cNvSpPr>
            <a:spLocks xmlns:a="http://schemas.openxmlformats.org/drawingml/2006/main" noGrp="1"/>
          </p:cNvSpPr>
          <p:nvPr/>
        </p:nvSpPr>
        <p:spPr>
          <a:xfrm xmlns:a="http://schemas.openxmlformats.org/drawingml/2006/main">
            <a:off x="666750" y="1428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22D3EE"/>
                </a:solidFill>
              </a:defRPr>
            </a:pPr>
            <a:r>
              <a:rPr sz="825" b="1">
                <a:solidFill>
                  <a:srgbClr val="22D3EE"/>
                </a:solidFill>
              </a:rPr>
              <a:t>TRUST FEATURE COMPARISON</a:t>
            </a:r>
          </a:p>
        </p:txBody>
      </p:sp>
      <p:sp>
        <p:nvSpPr>
          <p:cNvPr id="7" name="">
            <a:extLst xmlns:a="http://schemas.openxmlformats.org/drawingml/2006/main">
              <a:ext uri="{FF2B5EF4-FFF2-40B4-BE49-F238E27FC236}">
                <a16:creationId xmlns:a16="http://schemas.microsoft.com/office/drawing/2014/main" id="{6CF037A6-3DCB-41ED-BE95-0BC0665292D0}"/>
              </a:ext>
            </a:extLst>
          </p:cNvPr>
          <p:cNvSpPr>
            <a:spLocks xmlns:a="http://schemas.openxmlformats.org/drawingml/2006/main" noGrp="1"/>
          </p:cNvSpPr>
          <p:nvPr/>
        </p:nvSpPr>
        <p:spPr>
          <a:xfrm xmlns:a="http://schemas.openxmlformats.org/drawingml/2006/main">
            <a:off x="6524625" y="142875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FB7185"/>
                </a:solidFill>
              </a:defRPr>
            </a:pPr>
            <a:r>
              <a:rPr sz="825" b="1">
                <a:solidFill>
                  <a:srgbClr val="FB7185"/>
                </a:solidFill>
              </a:rPr>
              <a:t>SINKHOLE DEFENCE OPERATIONAL COST</a:t>
            </a:r>
          </a:p>
        </p:txBody>
      </p:sp>
      <p:sp>
        <p:nvSpPr>
          <p:cNvPr id="8" name="">
            <a:extLst xmlns:a="http://schemas.openxmlformats.org/drawingml/2006/main">
              <a:ext uri="{FF2B5EF4-FFF2-40B4-BE49-F238E27FC236}">
                <a16:creationId xmlns:a16="http://schemas.microsoft.com/office/drawing/2014/main" id="{FF717289-2274-4075-AEF4-8AEEADCD4974}"/>
              </a:ext>
            </a:extLst>
          </p:cNvPr>
          <p:cNvSpPr>
            <a:spLocks xmlns:a="http://schemas.openxmlformats.org/drawingml/2006/main" noGrp="1"/>
          </p:cNvSpPr>
          <p:nvPr/>
        </p:nvSpPr>
        <p:spPr>
          <a:xfrm xmlns:a="http://schemas.openxmlformats.org/drawingml/2006/main">
            <a:off x="619125" y="1809750"/>
            <a:ext cx="4953000" cy="31432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9" name="">
            <a:extLst xmlns:a="http://schemas.openxmlformats.org/drawingml/2006/main">
              <a:ext uri="{FF2B5EF4-FFF2-40B4-BE49-F238E27FC236}">
                <a16:creationId xmlns:a16="http://schemas.microsoft.com/office/drawing/2014/main" id="{94B4A9F3-D1E2-4027-98FE-DEEDC35A9244}"/>
              </a:ext>
            </a:extLst>
          </p:cNvPr>
          <p:cNvSpPr>
            <a:spLocks xmlns:a="http://schemas.openxmlformats.org/drawingml/2006/main" noGrp="1"/>
          </p:cNvSpPr>
          <p:nvPr/>
        </p:nvSpPr>
        <p:spPr>
          <a:xfrm xmlns:a="http://schemas.openxmlformats.org/drawingml/2006/main">
            <a:off x="857250" y="2190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Static baseline</a:t>
            </a:r>
          </a:p>
        </p:txBody>
      </p:sp>
      <p:sp>
        <p:nvSpPr>
          <p:cNvPr id="10" name="">
            <a:extLst xmlns:a="http://schemas.openxmlformats.org/drawingml/2006/main">
              <a:ext uri="{FF2B5EF4-FFF2-40B4-BE49-F238E27FC236}">
                <a16:creationId xmlns:a16="http://schemas.microsoft.com/office/drawing/2014/main" id="{0B14AE3B-529C-43A8-9B41-E20507F9C5EE}"/>
              </a:ext>
            </a:extLst>
          </p:cNvPr>
          <p:cNvSpPr>
            <a:spLocks xmlns:a="http://schemas.openxmlformats.org/drawingml/2006/main" noGrp="1"/>
          </p:cNvSpPr>
          <p:nvPr/>
        </p:nvSpPr>
        <p:spPr>
          <a:xfrm xmlns:a="http://schemas.openxmlformats.org/drawingml/2006/main">
            <a:off x="2714625" y="2219325"/>
            <a:ext cx="17145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3E361F-1E67-4550-9508-092C2DC56328}"/>
              </a:ext>
            </a:extLst>
          </p:cNvPr>
          <p:cNvSpPr>
            <a:spLocks xmlns:a="http://schemas.openxmlformats.org/drawingml/2006/main" noGrp="1"/>
          </p:cNvSpPr>
          <p:nvPr/>
        </p:nvSpPr>
        <p:spPr>
          <a:xfrm xmlns:a="http://schemas.openxmlformats.org/drawingml/2006/main">
            <a:off x="2714625" y="2219325"/>
            <a:ext cx="312382" cy="171450"/>
          </a:xfrm>
          <a:prstGeom xmlns:a="http://schemas.openxmlformats.org/drawingml/2006/main" prst="roundRect">
            <a:avLst>
              <a:gd name="adj" fmla="val 44444"/>
            </a:avLst>
          </a:prstGeom>
          <a:solidFill xmlns:a="http://schemas.openxmlformats.org/drawingml/2006/main">
            <a:srgbClr val="60A5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6F38CE-72DE-42CE-80BD-291A2EC3258E}"/>
              </a:ext>
            </a:extLst>
          </p:cNvPr>
          <p:cNvSpPr>
            <a:spLocks xmlns:a="http://schemas.openxmlformats.org/drawingml/2006/main" noGrp="1"/>
          </p:cNvSpPr>
          <p:nvPr/>
        </p:nvSpPr>
        <p:spPr>
          <a:xfrm xmlns:a="http://schemas.openxmlformats.org/drawingml/2006/main">
            <a:off x="4495800" y="21812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0A5FA"/>
                </a:solidFill>
              </a:defRPr>
            </a:pPr>
            <a:r>
              <a:rPr sz="975" b="1">
                <a:solidFill>
                  <a:srgbClr val="60A5FA"/>
                </a:solidFill>
              </a:rPr>
              <a:t>0.1822</a:t>
            </a:r>
          </a:p>
        </p:txBody>
      </p:sp>
      <p:sp>
        <p:nvSpPr>
          <p:cNvPr id="13" name="">
            <a:extLst xmlns:a="http://schemas.openxmlformats.org/drawingml/2006/main">
              <a:ext uri="{FF2B5EF4-FFF2-40B4-BE49-F238E27FC236}">
                <a16:creationId xmlns:a16="http://schemas.microsoft.com/office/drawing/2014/main" id="{97D44099-66A9-4EA7-9CAF-9177A2D6FB6A}"/>
              </a:ext>
            </a:extLst>
          </p:cNvPr>
          <p:cNvSpPr>
            <a:spLocks xmlns:a="http://schemas.openxmlformats.org/drawingml/2006/main" noGrp="1"/>
          </p:cNvSpPr>
          <p:nvPr/>
        </p:nvSpPr>
        <p:spPr>
          <a:xfrm xmlns:a="http://schemas.openxmlformats.org/drawingml/2006/main">
            <a:off x="857250" y="26193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Static + trust</a:t>
            </a:r>
          </a:p>
        </p:txBody>
      </p:sp>
      <p:sp>
        <p:nvSpPr>
          <p:cNvPr id="14" name="">
            <a:extLst xmlns:a="http://schemas.openxmlformats.org/drawingml/2006/main">
              <a:ext uri="{FF2B5EF4-FFF2-40B4-BE49-F238E27FC236}">
                <a16:creationId xmlns:a16="http://schemas.microsoft.com/office/drawing/2014/main" id="{C95C634F-B9E8-4A1C-B4AA-6FC56FD4038C}"/>
              </a:ext>
            </a:extLst>
          </p:cNvPr>
          <p:cNvSpPr>
            <a:spLocks xmlns:a="http://schemas.openxmlformats.org/drawingml/2006/main" noGrp="1"/>
          </p:cNvSpPr>
          <p:nvPr/>
        </p:nvSpPr>
        <p:spPr>
          <a:xfrm xmlns:a="http://schemas.openxmlformats.org/drawingml/2006/main">
            <a:off x="2714625" y="2647950"/>
            <a:ext cx="17145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0920FB6-E579-4F68-B063-D8F336237400}"/>
              </a:ext>
            </a:extLst>
          </p:cNvPr>
          <p:cNvSpPr>
            <a:spLocks xmlns:a="http://schemas.openxmlformats.org/drawingml/2006/main" noGrp="1"/>
          </p:cNvSpPr>
          <p:nvPr/>
        </p:nvSpPr>
        <p:spPr>
          <a:xfrm xmlns:a="http://schemas.openxmlformats.org/drawingml/2006/main">
            <a:off x="2714625" y="2647950"/>
            <a:ext cx="312382" cy="171450"/>
          </a:xfrm>
          <a:prstGeom xmlns:a="http://schemas.openxmlformats.org/drawingml/2006/main" prst="roundRect">
            <a:avLst>
              <a:gd name="adj" fmla="val 44444"/>
            </a:avLst>
          </a:prstGeom>
          <a:solidFill xmlns:a="http://schemas.openxmlformats.org/drawingml/2006/main">
            <a:srgbClr val="22D3E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96788AD-0F97-4088-8331-79E409BA3EA9}"/>
              </a:ext>
            </a:extLst>
          </p:cNvPr>
          <p:cNvSpPr>
            <a:spLocks xmlns:a="http://schemas.openxmlformats.org/drawingml/2006/main" noGrp="1"/>
          </p:cNvSpPr>
          <p:nvPr/>
        </p:nvSpPr>
        <p:spPr>
          <a:xfrm xmlns:a="http://schemas.openxmlformats.org/drawingml/2006/main">
            <a:off x="4495800" y="26098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22D3EE"/>
                </a:solidFill>
              </a:defRPr>
            </a:pPr>
            <a:r>
              <a:rPr sz="975" b="1">
                <a:solidFill>
                  <a:srgbClr val="22D3EE"/>
                </a:solidFill>
              </a:rPr>
              <a:t>0.1822</a:t>
            </a:r>
          </a:p>
        </p:txBody>
      </p:sp>
      <p:sp>
        <p:nvSpPr>
          <p:cNvPr id="17" name="">
            <a:extLst xmlns:a="http://schemas.openxmlformats.org/drawingml/2006/main">
              <a:ext uri="{FF2B5EF4-FFF2-40B4-BE49-F238E27FC236}">
                <a16:creationId xmlns:a16="http://schemas.microsoft.com/office/drawing/2014/main" id="{DC218403-878A-478D-BE9F-FA75D460C383}"/>
              </a:ext>
            </a:extLst>
          </p:cNvPr>
          <p:cNvSpPr>
            <a:spLocks xmlns:a="http://schemas.openxmlformats.org/drawingml/2006/main" noGrp="1"/>
          </p:cNvSpPr>
          <p:nvPr/>
        </p:nvSpPr>
        <p:spPr>
          <a:xfrm xmlns:a="http://schemas.openxmlformats.org/drawingml/2006/main">
            <a:off x="857250" y="32385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3-seed baseline</a:t>
            </a:r>
          </a:p>
        </p:txBody>
      </p:sp>
      <p:sp>
        <p:nvSpPr>
          <p:cNvPr id="18" name="">
            <a:extLst xmlns:a="http://schemas.openxmlformats.org/drawingml/2006/main">
              <a:ext uri="{FF2B5EF4-FFF2-40B4-BE49-F238E27FC236}">
                <a16:creationId xmlns:a16="http://schemas.microsoft.com/office/drawing/2014/main" id="{B952D3DB-18FD-4145-8C08-EDDE6570B8A4}"/>
              </a:ext>
            </a:extLst>
          </p:cNvPr>
          <p:cNvSpPr>
            <a:spLocks xmlns:a="http://schemas.openxmlformats.org/drawingml/2006/main" noGrp="1"/>
          </p:cNvSpPr>
          <p:nvPr/>
        </p:nvSpPr>
        <p:spPr>
          <a:xfrm xmlns:a="http://schemas.openxmlformats.org/drawingml/2006/main">
            <a:off x="2714625" y="3267075"/>
            <a:ext cx="17145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6E327E-DAEE-49D5-AD58-AC002BE3FDD1}"/>
              </a:ext>
            </a:extLst>
          </p:cNvPr>
          <p:cNvSpPr>
            <a:spLocks xmlns:a="http://schemas.openxmlformats.org/drawingml/2006/main" noGrp="1"/>
          </p:cNvSpPr>
          <p:nvPr/>
        </p:nvSpPr>
        <p:spPr>
          <a:xfrm xmlns:a="http://schemas.openxmlformats.org/drawingml/2006/main">
            <a:off x="2714625" y="3267075"/>
            <a:ext cx="1507388" cy="1714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4CAC5E6-84EC-45A9-9D95-688F77C78911}"/>
              </a:ext>
            </a:extLst>
          </p:cNvPr>
          <p:cNvSpPr>
            <a:spLocks xmlns:a="http://schemas.openxmlformats.org/drawingml/2006/main" noGrp="1"/>
          </p:cNvSpPr>
          <p:nvPr/>
        </p:nvSpPr>
        <p:spPr>
          <a:xfrm xmlns:a="http://schemas.openxmlformats.org/drawingml/2006/main">
            <a:off x="4495800" y="32289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34D399"/>
                </a:solidFill>
              </a:defRPr>
            </a:pPr>
            <a:r>
              <a:rPr sz="975" b="1">
                <a:solidFill>
                  <a:srgbClr val="34D399"/>
                </a:solidFill>
              </a:rPr>
              <a:t>0.8792</a:t>
            </a:r>
          </a:p>
        </p:txBody>
      </p:sp>
      <p:sp>
        <p:nvSpPr>
          <p:cNvPr id="21" name="">
            <a:extLst xmlns:a="http://schemas.openxmlformats.org/drawingml/2006/main">
              <a:ext uri="{FF2B5EF4-FFF2-40B4-BE49-F238E27FC236}">
                <a16:creationId xmlns:a16="http://schemas.microsoft.com/office/drawing/2014/main" id="{68D41D16-11A5-4EAC-AF2B-1F0F9034CD4F}"/>
              </a:ext>
            </a:extLst>
          </p:cNvPr>
          <p:cNvSpPr>
            <a:spLocks xmlns:a="http://schemas.openxmlformats.org/drawingml/2006/main" noGrp="1"/>
          </p:cNvSpPr>
          <p:nvPr/>
        </p:nvSpPr>
        <p:spPr>
          <a:xfrm xmlns:a="http://schemas.openxmlformats.org/drawingml/2006/main">
            <a:off x="857250" y="3667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5EAF0"/>
                </a:solidFill>
              </a:defRPr>
            </a:pPr>
            <a:r>
              <a:rPr sz="1050" b="1">
                <a:solidFill>
                  <a:srgbClr val="E5EAF0"/>
                </a:solidFill>
              </a:rPr>
              <a:t>3-seed + trust</a:t>
            </a:r>
          </a:p>
        </p:txBody>
      </p:sp>
      <p:sp>
        <p:nvSpPr>
          <p:cNvPr id="22" name="">
            <a:extLst xmlns:a="http://schemas.openxmlformats.org/drawingml/2006/main">
              <a:ext uri="{FF2B5EF4-FFF2-40B4-BE49-F238E27FC236}">
                <a16:creationId xmlns:a16="http://schemas.microsoft.com/office/drawing/2014/main" id="{53B970C4-1FFF-49A4-891F-67E354549BD2}"/>
              </a:ext>
            </a:extLst>
          </p:cNvPr>
          <p:cNvSpPr>
            <a:spLocks xmlns:a="http://schemas.openxmlformats.org/drawingml/2006/main" noGrp="1"/>
          </p:cNvSpPr>
          <p:nvPr/>
        </p:nvSpPr>
        <p:spPr>
          <a:xfrm xmlns:a="http://schemas.openxmlformats.org/drawingml/2006/main">
            <a:off x="2714625" y="3695700"/>
            <a:ext cx="1714500" cy="171450"/>
          </a:xfrm>
          <a:prstGeom xmlns:a="http://schemas.openxmlformats.org/drawingml/2006/main" prst="roundRect">
            <a:avLst>
              <a:gd name="adj" fmla="val 44444"/>
            </a:avLst>
          </a:prstGeom>
          <a:solidFill xmlns:a="http://schemas.openxmlformats.org/drawingml/2006/main">
            <a:srgbClr val="17233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3758D3A-6A7F-4B83-96FE-88B123DA9696}"/>
              </a:ext>
            </a:extLst>
          </p:cNvPr>
          <p:cNvSpPr>
            <a:spLocks xmlns:a="http://schemas.openxmlformats.org/drawingml/2006/main" noGrp="1"/>
          </p:cNvSpPr>
          <p:nvPr/>
        </p:nvSpPr>
        <p:spPr>
          <a:xfrm xmlns:a="http://schemas.openxmlformats.org/drawingml/2006/main">
            <a:off x="2714625" y="3695700"/>
            <a:ext cx="1507388" cy="171450"/>
          </a:xfrm>
          <a:prstGeom xmlns:a="http://schemas.openxmlformats.org/drawingml/2006/main" prst="roundRect">
            <a:avLst>
              <a:gd name="adj" fmla="val 44444"/>
            </a:avLst>
          </a:prstGeom>
          <a:solidFill xmlns:a="http://schemas.openxmlformats.org/drawingml/2006/main">
            <a:srgbClr val="22D3E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43BDE63-C378-40E7-8F23-52CA289609CA}"/>
              </a:ext>
            </a:extLst>
          </p:cNvPr>
          <p:cNvSpPr>
            <a:spLocks xmlns:a="http://schemas.openxmlformats.org/drawingml/2006/main" noGrp="1"/>
          </p:cNvSpPr>
          <p:nvPr/>
        </p:nvSpPr>
        <p:spPr>
          <a:xfrm xmlns:a="http://schemas.openxmlformats.org/drawingml/2006/main">
            <a:off x="4495800" y="365760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22D3EE"/>
                </a:solidFill>
              </a:defRPr>
            </a:pPr>
            <a:r>
              <a:rPr sz="975" b="1">
                <a:solidFill>
                  <a:srgbClr val="22D3EE"/>
                </a:solidFill>
              </a:rPr>
              <a:t>0.8792</a:t>
            </a:r>
          </a:p>
        </p:txBody>
      </p:sp>
      <p:sp>
        <p:nvSpPr>
          <p:cNvPr id="25" name="">
            <a:extLst xmlns:a="http://schemas.openxmlformats.org/drawingml/2006/main">
              <a:ext uri="{FF2B5EF4-FFF2-40B4-BE49-F238E27FC236}">
                <a16:creationId xmlns:a16="http://schemas.microsoft.com/office/drawing/2014/main" id="{2DB7624E-1982-4C93-8B41-1C2F51D55891}"/>
              </a:ext>
            </a:extLst>
          </p:cNvPr>
          <p:cNvSpPr>
            <a:spLocks xmlns:a="http://schemas.openxmlformats.org/drawingml/2006/main" noGrp="1"/>
          </p:cNvSpPr>
          <p:nvPr/>
        </p:nvSpPr>
        <p:spPr>
          <a:xfrm xmlns:a="http://schemas.openxmlformats.org/drawingml/2006/main">
            <a:off x="1285875" y="44767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97A3B2"/>
                </a:solidFill>
              </a:defRPr>
            </a:pPr>
            <a:r>
              <a:rPr sz="1275" b="1">
                <a:solidFill>
                  <a:srgbClr val="97A3B2"/>
                </a:solidFill>
              </a:rPr>
              <a:t>No measured CART improvement</a:t>
            </a:r>
          </a:p>
        </p:txBody>
      </p:sp>
      <p:sp>
        <p:nvSpPr>
          <p:cNvPr id="26" name="">
            <a:extLst xmlns:a="http://schemas.openxmlformats.org/drawingml/2006/main">
              <a:ext uri="{FF2B5EF4-FFF2-40B4-BE49-F238E27FC236}">
                <a16:creationId xmlns:a16="http://schemas.microsoft.com/office/drawing/2014/main" id="{5F6C52A8-F82A-4041-A027-57B62DEFD35D}"/>
              </a:ext>
            </a:extLst>
          </p:cNvPr>
          <p:cNvSpPr>
            <a:spLocks xmlns:a="http://schemas.openxmlformats.org/drawingml/2006/main" noGrp="1"/>
          </p:cNvSpPr>
          <p:nvPr/>
        </p:nvSpPr>
        <p:spPr>
          <a:xfrm xmlns:a="http://schemas.openxmlformats.org/drawingml/2006/main">
            <a:off x="6477000" y="1809750"/>
            <a:ext cx="5048250" cy="3143250"/>
          </a:xfrm>
          <a:prstGeom xmlns:a="http://schemas.openxmlformats.org/drawingml/2006/main" prst="roundRect">
            <a:avLst>
              <a:gd name="adj" fmla="val 2424"/>
            </a:avLst>
          </a:prstGeom>
          <a:solidFill xmlns:a="http://schemas.openxmlformats.org/drawingml/2006/main">
            <a:srgbClr val="121C27"/>
          </a:solidFill>
          <a:ln xmlns:a="http://schemas.openxmlformats.org/drawingml/2006/main" w="9525">
            <a:solidFill>
              <a:srgbClr val="2C3A49"/>
            </a:solidFill>
            <a:prstDash val="solid"/>
          </a:ln>
        </p:spPr>
      </p:sp>
      <p:sp>
        <p:nvSpPr>
          <p:cNvPr id="27" name="">
            <a:extLst xmlns:a="http://schemas.openxmlformats.org/drawingml/2006/main">
              <a:ext uri="{FF2B5EF4-FFF2-40B4-BE49-F238E27FC236}">
                <a16:creationId xmlns:a16="http://schemas.microsoft.com/office/drawing/2014/main" id="{7831401E-7259-442F-8471-6889AB7A7093}"/>
              </a:ext>
            </a:extLst>
          </p:cNvPr>
          <p:cNvSpPr>
            <a:spLocks xmlns:a="http://schemas.openxmlformats.org/drawingml/2006/main" noGrp="1"/>
          </p:cNvSpPr>
          <p:nvPr/>
        </p:nvSpPr>
        <p:spPr>
          <a:xfrm xmlns:a="http://schemas.openxmlformats.org/drawingml/2006/main">
            <a:off x="6715125" y="20955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0A5FA"/>
                </a:solidFill>
              </a:defRPr>
            </a:pPr>
            <a:r>
              <a:rPr sz="1125" b="1">
                <a:solidFill>
                  <a:srgbClr val="60A5FA"/>
                </a:solidFill>
              </a:rPr>
              <a:t>Control</a:t>
            </a:r>
          </a:p>
        </p:txBody>
      </p:sp>
      <p:sp>
        <p:nvSpPr>
          <p:cNvPr id="28" name="">
            <a:extLst xmlns:a="http://schemas.openxmlformats.org/drawingml/2006/main">
              <a:ext uri="{FF2B5EF4-FFF2-40B4-BE49-F238E27FC236}">
                <a16:creationId xmlns:a16="http://schemas.microsoft.com/office/drawing/2014/main" id="{868B47ED-F5B7-4DF3-A27A-F5251E756E21}"/>
              </a:ext>
            </a:extLst>
          </p:cNvPr>
          <p:cNvSpPr>
            <a:spLocks xmlns:a="http://schemas.openxmlformats.org/drawingml/2006/main" noGrp="1"/>
          </p:cNvSpPr>
          <p:nvPr/>
        </p:nvSpPr>
        <p:spPr>
          <a:xfrm xmlns:a="http://schemas.openxmlformats.org/drawingml/2006/main">
            <a:off x="8334375" y="20955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59E0B"/>
                </a:solidFill>
              </a:defRPr>
            </a:pPr>
            <a:r>
              <a:rPr sz="1125" b="1">
                <a:solidFill>
                  <a:srgbClr val="F59E0B"/>
                </a:solidFill>
              </a:rPr>
              <a:t>Attack</a:t>
            </a:r>
          </a:p>
        </p:txBody>
      </p:sp>
      <p:sp>
        <p:nvSpPr>
          <p:cNvPr id="29" name="">
            <a:extLst xmlns:a="http://schemas.openxmlformats.org/drawingml/2006/main">
              <a:ext uri="{FF2B5EF4-FFF2-40B4-BE49-F238E27FC236}">
                <a16:creationId xmlns:a16="http://schemas.microsoft.com/office/drawing/2014/main" id="{F7236251-A45E-4078-8240-F9817F853845}"/>
              </a:ext>
            </a:extLst>
          </p:cNvPr>
          <p:cNvSpPr>
            <a:spLocks xmlns:a="http://schemas.openxmlformats.org/drawingml/2006/main" noGrp="1"/>
          </p:cNvSpPr>
          <p:nvPr/>
        </p:nvSpPr>
        <p:spPr>
          <a:xfrm xmlns:a="http://schemas.openxmlformats.org/drawingml/2006/main">
            <a:off x="9953625" y="20955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B7185"/>
                </a:solidFill>
              </a:defRPr>
            </a:pPr>
            <a:r>
              <a:rPr sz="1125" b="1">
                <a:solidFill>
                  <a:srgbClr val="FB7185"/>
                </a:solidFill>
              </a:rPr>
              <a:t>Defence</a:t>
            </a:r>
          </a:p>
        </p:txBody>
      </p:sp>
      <p:sp>
        <p:nvSpPr>
          <p:cNvPr id="30" name="">
            <a:extLst xmlns:a="http://schemas.openxmlformats.org/drawingml/2006/main">
              <a:ext uri="{FF2B5EF4-FFF2-40B4-BE49-F238E27FC236}">
                <a16:creationId xmlns:a16="http://schemas.microsoft.com/office/drawing/2014/main" id="{8C92FA2C-2217-4B8E-A75A-4CF43853659E}"/>
              </a:ext>
            </a:extLst>
          </p:cNvPr>
          <p:cNvSpPr>
            <a:spLocks xmlns:a="http://schemas.openxmlformats.org/drawingml/2006/main" noGrp="1"/>
          </p:cNvSpPr>
          <p:nvPr/>
        </p:nvSpPr>
        <p:spPr>
          <a:xfrm xmlns:a="http://schemas.openxmlformats.org/drawingml/2006/main">
            <a:off x="6715125" y="2619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App responses</a:t>
            </a:r>
          </a:p>
        </p:txBody>
      </p:sp>
      <p:sp>
        <p:nvSpPr>
          <p:cNvPr id="31" name="">
            <a:extLst xmlns:a="http://schemas.openxmlformats.org/drawingml/2006/main">
              <a:ext uri="{FF2B5EF4-FFF2-40B4-BE49-F238E27FC236}">
                <a16:creationId xmlns:a16="http://schemas.microsoft.com/office/drawing/2014/main" id="{6DEAFF4D-DFC6-47AA-BDF2-9B5D44D46A76}"/>
              </a:ext>
            </a:extLst>
          </p:cNvPr>
          <p:cNvSpPr>
            <a:spLocks xmlns:a="http://schemas.openxmlformats.org/drawingml/2006/main" noGrp="1"/>
          </p:cNvSpPr>
          <p:nvPr/>
        </p:nvSpPr>
        <p:spPr>
          <a:xfrm xmlns:a="http://schemas.openxmlformats.org/drawingml/2006/main">
            <a:off x="6715125" y="2952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0A5FA"/>
                </a:solidFill>
              </a:defRPr>
            </a:pPr>
            <a:r>
              <a:rPr sz="1500" b="1">
                <a:solidFill>
                  <a:srgbClr val="60A5FA"/>
                </a:solidFill>
              </a:rPr>
              <a:t>417.4</a:t>
            </a:r>
          </a:p>
        </p:txBody>
      </p:sp>
      <p:sp>
        <p:nvSpPr>
          <p:cNvPr id="32" name="">
            <a:extLst xmlns:a="http://schemas.openxmlformats.org/drawingml/2006/main">
              <a:ext uri="{FF2B5EF4-FFF2-40B4-BE49-F238E27FC236}">
                <a16:creationId xmlns:a16="http://schemas.microsoft.com/office/drawing/2014/main" id="{28853E82-A088-4E19-A430-B829B4CE6AA9}"/>
              </a:ext>
            </a:extLst>
          </p:cNvPr>
          <p:cNvSpPr>
            <a:spLocks xmlns:a="http://schemas.openxmlformats.org/drawingml/2006/main" noGrp="1"/>
          </p:cNvSpPr>
          <p:nvPr/>
        </p:nvSpPr>
        <p:spPr>
          <a:xfrm xmlns:a="http://schemas.openxmlformats.org/drawingml/2006/main">
            <a:off x="8334375" y="2952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59E0B"/>
                </a:solidFill>
              </a:defRPr>
            </a:pPr>
            <a:r>
              <a:rPr sz="1500" b="1">
                <a:solidFill>
                  <a:srgbClr val="F59E0B"/>
                </a:solidFill>
              </a:rPr>
              <a:t>416.6</a:t>
            </a:r>
          </a:p>
        </p:txBody>
      </p:sp>
      <p:sp>
        <p:nvSpPr>
          <p:cNvPr id="33" name="">
            <a:extLst xmlns:a="http://schemas.openxmlformats.org/drawingml/2006/main">
              <a:ext uri="{FF2B5EF4-FFF2-40B4-BE49-F238E27FC236}">
                <a16:creationId xmlns:a16="http://schemas.microsoft.com/office/drawing/2014/main" id="{54320A8C-AE2A-4D92-B7B8-347FE19C4702}"/>
              </a:ext>
            </a:extLst>
          </p:cNvPr>
          <p:cNvSpPr>
            <a:spLocks xmlns:a="http://schemas.openxmlformats.org/drawingml/2006/main" noGrp="1"/>
          </p:cNvSpPr>
          <p:nvPr/>
        </p:nvSpPr>
        <p:spPr>
          <a:xfrm xmlns:a="http://schemas.openxmlformats.org/drawingml/2006/main">
            <a:off x="9953625" y="2952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B7185"/>
                </a:solidFill>
              </a:defRPr>
            </a:pPr>
            <a:r>
              <a:rPr sz="1500" b="1">
                <a:solidFill>
                  <a:srgbClr val="FB7185"/>
                </a:solidFill>
              </a:rPr>
              <a:t>87.4</a:t>
            </a:r>
          </a:p>
        </p:txBody>
      </p:sp>
      <p:sp>
        <p:nvSpPr>
          <p:cNvPr id="34" name="">
            <a:extLst xmlns:a="http://schemas.openxmlformats.org/drawingml/2006/main">
              <a:ext uri="{FF2B5EF4-FFF2-40B4-BE49-F238E27FC236}">
                <a16:creationId xmlns:a16="http://schemas.microsoft.com/office/drawing/2014/main" id="{41E8C62F-0247-4D8B-9926-5D955395D6AA}"/>
              </a:ext>
            </a:extLst>
          </p:cNvPr>
          <p:cNvSpPr>
            <a:spLocks xmlns:a="http://schemas.openxmlformats.org/drawingml/2006/main" noGrp="1"/>
          </p:cNvSpPr>
          <p:nvPr/>
        </p:nvSpPr>
        <p:spPr>
          <a:xfrm xmlns:a="http://schemas.openxmlformats.org/drawingml/2006/main">
            <a:off x="6715125" y="3476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Radio TX</a:t>
            </a:r>
          </a:p>
        </p:txBody>
      </p:sp>
      <p:sp>
        <p:nvSpPr>
          <p:cNvPr id="35" name="">
            <a:extLst xmlns:a="http://schemas.openxmlformats.org/drawingml/2006/main">
              <a:ext uri="{FF2B5EF4-FFF2-40B4-BE49-F238E27FC236}">
                <a16:creationId xmlns:a16="http://schemas.microsoft.com/office/drawing/2014/main" id="{E013BB9D-EF5E-45BF-B795-16525BFC24B9}"/>
              </a:ext>
            </a:extLst>
          </p:cNvPr>
          <p:cNvSpPr>
            <a:spLocks xmlns:a="http://schemas.openxmlformats.org/drawingml/2006/main" noGrp="1"/>
          </p:cNvSpPr>
          <p:nvPr/>
        </p:nvSpPr>
        <p:spPr>
          <a:xfrm xmlns:a="http://schemas.openxmlformats.org/drawingml/2006/main">
            <a:off x="6715125" y="3810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0A5FA"/>
                </a:solidFill>
              </a:defRPr>
            </a:pPr>
            <a:r>
              <a:rPr sz="1500" b="1">
                <a:solidFill>
                  <a:srgbClr val="60A5FA"/>
                </a:solidFill>
              </a:rPr>
              <a:t>5,217</a:t>
            </a:r>
          </a:p>
        </p:txBody>
      </p:sp>
      <p:sp>
        <p:nvSpPr>
          <p:cNvPr id="36" name="">
            <a:extLst xmlns:a="http://schemas.openxmlformats.org/drawingml/2006/main">
              <a:ext uri="{FF2B5EF4-FFF2-40B4-BE49-F238E27FC236}">
                <a16:creationId xmlns:a16="http://schemas.microsoft.com/office/drawing/2014/main" id="{1B3FF3FC-2B9F-4423-8785-1F2A2F265CD3}"/>
              </a:ext>
            </a:extLst>
          </p:cNvPr>
          <p:cNvSpPr>
            <a:spLocks xmlns:a="http://schemas.openxmlformats.org/drawingml/2006/main" noGrp="1"/>
          </p:cNvSpPr>
          <p:nvPr/>
        </p:nvSpPr>
        <p:spPr>
          <a:xfrm xmlns:a="http://schemas.openxmlformats.org/drawingml/2006/main">
            <a:off x="8334375" y="3810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59E0B"/>
                </a:solidFill>
              </a:defRPr>
            </a:pPr>
            <a:r>
              <a:rPr sz="1500" b="1">
                <a:solidFill>
                  <a:srgbClr val="F59E0B"/>
                </a:solidFill>
              </a:rPr>
              <a:t>5,243</a:t>
            </a:r>
          </a:p>
        </p:txBody>
      </p:sp>
      <p:sp>
        <p:nvSpPr>
          <p:cNvPr id="37" name="">
            <a:extLst xmlns:a="http://schemas.openxmlformats.org/drawingml/2006/main">
              <a:ext uri="{FF2B5EF4-FFF2-40B4-BE49-F238E27FC236}">
                <a16:creationId xmlns:a16="http://schemas.microsoft.com/office/drawing/2014/main" id="{25E53399-7649-49E8-B5F7-7C00BFEA7B52}"/>
              </a:ext>
            </a:extLst>
          </p:cNvPr>
          <p:cNvSpPr>
            <a:spLocks xmlns:a="http://schemas.openxmlformats.org/drawingml/2006/main" noGrp="1"/>
          </p:cNvSpPr>
          <p:nvPr/>
        </p:nvSpPr>
        <p:spPr>
          <a:xfrm xmlns:a="http://schemas.openxmlformats.org/drawingml/2006/main">
            <a:off x="9953625" y="3810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B7185"/>
                </a:solidFill>
              </a:defRPr>
            </a:pPr>
            <a:r>
              <a:rPr sz="1500" b="1">
                <a:solidFill>
                  <a:srgbClr val="FB7185"/>
                </a:solidFill>
              </a:rPr>
              <a:t>35,020</a:t>
            </a:r>
          </a:p>
        </p:txBody>
      </p:sp>
      <p:sp>
        <p:nvSpPr>
          <p:cNvPr id="38" name="">
            <a:extLst xmlns:a="http://schemas.openxmlformats.org/drawingml/2006/main">
              <a:ext uri="{FF2B5EF4-FFF2-40B4-BE49-F238E27FC236}">
                <a16:creationId xmlns:a16="http://schemas.microsoft.com/office/drawing/2014/main" id="{D04FB351-F552-4B7E-A726-FC73FDCD0861}"/>
              </a:ext>
            </a:extLst>
          </p:cNvPr>
          <p:cNvSpPr>
            <a:spLocks xmlns:a="http://schemas.openxmlformats.org/drawingml/2006/main" noGrp="1"/>
          </p:cNvSpPr>
          <p:nvPr/>
        </p:nvSpPr>
        <p:spPr>
          <a:xfrm xmlns:a="http://schemas.openxmlformats.org/drawingml/2006/main">
            <a:off x="7429500" y="4476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B7185"/>
                </a:solidFill>
              </a:defRPr>
            </a:pPr>
            <a:r>
              <a:rPr sz="1275" b="1">
                <a:solidFill>
                  <a:srgbClr val="FB7185"/>
                </a:solidFill>
              </a:rPr>
              <a:t>Defence parent switches: 681.8 mean</a:t>
            </a:r>
          </a:p>
        </p:txBody>
      </p:sp>
    </p:spTree>
    <p:extLst>
      <p:ext uri="{BB962C8B-B14F-4D97-AF65-F5344CB8AC3E}">
        <p14:creationId xmlns:p14="http://schemas.microsoft.com/office/powerpoint/2010/main" val="120416773"/>
      </p:ext>
    </p:extLst>
  </p:cSld>
</p:sld>
</file>

<file path=ppt/slides/slide28.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77F3166-A866-4C6E-A232-454C0CA9E2F6}"/>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66C7EA00-7696-4FE6-81F0-59F7F61B1122}"/>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RL controllers did not beat incremental updating</a:t>
            </a:r>
          </a:p>
        </p:txBody>
      </p:sp>
      <p:sp>
        <p:nvSpPr>
          <p:cNvPr id="3" name="">
            <a:extLst xmlns:a="http://schemas.openxmlformats.org/drawingml/2006/main">
              <a:ext uri="{FF2B5EF4-FFF2-40B4-BE49-F238E27FC236}">
                <a16:creationId xmlns:a16="http://schemas.microsoft.com/office/drawing/2014/main" id="{05B7904D-4AE9-489A-A2A0-3CAE810F6AC0}"/>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AFB9C6-2C50-433A-8998-F42A61997FD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B6E9D4-F01C-4C72-B24C-FCF6DBC7E856}"/>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B201BAA0-4DB9-4140-B8DF-4F803E3E812F}"/>
              </a:ext>
            </a:extLst>
          </p:cNvPr>
          <p:cNvSpPr>
            <a:spLocks xmlns:a="http://schemas.openxmlformats.org/drawingml/2006/main" noGrp="1"/>
          </p:cNvSpPr>
          <p:nvPr/>
        </p:nvSpPr>
        <p:spPr>
          <a:xfrm xmlns:a="http://schemas.openxmlformats.org/drawingml/2006/main">
            <a:off x="762000" y="15240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Algorithm</a:t>
            </a:r>
          </a:p>
        </p:txBody>
      </p:sp>
      <p:sp>
        <p:nvSpPr>
          <p:cNvPr id="7" name="">
            <a:extLst xmlns:a="http://schemas.openxmlformats.org/drawingml/2006/main">
              <a:ext uri="{FF2B5EF4-FFF2-40B4-BE49-F238E27FC236}">
                <a16:creationId xmlns:a16="http://schemas.microsoft.com/office/drawing/2014/main" id="{CE522895-569F-4F23-BACC-7256D4B1D1D4}"/>
              </a:ext>
            </a:extLst>
          </p:cNvPr>
          <p:cNvSpPr>
            <a:spLocks xmlns:a="http://schemas.openxmlformats.org/drawingml/2006/main" noGrp="1"/>
          </p:cNvSpPr>
          <p:nvPr/>
        </p:nvSpPr>
        <p:spPr>
          <a:xfrm xmlns:a="http://schemas.openxmlformats.org/drawingml/2006/main">
            <a:off x="2428875" y="1524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Policy</a:t>
            </a:r>
          </a:p>
        </p:txBody>
      </p:sp>
      <p:sp>
        <p:nvSpPr>
          <p:cNvPr id="8" name="">
            <a:extLst xmlns:a="http://schemas.openxmlformats.org/drawingml/2006/main">
              <a:ext uri="{FF2B5EF4-FFF2-40B4-BE49-F238E27FC236}">
                <a16:creationId xmlns:a16="http://schemas.microsoft.com/office/drawing/2014/main" id="{02430D1C-CC01-4A6D-B244-61E2C183AC1B}"/>
              </a:ext>
            </a:extLst>
          </p:cNvPr>
          <p:cNvSpPr>
            <a:spLocks xmlns:a="http://schemas.openxmlformats.org/drawingml/2006/main" noGrp="1"/>
          </p:cNvSpPr>
          <p:nvPr/>
        </p:nvSpPr>
        <p:spPr>
          <a:xfrm xmlns:a="http://schemas.openxmlformats.org/drawingml/2006/main">
            <a:off x="5810250" y="15240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Recall</a:t>
            </a:r>
          </a:p>
        </p:txBody>
      </p:sp>
      <p:sp>
        <p:nvSpPr>
          <p:cNvPr id="9" name="">
            <a:extLst xmlns:a="http://schemas.openxmlformats.org/drawingml/2006/main">
              <a:ext uri="{FF2B5EF4-FFF2-40B4-BE49-F238E27FC236}">
                <a16:creationId xmlns:a16="http://schemas.microsoft.com/office/drawing/2014/main" id="{1C8A0D43-75F5-4EC8-913A-4EF08331B278}"/>
              </a:ext>
            </a:extLst>
          </p:cNvPr>
          <p:cNvSpPr>
            <a:spLocks xmlns:a="http://schemas.openxmlformats.org/drawingml/2006/main" noGrp="1"/>
          </p:cNvSpPr>
          <p:nvPr/>
        </p:nvSpPr>
        <p:spPr>
          <a:xfrm xmlns:a="http://schemas.openxmlformats.org/drawingml/2006/main">
            <a:off x="7239000" y="15240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2D3EE"/>
                </a:solidFill>
              </a:defRPr>
            </a:pPr>
            <a:r>
              <a:rPr sz="1050" b="1">
                <a:solidFill>
                  <a:srgbClr val="22D3EE"/>
                </a:solidFill>
              </a:rPr>
              <a:t>F1</a:t>
            </a:r>
          </a:p>
        </p:txBody>
      </p:sp>
      <p:sp>
        <p:nvSpPr>
          <p:cNvPr id="10" name="">
            <a:extLst xmlns:a="http://schemas.openxmlformats.org/drawingml/2006/main">
              <a:ext uri="{FF2B5EF4-FFF2-40B4-BE49-F238E27FC236}">
                <a16:creationId xmlns:a16="http://schemas.microsoft.com/office/drawing/2014/main" id="{0079E93E-27CC-4A94-99F0-CD9D98CA3753}"/>
              </a:ext>
            </a:extLst>
          </p:cNvPr>
          <p:cNvSpPr>
            <a:spLocks xmlns:a="http://schemas.openxmlformats.org/drawingml/2006/main" noGrp="1"/>
          </p:cNvSpPr>
          <p:nvPr/>
        </p:nvSpPr>
        <p:spPr>
          <a:xfrm xmlns:a="http://schemas.openxmlformats.org/drawingml/2006/main">
            <a:off x="8667750" y="1524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2D3EE"/>
                </a:solidFill>
              </a:defRPr>
            </a:pPr>
            <a:r>
              <a:rPr sz="1050" b="1">
                <a:solidFill>
                  <a:srgbClr val="22D3EE"/>
                </a:solidFill>
              </a:rPr>
              <a:t>Finding</a:t>
            </a:r>
          </a:p>
        </p:txBody>
      </p:sp>
      <p:sp>
        <p:nvSpPr>
          <p:cNvPr id="11" name="">
            <a:extLst xmlns:a="http://schemas.openxmlformats.org/drawingml/2006/main">
              <a:ext uri="{FF2B5EF4-FFF2-40B4-BE49-F238E27FC236}">
                <a16:creationId xmlns:a16="http://schemas.microsoft.com/office/drawing/2014/main" id="{0375EB55-539C-4E8C-9947-A5CC634391DC}"/>
              </a:ext>
            </a:extLst>
          </p:cNvPr>
          <p:cNvSpPr>
            <a:spLocks xmlns:a="http://schemas.openxmlformats.org/drawingml/2006/main" noGrp="1"/>
          </p:cNvSpPr>
          <p:nvPr/>
        </p:nvSpPr>
        <p:spPr>
          <a:xfrm xmlns:a="http://schemas.openxmlformats.org/drawingml/2006/main">
            <a:off x="619125" y="195262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12" name="">
            <a:extLst xmlns:a="http://schemas.openxmlformats.org/drawingml/2006/main">
              <a:ext uri="{FF2B5EF4-FFF2-40B4-BE49-F238E27FC236}">
                <a16:creationId xmlns:a16="http://schemas.microsoft.com/office/drawing/2014/main" id="{3814200C-AB9F-4779-871A-34A9162E1789}"/>
              </a:ext>
            </a:extLst>
          </p:cNvPr>
          <p:cNvSpPr>
            <a:spLocks xmlns:a="http://schemas.openxmlformats.org/drawingml/2006/main" noGrp="1"/>
          </p:cNvSpPr>
          <p:nvPr/>
        </p:nvSpPr>
        <p:spPr>
          <a:xfrm xmlns:a="http://schemas.openxmlformats.org/drawingml/2006/main">
            <a:off x="762000" y="195262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DQN</a:t>
            </a:r>
          </a:p>
        </p:txBody>
      </p:sp>
      <p:sp>
        <p:nvSpPr>
          <p:cNvPr id="13" name="">
            <a:extLst xmlns:a="http://schemas.openxmlformats.org/drawingml/2006/main">
              <a:ext uri="{FF2B5EF4-FFF2-40B4-BE49-F238E27FC236}">
                <a16:creationId xmlns:a16="http://schemas.microsoft.com/office/drawing/2014/main" id="{672C5D13-2F36-428D-A20D-2EC9D978361A}"/>
              </a:ext>
            </a:extLst>
          </p:cNvPr>
          <p:cNvSpPr>
            <a:spLocks xmlns:a="http://schemas.openxmlformats.org/drawingml/2006/main" noGrp="1"/>
          </p:cNvSpPr>
          <p:nvPr/>
        </p:nvSpPr>
        <p:spPr>
          <a:xfrm xmlns:a="http://schemas.openxmlformats.org/drawingml/2006/main">
            <a:off x="2428875" y="19526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Static source</a:t>
            </a:r>
          </a:p>
        </p:txBody>
      </p:sp>
      <p:sp>
        <p:nvSpPr>
          <p:cNvPr id="14" name="">
            <a:extLst xmlns:a="http://schemas.openxmlformats.org/drawingml/2006/main">
              <a:ext uri="{FF2B5EF4-FFF2-40B4-BE49-F238E27FC236}">
                <a16:creationId xmlns:a16="http://schemas.microsoft.com/office/drawing/2014/main" id="{AC14ACD5-CF02-4954-8414-0EBC1766282E}"/>
              </a:ext>
            </a:extLst>
          </p:cNvPr>
          <p:cNvSpPr>
            <a:spLocks xmlns:a="http://schemas.openxmlformats.org/drawingml/2006/main" noGrp="1"/>
          </p:cNvSpPr>
          <p:nvPr/>
        </p:nvSpPr>
        <p:spPr>
          <a:xfrm xmlns:a="http://schemas.openxmlformats.org/drawingml/2006/main">
            <a:off x="5810250" y="19526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15" name="">
            <a:extLst xmlns:a="http://schemas.openxmlformats.org/drawingml/2006/main">
              <a:ext uri="{FF2B5EF4-FFF2-40B4-BE49-F238E27FC236}">
                <a16:creationId xmlns:a16="http://schemas.microsoft.com/office/drawing/2014/main" id="{B249921A-DB12-466D-B3CE-70F3E8660909}"/>
              </a:ext>
            </a:extLst>
          </p:cNvPr>
          <p:cNvSpPr>
            <a:spLocks xmlns:a="http://schemas.openxmlformats.org/drawingml/2006/main" noGrp="1"/>
          </p:cNvSpPr>
          <p:nvPr/>
        </p:nvSpPr>
        <p:spPr>
          <a:xfrm xmlns:a="http://schemas.openxmlformats.org/drawingml/2006/main">
            <a:off x="7239000" y="19526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A78BFA"/>
                </a:solidFill>
              </a:defRPr>
            </a:pPr>
            <a:r>
              <a:rPr sz="1125" b="0">
                <a:solidFill>
                  <a:srgbClr val="A78BFA"/>
                </a:solidFill>
              </a:rPr>
              <a:t>0.000</a:t>
            </a:r>
          </a:p>
        </p:txBody>
      </p:sp>
      <p:sp>
        <p:nvSpPr>
          <p:cNvPr id="16" name="">
            <a:extLst xmlns:a="http://schemas.openxmlformats.org/drawingml/2006/main">
              <a:ext uri="{FF2B5EF4-FFF2-40B4-BE49-F238E27FC236}">
                <a16:creationId xmlns:a16="http://schemas.microsoft.com/office/drawing/2014/main" id="{43E92FBE-2F20-4982-835D-B972946F71E4}"/>
              </a:ext>
            </a:extLst>
          </p:cNvPr>
          <p:cNvSpPr>
            <a:spLocks xmlns:a="http://schemas.openxmlformats.org/drawingml/2006/main" noGrp="1"/>
          </p:cNvSpPr>
          <p:nvPr/>
        </p:nvSpPr>
        <p:spPr>
          <a:xfrm xmlns:a="http://schemas.openxmlformats.org/drawingml/2006/main">
            <a:off x="8667750" y="195262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all 20 attacks missed</a:t>
            </a:r>
          </a:p>
        </p:txBody>
      </p:sp>
      <p:sp>
        <p:nvSpPr>
          <p:cNvPr id="17" name="">
            <a:extLst xmlns:a="http://schemas.openxmlformats.org/drawingml/2006/main">
              <a:ext uri="{FF2B5EF4-FFF2-40B4-BE49-F238E27FC236}">
                <a16:creationId xmlns:a16="http://schemas.microsoft.com/office/drawing/2014/main" id="{0D25225F-49DC-4736-B37B-E7978C974C41}"/>
              </a:ext>
            </a:extLst>
          </p:cNvPr>
          <p:cNvSpPr>
            <a:spLocks xmlns:a="http://schemas.openxmlformats.org/drawingml/2006/main" noGrp="1"/>
          </p:cNvSpPr>
          <p:nvPr/>
        </p:nvSpPr>
        <p:spPr>
          <a:xfrm xmlns:a="http://schemas.openxmlformats.org/drawingml/2006/main">
            <a:off x="619125" y="265747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18" name="">
            <a:extLst xmlns:a="http://schemas.openxmlformats.org/drawingml/2006/main">
              <a:ext uri="{FF2B5EF4-FFF2-40B4-BE49-F238E27FC236}">
                <a16:creationId xmlns:a16="http://schemas.microsoft.com/office/drawing/2014/main" id="{339350C3-5D44-40D0-AAA0-40E9ECA7C5AC}"/>
              </a:ext>
            </a:extLst>
          </p:cNvPr>
          <p:cNvSpPr>
            <a:spLocks xmlns:a="http://schemas.openxmlformats.org/drawingml/2006/main" noGrp="1"/>
          </p:cNvSpPr>
          <p:nvPr/>
        </p:nvSpPr>
        <p:spPr>
          <a:xfrm xmlns:a="http://schemas.openxmlformats.org/drawingml/2006/main">
            <a:off x="762000" y="265747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DQN</a:t>
            </a:r>
          </a:p>
        </p:txBody>
      </p:sp>
      <p:sp>
        <p:nvSpPr>
          <p:cNvPr id="19" name="">
            <a:extLst xmlns:a="http://schemas.openxmlformats.org/drawingml/2006/main">
              <a:ext uri="{FF2B5EF4-FFF2-40B4-BE49-F238E27FC236}">
                <a16:creationId xmlns:a16="http://schemas.microsoft.com/office/drawing/2014/main" id="{B48606E6-C085-4A3A-B5FA-802DDC475440}"/>
              </a:ext>
            </a:extLst>
          </p:cNvPr>
          <p:cNvSpPr>
            <a:spLocks xmlns:a="http://schemas.openxmlformats.org/drawingml/2006/main" noGrp="1"/>
          </p:cNvSpPr>
          <p:nvPr/>
        </p:nvSpPr>
        <p:spPr>
          <a:xfrm xmlns:a="http://schemas.openxmlformats.org/drawingml/2006/main">
            <a:off x="2428875" y="26574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Always incremental</a:t>
            </a:r>
          </a:p>
        </p:txBody>
      </p:sp>
      <p:sp>
        <p:nvSpPr>
          <p:cNvPr id="20" name="">
            <a:extLst xmlns:a="http://schemas.openxmlformats.org/drawingml/2006/main">
              <a:ext uri="{FF2B5EF4-FFF2-40B4-BE49-F238E27FC236}">
                <a16:creationId xmlns:a16="http://schemas.microsoft.com/office/drawing/2014/main" id="{F2494EFC-5306-4AE9-8A06-C4D6FF2C6059}"/>
              </a:ext>
            </a:extLst>
          </p:cNvPr>
          <p:cNvSpPr>
            <a:spLocks xmlns:a="http://schemas.openxmlformats.org/drawingml/2006/main" noGrp="1"/>
          </p:cNvSpPr>
          <p:nvPr/>
        </p:nvSpPr>
        <p:spPr>
          <a:xfrm xmlns:a="http://schemas.openxmlformats.org/drawingml/2006/main">
            <a:off x="5810250" y="26574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0.500</a:t>
            </a:r>
          </a:p>
        </p:txBody>
      </p:sp>
      <p:sp>
        <p:nvSpPr>
          <p:cNvPr id="21" name="">
            <a:extLst xmlns:a="http://schemas.openxmlformats.org/drawingml/2006/main">
              <a:ext uri="{FF2B5EF4-FFF2-40B4-BE49-F238E27FC236}">
                <a16:creationId xmlns:a16="http://schemas.microsoft.com/office/drawing/2014/main" id="{7829FE7F-346F-413B-AD2B-7B43F9C731ED}"/>
              </a:ext>
            </a:extLst>
          </p:cNvPr>
          <p:cNvSpPr>
            <a:spLocks xmlns:a="http://schemas.openxmlformats.org/drawingml/2006/main" noGrp="1"/>
          </p:cNvSpPr>
          <p:nvPr/>
        </p:nvSpPr>
        <p:spPr>
          <a:xfrm xmlns:a="http://schemas.openxmlformats.org/drawingml/2006/main">
            <a:off x="7239000" y="26574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0.667</a:t>
            </a:r>
          </a:p>
        </p:txBody>
      </p:sp>
      <p:sp>
        <p:nvSpPr>
          <p:cNvPr id="22" name="">
            <a:extLst xmlns:a="http://schemas.openxmlformats.org/drawingml/2006/main">
              <a:ext uri="{FF2B5EF4-FFF2-40B4-BE49-F238E27FC236}">
                <a16:creationId xmlns:a16="http://schemas.microsoft.com/office/drawing/2014/main" id="{43536754-4DA3-4B75-9145-3D980AADCE35}"/>
              </a:ext>
            </a:extLst>
          </p:cNvPr>
          <p:cNvSpPr>
            <a:spLocks xmlns:a="http://schemas.openxmlformats.org/drawingml/2006/main" noGrp="1"/>
          </p:cNvSpPr>
          <p:nvPr/>
        </p:nvSpPr>
        <p:spPr>
          <a:xfrm xmlns:a="http://schemas.openxmlformats.org/drawingml/2006/main">
            <a:off x="8667750" y="265747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best DQN policy</a:t>
            </a:r>
          </a:p>
        </p:txBody>
      </p:sp>
      <p:sp>
        <p:nvSpPr>
          <p:cNvPr id="23" name="">
            <a:extLst xmlns:a="http://schemas.openxmlformats.org/drawingml/2006/main">
              <a:ext uri="{FF2B5EF4-FFF2-40B4-BE49-F238E27FC236}">
                <a16:creationId xmlns:a16="http://schemas.microsoft.com/office/drawing/2014/main" id="{8871CD95-8A2F-4BE7-AC3C-7065483F1FE7}"/>
              </a:ext>
            </a:extLst>
          </p:cNvPr>
          <p:cNvSpPr>
            <a:spLocks xmlns:a="http://schemas.openxmlformats.org/drawingml/2006/main" noGrp="1"/>
          </p:cNvSpPr>
          <p:nvPr/>
        </p:nvSpPr>
        <p:spPr>
          <a:xfrm xmlns:a="http://schemas.openxmlformats.org/drawingml/2006/main">
            <a:off x="619125" y="336232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24" name="">
            <a:extLst xmlns:a="http://schemas.openxmlformats.org/drawingml/2006/main">
              <a:ext uri="{FF2B5EF4-FFF2-40B4-BE49-F238E27FC236}">
                <a16:creationId xmlns:a16="http://schemas.microsoft.com/office/drawing/2014/main" id="{9F8F1BE1-EB02-4899-BEF7-B2F60C138B07}"/>
              </a:ext>
            </a:extLst>
          </p:cNvPr>
          <p:cNvSpPr>
            <a:spLocks xmlns:a="http://schemas.openxmlformats.org/drawingml/2006/main" noGrp="1"/>
          </p:cNvSpPr>
          <p:nvPr/>
        </p:nvSpPr>
        <p:spPr>
          <a:xfrm xmlns:a="http://schemas.openxmlformats.org/drawingml/2006/main">
            <a:off x="762000" y="336232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DQN</a:t>
            </a:r>
          </a:p>
        </p:txBody>
      </p:sp>
      <p:sp>
        <p:nvSpPr>
          <p:cNvPr id="25" name="">
            <a:extLst xmlns:a="http://schemas.openxmlformats.org/drawingml/2006/main">
              <a:ext uri="{FF2B5EF4-FFF2-40B4-BE49-F238E27FC236}">
                <a16:creationId xmlns:a16="http://schemas.microsoft.com/office/drawing/2014/main" id="{728EDF5E-7608-4EF9-9654-729C1CF5AE75}"/>
              </a:ext>
            </a:extLst>
          </p:cNvPr>
          <p:cNvSpPr>
            <a:spLocks xmlns:a="http://schemas.openxmlformats.org/drawingml/2006/main" noGrp="1"/>
          </p:cNvSpPr>
          <p:nvPr/>
        </p:nvSpPr>
        <p:spPr>
          <a:xfrm xmlns:a="http://schemas.openxmlformats.org/drawingml/2006/main">
            <a:off x="2428875" y="33623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RL controller</a:t>
            </a:r>
          </a:p>
        </p:txBody>
      </p:sp>
      <p:sp>
        <p:nvSpPr>
          <p:cNvPr id="26" name="">
            <a:extLst xmlns:a="http://schemas.openxmlformats.org/drawingml/2006/main">
              <a:ext uri="{FF2B5EF4-FFF2-40B4-BE49-F238E27FC236}">
                <a16:creationId xmlns:a16="http://schemas.microsoft.com/office/drawing/2014/main" id="{6910F913-F70A-4C20-A4C0-5D30BCFC4C07}"/>
              </a:ext>
            </a:extLst>
          </p:cNvPr>
          <p:cNvSpPr>
            <a:spLocks xmlns:a="http://schemas.openxmlformats.org/drawingml/2006/main" noGrp="1"/>
          </p:cNvSpPr>
          <p:nvPr/>
        </p:nvSpPr>
        <p:spPr>
          <a:xfrm xmlns:a="http://schemas.openxmlformats.org/drawingml/2006/main">
            <a:off x="5810250" y="33623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0.200</a:t>
            </a:r>
          </a:p>
        </p:txBody>
      </p:sp>
      <p:sp>
        <p:nvSpPr>
          <p:cNvPr id="27" name="">
            <a:extLst xmlns:a="http://schemas.openxmlformats.org/drawingml/2006/main">
              <a:ext uri="{FF2B5EF4-FFF2-40B4-BE49-F238E27FC236}">
                <a16:creationId xmlns:a16="http://schemas.microsoft.com/office/drawing/2014/main" id="{D759354F-180B-4A2F-B1D9-C250889EBB75}"/>
              </a:ext>
            </a:extLst>
          </p:cNvPr>
          <p:cNvSpPr>
            <a:spLocks xmlns:a="http://schemas.openxmlformats.org/drawingml/2006/main" noGrp="1"/>
          </p:cNvSpPr>
          <p:nvPr/>
        </p:nvSpPr>
        <p:spPr>
          <a:xfrm xmlns:a="http://schemas.openxmlformats.org/drawingml/2006/main">
            <a:off x="7239000" y="33623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A78BFA"/>
                </a:solidFill>
              </a:defRPr>
            </a:pPr>
            <a:r>
              <a:rPr sz="1125" b="0">
                <a:solidFill>
                  <a:srgbClr val="A78BFA"/>
                </a:solidFill>
              </a:rPr>
              <a:t>0.333</a:t>
            </a:r>
          </a:p>
        </p:txBody>
      </p:sp>
      <p:sp>
        <p:nvSpPr>
          <p:cNvPr id="28" name="">
            <a:extLst xmlns:a="http://schemas.openxmlformats.org/drawingml/2006/main">
              <a:ext uri="{FF2B5EF4-FFF2-40B4-BE49-F238E27FC236}">
                <a16:creationId xmlns:a16="http://schemas.microsoft.com/office/drawing/2014/main" id="{DF6C6D63-8140-4E91-80AE-945D3316E955}"/>
              </a:ext>
            </a:extLst>
          </p:cNvPr>
          <p:cNvSpPr>
            <a:spLocks xmlns:a="http://schemas.openxmlformats.org/drawingml/2006/main" noGrp="1"/>
          </p:cNvSpPr>
          <p:nvPr/>
        </p:nvSpPr>
        <p:spPr>
          <a:xfrm xmlns:a="http://schemas.openxmlformats.org/drawingml/2006/main">
            <a:off x="8667750" y="336232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under-updates</a:t>
            </a:r>
          </a:p>
        </p:txBody>
      </p:sp>
      <p:sp>
        <p:nvSpPr>
          <p:cNvPr id="29" name="">
            <a:extLst xmlns:a="http://schemas.openxmlformats.org/drawingml/2006/main">
              <a:ext uri="{FF2B5EF4-FFF2-40B4-BE49-F238E27FC236}">
                <a16:creationId xmlns:a16="http://schemas.microsoft.com/office/drawing/2014/main" id="{F69A808E-F906-427E-971F-2FFE46C1A6EF}"/>
              </a:ext>
            </a:extLst>
          </p:cNvPr>
          <p:cNvSpPr>
            <a:spLocks xmlns:a="http://schemas.openxmlformats.org/drawingml/2006/main" noGrp="1"/>
          </p:cNvSpPr>
          <p:nvPr/>
        </p:nvSpPr>
        <p:spPr>
          <a:xfrm xmlns:a="http://schemas.openxmlformats.org/drawingml/2006/main">
            <a:off x="619125" y="406717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30" name="">
            <a:extLst xmlns:a="http://schemas.openxmlformats.org/drawingml/2006/main">
              <a:ext uri="{FF2B5EF4-FFF2-40B4-BE49-F238E27FC236}">
                <a16:creationId xmlns:a16="http://schemas.microsoft.com/office/drawing/2014/main" id="{EC5C3FCE-01CF-4082-B773-0198B94EFDF7}"/>
              </a:ext>
            </a:extLst>
          </p:cNvPr>
          <p:cNvSpPr>
            <a:spLocks xmlns:a="http://schemas.openxmlformats.org/drawingml/2006/main" noGrp="1"/>
          </p:cNvSpPr>
          <p:nvPr/>
        </p:nvSpPr>
        <p:spPr>
          <a:xfrm xmlns:a="http://schemas.openxmlformats.org/drawingml/2006/main">
            <a:off x="762000" y="406717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DDQN</a:t>
            </a:r>
          </a:p>
        </p:txBody>
      </p:sp>
      <p:sp>
        <p:nvSpPr>
          <p:cNvPr id="31" name="">
            <a:extLst xmlns:a="http://schemas.openxmlformats.org/drawingml/2006/main">
              <a:ext uri="{FF2B5EF4-FFF2-40B4-BE49-F238E27FC236}">
                <a16:creationId xmlns:a16="http://schemas.microsoft.com/office/drawing/2014/main" id="{24144FA0-DA8F-4272-871D-6FE96FCAB965}"/>
              </a:ext>
            </a:extLst>
          </p:cNvPr>
          <p:cNvSpPr>
            <a:spLocks xmlns:a="http://schemas.openxmlformats.org/drawingml/2006/main" noGrp="1"/>
          </p:cNvSpPr>
          <p:nvPr/>
        </p:nvSpPr>
        <p:spPr>
          <a:xfrm xmlns:a="http://schemas.openxmlformats.org/drawingml/2006/main">
            <a:off x="2428875" y="40671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Static source</a:t>
            </a:r>
          </a:p>
        </p:txBody>
      </p:sp>
      <p:sp>
        <p:nvSpPr>
          <p:cNvPr id="32" name="">
            <a:extLst xmlns:a="http://schemas.openxmlformats.org/drawingml/2006/main">
              <a:ext uri="{FF2B5EF4-FFF2-40B4-BE49-F238E27FC236}">
                <a16:creationId xmlns:a16="http://schemas.microsoft.com/office/drawing/2014/main" id="{2ECA24E3-D13A-4711-9FAB-F58FBD2B20BF}"/>
              </a:ext>
            </a:extLst>
          </p:cNvPr>
          <p:cNvSpPr>
            <a:spLocks xmlns:a="http://schemas.openxmlformats.org/drawingml/2006/main" noGrp="1"/>
          </p:cNvSpPr>
          <p:nvPr/>
        </p:nvSpPr>
        <p:spPr>
          <a:xfrm xmlns:a="http://schemas.openxmlformats.org/drawingml/2006/main">
            <a:off x="5810250" y="40671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0.000</a:t>
            </a:r>
          </a:p>
        </p:txBody>
      </p:sp>
      <p:sp>
        <p:nvSpPr>
          <p:cNvPr id="33" name="">
            <a:extLst xmlns:a="http://schemas.openxmlformats.org/drawingml/2006/main">
              <a:ext uri="{FF2B5EF4-FFF2-40B4-BE49-F238E27FC236}">
                <a16:creationId xmlns:a16="http://schemas.microsoft.com/office/drawing/2014/main" id="{E29E8774-E049-4B04-BE34-05FDAD77D92C}"/>
              </a:ext>
            </a:extLst>
          </p:cNvPr>
          <p:cNvSpPr>
            <a:spLocks xmlns:a="http://schemas.openxmlformats.org/drawingml/2006/main" noGrp="1"/>
          </p:cNvSpPr>
          <p:nvPr/>
        </p:nvSpPr>
        <p:spPr>
          <a:xfrm xmlns:a="http://schemas.openxmlformats.org/drawingml/2006/main">
            <a:off x="7239000" y="40671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A78BFA"/>
                </a:solidFill>
              </a:defRPr>
            </a:pPr>
            <a:r>
              <a:rPr sz="1125" b="0">
                <a:solidFill>
                  <a:srgbClr val="A78BFA"/>
                </a:solidFill>
              </a:rPr>
              <a:t>0.000</a:t>
            </a:r>
          </a:p>
        </p:txBody>
      </p:sp>
      <p:sp>
        <p:nvSpPr>
          <p:cNvPr id="34" name="">
            <a:extLst xmlns:a="http://schemas.openxmlformats.org/drawingml/2006/main">
              <a:ext uri="{FF2B5EF4-FFF2-40B4-BE49-F238E27FC236}">
                <a16:creationId xmlns:a16="http://schemas.microsoft.com/office/drawing/2014/main" id="{86FE06E1-9914-4904-A739-36989507DE5C}"/>
              </a:ext>
            </a:extLst>
          </p:cNvPr>
          <p:cNvSpPr>
            <a:spLocks xmlns:a="http://schemas.openxmlformats.org/drawingml/2006/main" noGrp="1"/>
          </p:cNvSpPr>
          <p:nvPr/>
        </p:nvSpPr>
        <p:spPr>
          <a:xfrm xmlns:a="http://schemas.openxmlformats.org/drawingml/2006/main">
            <a:off x="8667750" y="406717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all 20 attacks missed</a:t>
            </a:r>
          </a:p>
        </p:txBody>
      </p:sp>
      <p:sp>
        <p:nvSpPr>
          <p:cNvPr id="35" name="">
            <a:extLst xmlns:a="http://schemas.openxmlformats.org/drawingml/2006/main">
              <a:ext uri="{FF2B5EF4-FFF2-40B4-BE49-F238E27FC236}">
                <a16:creationId xmlns:a16="http://schemas.microsoft.com/office/drawing/2014/main" id="{C4B2AB60-42B5-43AE-A1DF-85F2E57AF51A}"/>
              </a:ext>
            </a:extLst>
          </p:cNvPr>
          <p:cNvSpPr>
            <a:spLocks xmlns:a="http://schemas.openxmlformats.org/drawingml/2006/main" noGrp="1"/>
          </p:cNvSpPr>
          <p:nvPr/>
        </p:nvSpPr>
        <p:spPr>
          <a:xfrm xmlns:a="http://schemas.openxmlformats.org/drawingml/2006/main">
            <a:off x="619125" y="477202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36" name="">
            <a:extLst xmlns:a="http://schemas.openxmlformats.org/drawingml/2006/main">
              <a:ext uri="{FF2B5EF4-FFF2-40B4-BE49-F238E27FC236}">
                <a16:creationId xmlns:a16="http://schemas.microsoft.com/office/drawing/2014/main" id="{BD12EF76-0B4B-4935-B173-961CCE268FD7}"/>
              </a:ext>
            </a:extLst>
          </p:cNvPr>
          <p:cNvSpPr>
            <a:spLocks xmlns:a="http://schemas.openxmlformats.org/drawingml/2006/main" noGrp="1"/>
          </p:cNvSpPr>
          <p:nvPr/>
        </p:nvSpPr>
        <p:spPr>
          <a:xfrm xmlns:a="http://schemas.openxmlformats.org/drawingml/2006/main">
            <a:off x="762000" y="477202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DDQN</a:t>
            </a:r>
          </a:p>
        </p:txBody>
      </p:sp>
      <p:sp>
        <p:nvSpPr>
          <p:cNvPr id="37" name="">
            <a:extLst xmlns:a="http://schemas.openxmlformats.org/drawingml/2006/main">
              <a:ext uri="{FF2B5EF4-FFF2-40B4-BE49-F238E27FC236}">
                <a16:creationId xmlns:a16="http://schemas.microsoft.com/office/drawing/2014/main" id="{753E7FF7-F6E9-403D-A31C-73224A67E796}"/>
              </a:ext>
            </a:extLst>
          </p:cNvPr>
          <p:cNvSpPr>
            <a:spLocks xmlns:a="http://schemas.openxmlformats.org/drawingml/2006/main" noGrp="1"/>
          </p:cNvSpPr>
          <p:nvPr/>
        </p:nvSpPr>
        <p:spPr>
          <a:xfrm xmlns:a="http://schemas.openxmlformats.org/drawingml/2006/main">
            <a:off x="2428875" y="47720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Always incremental</a:t>
            </a:r>
          </a:p>
        </p:txBody>
      </p:sp>
      <p:sp>
        <p:nvSpPr>
          <p:cNvPr id="38" name="">
            <a:extLst xmlns:a="http://schemas.openxmlformats.org/drawingml/2006/main">
              <a:ext uri="{FF2B5EF4-FFF2-40B4-BE49-F238E27FC236}">
                <a16:creationId xmlns:a16="http://schemas.microsoft.com/office/drawing/2014/main" id="{0ECB5F4C-3789-4D0D-A6BF-280DB55E8BF2}"/>
              </a:ext>
            </a:extLst>
          </p:cNvPr>
          <p:cNvSpPr>
            <a:spLocks xmlns:a="http://schemas.openxmlformats.org/drawingml/2006/main" noGrp="1"/>
          </p:cNvSpPr>
          <p:nvPr/>
        </p:nvSpPr>
        <p:spPr>
          <a:xfrm xmlns:a="http://schemas.openxmlformats.org/drawingml/2006/main">
            <a:off x="5810250" y="47720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0.500</a:t>
            </a:r>
          </a:p>
        </p:txBody>
      </p:sp>
      <p:sp>
        <p:nvSpPr>
          <p:cNvPr id="39" name="">
            <a:extLst xmlns:a="http://schemas.openxmlformats.org/drawingml/2006/main">
              <a:ext uri="{FF2B5EF4-FFF2-40B4-BE49-F238E27FC236}">
                <a16:creationId xmlns:a16="http://schemas.microsoft.com/office/drawing/2014/main" id="{7A2EC950-BFB5-430B-921D-CDF501EB421D}"/>
              </a:ext>
            </a:extLst>
          </p:cNvPr>
          <p:cNvSpPr>
            <a:spLocks xmlns:a="http://schemas.openxmlformats.org/drawingml/2006/main" noGrp="1"/>
          </p:cNvSpPr>
          <p:nvPr/>
        </p:nvSpPr>
        <p:spPr>
          <a:xfrm xmlns:a="http://schemas.openxmlformats.org/drawingml/2006/main">
            <a:off x="7239000" y="477202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34D399"/>
                </a:solidFill>
              </a:defRPr>
            </a:pPr>
            <a:r>
              <a:rPr sz="1125" b="0">
                <a:solidFill>
                  <a:srgbClr val="34D399"/>
                </a:solidFill>
              </a:rPr>
              <a:t>0.667</a:t>
            </a:r>
          </a:p>
        </p:txBody>
      </p:sp>
      <p:sp>
        <p:nvSpPr>
          <p:cNvPr id="40" name="">
            <a:extLst xmlns:a="http://schemas.openxmlformats.org/drawingml/2006/main">
              <a:ext uri="{FF2B5EF4-FFF2-40B4-BE49-F238E27FC236}">
                <a16:creationId xmlns:a16="http://schemas.microsoft.com/office/drawing/2014/main" id="{8DAA96E2-3F4C-4F19-A5A3-A3CDEADACD39}"/>
              </a:ext>
            </a:extLst>
          </p:cNvPr>
          <p:cNvSpPr>
            <a:spLocks xmlns:a="http://schemas.openxmlformats.org/drawingml/2006/main" noGrp="1"/>
          </p:cNvSpPr>
          <p:nvPr/>
        </p:nvSpPr>
        <p:spPr>
          <a:xfrm xmlns:a="http://schemas.openxmlformats.org/drawingml/2006/main">
            <a:off x="8667750" y="477202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best DDQN policy</a:t>
            </a:r>
          </a:p>
        </p:txBody>
      </p:sp>
      <p:sp>
        <p:nvSpPr>
          <p:cNvPr id="41" name="">
            <a:extLst xmlns:a="http://schemas.openxmlformats.org/drawingml/2006/main">
              <a:ext uri="{FF2B5EF4-FFF2-40B4-BE49-F238E27FC236}">
                <a16:creationId xmlns:a16="http://schemas.microsoft.com/office/drawing/2014/main" id="{27D2666F-BD39-4F71-8074-2184A02F8F26}"/>
              </a:ext>
            </a:extLst>
          </p:cNvPr>
          <p:cNvSpPr>
            <a:spLocks xmlns:a="http://schemas.openxmlformats.org/drawingml/2006/main" noGrp="1"/>
          </p:cNvSpPr>
          <p:nvPr/>
        </p:nvSpPr>
        <p:spPr>
          <a:xfrm xmlns:a="http://schemas.openxmlformats.org/drawingml/2006/main">
            <a:off x="619125" y="5476875"/>
            <a:ext cx="10953750" cy="590550"/>
          </a:xfrm>
          <a:prstGeom xmlns:a="http://schemas.openxmlformats.org/drawingml/2006/main" prst="roundRect">
            <a:avLst>
              <a:gd name="adj" fmla="val 12903"/>
            </a:avLst>
          </a:prstGeom>
          <a:solidFill xmlns:a="http://schemas.openxmlformats.org/drawingml/2006/main">
            <a:srgbClr val="121C27"/>
          </a:solidFill>
          <a:ln xmlns:a="http://schemas.openxmlformats.org/drawingml/2006/main" w="9525">
            <a:solidFill>
              <a:srgbClr val="2C3A49"/>
            </a:solidFill>
            <a:prstDash val="solid"/>
          </a:ln>
        </p:spPr>
      </p:sp>
      <p:sp>
        <p:nvSpPr>
          <p:cNvPr id="42" name="">
            <a:extLst xmlns:a="http://schemas.openxmlformats.org/drawingml/2006/main">
              <a:ext uri="{FF2B5EF4-FFF2-40B4-BE49-F238E27FC236}">
                <a16:creationId xmlns:a16="http://schemas.microsoft.com/office/drawing/2014/main" id="{B199605F-EC57-4D49-91D7-DCA463B2DE8C}"/>
              </a:ext>
            </a:extLst>
          </p:cNvPr>
          <p:cNvSpPr>
            <a:spLocks xmlns:a="http://schemas.openxmlformats.org/drawingml/2006/main" noGrp="1"/>
          </p:cNvSpPr>
          <p:nvPr/>
        </p:nvSpPr>
        <p:spPr>
          <a:xfrm xmlns:a="http://schemas.openxmlformats.org/drawingml/2006/main">
            <a:off x="762000" y="5476875"/>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DDQN</a:t>
            </a:r>
          </a:p>
        </p:txBody>
      </p:sp>
      <p:sp>
        <p:nvSpPr>
          <p:cNvPr id="43" name="">
            <a:extLst xmlns:a="http://schemas.openxmlformats.org/drawingml/2006/main">
              <a:ext uri="{FF2B5EF4-FFF2-40B4-BE49-F238E27FC236}">
                <a16:creationId xmlns:a16="http://schemas.microsoft.com/office/drawing/2014/main" id="{16B7EE18-3804-4446-B8CA-E3E258626C82}"/>
              </a:ext>
            </a:extLst>
          </p:cNvPr>
          <p:cNvSpPr>
            <a:spLocks xmlns:a="http://schemas.openxmlformats.org/drawingml/2006/main" noGrp="1"/>
          </p:cNvSpPr>
          <p:nvPr/>
        </p:nvSpPr>
        <p:spPr>
          <a:xfrm xmlns:a="http://schemas.openxmlformats.org/drawingml/2006/main">
            <a:off x="2428875" y="54768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RL controller</a:t>
            </a:r>
          </a:p>
        </p:txBody>
      </p:sp>
      <p:sp>
        <p:nvSpPr>
          <p:cNvPr id="44" name="">
            <a:extLst xmlns:a="http://schemas.openxmlformats.org/drawingml/2006/main">
              <a:ext uri="{FF2B5EF4-FFF2-40B4-BE49-F238E27FC236}">
                <a16:creationId xmlns:a16="http://schemas.microsoft.com/office/drawing/2014/main" id="{B9665151-44AF-409C-B072-5FB3B64F8494}"/>
              </a:ext>
            </a:extLst>
          </p:cNvPr>
          <p:cNvSpPr>
            <a:spLocks xmlns:a="http://schemas.openxmlformats.org/drawingml/2006/main" noGrp="1"/>
          </p:cNvSpPr>
          <p:nvPr/>
        </p:nvSpPr>
        <p:spPr>
          <a:xfrm xmlns:a="http://schemas.openxmlformats.org/drawingml/2006/main">
            <a:off x="5810250" y="54768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E5EAF0"/>
                </a:solidFill>
              </a:defRPr>
            </a:pPr>
            <a:r>
              <a:rPr sz="1125" b="0">
                <a:solidFill>
                  <a:srgbClr val="E5EAF0"/>
                </a:solidFill>
              </a:rPr>
              <a:t>0.400</a:t>
            </a:r>
          </a:p>
        </p:txBody>
      </p:sp>
      <p:sp>
        <p:nvSpPr>
          <p:cNvPr id="45" name="">
            <a:extLst xmlns:a="http://schemas.openxmlformats.org/drawingml/2006/main">
              <a:ext uri="{FF2B5EF4-FFF2-40B4-BE49-F238E27FC236}">
                <a16:creationId xmlns:a16="http://schemas.microsoft.com/office/drawing/2014/main" id="{470B35DF-3E4C-451E-8557-7F234BCD36D4}"/>
              </a:ext>
            </a:extLst>
          </p:cNvPr>
          <p:cNvSpPr>
            <a:spLocks xmlns:a="http://schemas.openxmlformats.org/drawingml/2006/main" noGrp="1"/>
          </p:cNvSpPr>
          <p:nvPr/>
        </p:nvSpPr>
        <p:spPr>
          <a:xfrm xmlns:a="http://schemas.openxmlformats.org/drawingml/2006/main">
            <a:off x="7239000" y="5476875"/>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A78BFA"/>
                </a:solidFill>
              </a:defRPr>
            </a:pPr>
            <a:r>
              <a:rPr sz="1125" b="0">
                <a:solidFill>
                  <a:srgbClr val="A78BFA"/>
                </a:solidFill>
              </a:rPr>
              <a:t>0.571</a:t>
            </a:r>
          </a:p>
        </p:txBody>
      </p:sp>
      <p:sp>
        <p:nvSpPr>
          <p:cNvPr id="46" name="">
            <a:extLst xmlns:a="http://schemas.openxmlformats.org/drawingml/2006/main">
              <a:ext uri="{FF2B5EF4-FFF2-40B4-BE49-F238E27FC236}">
                <a16:creationId xmlns:a16="http://schemas.microsoft.com/office/drawing/2014/main" id="{743D2F01-50E0-4D6B-93DF-3CBBA37480D6}"/>
              </a:ext>
            </a:extLst>
          </p:cNvPr>
          <p:cNvSpPr>
            <a:spLocks xmlns:a="http://schemas.openxmlformats.org/drawingml/2006/main" noGrp="1"/>
          </p:cNvSpPr>
          <p:nvPr/>
        </p:nvSpPr>
        <p:spPr>
          <a:xfrm xmlns:a="http://schemas.openxmlformats.org/drawingml/2006/main">
            <a:off x="8667750" y="5476875"/>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5EAF0"/>
                </a:solidFill>
              </a:defRPr>
            </a:pPr>
            <a:r>
              <a:rPr sz="1125" b="1">
                <a:solidFill>
                  <a:srgbClr val="E5EAF0"/>
                </a:solidFill>
              </a:rPr>
              <a:t>better than DQN controller</a:t>
            </a:r>
          </a:p>
        </p:txBody>
      </p:sp>
      <p:sp>
        <p:nvSpPr>
          <p:cNvPr id="47" name="">
            <a:extLst xmlns:a="http://schemas.openxmlformats.org/drawingml/2006/main">
              <a:ext uri="{FF2B5EF4-FFF2-40B4-BE49-F238E27FC236}">
                <a16:creationId xmlns:a16="http://schemas.microsoft.com/office/drawing/2014/main" id="{E70C937C-354E-4CED-A526-E84A9D70FAD8}"/>
              </a:ext>
            </a:extLst>
          </p:cNvPr>
          <p:cNvSpPr>
            <a:spLocks xmlns:a="http://schemas.openxmlformats.org/drawingml/2006/main" noGrp="1"/>
          </p:cNvSpPr>
          <p:nvPr/>
        </p:nvSpPr>
        <p:spPr>
          <a:xfrm xmlns:a="http://schemas.openxmlformats.org/drawingml/2006/main">
            <a:off x="1809750" y="61912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97A3B2"/>
                </a:solidFill>
              </a:defRPr>
            </a:pPr>
            <a:r>
              <a:rPr sz="1125" b="1">
                <a:solidFill>
                  <a:srgbClr val="97A3B2"/>
                </a:solidFill>
              </a:rPr>
              <a:t>Offline profile-selection extension on a 72-window held-out Sybil stream. Not a live Cooja adversarial agent.</a:t>
            </a:r>
          </a:p>
        </p:txBody>
      </p:sp>
    </p:spTree>
    <p:extLst>
      <p:ext uri="{BB962C8B-B14F-4D97-AF65-F5344CB8AC3E}">
        <p14:creationId xmlns:p14="http://schemas.microsoft.com/office/powerpoint/2010/main" val="1987736992"/>
      </p:ext>
    </p:extLst>
  </p:cSld>
</p:sld>
</file>

<file path=ppt/slides/slide29.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0925621-4B8B-4B70-B0A4-D947E3A594DC}"/>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4BE03EA3-3435-4AC4-B5EE-2A2C2048C7C4}"/>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LLM receives bounded evidence and produces a fixed schema</a:t>
            </a:r>
          </a:p>
        </p:txBody>
      </p:sp>
      <p:sp>
        <p:nvSpPr>
          <p:cNvPr id="3" name="">
            <a:extLst xmlns:a="http://schemas.openxmlformats.org/drawingml/2006/main">
              <a:ext uri="{FF2B5EF4-FFF2-40B4-BE49-F238E27FC236}">
                <a16:creationId xmlns:a16="http://schemas.microsoft.com/office/drawing/2014/main" id="{F9B414CB-5E29-4442-B807-12440B6116CE}"/>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0DC537-68F3-414E-B246-1FF02401D66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B8D439-381D-41BA-B9CD-D56C9398960B}"/>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885D29E1-07B9-42F5-8CA5-BA562CFB8882}"/>
              </a:ext>
            </a:extLst>
          </p:cNvPr>
          <p:cNvSpPr>
            <a:spLocks xmlns:a="http://schemas.openxmlformats.org/drawingml/2006/main" noGrp="1"/>
          </p:cNvSpPr>
          <p:nvPr/>
        </p:nvSpPr>
        <p:spPr>
          <a:xfrm xmlns:a="http://schemas.openxmlformats.org/drawingml/2006/main">
            <a:off x="523875" y="1524000"/>
            <a:ext cx="3333750" cy="3714750"/>
          </a:xfrm>
          <a:prstGeom xmlns:a="http://schemas.openxmlformats.org/drawingml/2006/main" prst="roundRect">
            <a:avLst>
              <a:gd name="adj" fmla="val 2286"/>
            </a:avLst>
          </a:prstGeom>
          <a:solidFill xmlns:a="http://schemas.openxmlformats.org/drawingml/2006/main">
            <a:srgbClr val="121C27"/>
          </a:solidFill>
          <a:ln xmlns:a="http://schemas.openxmlformats.org/drawingml/2006/main" w="9525">
            <a:solidFill>
              <a:srgbClr val="2C3A49"/>
            </a:solidFill>
            <a:prstDash val="solid"/>
          </a:ln>
        </p:spPr>
      </p:sp>
      <p:sp>
        <p:nvSpPr>
          <p:cNvPr id="7" name="">
            <a:extLst xmlns:a="http://schemas.openxmlformats.org/drawingml/2006/main">
              <a:ext uri="{FF2B5EF4-FFF2-40B4-BE49-F238E27FC236}">
                <a16:creationId xmlns:a16="http://schemas.microsoft.com/office/drawing/2014/main" id="{F7104DE2-0453-42FD-9FC7-5E6C9B6CAC82}"/>
              </a:ext>
            </a:extLst>
          </p:cNvPr>
          <p:cNvSpPr>
            <a:spLocks xmlns:a="http://schemas.openxmlformats.org/drawingml/2006/main" noGrp="1"/>
          </p:cNvSpPr>
          <p:nvPr/>
        </p:nvSpPr>
        <p:spPr>
          <a:xfrm xmlns:a="http://schemas.openxmlformats.org/drawingml/2006/main">
            <a:off x="523875" y="1524000"/>
            <a:ext cx="47625" cy="371475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B4794C-2A1D-425B-99DC-9D1BAEFCA3E7}"/>
              </a:ext>
            </a:extLst>
          </p:cNvPr>
          <p:cNvSpPr>
            <a:spLocks xmlns:a="http://schemas.openxmlformats.org/drawingml/2006/main" noGrp="1"/>
          </p:cNvSpPr>
          <p:nvPr/>
        </p:nvSpPr>
        <p:spPr>
          <a:xfrm xmlns:a="http://schemas.openxmlformats.org/drawingml/2006/main">
            <a:off x="733425" y="16383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INPUT SCHEMA</a:t>
            </a:r>
          </a:p>
        </p:txBody>
      </p:sp>
      <p:sp>
        <p:nvSpPr>
          <p:cNvPr id="9" name="">
            <a:extLst xmlns:a="http://schemas.openxmlformats.org/drawingml/2006/main">
              <a:ext uri="{FF2B5EF4-FFF2-40B4-BE49-F238E27FC236}">
                <a16:creationId xmlns:a16="http://schemas.microsoft.com/office/drawing/2014/main" id="{FAF7C5EC-4823-4F72-B728-E0E93BC9C568}"/>
              </a:ext>
            </a:extLst>
          </p:cNvPr>
          <p:cNvSpPr>
            <a:spLocks xmlns:a="http://schemas.openxmlformats.org/drawingml/2006/main" noGrp="1"/>
          </p:cNvSpPr>
          <p:nvPr/>
        </p:nvSpPr>
        <p:spPr>
          <a:xfrm xmlns:a="http://schemas.openxmlformats.org/drawingml/2006/main">
            <a:off x="733425" y="1962150"/>
            <a:ext cx="29718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alert_id</a:t>
            </a:r>
          </a:p>
          <a:p xmlns:a="http://schemas.openxmlformats.org/drawingml/2006/main">
            <a:pPr algn="l">
              <a:defRPr sz="1050" b="0">
                <a:solidFill>
                  <a:srgbClr val="97A3B2"/>
                </a:solidFill>
              </a:defRPr>
            </a:pPr>
            <a:r>
              <a:rPr sz="1050" b="0">
                <a:solidFill>
                  <a:srgbClr val="97A3B2"/>
                </a:solidFill>
              </a:rPr>
              <a:t>window boundaries</a:t>
            </a:r>
          </a:p>
          <a:p xmlns:a="http://schemas.openxmlformats.org/drawingml/2006/main">
            <a:pPr algn="l">
              <a:defRPr sz="1050" b="0">
                <a:solidFill>
                  <a:srgbClr val="97A3B2"/>
                </a:solidFill>
              </a:defRPr>
            </a:pPr>
            <a:r>
              <a:rPr sz="1050" b="0">
                <a:solidFill>
                  <a:srgbClr val="97A3B2"/>
                </a:solidFill>
              </a:rPr>
              <a:t>feature deltas</a:t>
            </a:r>
          </a:p>
          <a:p xmlns:a="http://schemas.openxmlformats.org/drawingml/2006/main">
            <a:pPr algn="l">
              <a:defRPr sz="1050" b="0">
                <a:solidFill>
                  <a:srgbClr val="97A3B2"/>
                </a:solidFill>
              </a:defRPr>
            </a:pPr>
            <a:r>
              <a:rPr sz="1050" b="0">
                <a:solidFill>
                  <a:srgbClr val="97A3B2"/>
                </a:solidFill>
              </a:rPr>
              <a:t>IDS outcome</a:t>
            </a:r>
          </a:p>
          <a:p xmlns:a="http://schemas.openxmlformats.org/drawingml/2006/main">
            <a:pPr algn="l">
              <a:defRPr sz="1050" b="0">
                <a:solidFill>
                  <a:srgbClr val="97A3B2"/>
                </a:solidFill>
              </a:defRPr>
            </a:pPr>
            <a:r>
              <a:rPr sz="1050" b="0">
                <a:solidFill>
                  <a:srgbClr val="97A3B2"/>
                </a:solidFill>
              </a:rPr>
              <a:t>drift signal</a:t>
            </a:r>
          </a:p>
          <a:p xmlns:a="http://schemas.openxmlformats.org/drawingml/2006/main">
            <a:pPr algn="l">
              <a:defRPr sz="1050" b="0">
                <a:solidFill>
                  <a:srgbClr val="97A3B2"/>
                </a:solidFill>
              </a:defRPr>
            </a:pPr>
            <a:r>
              <a:rPr sz="1050" b="0">
                <a:solidFill>
                  <a:srgbClr val="97A3B2"/>
                </a:solidFill>
              </a:rPr>
              <a:t>adaptation result</a:t>
            </a:r>
          </a:p>
          <a:p xmlns:a="http://schemas.openxmlformats.org/drawingml/2006/main">
            <a:pPr algn="l">
              <a:defRPr sz="1050" b="0">
                <a:solidFill>
                  <a:srgbClr val="97A3B2"/>
                </a:solidFill>
              </a:defRPr>
            </a:pPr>
            <a:r>
              <a:rPr sz="1050" b="0">
                <a:solidFill>
                  <a:srgbClr val="97A3B2"/>
                </a:solidFill>
              </a:rPr>
              <a:t>trust indicators</a:t>
            </a:r>
          </a:p>
          <a:p xmlns:a="http://schemas.openxmlformats.org/drawingml/2006/main">
            <a:pPr algn="l">
              <a:defRPr sz="1050" b="0">
                <a:solidFill>
                  <a:srgbClr val="97A3B2"/>
                </a:solidFill>
              </a:defRPr>
            </a:pPr>
            <a:r>
              <a:rPr sz="1050" b="0">
                <a:solidFill>
                  <a:srgbClr val="97A3B2"/>
                </a:solidFill>
              </a:rPr>
              <a:t>limitations</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Attack-family label is hidden from the model prompt.</a:t>
            </a:r>
          </a:p>
        </p:txBody>
      </p:sp>
      <p:sp>
        <p:nvSpPr>
          <p:cNvPr id="10" name="">
            <a:extLst xmlns:a="http://schemas.openxmlformats.org/drawingml/2006/main">
              <a:ext uri="{FF2B5EF4-FFF2-40B4-BE49-F238E27FC236}">
                <a16:creationId xmlns:a16="http://schemas.microsoft.com/office/drawing/2014/main" id="{E2143D08-9EA3-4CB2-AA99-441594688BE1}"/>
              </a:ext>
            </a:extLst>
          </p:cNvPr>
          <p:cNvSpPr>
            <a:spLocks xmlns:a="http://schemas.openxmlformats.org/drawingml/2006/main" noGrp="1"/>
          </p:cNvSpPr>
          <p:nvPr/>
        </p:nvSpPr>
        <p:spPr>
          <a:xfrm xmlns:a="http://schemas.openxmlformats.org/drawingml/2006/main">
            <a:off x="4429125" y="1524000"/>
            <a:ext cx="3333750" cy="3714750"/>
          </a:xfrm>
          <a:prstGeom xmlns:a="http://schemas.openxmlformats.org/drawingml/2006/main" prst="roundRect">
            <a:avLst>
              <a:gd name="adj" fmla="val 2286"/>
            </a:avLst>
          </a:prstGeom>
          <a:solidFill xmlns:a="http://schemas.openxmlformats.org/drawingml/2006/main">
            <a:srgbClr val="121C27"/>
          </a:solidFill>
          <a:ln xmlns:a="http://schemas.openxmlformats.org/drawingml/2006/main" w="9525">
            <a:solidFill>
              <a:srgbClr val="2C3A49"/>
            </a:solidFill>
            <a:prstDash val="solid"/>
          </a:ln>
        </p:spPr>
      </p:sp>
      <p:sp>
        <p:nvSpPr>
          <p:cNvPr id="11" name="">
            <a:extLst xmlns:a="http://schemas.openxmlformats.org/drawingml/2006/main">
              <a:ext uri="{FF2B5EF4-FFF2-40B4-BE49-F238E27FC236}">
                <a16:creationId xmlns:a16="http://schemas.microsoft.com/office/drawing/2014/main" id="{B0128E13-15B3-4955-9788-25231BB4CA8E}"/>
              </a:ext>
            </a:extLst>
          </p:cNvPr>
          <p:cNvSpPr>
            <a:spLocks xmlns:a="http://schemas.openxmlformats.org/drawingml/2006/main" noGrp="1"/>
          </p:cNvSpPr>
          <p:nvPr/>
        </p:nvSpPr>
        <p:spPr>
          <a:xfrm xmlns:a="http://schemas.openxmlformats.org/drawingml/2006/main">
            <a:off x="4429125" y="1524000"/>
            <a:ext cx="47625" cy="3714750"/>
          </a:xfrm>
          <a:prstGeom xmlns:a="http://schemas.openxmlformats.org/drawingml/2006/main" prst="rect">
            <a:avLst/>
          </a:prstGeom>
          <a:solidFill xmlns:a="http://schemas.openxmlformats.org/drawingml/2006/main">
            <a:srgbClr val="A78B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90E641-76E5-44DA-9225-FAAF4C6B3E86}"/>
              </a:ext>
            </a:extLst>
          </p:cNvPr>
          <p:cNvSpPr>
            <a:spLocks xmlns:a="http://schemas.openxmlformats.org/drawingml/2006/main" noGrp="1"/>
          </p:cNvSpPr>
          <p:nvPr/>
        </p:nvSpPr>
        <p:spPr>
          <a:xfrm xmlns:a="http://schemas.openxmlformats.org/drawingml/2006/main">
            <a:off x="4638675" y="16383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OUTPUT SCHEMA</a:t>
            </a:r>
          </a:p>
        </p:txBody>
      </p:sp>
      <p:sp>
        <p:nvSpPr>
          <p:cNvPr id="13" name="">
            <a:extLst xmlns:a="http://schemas.openxmlformats.org/drawingml/2006/main">
              <a:ext uri="{FF2B5EF4-FFF2-40B4-BE49-F238E27FC236}">
                <a16:creationId xmlns:a16="http://schemas.microsoft.com/office/drawing/2014/main" id="{06836B63-0194-454D-A915-5B62469A1BC8}"/>
              </a:ext>
            </a:extLst>
          </p:cNvPr>
          <p:cNvSpPr>
            <a:spLocks xmlns:a="http://schemas.openxmlformats.org/drawingml/2006/main" noGrp="1"/>
          </p:cNvSpPr>
          <p:nvPr/>
        </p:nvSpPr>
        <p:spPr>
          <a:xfrm xmlns:a="http://schemas.openxmlformats.org/drawingml/2006/main">
            <a:off x="4638675" y="1962150"/>
            <a:ext cx="29718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summary</a:t>
            </a:r>
          </a:p>
          <a:p xmlns:a="http://schemas.openxmlformats.org/drawingml/2006/main">
            <a:pPr algn="l">
              <a:defRPr sz="1050" b="0">
                <a:solidFill>
                  <a:srgbClr val="97A3B2"/>
                </a:solidFill>
              </a:defRPr>
            </a:pPr>
            <a:r>
              <a:rPr sz="1050" b="0">
                <a:solidFill>
                  <a:srgbClr val="97A3B2"/>
                </a:solidFill>
              </a:rPr>
              <a:t>observed_change</a:t>
            </a:r>
          </a:p>
          <a:p xmlns:a="http://schemas.openxmlformats.org/drawingml/2006/main">
            <a:pPr algn="l">
              <a:defRPr sz="1050" b="0">
                <a:solidFill>
                  <a:srgbClr val="97A3B2"/>
                </a:solidFill>
              </a:defRPr>
            </a:pPr>
            <a:r>
              <a:rPr sz="1050" b="0">
                <a:solidFill>
                  <a:srgbClr val="97A3B2"/>
                </a:solidFill>
              </a:rPr>
              <a:t>likely_mechanism</a:t>
            </a:r>
          </a:p>
          <a:p xmlns:a="http://schemas.openxmlformats.org/drawingml/2006/main">
            <a:pPr algn="l">
              <a:defRPr sz="1050" b="0">
                <a:solidFill>
                  <a:srgbClr val="97A3B2"/>
                </a:solidFill>
              </a:defRPr>
            </a:pPr>
            <a:r>
              <a:rPr sz="1050" b="0">
                <a:solidFill>
                  <a:srgbClr val="97A3B2"/>
                </a:solidFill>
              </a:rPr>
              <a:t>drift_implication</a:t>
            </a:r>
          </a:p>
          <a:p xmlns:a="http://schemas.openxmlformats.org/drawingml/2006/main">
            <a:pPr algn="l">
              <a:defRPr sz="1050" b="0">
                <a:solidFill>
                  <a:srgbClr val="97A3B2"/>
                </a:solidFill>
              </a:defRPr>
            </a:pPr>
            <a:r>
              <a:rPr sz="1050" b="0">
                <a:solidFill>
                  <a:srgbClr val="97A3B2"/>
                </a:solidFill>
              </a:rPr>
              <a:t>confidence</a:t>
            </a:r>
          </a:p>
          <a:p xmlns:a="http://schemas.openxmlformats.org/drawingml/2006/main">
            <a:pPr algn="l">
              <a:defRPr sz="1050" b="0">
                <a:solidFill>
                  <a:srgbClr val="97A3B2"/>
                </a:solidFill>
              </a:defRPr>
            </a:pPr>
            <a:r>
              <a:rPr sz="1050" b="0">
                <a:solidFill>
                  <a:srgbClr val="97A3B2"/>
                </a:solidFill>
              </a:rPr>
              <a:t>limitations</a:t>
            </a:r>
          </a:p>
          <a:p xmlns:a="http://schemas.openxmlformats.org/drawingml/2006/main">
            <a:pPr algn="l">
              <a:defRPr sz="1050" b="0">
                <a:solidFill>
                  <a:srgbClr val="97A3B2"/>
                </a:solidFill>
              </a:defRPr>
            </a:pPr>
            <a:r>
              <a:rPr sz="1050" b="0">
                <a:solidFill>
                  <a:srgbClr val="97A3B2"/>
                </a:solidFill>
              </a:rPr>
              <a:t>recommended_action</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Generated locally by qwen2.5:3b through Ollama.</a:t>
            </a:r>
          </a:p>
        </p:txBody>
      </p:sp>
      <p:sp>
        <p:nvSpPr>
          <p:cNvPr id="14" name="">
            <a:extLst xmlns:a="http://schemas.openxmlformats.org/drawingml/2006/main">
              <a:ext uri="{FF2B5EF4-FFF2-40B4-BE49-F238E27FC236}">
                <a16:creationId xmlns:a16="http://schemas.microsoft.com/office/drawing/2014/main" id="{32E5CD75-BD84-40DA-A2AE-B367953F9820}"/>
              </a:ext>
            </a:extLst>
          </p:cNvPr>
          <p:cNvSpPr>
            <a:spLocks xmlns:a="http://schemas.openxmlformats.org/drawingml/2006/main" noGrp="1"/>
          </p:cNvSpPr>
          <p:nvPr/>
        </p:nvSpPr>
        <p:spPr>
          <a:xfrm xmlns:a="http://schemas.openxmlformats.org/drawingml/2006/main">
            <a:off x="8334375" y="1524000"/>
            <a:ext cx="3333750" cy="3714750"/>
          </a:xfrm>
          <a:prstGeom xmlns:a="http://schemas.openxmlformats.org/drawingml/2006/main" prst="roundRect">
            <a:avLst>
              <a:gd name="adj" fmla="val 2286"/>
            </a:avLst>
          </a:prstGeom>
          <a:solidFill xmlns:a="http://schemas.openxmlformats.org/drawingml/2006/main">
            <a:srgbClr val="121C27"/>
          </a:solidFill>
          <a:ln xmlns:a="http://schemas.openxmlformats.org/drawingml/2006/main" w="9525">
            <a:solidFill>
              <a:srgbClr val="2C3A49"/>
            </a:solidFill>
            <a:prstDash val="solid"/>
          </a:ln>
        </p:spPr>
      </p:sp>
      <p:sp>
        <p:nvSpPr>
          <p:cNvPr id="15" name="">
            <a:extLst xmlns:a="http://schemas.openxmlformats.org/drawingml/2006/main">
              <a:ext uri="{FF2B5EF4-FFF2-40B4-BE49-F238E27FC236}">
                <a16:creationId xmlns:a16="http://schemas.microsoft.com/office/drawing/2014/main" id="{DB60378D-C8D0-4D3C-9B58-7D82C2E03042}"/>
              </a:ext>
            </a:extLst>
          </p:cNvPr>
          <p:cNvSpPr>
            <a:spLocks xmlns:a="http://schemas.openxmlformats.org/drawingml/2006/main" noGrp="1"/>
          </p:cNvSpPr>
          <p:nvPr/>
        </p:nvSpPr>
        <p:spPr>
          <a:xfrm xmlns:a="http://schemas.openxmlformats.org/drawingml/2006/main">
            <a:off x="8334375" y="1524000"/>
            <a:ext cx="47625" cy="37147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36C0DAA-1A78-45AE-BFDB-90CCE8656DB5}"/>
              </a:ext>
            </a:extLst>
          </p:cNvPr>
          <p:cNvSpPr>
            <a:spLocks xmlns:a="http://schemas.openxmlformats.org/drawingml/2006/main" noGrp="1"/>
          </p:cNvSpPr>
          <p:nvPr/>
        </p:nvSpPr>
        <p:spPr>
          <a:xfrm xmlns:a="http://schemas.openxmlformats.org/drawingml/2006/main">
            <a:off x="8543925" y="16383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AUTOMATIC SCREEN</a:t>
            </a:r>
          </a:p>
        </p:txBody>
      </p:sp>
      <p:sp>
        <p:nvSpPr>
          <p:cNvPr id="17" name="">
            <a:extLst xmlns:a="http://schemas.openxmlformats.org/drawingml/2006/main">
              <a:ext uri="{FF2B5EF4-FFF2-40B4-BE49-F238E27FC236}">
                <a16:creationId xmlns:a16="http://schemas.microsoft.com/office/drawing/2014/main" id="{0EB65456-CF74-406D-A511-D0038DEF51C4}"/>
              </a:ext>
            </a:extLst>
          </p:cNvPr>
          <p:cNvSpPr>
            <a:spLocks xmlns:a="http://schemas.openxmlformats.org/drawingml/2006/main" noGrp="1"/>
          </p:cNvSpPr>
          <p:nvPr/>
        </p:nvSpPr>
        <p:spPr>
          <a:xfrm xmlns:a="http://schemas.openxmlformats.org/drawingml/2006/main">
            <a:off x="8543925" y="1962150"/>
            <a:ext cx="29718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7A3B2"/>
                </a:solidFill>
              </a:defRPr>
            </a:pPr>
            <a:r>
              <a:rPr sz="1050" b="0">
                <a:solidFill>
                  <a:srgbClr val="97A3B2"/>
                </a:solidFill>
              </a:rPr>
              <a:t>9 cases</a:t>
            </a:r>
          </a:p>
          <a:p xmlns:a="http://schemas.openxmlformats.org/drawingml/2006/main">
            <a:pPr algn="l">
              <a:defRPr sz="1050" b="0">
                <a:solidFill>
                  <a:srgbClr val="97A3B2"/>
                </a:solidFill>
              </a:defRPr>
            </a:pPr>
            <a:r>
              <a:rPr sz="1050" b="0">
                <a:solidFill>
                  <a:srgbClr val="97A3B2"/>
                </a:solidFill>
              </a:rPr>
              <a:t>mean score 7.7778 / 10</a:t>
            </a:r>
          </a:p>
          <a:p xmlns:a="http://schemas.openxmlformats.org/drawingml/2006/main">
            <a:pPr algn="l">
              <a:defRPr sz="1050" b="0">
                <a:solidFill>
                  <a:srgbClr val="97A3B2"/>
                </a:solidFill>
              </a:defRPr>
            </a:pPr>
            <a:r>
              <a:rPr sz="1050" b="0">
                <a:solidFill>
                  <a:srgbClr val="97A3B2"/>
                </a:solidFill>
              </a:rPr>
              <a:t>schema validity 1.0</a:t>
            </a:r>
          </a:p>
          <a:p xmlns:a="http://schemas.openxmlformats.org/drawingml/2006/main">
            <a:pPr algn="l">
              <a:defRPr sz="1050" b="0">
                <a:solidFill>
                  <a:srgbClr val="97A3B2"/>
                </a:solidFill>
              </a:defRPr>
            </a:pPr>
            <a:r>
              <a:rPr sz="1050" b="0">
                <a:solidFill>
                  <a:srgbClr val="97A3B2"/>
                </a:solidFill>
              </a:rPr>
              <a:t>unsupported-claim rate 0.0</a:t>
            </a:r>
          </a:p>
          <a:p xmlns:a="http://schemas.openxmlformats.org/drawingml/2006/main">
            <a:r>
              <a:t/>
            </a:r>
          </a:p>
          <a:p xmlns:a="http://schemas.openxmlformats.org/drawingml/2006/main">
            <a:pPr algn="l">
              <a:defRPr sz="1050" b="0">
                <a:solidFill>
                  <a:srgbClr val="97A3B2"/>
                </a:solidFill>
              </a:defRPr>
            </a:pPr>
            <a:r>
              <a:rPr sz="1050" b="0">
                <a:solidFill>
                  <a:srgbClr val="97A3B2"/>
                </a:solidFill>
              </a:rPr>
              <a:t>This is rule-based screening, not analyst usefulness or factuality validation.</a:t>
            </a:r>
          </a:p>
        </p:txBody>
      </p:sp>
      <p:sp>
        <p:nvSpPr>
          <p:cNvPr id="18" name="">
            <a:extLst xmlns:a="http://schemas.openxmlformats.org/drawingml/2006/main">
              <a:ext uri="{FF2B5EF4-FFF2-40B4-BE49-F238E27FC236}">
                <a16:creationId xmlns:a16="http://schemas.microsoft.com/office/drawing/2014/main" id="{D9256C30-D463-42FB-ACE3-9B72B4A60DBF}"/>
              </a:ext>
            </a:extLst>
          </p:cNvPr>
          <p:cNvSpPr>
            <a:spLocks xmlns:a="http://schemas.openxmlformats.org/drawingml/2006/main" noGrp="1"/>
          </p:cNvSpPr>
          <p:nvPr/>
        </p:nvSpPr>
        <p:spPr>
          <a:xfrm xmlns:a="http://schemas.openxmlformats.org/drawingml/2006/main">
            <a:off x="2571750" y="58102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B7185"/>
                </a:solidFill>
              </a:defRPr>
            </a:pPr>
            <a:r>
              <a:rPr sz="1200" b="1">
                <a:solidFill>
                  <a:srgbClr val="FB7185"/>
                </a:solidFill>
              </a:rPr>
              <a:t>Known issue: schema validity does not prevent imprecise protocol terminology.</a:t>
            </a:r>
          </a:p>
        </p:txBody>
      </p:sp>
    </p:spTree>
    <p:extLst>
      <p:ext uri="{BB962C8B-B14F-4D97-AF65-F5344CB8AC3E}">
        <p14:creationId xmlns:p14="http://schemas.microsoft.com/office/powerpoint/2010/main" val="984504983"/>
      </p:ext>
    </p:extLst>
  </p:cSld>
</p:sld>
</file>

<file path=ppt/slides/slide30.xml><?xml version="1.0" encoding="utf-8"?>
<p:sld xmlns:p="http://schemas.openxmlformats.org/presentationml/2006/main">
  <p:cSld>
    <p:bg>
      <p:bgPr>
        <a:solidFill xmlns:a="http://schemas.openxmlformats.org/drawingml/2006/main">
          <a:srgbClr val="0A0E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B8FC036-80A4-414C-B6FD-734F4D91872A}"/>
              </a:ext>
            </a:extLst>
          </p:cNvPr>
          <p:cNvSpPr>
            <a:spLocks xmlns:a="http://schemas.openxmlformats.org/drawingml/2006/main" noGrp="1"/>
          </p:cNvSpPr>
          <p:nvPr/>
        </p:nvSpPr>
        <p:spPr>
          <a:xfrm xmlns:a="http://schemas.openxmlformats.org/drawingml/2006/main">
            <a:off x="533400" y="238125"/>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2D3EE"/>
                </a:solidFill>
              </a:defRPr>
            </a:pPr>
            <a:r>
              <a:rPr sz="900" b="1">
                <a:solidFill>
                  <a:srgbClr val="22D3EE"/>
                </a:solidFill>
              </a:rPr>
              <a:t> SUPPORTING ANALYSIS</a:t>
            </a:r>
          </a:p>
        </p:txBody>
      </p:sp>
      <p:sp>
        <p:nvSpPr>
          <p:cNvPr id="2" name="">
            <a:extLst xmlns:a="http://schemas.openxmlformats.org/drawingml/2006/main">
              <a:ext uri="{FF2B5EF4-FFF2-40B4-BE49-F238E27FC236}">
                <a16:creationId xmlns:a16="http://schemas.microsoft.com/office/drawing/2014/main" id="{2E72BC06-D835-48EF-9516-01796E14E316}"/>
              </a:ext>
            </a:extLst>
          </p:cNvPr>
          <p:cNvSpPr>
            <a:spLocks xmlns:a="http://schemas.openxmlformats.org/drawingml/2006/main" noGrp="1"/>
          </p:cNvSpPr>
          <p:nvPr/>
        </p:nvSpPr>
        <p:spPr>
          <a:xfrm xmlns:a="http://schemas.openxmlformats.org/drawingml/2006/main">
            <a:off x="533400" y="4762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7FAFC"/>
                </a:solidFill>
              </a:defRPr>
            </a:pPr>
            <a:r>
              <a:rPr sz="2550" b="1">
                <a:solidFill>
                  <a:srgbClr val="F7FAFC"/>
                </a:solidFill>
              </a:rPr>
              <a:t> The evidence is strong within a controlled simulation boundary</a:t>
            </a:r>
          </a:p>
        </p:txBody>
      </p:sp>
      <p:sp>
        <p:nvSpPr>
          <p:cNvPr id="3" name="">
            <a:extLst xmlns:a="http://schemas.openxmlformats.org/drawingml/2006/main">
              <a:ext uri="{FF2B5EF4-FFF2-40B4-BE49-F238E27FC236}">
                <a16:creationId xmlns:a16="http://schemas.microsoft.com/office/drawing/2014/main" id="{F79D2C65-A692-4561-925D-AA409B71E652}"/>
              </a:ext>
            </a:extLst>
          </p:cNvPr>
          <p:cNvSpPr>
            <a:spLocks xmlns:a="http://schemas.openxmlformats.org/drawingml/2006/main" noGrp="1"/>
          </p:cNvSpPr>
          <p:nvPr/>
        </p:nvSpPr>
        <p:spPr>
          <a:xfrm xmlns:a="http://schemas.openxmlformats.org/drawingml/2006/main">
            <a:off x="533400" y="1104900"/>
            <a:ext cx="11125200" cy="9525"/>
          </a:xfrm>
          <a:prstGeom xmlns:a="http://schemas.openxmlformats.org/drawingml/2006/main" prst="rect">
            <a:avLst/>
          </a:prstGeom>
          <a:solidFill xmlns:a="http://schemas.openxmlformats.org/drawingml/2006/main">
            <a:srgbClr val="2C3A4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5C54A3-74C6-472F-9AB8-A6E7A2B5E7DE}"/>
              </a:ext>
            </a:extLst>
          </p:cNvPr>
          <p:cNvSpPr>
            <a:spLocks xmlns:a="http://schemas.openxmlformats.org/drawingml/2006/main" noGrp="1"/>
          </p:cNvSpPr>
          <p:nvPr/>
        </p:nvSpPr>
        <p:spPr>
          <a:xfrm xmlns:a="http://schemas.openxmlformats.org/drawingml/2006/main">
            <a:off x="533400" y="1095375"/>
            <a:ext cx="742950"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9A3F35-3A44-46AF-BE6E-4ECF3CE44918}"/>
              </a:ext>
            </a:extLst>
          </p:cNvPr>
          <p:cNvSpPr>
            <a:spLocks xmlns:a="http://schemas.openxmlformats.org/drawingml/2006/main" noGrp="1"/>
          </p:cNvSpPr>
          <p:nvPr/>
        </p:nvSpPr>
        <p:spPr>
          <a:xfrm xmlns:a="http://schemas.openxmlformats.org/drawingml/2006/main">
            <a:off x="533400" y="64960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97A3B2"/>
                </a:solidFill>
              </a:defRPr>
            </a:pPr>
            <a:r>
              <a:rPr sz="750" b="0">
                <a:solidFill>
                  <a:srgbClr val="97A3B2"/>
                </a:solidFill>
              </a:rPr>
              <a:t>Supplementary results</a:t>
            </a:r>
          </a:p>
        </p:txBody>
      </p:sp>
      <p:sp>
        <p:nvSpPr>
          <p:cNvPr id="6" name="">
            <a:extLst xmlns:a="http://schemas.openxmlformats.org/drawingml/2006/main">
              <a:ext uri="{FF2B5EF4-FFF2-40B4-BE49-F238E27FC236}">
                <a16:creationId xmlns:a16="http://schemas.microsoft.com/office/drawing/2014/main" id="{122E9EA3-620D-4FF1-9C1C-A302EE830DA9}"/>
              </a:ext>
            </a:extLst>
          </p:cNvPr>
          <p:cNvSpPr>
            <a:spLocks xmlns:a="http://schemas.openxmlformats.org/drawingml/2006/main" noGrp="1"/>
          </p:cNvSpPr>
          <p:nvPr/>
        </p:nvSpPr>
        <p:spPr>
          <a:xfrm xmlns:a="http://schemas.openxmlformats.org/drawingml/2006/main">
            <a:off x="666750" y="1571625"/>
            <a:ext cx="419100" cy="419100"/>
          </a:xfrm>
          <a:prstGeom xmlns:a="http://schemas.openxmlformats.org/drawingml/2006/main" prst="ellipse">
            <a:avLst/>
          </a:prstGeom>
          <a:solidFill xmlns:a="http://schemas.openxmlformats.org/drawingml/2006/main">
            <a:srgbClr val="FB7185">
              <a:alpha val="13333"/>
            </a:srgbClr>
          </a:solidFill>
          <a:ln xmlns:a="http://schemas.openxmlformats.org/drawingml/2006/main" w="9525">
            <a:solidFill>
              <a:srgbClr val="FB7185"/>
            </a:solidFill>
            <a:prstDash val="solid"/>
          </a:ln>
        </p:spPr>
      </p:sp>
      <p:sp>
        <p:nvSpPr>
          <p:cNvPr id="7" name="">
            <a:extLst xmlns:a="http://schemas.openxmlformats.org/drawingml/2006/main">
              <a:ext uri="{FF2B5EF4-FFF2-40B4-BE49-F238E27FC236}">
                <a16:creationId xmlns:a16="http://schemas.microsoft.com/office/drawing/2014/main" id="{84A464C7-9700-43E0-86AD-70AE32F4B931}"/>
              </a:ext>
            </a:extLst>
          </p:cNvPr>
          <p:cNvSpPr>
            <a:spLocks xmlns:a="http://schemas.openxmlformats.org/drawingml/2006/main" noGrp="1"/>
          </p:cNvSpPr>
          <p:nvPr/>
        </p:nvSpPr>
        <p:spPr>
          <a:xfrm xmlns:a="http://schemas.openxmlformats.org/drawingml/2006/main">
            <a:off x="666750" y="1571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B7185"/>
                </a:solidFill>
              </a:defRPr>
            </a:pPr>
            <a:r>
              <a:rPr sz="1350" b="1">
                <a:solidFill>
                  <a:srgbClr val="FB7185"/>
                </a:solidFill>
              </a:rPr>
              <a:t>!</a:t>
            </a:r>
          </a:p>
        </p:txBody>
      </p:sp>
      <p:sp>
        <p:nvSpPr>
          <p:cNvPr id="8" name="">
            <a:extLst xmlns:a="http://schemas.openxmlformats.org/drawingml/2006/main">
              <a:ext uri="{FF2B5EF4-FFF2-40B4-BE49-F238E27FC236}">
                <a16:creationId xmlns:a16="http://schemas.microsoft.com/office/drawing/2014/main" id="{64A6299D-ECA9-464A-B64C-FB2323F1840C}"/>
              </a:ext>
            </a:extLst>
          </p:cNvPr>
          <p:cNvSpPr>
            <a:spLocks xmlns:a="http://schemas.openxmlformats.org/drawingml/2006/main" noGrp="1"/>
          </p:cNvSpPr>
          <p:nvPr/>
        </p:nvSpPr>
        <p:spPr>
          <a:xfrm xmlns:a="http://schemas.openxmlformats.org/drawingml/2006/main">
            <a:off x="1333500" y="1476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Simulation only</a:t>
            </a:r>
          </a:p>
        </p:txBody>
      </p:sp>
      <p:sp>
        <p:nvSpPr>
          <p:cNvPr id="9" name="">
            <a:extLst xmlns:a="http://schemas.openxmlformats.org/drawingml/2006/main">
              <a:ext uri="{FF2B5EF4-FFF2-40B4-BE49-F238E27FC236}">
                <a16:creationId xmlns:a16="http://schemas.microsoft.com/office/drawing/2014/main" id="{7B760D73-8F11-4EAC-B507-A0E6D480F9B5}"/>
              </a:ext>
            </a:extLst>
          </p:cNvPr>
          <p:cNvSpPr>
            <a:spLocks xmlns:a="http://schemas.openxmlformats.org/drawingml/2006/main" noGrp="1"/>
          </p:cNvSpPr>
          <p:nvPr/>
        </p:nvSpPr>
        <p:spPr>
          <a:xfrm xmlns:a="http://schemas.openxmlformats.org/drawingml/2006/main">
            <a:off x="3810000" y="1476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No physical motes, calibrated energy use, ROM/RAM analysis or network-lifetime claim.</a:t>
            </a:r>
          </a:p>
        </p:txBody>
      </p:sp>
      <p:sp>
        <p:nvSpPr>
          <p:cNvPr id="10" name="">
            <a:extLst xmlns:a="http://schemas.openxmlformats.org/drawingml/2006/main">
              <a:ext uri="{FF2B5EF4-FFF2-40B4-BE49-F238E27FC236}">
                <a16:creationId xmlns:a16="http://schemas.microsoft.com/office/drawing/2014/main" id="{B3CCC3FB-141C-4B12-B7EC-24E67263DCDF}"/>
              </a:ext>
            </a:extLst>
          </p:cNvPr>
          <p:cNvSpPr>
            <a:spLocks xmlns:a="http://schemas.openxmlformats.org/drawingml/2006/main" noGrp="1"/>
          </p:cNvSpPr>
          <p:nvPr/>
        </p:nvSpPr>
        <p:spPr>
          <a:xfrm xmlns:a="http://schemas.openxmlformats.org/drawingml/2006/main">
            <a:off x="666750" y="2333625"/>
            <a:ext cx="419100" cy="419100"/>
          </a:xfrm>
          <a:prstGeom xmlns:a="http://schemas.openxmlformats.org/drawingml/2006/main" prst="ellipse">
            <a:avLst/>
          </a:prstGeom>
          <a:solidFill xmlns:a="http://schemas.openxmlformats.org/drawingml/2006/main">
            <a:srgbClr val="F59E0B">
              <a:alpha val="13333"/>
            </a:srgbClr>
          </a:solidFill>
          <a:ln xmlns:a="http://schemas.openxmlformats.org/drawingml/2006/main" w="9525">
            <a:solidFill>
              <a:srgbClr val="F59E0B"/>
            </a:solidFill>
            <a:prstDash val="solid"/>
          </a:ln>
        </p:spPr>
      </p:sp>
      <p:sp>
        <p:nvSpPr>
          <p:cNvPr id="11" name="">
            <a:extLst xmlns:a="http://schemas.openxmlformats.org/drawingml/2006/main">
              <a:ext uri="{FF2B5EF4-FFF2-40B4-BE49-F238E27FC236}">
                <a16:creationId xmlns:a16="http://schemas.microsoft.com/office/drawing/2014/main" id="{9C929FD7-BC83-48F0-906E-133ACCBEFC90}"/>
              </a:ext>
            </a:extLst>
          </p:cNvPr>
          <p:cNvSpPr>
            <a:spLocks xmlns:a="http://schemas.openxmlformats.org/drawingml/2006/main" noGrp="1"/>
          </p:cNvSpPr>
          <p:nvPr/>
        </p:nvSpPr>
        <p:spPr>
          <a:xfrm xmlns:a="http://schemas.openxmlformats.org/drawingml/2006/main">
            <a:off x="666750" y="2333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59E0B"/>
                </a:solidFill>
              </a:defRPr>
            </a:pPr>
            <a:r>
              <a:rPr sz="1350" b="1">
                <a:solidFill>
                  <a:srgbClr val="F59E0B"/>
                </a:solidFill>
              </a:rPr>
              <a:t>!</a:t>
            </a:r>
          </a:p>
        </p:txBody>
      </p:sp>
      <p:sp>
        <p:nvSpPr>
          <p:cNvPr id="12" name="">
            <a:extLst xmlns:a="http://schemas.openxmlformats.org/drawingml/2006/main">
              <a:ext uri="{FF2B5EF4-FFF2-40B4-BE49-F238E27FC236}">
                <a16:creationId xmlns:a16="http://schemas.microsoft.com/office/drawing/2014/main" id="{E1DF3308-1F01-4A99-BBBC-B37C272C8581}"/>
              </a:ext>
            </a:extLst>
          </p:cNvPr>
          <p:cNvSpPr>
            <a:spLocks xmlns:a="http://schemas.openxmlformats.org/drawingml/2006/main" noGrp="1"/>
          </p:cNvSpPr>
          <p:nvPr/>
        </p:nvSpPr>
        <p:spPr>
          <a:xfrm xmlns:a="http://schemas.openxmlformats.org/drawingml/2006/main">
            <a:off x="1333500" y="2238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Scale and diversity</a:t>
            </a:r>
          </a:p>
        </p:txBody>
      </p:sp>
      <p:sp>
        <p:nvSpPr>
          <p:cNvPr id="13" name="">
            <a:extLst xmlns:a="http://schemas.openxmlformats.org/drawingml/2006/main">
              <a:ext uri="{FF2B5EF4-FFF2-40B4-BE49-F238E27FC236}">
                <a16:creationId xmlns:a16="http://schemas.microsoft.com/office/drawing/2014/main" id="{0DACD91C-182E-4826-8B1D-6F7D2E1D1B82}"/>
              </a:ext>
            </a:extLst>
          </p:cNvPr>
          <p:cNvSpPr>
            <a:spLocks xmlns:a="http://schemas.openxmlformats.org/drawingml/2006/main" noGrp="1"/>
          </p:cNvSpPr>
          <p:nvPr/>
        </p:nvSpPr>
        <p:spPr>
          <a:xfrm xmlns:a="http://schemas.openxmlformats.org/drawingml/2006/main">
            <a:off x="3810000" y="2238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Sixteen-node baseline, five seeds, one main activation time and limited traffic patterns.</a:t>
            </a:r>
          </a:p>
        </p:txBody>
      </p:sp>
      <p:sp>
        <p:nvSpPr>
          <p:cNvPr id="14" name="">
            <a:extLst xmlns:a="http://schemas.openxmlformats.org/drawingml/2006/main">
              <a:ext uri="{FF2B5EF4-FFF2-40B4-BE49-F238E27FC236}">
                <a16:creationId xmlns:a16="http://schemas.microsoft.com/office/drawing/2014/main" id="{F933D970-AD5D-4F44-A72A-314FE313DD5F}"/>
              </a:ext>
            </a:extLst>
          </p:cNvPr>
          <p:cNvSpPr>
            <a:spLocks xmlns:a="http://schemas.openxmlformats.org/drawingml/2006/main" noGrp="1"/>
          </p:cNvSpPr>
          <p:nvPr/>
        </p:nvSpPr>
        <p:spPr>
          <a:xfrm xmlns:a="http://schemas.openxmlformats.org/drawingml/2006/main">
            <a:off x="666750" y="3095625"/>
            <a:ext cx="419100" cy="419100"/>
          </a:xfrm>
          <a:prstGeom xmlns:a="http://schemas.openxmlformats.org/drawingml/2006/main" prst="ellipse">
            <a:avLst/>
          </a:prstGeom>
          <a:solidFill xmlns:a="http://schemas.openxmlformats.org/drawingml/2006/main">
            <a:srgbClr val="60A5FA">
              <a:alpha val="13333"/>
            </a:srgbClr>
          </a:solidFill>
          <a:ln xmlns:a="http://schemas.openxmlformats.org/drawingml/2006/main" w="9525">
            <a:solidFill>
              <a:srgbClr val="60A5FA"/>
            </a:solidFill>
            <a:prstDash val="solid"/>
          </a:ln>
        </p:spPr>
      </p:sp>
      <p:sp>
        <p:nvSpPr>
          <p:cNvPr id="15" name="">
            <a:extLst xmlns:a="http://schemas.openxmlformats.org/drawingml/2006/main">
              <a:ext uri="{FF2B5EF4-FFF2-40B4-BE49-F238E27FC236}">
                <a16:creationId xmlns:a16="http://schemas.microsoft.com/office/drawing/2014/main" id="{4515E8DA-B035-4A69-8832-0EDC5EEC0C4B}"/>
              </a:ext>
            </a:extLst>
          </p:cNvPr>
          <p:cNvSpPr>
            <a:spLocks xmlns:a="http://schemas.openxmlformats.org/drawingml/2006/main" noGrp="1"/>
          </p:cNvSpPr>
          <p:nvPr/>
        </p:nvSpPr>
        <p:spPr>
          <a:xfrm xmlns:a="http://schemas.openxmlformats.org/drawingml/2006/main">
            <a:off x="666750" y="3095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0A5FA"/>
                </a:solidFill>
              </a:defRPr>
            </a:pPr>
            <a:r>
              <a:rPr sz="1350" b="1">
                <a:solidFill>
                  <a:srgbClr val="60A5FA"/>
                </a:solidFill>
              </a:rPr>
              <a:t>!</a:t>
            </a:r>
          </a:p>
        </p:txBody>
      </p:sp>
      <p:sp>
        <p:nvSpPr>
          <p:cNvPr id="16" name="">
            <a:extLst xmlns:a="http://schemas.openxmlformats.org/drawingml/2006/main">
              <a:ext uri="{FF2B5EF4-FFF2-40B4-BE49-F238E27FC236}">
                <a16:creationId xmlns:a16="http://schemas.microsoft.com/office/drawing/2014/main" id="{D9BB7397-CDE0-4935-9F93-5737D64B560A}"/>
              </a:ext>
            </a:extLst>
          </p:cNvPr>
          <p:cNvSpPr>
            <a:spLocks xmlns:a="http://schemas.openxmlformats.org/drawingml/2006/main" noGrp="1"/>
          </p:cNvSpPr>
          <p:nvPr/>
        </p:nvSpPr>
        <p:spPr>
          <a:xfrm xmlns:a="http://schemas.openxmlformats.org/drawingml/2006/main">
            <a:off x="1333500" y="3000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Drift construction</a:t>
            </a:r>
          </a:p>
        </p:txBody>
      </p:sp>
      <p:sp>
        <p:nvSpPr>
          <p:cNvPr id="17" name="">
            <a:extLst xmlns:a="http://schemas.openxmlformats.org/drawingml/2006/main">
              <a:ext uri="{FF2B5EF4-FFF2-40B4-BE49-F238E27FC236}">
                <a16:creationId xmlns:a16="http://schemas.microsoft.com/office/drawing/2014/main" id="{3C6F3215-A5B5-43D0-BC42-43E78BEE3FF2}"/>
              </a:ext>
            </a:extLst>
          </p:cNvPr>
          <p:cNvSpPr>
            <a:spLocks xmlns:a="http://schemas.openxmlformats.org/drawingml/2006/main" noGrp="1"/>
          </p:cNvSpPr>
          <p:nvPr/>
        </p:nvSpPr>
        <p:spPr>
          <a:xfrm xmlns:a="http://schemas.openxmlformats.org/drawingml/2006/main">
            <a:off x="3810000" y="3000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Cross-attack shift is controlled and repeatable, but not naturally observed operational drift.</a:t>
            </a:r>
          </a:p>
        </p:txBody>
      </p:sp>
      <p:sp>
        <p:nvSpPr>
          <p:cNvPr id="18" name="">
            <a:extLst xmlns:a="http://schemas.openxmlformats.org/drawingml/2006/main">
              <a:ext uri="{FF2B5EF4-FFF2-40B4-BE49-F238E27FC236}">
                <a16:creationId xmlns:a16="http://schemas.microsoft.com/office/drawing/2014/main" id="{810243D6-7517-4381-982B-9F1F598AED4F}"/>
              </a:ext>
            </a:extLst>
          </p:cNvPr>
          <p:cNvSpPr>
            <a:spLocks xmlns:a="http://schemas.openxmlformats.org/drawingml/2006/main" noGrp="1"/>
          </p:cNvSpPr>
          <p:nvPr/>
        </p:nvSpPr>
        <p:spPr>
          <a:xfrm xmlns:a="http://schemas.openxmlformats.org/drawingml/2006/main">
            <a:off x="666750" y="3857625"/>
            <a:ext cx="419100" cy="419100"/>
          </a:xfrm>
          <a:prstGeom xmlns:a="http://schemas.openxmlformats.org/drawingml/2006/main" prst="ellipse">
            <a:avLst/>
          </a:prstGeom>
          <a:solidFill xmlns:a="http://schemas.openxmlformats.org/drawingml/2006/main">
            <a:srgbClr val="22D3EE">
              <a:alpha val="13333"/>
            </a:srgbClr>
          </a:solidFill>
          <a:ln xmlns:a="http://schemas.openxmlformats.org/drawingml/2006/main" w="9525">
            <a:solidFill>
              <a:srgbClr val="22D3EE"/>
            </a:solidFill>
            <a:prstDash val="solid"/>
          </a:ln>
        </p:spPr>
      </p:sp>
      <p:sp>
        <p:nvSpPr>
          <p:cNvPr id="19" name="">
            <a:extLst xmlns:a="http://schemas.openxmlformats.org/drawingml/2006/main">
              <a:ext uri="{FF2B5EF4-FFF2-40B4-BE49-F238E27FC236}">
                <a16:creationId xmlns:a16="http://schemas.microsoft.com/office/drawing/2014/main" id="{9DEDB077-48B2-42BE-8650-E82B50B8A27E}"/>
              </a:ext>
            </a:extLst>
          </p:cNvPr>
          <p:cNvSpPr>
            <a:spLocks xmlns:a="http://schemas.openxmlformats.org/drawingml/2006/main" noGrp="1"/>
          </p:cNvSpPr>
          <p:nvPr/>
        </p:nvSpPr>
        <p:spPr>
          <a:xfrm xmlns:a="http://schemas.openxmlformats.org/drawingml/2006/main">
            <a:off x="666750" y="3857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2D3EE"/>
                </a:solidFill>
              </a:defRPr>
            </a:pPr>
            <a:r>
              <a:rPr sz="1350" b="1">
                <a:solidFill>
                  <a:srgbClr val="22D3EE"/>
                </a:solidFill>
              </a:rPr>
              <a:t>!</a:t>
            </a:r>
          </a:p>
        </p:txBody>
      </p:sp>
      <p:sp>
        <p:nvSpPr>
          <p:cNvPr id="20" name="">
            <a:extLst xmlns:a="http://schemas.openxmlformats.org/drawingml/2006/main">
              <a:ext uri="{FF2B5EF4-FFF2-40B4-BE49-F238E27FC236}">
                <a16:creationId xmlns:a16="http://schemas.microsoft.com/office/drawing/2014/main" id="{76D93507-5BBA-4F4C-B121-83158027EEF7}"/>
              </a:ext>
            </a:extLst>
          </p:cNvPr>
          <p:cNvSpPr>
            <a:spLocks xmlns:a="http://schemas.openxmlformats.org/drawingml/2006/main" noGrp="1"/>
          </p:cNvSpPr>
          <p:nvPr/>
        </p:nvSpPr>
        <p:spPr>
          <a:xfrm xmlns:a="http://schemas.openxmlformats.org/drawingml/2006/main">
            <a:off x="1333500" y="3762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Feature dependence</a:t>
            </a:r>
          </a:p>
        </p:txBody>
      </p:sp>
      <p:sp>
        <p:nvSpPr>
          <p:cNvPr id="21" name="">
            <a:extLst xmlns:a="http://schemas.openxmlformats.org/drawingml/2006/main">
              <a:ext uri="{FF2B5EF4-FFF2-40B4-BE49-F238E27FC236}">
                <a16:creationId xmlns:a16="http://schemas.microsoft.com/office/drawing/2014/main" id="{3F7C81A4-D9AC-4744-AFFE-B35E059347FB}"/>
              </a:ext>
            </a:extLst>
          </p:cNvPr>
          <p:cNvSpPr>
            <a:spLocks xmlns:a="http://schemas.openxmlformats.org/drawingml/2006/main" noGrp="1"/>
          </p:cNvSpPr>
          <p:nvPr/>
        </p:nvSpPr>
        <p:spPr>
          <a:xfrm xmlns:a="http://schemas.openxmlformats.org/drawingml/2006/main">
            <a:off x="3810000" y="3762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Strong adaptation can depend on mechanism-aware fields engineered from the current implementation.</a:t>
            </a:r>
          </a:p>
        </p:txBody>
      </p:sp>
      <p:sp>
        <p:nvSpPr>
          <p:cNvPr id="22" name="">
            <a:extLst xmlns:a="http://schemas.openxmlformats.org/drawingml/2006/main">
              <a:ext uri="{FF2B5EF4-FFF2-40B4-BE49-F238E27FC236}">
                <a16:creationId xmlns:a16="http://schemas.microsoft.com/office/drawing/2014/main" id="{D7AA2104-C3EC-4D55-9913-E50938FCD49D}"/>
              </a:ext>
            </a:extLst>
          </p:cNvPr>
          <p:cNvSpPr>
            <a:spLocks xmlns:a="http://schemas.openxmlformats.org/drawingml/2006/main" noGrp="1"/>
          </p:cNvSpPr>
          <p:nvPr/>
        </p:nvSpPr>
        <p:spPr>
          <a:xfrm xmlns:a="http://schemas.openxmlformats.org/drawingml/2006/main">
            <a:off x="666750" y="4619625"/>
            <a:ext cx="419100" cy="419100"/>
          </a:xfrm>
          <a:prstGeom xmlns:a="http://schemas.openxmlformats.org/drawingml/2006/main" prst="ellipse">
            <a:avLst/>
          </a:prstGeom>
          <a:solidFill xmlns:a="http://schemas.openxmlformats.org/drawingml/2006/main">
            <a:srgbClr val="A78BFA">
              <a:alpha val="13333"/>
            </a:srgbClr>
          </a:solidFill>
          <a:ln xmlns:a="http://schemas.openxmlformats.org/drawingml/2006/main" w="9525">
            <a:solidFill>
              <a:srgbClr val="A78BFA"/>
            </a:solidFill>
            <a:prstDash val="solid"/>
          </a:ln>
        </p:spPr>
      </p:sp>
      <p:sp>
        <p:nvSpPr>
          <p:cNvPr id="23" name="">
            <a:extLst xmlns:a="http://schemas.openxmlformats.org/drawingml/2006/main">
              <a:ext uri="{FF2B5EF4-FFF2-40B4-BE49-F238E27FC236}">
                <a16:creationId xmlns:a16="http://schemas.microsoft.com/office/drawing/2014/main" id="{02A5F427-EC3F-49D3-9A3B-172A3FB2730E}"/>
              </a:ext>
            </a:extLst>
          </p:cNvPr>
          <p:cNvSpPr>
            <a:spLocks xmlns:a="http://schemas.openxmlformats.org/drawingml/2006/main" noGrp="1"/>
          </p:cNvSpPr>
          <p:nvPr/>
        </p:nvSpPr>
        <p:spPr>
          <a:xfrm xmlns:a="http://schemas.openxmlformats.org/drawingml/2006/main">
            <a:off x="666750" y="4619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A78BFA"/>
                </a:solidFill>
              </a:defRPr>
            </a:pPr>
            <a:r>
              <a:rPr sz="1350" b="1">
                <a:solidFill>
                  <a:srgbClr val="A78BFA"/>
                </a:solidFill>
              </a:rPr>
              <a:t>!</a:t>
            </a:r>
          </a:p>
        </p:txBody>
      </p:sp>
      <p:sp>
        <p:nvSpPr>
          <p:cNvPr id="24" name="">
            <a:extLst xmlns:a="http://schemas.openxmlformats.org/drawingml/2006/main">
              <a:ext uri="{FF2B5EF4-FFF2-40B4-BE49-F238E27FC236}">
                <a16:creationId xmlns:a16="http://schemas.microsoft.com/office/drawing/2014/main" id="{36F69230-8047-4F1E-A5BA-645ECC3A0807}"/>
              </a:ext>
            </a:extLst>
          </p:cNvPr>
          <p:cNvSpPr>
            <a:spLocks xmlns:a="http://schemas.openxmlformats.org/drawingml/2006/main" noGrp="1"/>
          </p:cNvSpPr>
          <p:nvPr/>
        </p:nvSpPr>
        <p:spPr>
          <a:xfrm xmlns:a="http://schemas.openxmlformats.org/drawingml/2006/main">
            <a:off x="1333500" y="4524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External comparison</a:t>
            </a:r>
          </a:p>
        </p:txBody>
      </p:sp>
      <p:sp>
        <p:nvSpPr>
          <p:cNvPr id="25" name="">
            <a:extLst xmlns:a="http://schemas.openxmlformats.org/drawingml/2006/main">
              <a:ext uri="{FF2B5EF4-FFF2-40B4-BE49-F238E27FC236}">
                <a16:creationId xmlns:a16="http://schemas.microsoft.com/office/drawing/2014/main" id="{70B97297-23E9-4CBE-8F54-3C8F51AECA0D}"/>
              </a:ext>
            </a:extLst>
          </p:cNvPr>
          <p:cNvSpPr>
            <a:spLocks xmlns:a="http://schemas.openxmlformats.org/drawingml/2006/main" noGrp="1"/>
          </p:cNvSpPr>
          <p:nvPr/>
        </p:nvSpPr>
        <p:spPr>
          <a:xfrm xmlns:a="http://schemas.openxmlformats.org/drawingml/2006/main">
            <a:off x="3810000" y="4524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Gope data lacks equivalent run provenance, so direction is compared, not raw magnitude.</a:t>
            </a:r>
          </a:p>
        </p:txBody>
      </p:sp>
      <p:sp>
        <p:nvSpPr>
          <p:cNvPr id="26" name="">
            <a:extLst xmlns:a="http://schemas.openxmlformats.org/drawingml/2006/main">
              <a:ext uri="{FF2B5EF4-FFF2-40B4-BE49-F238E27FC236}">
                <a16:creationId xmlns:a16="http://schemas.microsoft.com/office/drawing/2014/main" id="{0D270DD5-A3B7-4943-9F0D-D07E70239504}"/>
              </a:ext>
            </a:extLst>
          </p:cNvPr>
          <p:cNvSpPr>
            <a:spLocks xmlns:a="http://schemas.openxmlformats.org/drawingml/2006/main" noGrp="1"/>
          </p:cNvSpPr>
          <p:nvPr/>
        </p:nvSpPr>
        <p:spPr>
          <a:xfrm xmlns:a="http://schemas.openxmlformats.org/drawingml/2006/main">
            <a:off x="666750" y="5381625"/>
            <a:ext cx="419100" cy="419100"/>
          </a:xfrm>
          <a:prstGeom xmlns:a="http://schemas.openxmlformats.org/drawingml/2006/main" prst="ellipse">
            <a:avLst/>
          </a:prstGeom>
          <a:solidFill xmlns:a="http://schemas.openxmlformats.org/drawingml/2006/main">
            <a:srgbClr val="34D399">
              <a:alpha val="13333"/>
            </a:srgbClr>
          </a:solidFill>
          <a:ln xmlns:a="http://schemas.openxmlformats.org/drawingml/2006/main" w="9525">
            <a:solidFill>
              <a:srgbClr val="34D399"/>
            </a:solidFill>
            <a:prstDash val="solid"/>
          </a:ln>
        </p:spPr>
      </p:sp>
      <p:sp>
        <p:nvSpPr>
          <p:cNvPr id="27" name="">
            <a:extLst xmlns:a="http://schemas.openxmlformats.org/drawingml/2006/main">
              <a:ext uri="{FF2B5EF4-FFF2-40B4-BE49-F238E27FC236}">
                <a16:creationId xmlns:a16="http://schemas.microsoft.com/office/drawing/2014/main" id="{1F830C2B-5EEF-4844-AEC8-E99DF544134B}"/>
              </a:ext>
            </a:extLst>
          </p:cNvPr>
          <p:cNvSpPr>
            <a:spLocks xmlns:a="http://schemas.openxmlformats.org/drawingml/2006/main" noGrp="1"/>
          </p:cNvSpPr>
          <p:nvPr/>
        </p:nvSpPr>
        <p:spPr>
          <a:xfrm xmlns:a="http://schemas.openxmlformats.org/drawingml/2006/main">
            <a:off x="666750" y="5381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4D399"/>
                </a:solidFill>
              </a:defRPr>
            </a:pPr>
            <a:r>
              <a:rPr sz="1350" b="1">
                <a:solidFill>
                  <a:srgbClr val="34D399"/>
                </a:solidFill>
              </a:rPr>
              <a:t>!</a:t>
            </a:r>
          </a:p>
        </p:txBody>
      </p:sp>
      <p:sp>
        <p:nvSpPr>
          <p:cNvPr id="28" name="">
            <a:extLst xmlns:a="http://schemas.openxmlformats.org/drawingml/2006/main">
              <a:ext uri="{FF2B5EF4-FFF2-40B4-BE49-F238E27FC236}">
                <a16:creationId xmlns:a16="http://schemas.microsoft.com/office/drawing/2014/main" id="{81F1402D-F005-4DF8-8914-A73A3F83999C}"/>
              </a:ext>
            </a:extLst>
          </p:cNvPr>
          <p:cNvSpPr>
            <a:spLocks xmlns:a="http://schemas.openxmlformats.org/drawingml/2006/main" noGrp="1"/>
          </p:cNvSpPr>
          <p:nvPr/>
        </p:nvSpPr>
        <p:spPr>
          <a:xfrm xmlns:a="http://schemas.openxmlformats.org/drawingml/2006/main">
            <a:off x="1333500" y="5286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AFC"/>
                </a:solidFill>
              </a:defRPr>
            </a:pPr>
            <a:r>
              <a:rPr sz="1275" b="1">
                <a:solidFill>
                  <a:srgbClr val="F7FAFC"/>
                </a:solidFill>
              </a:rPr>
              <a:t>LLM evaluation</a:t>
            </a:r>
          </a:p>
        </p:txBody>
      </p:sp>
      <p:sp>
        <p:nvSpPr>
          <p:cNvPr id="29" name="">
            <a:extLst xmlns:a="http://schemas.openxmlformats.org/drawingml/2006/main">
              <a:ext uri="{FF2B5EF4-FFF2-40B4-BE49-F238E27FC236}">
                <a16:creationId xmlns:a16="http://schemas.microsoft.com/office/drawing/2014/main" id="{A99DF664-A64B-4A17-AFCB-4166F47C61DC}"/>
              </a:ext>
            </a:extLst>
          </p:cNvPr>
          <p:cNvSpPr>
            <a:spLocks xmlns:a="http://schemas.openxmlformats.org/drawingml/2006/main" noGrp="1"/>
          </p:cNvSpPr>
          <p:nvPr/>
        </p:nvSpPr>
        <p:spPr>
          <a:xfrm xmlns:a="http://schemas.openxmlformats.org/drawingml/2006/main">
            <a:off x="3810000" y="5286375"/>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7A3B2"/>
                </a:solidFill>
              </a:defRPr>
            </a:pPr>
            <a:r>
              <a:rPr sz="1125" b="0">
                <a:solidFill>
                  <a:srgbClr val="97A3B2"/>
                </a:solidFill>
              </a:rPr>
              <a:t>Nine automatic screens, no blinded human analyst study, and terminology errors remain possible.</a:t>
            </a:r>
          </a:p>
        </p:txBody>
      </p:sp>
      <p:sp>
        <p:nvSpPr>
          <p:cNvPr id="30" name="">
            <a:extLst xmlns:a="http://schemas.openxmlformats.org/drawingml/2006/main">
              <a:ext uri="{FF2B5EF4-FFF2-40B4-BE49-F238E27FC236}">
                <a16:creationId xmlns:a16="http://schemas.microsoft.com/office/drawing/2014/main" id="{CAF69B07-2DCD-49ED-94BB-4DB7E90D4A1A}"/>
              </a:ext>
            </a:extLst>
          </p:cNvPr>
          <p:cNvSpPr>
            <a:spLocks xmlns:a="http://schemas.openxmlformats.org/drawingml/2006/main" noGrp="1"/>
          </p:cNvSpPr>
          <p:nvPr/>
        </p:nvSpPr>
        <p:spPr>
          <a:xfrm xmlns:a="http://schemas.openxmlformats.org/drawingml/2006/main">
            <a:off x="1333500" y="5981700"/>
            <a:ext cx="9525000" cy="400050"/>
          </a:xfrm>
          <a:prstGeom xmlns:a="http://schemas.openxmlformats.org/drawingml/2006/main" prst="roundRect">
            <a:avLst>
              <a:gd name="adj" fmla="val 19048"/>
            </a:avLst>
          </a:prstGeom>
          <a:solidFill xmlns:a="http://schemas.openxmlformats.org/drawingml/2006/main">
            <a:srgbClr val="0E151E"/>
          </a:solidFill>
          <a:ln xmlns:a="http://schemas.openxmlformats.org/drawingml/2006/main" w="9525">
            <a:solidFill>
              <a:srgbClr val="22D3EE"/>
            </a:solidFill>
            <a:prstDash val="solid"/>
          </a:ln>
        </p:spPr>
      </p:sp>
      <p:sp>
        <p:nvSpPr>
          <p:cNvPr id="31" name="">
            <a:extLst xmlns:a="http://schemas.openxmlformats.org/drawingml/2006/main">
              <a:ext uri="{FF2B5EF4-FFF2-40B4-BE49-F238E27FC236}">
                <a16:creationId xmlns:a16="http://schemas.microsoft.com/office/drawing/2014/main" id="{5188E8FE-7131-47E8-B7CF-32F9C4D476EB}"/>
              </a:ext>
            </a:extLst>
          </p:cNvPr>
          <p:cNvSpPr>
            <a:spLocks xmlns:a="http://schemas.openxmlformats.org/drawingml/2006/main" noGrp="1"/>
          </p:cNvSpPr>
          <p:nvPr/>
        </p:nvSpPr>
        <p:spPr>
          <a:xfrm xmlns:a="http://schemas.openxmlformats.org/drawingml/2006/main">
            <a:off x="1524000" y="6010275"/>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AFC"/>
                </a:solidFill>
              </a:defRPr>
            </a:pPr>
            <a:r>
              <a:rPr sz="1200" b="1">
                <a:solidFill>
                  <a:srgbClr val="F7FAFC"/>
                </a:solidFill>
              </a:rPr>
              <a:t>Next steps: larger mixed-attack campaigns, mobility, stable defence policies and human evaluation of explanations.</a:t>
            </a:r>
          </a:p>
        </p:txBody>
      </p:sp>
    </p:spTree>
    <p:extLst>
      <p:ext uri="{BB962C8B-B14F-4D97-AF65-F5344CB8AC3E}">
        <p14:creationId xmlns:p14="http://schemas.microsoft.com/office/powerpoint/2010/main" val="2050892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2026-08-30T19:37:31.5980000Z</dcterms:created>
  <dcterms:modified xsi:type="dcterms:W3CDTF">2026-08-30T19:37:31.5980000Z</dcterms:modified>
</coreProperties>
</file>