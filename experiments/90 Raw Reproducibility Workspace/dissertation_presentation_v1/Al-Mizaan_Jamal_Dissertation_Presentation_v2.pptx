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bd06d0792c48db" /><Relationship Type="http://schemas.openxmlformats.org/officeDocument/2006/relationships/extended-properties" Target="/docProps/app.xml" Id="R94d17ec5cfeb4c31" /><Relationship Type="http://schemas.openxmlformats.org/officeDocument/2006/relationships/officeDocument" Target="/ppt/presentation.xml" Id="Rf4f1e42f062c48bd" /></Relationships>
</file>

<file path=ppt/presentation.xml><?xml version="1.0" encoding="utf-8"?>
<p:presentation xmlns:p="http://schemas.openxmlformats.org/presentationml/2006/main">
  <p:sldMasterIdLst>
    <p:sldMasterId xmlns:r="http://schemas.openxmlformats.org/officeDocument/2006/relationships" id="2147483648" r:id="Rf76dc8e838ee45c4"/>
  </p:sldMasterIdLst>
  <p:notesMasterIdLst>
    <p:notesMasterId xmlns:r="http://schemas.openxmlformats.org/officeDocument/2006/relationships" r:id="R6518c19b9778434b"/>
  </p:notesMasterIdLst>
  <p:sldIdLst>
    <p:sldId xmlns:r="http://schemas.openxmlformats.org/officeDocument/2006/relationships" id="256" r:id="Re9c1994326f54dd1"/>
    <p:sldId xmlns:r="http://schemas.openxmlformats.org/officeDocument/2006/relationships" id="257" r:id="R4e6ed3246d714261"/>
    <p:sldId xmlns:r="http://schemas.openxmlformats.org/officeDocument/2006/relationships" id="258" r:id="R2fabf217da11481d"/>
    <p:sldId xmlns:r="http://schemas.openxmlformats.org/officeDocument/2006/relationships" id="259" r:id="R4d55850904954eb3"/>
    <p:sldId xmlns:r="http://schemas.openxmlformats.org/officeDocument/2006/relationships" id="260" r:id="R6215c99e8c2d4c9a"/>
    <p:sldId xmlns:r="http://schemas.openxmlformats.org/officeDocument/2006/relationships" id="261" r:id="R5321011300494264"/>
    <p:sldId xmlns:r="http://schemas.openxmlformats.org/officeDocument/2006/relationships" id="262" r:id="R2b8f08f8231243c8"/>
    <p:sldId xmlns:r="http://schemas.openxmlformats.org/officeDocument/2006/relationships" id="263" r:id="R539d6ff23e3c493b"/>
    <p:sldId xmlns:r="http://schemas.openxmlformats.org/officeDocument/2006/relationships" id="264" r:id="R3905684e7d794612"/>
    <p:sldId xmlns:r="http://schemas.openxmlformats.org/officeDocument/2006/relationships" id="265" r:id="Ra2f616c786cd49ef"/>
    <p:sldId xmlns:r="http://schemas.openxmlformats.org/officeDocument/2006/relationships" id="266" r:id="Rc7df95c493b5474b"/>
    <p:sldId xmlns:r="http://schemas.openxmlformats.org/officeDocument/2006/relationships" id="267" r:id="Rdf8174f45b154c29"/>
    <p:sldId xmlns:r="http://schemas.openxmlformats.org/officeDocument/2006/relationships" id="268" r:id="R84acbfe1e9f24d45"/>
    <p:sldId xmlns:r="http://schemas.openxmlformats.org/officeDocument/2006/relationships" id="269" r:id="Reecc7b9f97484f74"/>
    <p:sldId xmlns:r="http://schemas.openxmlformats.org/officeDocument/2006/relationships" id="270" r:id="Ra7fb9bff990d4273"/>
    <p:sldId xmlns:r="http://schemas.openxmlformats.org/officeDocument/2006/relationships" id="271" r:id="R89cd71d16d114bad"/>
    <p:sldId xmlns:r="http://schemas.openxmlformats.org/officeDocument/2006/relationships" id="272" r:id="R7a9ec413710b4b1a"/>
    <p:sldId xmlns:r="http://schemas.openxmlformats.org/officeDocument/2006/relationships" id="273" r:id="R8b1cd62270f946c8"/>
    <p:sldId xmlns:r="http://schemas.openxmlformats.org/officeDocument/2006/relationships" id="274" r:id="Rabe631906bd44ec9"/>
    <p:sldId xmlns:r="http://schemas.openxmlformats.org/officeDocument/2006/relationships" id="275" r:id="Re403279c28d84bfd"/>
    <p:sldId xmlns:r="http://schemas.openxmlformats.org/officeDocument/2006/relationships" id="276" r:id="Ra9f3d5a164cf4cac"/>
    <p:sldId xmlns:r="http://schemas.openxmlformats.org/officeDocument/2006/relationships" id="277" r:id="Re71b9c6384234f12"/>
    <p:sldId xmlns:r="http://schemas.openxmlformats.org/officeDocument/2006/relationships" id="278" r:id="R6696932292a94e20"/>
    <p:sldId xmlns:r="http://schemas.openxmlformats.org/officeDocument/2006/relationships" id="279" r:id="Reb96f6aecb984dd7"/>
    <p:sldId xmlns:r="http://schemas.openxmlformats.org/officeDocument/2006/relationships" id="280" r:id="R74a7b2017a1141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bc0e97af83465d" /><Relationship Type="http://schemas.openxmlformats.org/officeDocument/2006/relationships/slideMaster" Target="/ppt/slideMasters/slideMaster1.xml" Id="Rf76dc8e838ee45c4" /><Relationship Type="http://schemas.openxmlformats.org/officeDocument/2006/relationships/notesMaster" Target="/ppt/notesMasters/notesMaster1.xml" Id="R6518c19b9778434b" /><Relationship Type="http://schemas.openxmlformats.org/officeDocument/2006/relationships/presProps" Target="/ppt/presProps.xml" Id="Rfff241a1a25b4eb6" /><Relationship Type="http://schemas.openxmlformats.org/officeDocument/2006/relationships/tableStyles" Target="/ppt/tableStyles.xml" Id="R1923a03d5dd149d1" /><Relationship Type="http://schemas.openxmlformats.org/officeDocument/2006/relationships/slide" Target="/ppt/slides/slide1.xml" Id="Re9c1994326f54dd1" /><Relationship Type="http://schemas.openxmlformats.org/officeDocument/2006/relationships/slide" Target="/ppt/slides/slide2.xml" Id="R4e6ed3246d714261" /><Relationship Type="http://schemas.openxmlformats.org/officeDocument/2006/relationships/slide" Target="/ppt/slides/slide3.xml" Id="R2fabf217da11481d" /><Relationship Type="http://schemas.openxmlformats.org/officeDocument/2006/relationships/slide" Target="/ppt/slides/slide4.xml" Id="R4d55850904954eb3" /><Relationship Type="http://schemas.openxmlformats.org/officeDocument/2006/relationships/slide" Target="/ppt/slides/slide5.xml" Id="R6215c99e8c2d4c9a" /><Relationship Type="http://schemas.openxmlformats.org/officeDocument/2006/relationships/slide" Target="/ppt/slides/slide6.xml" Id="R5321011300494264" /><Relationship Type="http://schemas.openxmlformats.org/officeDocument/2006/relationships/slide" Target="/ppt/slides/slide7.xml" Id="R2b8f08f8231243c8" /><Relationship Type="http://schemas.openxmlformats.org/officeDocument/2006/relationships/slide" Target="/ppt/slides/slide8.xml" Id="R539d6ff23e3c493b" /><Relationship Type="http://schemas.openxmlformats.org/officeDocument/2006/relationships/slide" Target="/ppt/slides/slide9.xml" Id="R3905684e7d794612" /><Relationship Type="http://schemas.openxmlformats.org/officeDocument/2006/relationships/slide" Target="/ppt/slides/slide10.xml" Id="Ra2f616c786cd49ef" /><Relationship Type="http://schemas.openxmlformats.org/officeDocument/2006/relationships/slide" Target="/ppt/slides/slide11.xml" Id="Rc7df95c493b5474b" /><Relationship Type="http://schemas.openxmlformats.org/officeDocument/2006/relationships/slide" Target="/ppt/slides/slide12.xml" Id="Rdf8174f45b154c29" /><Relationship Type="http://schemas.openxmlformats.org/officeDocument/2006/relationships/slide" Target="/ppt/slides/slide13.xml" Id="R84acbfe1e9f24d45" /><Relationship Type="http://schemas.openxmlformats.org/officeDocument/2006/relationships/slide" Target="/ppt/slides/slide14.xml" Id="Reecc7b9f97484f74" /><Relationship Type="http://schemas.openxmlformats.org/officeDocument/2006/relationships/slide" Target="/ppt/slides/slide15.xml" Id="Ra7fb9bff990d4273" /><Relationship Type="http://schemas.openxmlformats.org/officeDocument/2006/relationships/slide" Target="/ppt/slides/slide16.xml" Id="R89cd71d16d114bad" /><Relationship Type="http://schemas.openxmlformats.org/officeDocument/2006/relationships/slide" Target="/ppt/slides/slide17.xml" Id="R7a9ec413710b4b1a" /><Relationship Type="http://schemas.openxmlformats.org/officeDocument/2006/relationships/slide" Target="/ppt/slides/slide18.xml" Id="R8b1cd62270f946c8" /><Relationship Type="http://schemas.openxmlformats.org/officeDocument/2006/relationships/slide" Target="/ppt/slides/slide19.xml" Id="Rabe631906bd44ec9" /><Relationship Type="http://schemas.openxmlformats.org/officeDocument/2006/relationships/slide" Target="/ppt/slides/slide20.xml" Id="Re403279c28d84bfd" /><Relationship Type="http://schemas.openxmlformats.org/officeDocument/2006/relationships/slide" Target="/ppt/slides/slide21.xml" Id="Ra9f3d5a164cf4cac" /><Relationship Type="http://schemas.openxmlformats.org/officeDocument/2006/relationships/slide" Target="/ppt/slides/slide22.xml" Id="Re71b9c6384234f12" /><Relationship Type="http://schemas.openxmlformats.org/officeDocument/2006/relationships/slide" Target="/ppt/slides/slide23.xml" Id="R6696932292a94e20" /><Relationship Type="http://schemas.openxmlformats.org/officeDocument/2006/relationships/slide" Target="/ppt/slides/slide24.xml" Id="Reb96f6aecb984dd7" /><Relationship Type="http://schemas.openxmlformats.org/officeDocument/2006/relationships/slide" Target="/ppt/slides/slide25.xml" Id="R74a7b2017a1141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86427490104a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55d56f31bd43fb" /><Relationship Type="http://schemas.openxmlformats.org/officeDocument/2006/relationships/notesMaster" Target="/ppt/notesMasters/notesMaster1.xml" Id="R2506fb3216d345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51e5fed0ea4621" /><Relationship Type="http://schemas.openxmlformats.org/officeDocument/2006/relationships/notesMaster" Target="/ppt/notesMasters/notesMaster1.xml" Id="Rafb514f795db4a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681419859a4b33" /><Relationship Type="http://schemas.openxmlformats.org/officeDocument/2006/relationships/notesMaster" Target="/ppt/notesMasters/notesMaster1.xml" Id="R4f0faf29fbd54f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3d8abce55b47b9" /><Relationship Type="http://schemas.openxmlformats.org/officeDocument/2006/relationships/notesMaster" Target="/ppt/notesMasters/notesMaster1.xml" Id="R9ffda7a9265d46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807816c022433a" /><Relationship Type="http://schemas.openxmlformats.org/officeDocument/2006/relationships/notesMaster" Target="/ppt/notesMasters/notesMaster1.xml" Id="Rcd2d19652a0744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537a7ff40345dc" /><Relationship Type="http://schemas.openxmlformats.org/officeDocument/2006/relationships/notesMaster" Target="/ppt/notesMasters/notesMaster1.xml" Id="R1358d7b3b4e741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898121f4a041f2" /><Relationship Type="http://schemas.openxmlformats.org/officeDocument/2006/relationships/notesMaster" Target="/ppt/notesMasters/notesMaster1.xml" Id="R182a9475045446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4356b5c5c74903" /><Relationship Type="http://schemas.openxmlformats.org/officeDocument/2006/relationships/notesMaster" Target="/ppt/notesMasters/notesMaster1.xml" Id="Rc154c6b9b83a46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6e8adb959d415f" /><Relationship Type="http://schemas.openxmlformats.org/officeDocument/2006/relationships/notesMaster" Target="/ppt/notesMasters/notesMaster1.xml" Id="Rad209cac3d704e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514b74f5734353" /><Relationship Type="http://schemas.openxmlformats.org/officeDocument/2006/relationships/notesMaster" Target="/ppt/notesMasters/notesMaster1.xml" Id="R67cb8889af274d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7024d4047f4a6e" /><Relationship Type="http://schemas.openxmlformats.org/officeDocument/2006/relationships/notesMaster" Target="/ppt/notesMasters/notesMaster1.xml" Id="Rb74dcec4d00344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0e3264a46fb44e4" /><Relationship Type="http://schemas.openxmlformats.org/officeDocument/2006/relationships/notesMaster" Target="/ppt/notesMasters/notesMaster1.xml" Id="R100f65d348294f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228768c609d4476" /><Relationship Type="http://schemas.openxmlformats.org/officeDocument/2006/relationships/notesMaster" Target="/ppt/notesMasters/notesMaster1.xml" Id="R437c390d0205413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2bdc2d383bd493c" /><Relationship Type="http://schemas.openxmlformats.org/officeDocument/2006/relationships/notesMaster" Target="/ppt/notesMasters/notesMaster1.xml" Id="R9cedc470fdcc48b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3ca8681e31d4f2c" /><Relationship Type="http://schemas.openxmlformats.org/officeDocument/2006/relationships/notesMaster" Target="/ppt/notesMasters/notesMaster1.xml" Id="Re0851bf738b9433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3942dd4504845e2" /><Relationship Type="http://schemas.openxmlformats.org/officeDocument/2006/relationships/notesMaster" Target="/ppt/notesMasters/notesMaster1.xml" Id="R84cf68814a0a402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62625381edd4cc2" /><Relationship Type="http://schemas.openxmlformats.org/officeDocument/2006/relationships/notesMaster" Target="/ppt/notesMasters/notesMaster1.xml" Id="Rb2247233e4214d6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4ce6f44cbe34fa4" /><Relationship Type="http://schemas.openxmlformats.org/officeDocument/2006/relationships/notesMaster" Target="/ppt/notesMasters/notesMaster1.xml" Id="R1fe0a1ba206f438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b77530cdc634bbb" /><Relationship Type="http://schemas.openxmlformats.org/officeDocument/2006/relationships/notesMaster" Target="/ppt/notesMasters/notesMaster1.xml" Id="Red9ee2df09b047f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0c347f1bbd6481d" /><Relationship Type="http://schemas.openxmlformats.org/officeDocument/2006/relationships/notesMaster" Target="/ppt/notesMasters/notesMaster1.xml" Id="Rb04d4a17000343a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6d6a38be6db4f53" /><Relationship Type="http://schemas.openxmlformats.org/officeDocument/2006/relationships/notesMaster" Target="/ppt/notesMasters/notesMaster1.xml" Id="Rd3f7c1fe0ffc491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d78f8360ac24a8b" /><Relationship Type="http://schemas.openxmlformats.org/officeDocument/2006/relationships/notesMaster" Target="/ppt/notesMasters/notesMaster1.xml" Id="R35a6827dd5924c2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7c311e18eed44e1" /><Relationship Type="http://schemas.openxmlformats.org/officeDocument/2006/relationships/notesMaster" Target="/ppt/notesMasters/notesMaster1.xml" Id="Re309e97a01e442b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a29943841b6433d" /><Relationship Type="http://schemas.openxmlformats.org/officeDocument/2006/relationships/notesMaster" Target="/ppt/notesMasters/notesMaster1.xml" Id="Rbdf8480220d6425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bd2e82d0d7e4ade" /><Relationship Type="http://schemas.openxmlformats.org/officeDocument/2006/relationships/notesMaster" Target="/ppt/notesMasters/notesMaster1.xml" Id="R734c188291e847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Introduce the dissertation as an empirical study of IDS behaviour when RPL attack mechanisms evolve. State that the work combines controlled Cooja attack implementations, cross-attack evaluation, supervised adaptation, online detection, an identity-based Sybil extension and isolated adaptive-controller experiments.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0:30-1:35. This is the organising logic for the presentation. Emphasise that the contribution is not simply implementing attacks. It is the linked evidence chain from protocol implementation to drift failure, adaptation, online response and operational limitations.</a:t>
            </a:r>
          </a:p>
          <a:p xmlns:a="http://schemas.openxmlformats.org/drawingml/2006/main">
            <a:r>
              <a:t/>
            </a:r>
          </a:p>
          <a:p xmlns:a="http://schemas.openxmlformats.org/drawingml/2006/main">
            <a:r>
              <a:t>[Sources]</a:t>
            </a:r>
          </a:p>
          <a:p xmlns:a="http://schemas.openxmlformats.org/drawingml/2006/main">
            <a:r>
              <a:t>- /Users/mizzy/Dissertation_Cooja_Work/rpl-dis-flood/experiments/dissertation_results_summary_v1/core_argument.md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1:35-2:50. Give the second examiner a concise RPL explanation. The root is the destination, rank expresses relative position, DIO and DIS are control messages, and nodes select parents. Then connect each attack to the observable evidence used by the IDS.</a:t>
            </a:r>
          </a:p>
          <a:p xmlns:a="http://schemas.openxmlformats.org/drawingml/2006/main">
            <a:r>
              <a:t/>
            </a:r>
          </a:p>
          <a:p xmlns:a="http://schemas.openxmlformats.org/drawingml/2006/main">
            <a:r>
              <a:t>[Sources]</a:t>
            </a:r>
          </a:p>
          <a:p xmlns:a="http://schemas.openxmlformats.org/drawingml/2006/main">
            <a:r>
              <a:t>- /Users/mizzy/Dissertation_Cooja_Work/rpl-dis-flood/experiments/dissertation_results_summary_v1/attack_coverage_table.csv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2:50-4:10. SVELTE motivates using RPL-aware routing evidence. Gope et al. motivates an evolving environment, change detection and adaptive defenders. Our design chooses Cooja and whole-seed experiments to expose firmware behaviour and reduce leakage. It does not claim that a CART or local controller replaces the paper's complete architecture.</a:t>
            </a:r>
          </a:p>
          <a:p xmlns:a="http://schemas.openxmlformats.org/drawingml/2006/main">
            <a:r>
              <a:t/>
            </a:r>
          </a:p>
          <a:p xmlns:a="http://schemas.openxmlformats.org/drawingml/2006/main">
            <a:r>
              <a:t>[Sources]</a:t>
            </a:r>
          </a:p>
          <a:p xmlns:a="http://schemas.openxmlformats.org/drawingml/2006/main">
            <a:r>
              <a:t>- /Users/mizzy/Downloads/2013-Elsevier-SVELTE realtime ID in the IoT.pdf</a:t>
            </a:r>
          </a:p>
          <a:p xmlns:a="http://schemas.openxmlformats.org/drawingml/2006/main">
            <a:r>
              <a:t>- /Users/mizzy/Documents/Dissertation/diss papers/Adversarial_RL-Based_IDS_for_Evolving_Data_Environment_in_6LoWPAN.pdf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4:10-5:20. Explain the trade-off rather than presenting Cooja as universally better. The paper's NetSim approach is appropriate for adversarial RL profiles and large scenario control. Cooja is appropriate for demonstrating that the attack code, RPL hooks and logs execute in Contiki-NG.</a:t>
            </a:r>
          </a:p>
          <a:p xmlns:a="http://schemas.openxmlformats.org/drawingml/2006/main">
            <a:r>
              <a:t/>
            </a:r>
          </a:p>
          <a:p xmlns:a="http://schemas.openxmlformats.org/drawingml/2006/main">
            <a:r>
              <a:t>[Sources]</a:t>
            </a:r>
          </a:p>
          <a:p xmlns:a="http://schemas.openxmlformats.org/drawingml/2006/main">
            <a:r>
              <a:t>- /Users/mizzy/Documents/Dissertation/diss papers/Adversarial_RL-Based_IDS_for_Evolving_Data_Environment_in_6LoWPAN.pdf</a:t>
            </a:r>
          </a:p>
          <a:p xmlns:a="http://schemas.openxmlformats.org/drawingml/2006/main">
            <a:r>
              <a:t>- /Users/mizzy/Dissertation_Cooja_Work/rpl-dis-flood/experiments/dissertation_overleaf_v1/chapters/03_methodology.tex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5:20-6:25. Explain the activation and matched-control structure. Highlight that the split unit is the entire simulation seed. Randomly splitting rows would leak temporally related windows from the same run and inflate performance.</a:t>
            </a:r>
          </a:p>
          <a:p xmlns:a="http://schemas.openxmlformats.org/drawingml/2006/main">
            <a:r>
              <a:t/>
            </a:r>
          </a:p>
          <a:p xmlns:a="http://schemas.openxmlformats.org/drawingml/2006/main">
            <a:r>
              <a:t>[Sources]</a:t>
            </a:r>
          </a:p>
          <a:p xmlns:a="http://schemas.openxmlformats.org/drawingml/2006/main">
            <a:r>
              <a:t>- /Users/mizzy/Dissertation_Cooja_Work/rpl-dis-flood/experiments/final_simulated_dataset_v1/evaluation_protocol.md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6:25-7:30. This is the validation evidence behind the attack-coverage claim. Do not spend equal time on every row. Point out the different evidence mechanisms, then emphasise that Sybil produces direct virtual-identity DIO markers while controls produce none.</a:t>
            </a:r>
          </a:p>
          <a:p xmlns:a="http://schemas.openxmlformats.org/drawingml/2006/main">
            <a:r>
              <a:t/>
            </a:r>
          </a:p>
          <a:p xmlns:a="http://schemas.openxmlformats.org/drawingml/2006/main">
            <a:r>
              <a:t>[Sources]</a:t>
            </a:r>
          </a:p>
          <a:p xmlns:a="http://schemas.openxmlformats.org/drawingml/2006/main">
            <a:r>
              <a:t>- /Users/mizzy/Dissertation_Cooja_Work/rpl-dis-flood/experiments/dissertation_results_summary_v1/attack_coverage_table.csv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7:30-8:35. The frozen dataset contains 810 windows across 90 baseline run groups. Explain that provenance is necessary for auditability but cannot be a predictive shortcut. Attack markers identify activation and validate the implementation, but they are not features.</a:t>
            </a:r>
          </a:p>
          <a:p xmlns:a="http://schemas.openxmlformats.org/drawingml/2006/main">
            <a:r>
              <a:t/>
            </a:r>
          </a:p>
          <a:p xmlns:a="http://schemas.openxmlformats.org/drawingml/2006/main">
            <a:r>
              <a:t>[Sources]</a:t>
            </a:r>
          </a:p>
          <a:p xmlns:a="http://schemas.openxmlformats.org/drawingml/2006/main">
            <a:r>
              <a:t>- /Users/mizzy/Dissertation_Cooja_Work/rpl-dis-flood/experiments/final_simulated_dataset_v1/evaluation_protocol.md</a:t>
            </a:r>
          </a:p>
          <a:p xmlns:a="http://schemas.openxmlformats.org/drawingml/2006/main">
            <a:r>
              <a:t>- /Users/mizzy/Dissertation_Cooja_Work/rpl-dis-flood/experiments/final_simulated_dataset_v1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8:35-9:45. Distinguish the main dissertation result from the isolated adaptive package. CART cross-attack and whole-seed adaptation are the strongest broad evidence. The online and DQN/DDQN experiments are narrower Sybil-focused extensions and must be reported with that boundary.</a:t>
            </a:r>
          </a:p>
          <a:p xmlns:a="http://schemas.openxmlformats.org/drawingml/2006/main">
            <a:r>
              <a:t/>
            </a:r>
          </a:p>
          <a:p xmlns:a="http://schemas.openxmlformats.org/drawingml/2006/main">
            <a:r>
              <a:t>[Sources]</a:t>
            </a:r>
          </a:p>
          <a:p xmlns:a="http://schemas.openxmlformats.org/drawingml/2006/main">
            <a:r>
              <a:t>- /Users/mizzy/Dissertation_Cooja_Work/rpl-dis-flood/experiments/adversarial_rl_sybil_v1/README.md</a:t>
            </a:r>
          </a:p>
          <a:p xmlns:a="http://schemas.openxmlformats.org/drawingml/2006/main">
            <a:r>
              <a:t>- /Users/mizzy/Dissertation_Cooja_Work/rpl-dis-flood/experiments/dissertation_results_summary_v1/results_summary.md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9:45-11:15. Show how to read one cell. Rows are source attack families and columns are different target families. Forty-eight of 72 off-diagonal CART pairings miss every attack window. Only six reach F1 at least 0.8. This is controlled attack-distribution drift rather than naturally observed field drift.</a:t>
            </a:r>
          </a:p>
          <a:p xmlns:a="http://schemas.openxmlformats.org/drawingml/2006/main">
            <a:r>
              <a:t/>
            </a:r>
          </a:p>
          <a:p xmlns:a="http://schemas.openxmlformats.org/drawingml/2006/main">
            <a:r>
              <a:t>[Sources]</a:t>
            </a:r>
          </a:p>
          <a:p xmlns:a="http://schemas.openxmlformats.org/drawingml/2006/main">
            <a:r>
              <a:t>- /Users/mizzy/Dissertation_Cooja_Work/rpl-dis-flood/experiments/dissertation_final_figures_v2/tables/cross_attack_cart_f1.csv</a:t>
            </a:r>
          </a:p>
          <a:p xmlns:a="http://schemas.openxmlformats.org/drawingml/2006/main">
            <a:r>
              <a:t>- /Users/mizzy/Dissertation_Cooja_Work/rpl-dis-flood/experiments/dissertation_results_summary_v1/concept_drift_key_metrics.csv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11:15-12:15. CART is stronger than Gaussian, but both transfer poorly. Explain why recall and F1 matter more than accuracy: a model can predict normal for every row and still obtain apparently acceptable accuracy when normal windows dominate.</a:t>
            </a:r>
          </a:p>
          <a:p xmlns:a="http://schemas.openxmlformats.org/drawingml/2006/main">
            <a:r>
              <a:t/>
            </a:r>
          </a:p>
          <a:p xmlns:a="http://schemas.openxmlformats.org/drawingml/2006/main">
            <a:r>
              <a:t>[Sources]</a:t>
            </a:r>
          </a:p>
          <a:p xmlns:a="http://schemas.openxmlformats.org/drawingml/2006/main">
            <a:r>
              <a:t>- /Users/mizzy/Dissertation_Cooja_Work/rpl-dis-flood/experiments/dissertation_results_summary_v1/concept_drift_key_metrics.csv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12:15-13:35. This is a central methodological learning. The original blackhole-to-sinkhole experiment produced zero recall. Simply adding sinkhole examples to coarse traffic features did not solve it. Once persistent advertised-rank and routing-state evidence was included, one to three whole target seeds produced F1 from 0.813 to 0.973. This directly supports the feature-plus-adaptation argument.</a:t>
            </a:r>
          </a:p>
          <a:p xmlns:a="http://schemas.openxmlformats.org/drawingml/2006/main">
            <a:r>
              <a:t/>
            </a:r>
          </a:p>
          <a:p xmlns:a="http://schemas.openxmlformats.org/drawingml/2006/main">
            <a:r>
              <a:t>[Sources]</a:t>
            </a:r>
          </a:p>
          <a:p xmlns:a="http://schemas.openxmlformats.org/drawingml/2006/main">
            <a:r>
              <a:t>- /Users/mizzy/Dissertation_Cooja_Work/rpl-dis-flood/experiments/results/master_results_summary.csv</a:t>
            </a:r>
          </a:p>
          <a:p xmlns:a="http://schemas.openxmlformats.org/drawingml/2006/main">
            <a:r>
              <a:t>- /Users/mizzy/Dissertation_Cooja_Work/rpl-dis-flood/experiments/routing_features_v1/results/RESULTS_INTERPRETATION.md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13:35-14:55. The overall mean F1 rises from 0.1822 to 0.8258 after one target seed, then to 0.8792 after three. Point out the small FPR increase after additional seeds. The curve supports rapid supervised recovery on average, but the next slide shows that family-specific outcomes are not monotonic.</a:t>
            </a:r>
          </a:p>
          <a:p xmlns:a="http://schemas.openxmlformats.org/drawingml/2006/main">
            <a:r>
              <a:t/>
            </a:r>
          </a:p>
          <a:p xmlns:a="http://schemas.openxmlformats.org/drawingml/2006/main">
            <a:r>
              <a:t>[Sources]</a:t>
            </a:r>
          </a:p>
          <a:p xmlns:a="http://schemas.openxmlformats.org/drawingml/2006/main">
            <a:r>
              <a:t>- /Users/mizzy/Dissertation_Cooja_Work/rpl-dis-flood/experiments/dissertation_results_summary_v1/adaptation_key_metrics.csv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14:55-16:10. Use this table to avoid overclaiming the overall adaptation curve. Some pairs recover immediately, some are non-monotonic, and DIS flood to DIO suppression remains undetected despite target examples. This points to limited samples, model instability and missing mechanism-specific evidence.</a:t>
            </a:r>
          </a:p>
          <a:p xmlns:a="http://schemas.openxmlformats.org/drawingml/2006/main">
            <a:r>
              <a:t/>
            </a:r>
          </a:p>
          <a:p xmlns:a="http://schemas.openxmlformats.org/drawingml/2006/main">
            <a:r>
              <a:t>[Sources]</a:t>
            </a:r>
          </a:p>
          <a:p xmlns:a="http://schemas.openxmlformats.org/drawingml/2006/main">
            <a:r>
              <a:t>- /Users/mizzy/Dissertation_Cooja_Work/rpl-dis-flood/experiments/cross_attack_adaptation_with_sybil_v1/cross_attack_adaptation_summary.csv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16:10-17:30. Give the detailed explanation. Sybil is selected because it is mechanism-distinct, not because it is simply an additional attack. It challenges identity continuity and trust bootstrapping, supplies an out-of-family drift target, and supports rate variation. The novelty claim is the implementation and evaluation in this framework, not invention of the Sybil attack.</a:t>
            </a:r>
          </a:p>
          <a:p xmlns:a="http://schemas.openxmlformats.org/drawingml/2006/main">
            <a:r>
              <a:t/>
            </a:r>
          </a:p>
          <a:p xmlns:a="http://schemas.openxmlformats.org/drawingml/2006/main">
            <a:r>
              <a:t>[Sources]</a:t>
            </a:r>
          </a:p>
          <a:p xmlns:a="http://schemas.openxmlformats.org/drawingml/2006/main">
            <a:r>
              <a:t>- /Users/mizzy/Dissertation_Cooja_Work/rpl-dis-flood/experiments/sybil_attack_v1/README.md</a:t>
            </a:r>
          </a:p>
          <a:p xmlns:a="http://schemas.openxmlformats.org/drawingml/2006/main">
            <a:r>
              <a:t>- /Users/mizzy/Dissertation_Cooja_Work/rpl-dis-flood/experiments/dissertation_results_summary_v1/sybil_contribution_summary.md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17:30-18:35. The low-rate profile sends 29 spoofed identity markers, while the high-rate profile sends 299. High rate also increases node 16 and total radio transmissions. This creates a useful adversarial trade-off: aggressive behaviour has greater impact but a stronger signature.</a:t>
            </a:r>
          </a:p>
          <a:p xmlns:a="http://schemas.openxmlformats.org/drawingml/2006/main">
            <a:r>
              <a:t/>
            </a:r>
          </a:p>
          <a:p xmlns:a="http://schemas.openxmlformats.org/drawingml/2006/main">
            <a:r>
              <a:t>[Sources]</a:t>
            </a:r>
          </a:p>
          <a:p xmlns:a="http://schemas.openxmlformats.org/drawingml/2006/main">
            <a:r>
              <a:t>- /Users/mizzy/Dissertation_Cooja_Work/rpl-dis-flood/experiments/adversarial_rl_sybil_v1/results/sybil_rate_campaign_metrics.csv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18:35-19:50. Separate the generic IDS and identity monitor. Static models involving Sybil have 11 zero-recall failures out of 16 pairings. Supervised adaptation recovers strongly. The identity-specific monitor detects all 50 post-activation windows with zero alerts in 45 controls, but this is a rule-based mechanism-specific result on a small controlled campaign.</a:t>
            </a:r>
          </a:p>
          <a:p xmlns:a="http://schemas.openxmlformats.org/drawingml/2006/main">
            <a:r>
              <a:t/>
            </a:r>
          </a:p>
          <a:p xmlns:a="http://schemas.openxmlformats.org/drawingml/2006/main">
            <a:r>
              <a:t>[Sources]</a:t>
            </a:r>
          </a:p>
          <a:p xmlns:a="http://schemas.openxmlformats.org/drawingml/2006/main">
            <a:r>
              <a:t>- /Users/mizzy/Dissertation_Cooja_Work/rpl-dis-flood/experiments/dissertation_results_summary_v1/adaptation_key_metrics.csv</a:t>
            </a:r>
          </a:p>
          <a:p xmlns:a="http://schemas.openxmlformats.org/drawingml/2006/main">
            <a:r>
              <a:t>- /Users/mizzy/Dissertation_Cooja_Work/rpl-dis-flood/experiments/adversarial_rl_sybil_v1/results/sybil_identity_monitor_summary.csv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19:50-21:05. This slide corrects the omission in the first deck. The DQN and DDQN controllers were implemented locally and evaluated on a held-out Sybil stream. DDQN improves over the DQN controller, but both remain below always-incremental updating. The result is scientifically useful because it prevents an unjustified claim that RL automatically improves adaptation.</a:t>
            </a:r>
          </a:p>
          <a:p xmlns:a="http://schemas.openxmlformats.org/drawingml/2006/main">
            <a:r>
              <a:t/>
            </a:r>
          </a:p>
          <a:p xmlns:a="http://schemas.openxmlformats.org/drawingml/2006/main">
            <a:r>
              <a:t>[Sources]</a:t>
            </a:r>
          </a:p>
          <a:p xmlns:a="http://schemas.openxmlformats.org/drawingml/2006/main">
            <a:r>
              <a:t>- /Users/mizzy/Dissertation_Cooja_Work/rpl-dis-flood/experiments/adversarial_rl_sybil_v1/results/adversarial_rl/held_out_summary.csv</a:t>
            </a:r>
          </a:p>
          <a:p xmlns:a="http://schemas.openxmlformats.org/drawingml/2006/main">
            <a:r>
              <a:t>- /Users/mizzy/Dissertation_Cooja_Work/rpl-dis-flood/experiments/adversarial_rl_sybil_v1/docs/model_scope.md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21:05-22:00. CUSUM operates on the rank-state signal and alerts in the first post-activation window. DDM waits for delayed classifier errors and alerts one 60-second window later. The sample is five attack and five matched control runs, so the zero false-alert rate is not a field estimate.</a:t>
            </a:r>
          </a:p>
          <a:p xmlns:a="http://schemas.openxmlformats.org/drawingml/2006/main">
            <a:r>
              <a:t/>
            </a:r>
          </a:p>
          <a:p xmlns:a="http://schemas.openxmlformats.org/drawingml/2006/main">
            <a:r>
              <a:t>[Sources]</a:t>
            </a:r>
          </a:p>
          <a:p xmlns:a="http://schemas.openxmlformats.org/drawingml/2006/main">
            <a:r>
              <a:t>- /Users/mizzy/Dissertation_Cooja_Work/rpl-dis-flood/experiments/online_drift_response_v1/results/detector_comparison_summary.csv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22:00-23:00. Three-seed adaptation remains high under relocation and lossy radio. Lossy-radio Sybil is the weakest case at F1 0.9367 and FPR 0.0462. This supports limited simulator robustness, not physical deployment generalisation.</a:t>
            </a:r>
          </a:p>
          <a:p xmlns:a="http://schemas.openxmlformats.org/drawingml/2006/main">
            <a:r>
              <a:t/>
            </a:r>
          </a:p>
          <a:p xmlns:a="http://schemas.openxmlformats.org/drawingml/2006/main">
            <a:r>
              <a:t>[Sources]</a:t>
            </a:r>
          </a:p>
          <a:p xmlns:a="http://schemas.openxmlformats.org/drawingml/2006/main">
            <a:r>
              <a:t>- /Users/mizzy/Dissertation_Cooja_Work/rpl-dis-flood/experiments/dissertation_final_figures_v2/tables/robustness_static_vs_adapted.csv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23:00-24:10. The trust features did not change any measured static or adaptation F1 values. The active sinkhole policy was operationally harmful: responses collapsed, transmissions rose and routes churned. Present both as negative results that improve the dissertation by establishing where the proposed ideas fail.</a:t>
            </a:r>
          </a:p>
          <a:p xmlns:a="http://schemas.openxmlformats.org/drawingml/2006/main">
            <a:r>
              <a:t/>
            </a:r>
          </a:p>
          <a:p xmlns:a="http://schemas.openxmlformats.org/drawingml/2006/main">
            <a:r>
              <a:t>[Sources]</a:t>
            </a:r>
          </a:p>
          <a:p xmlns:a="http://schemas.openxmlformats.org/drawingml/2006/main">
            <a:r>
              <a:t>- /Users/mizzy/Dissertation_Cooja_Work/rpl-dis-flood/experiments/trust_layer_v1/results/trust_vs_baseline_comparison.csv</a:t>
            </a:r>
          </a:p>
          <a:p xmlns:a="http://schemas.openxmlformats.org/drawingml/2006/main">
            <a:r>
              <a:t>- /Users/mizzy/Dissertation_Cooja_Work/rpl-dis-flood/experiments/operational_overhead_v1/operational_overhead_table.csv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24:10-25:15. The external supplied dataset reproduces the direction of failure: blackhole to sinkhole recall is 0.0472 and F1 0.0876. Do not compare the magnitude directly with Cooja because the data generators, feature schemas and row grouping differ. The all-attack baseline also has high precision but low recall.</a:t>
            </a:r>
          </a:p>
          <a:p xmlns:a="http://schemas.openxmlformats.org/drawingml/2006/main">
            <a:r>
              <a:t/>
            </a:r>
          </a:p>
          <a:p xmlns:a="http://schemas.openxmlformats.org/drawingml/2006/main">
            <a:r>
              <a:t>[Sources]</a:t>
            </a:r>
          </a:p>
          <a:p xmlns:a="http://schemas.openxmlformats.org/drawingml/2006/main">
            <a:r>
              <a:t>- /Users/mizzy/Dissertation_Cooja_Work/rpl-dis-flood/experiments/gope_dataset/gope_baseline_results.csv</a:t>
            </a:r>
          </a:p>
          <a:p xmlns:a="http://schemas.openxmlformats.org/drawingml/2006/main">
            <a:r>
              <a:t>- /Users/mizzy/Dissertation_Cooja_Work/rpl-dis-flood/experiments/gope_dataset/paper_alignment.md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25:15-26:25. This slide demonstrates ownership of the research. Walk through the early sinkhole failure, leakage correction, trust result, defence instability and RL underperformance. Each failure changed either the method, the claim or the future design.</a:t>
            </a:r>
          </a:p>
          <a:p xmlns:a="http://schemas.openxmlformats.org/drawingml/2006/main">
            <a:r>
              <a:t/>
            </a:r>
          </a:p>
          <a:p xmlns:a="http://schemas.openxmlformats.org/drawingml/2006/main">
            <a:r>
              <a:t>[Sources]</a:t>
            </a:r>
          </a:p>
          <a:p xmlns:a="http://schemas.openxmlformats.org/drawingml/2006/main">
            <a:r>
              <a:t>- /Users/mizzy/Dissertation_Cooja_Work/rpl-dis-flood/experiments/dissertation_overleaf_v1/chapters/06_discussion.tex</a:t>
            </a:r>
          </a:p>
          <a:p xmlns:a="http://schemas.openxmlformats.org/drawingml/2006/main">
            <a:r>
              <a:t>- /Users/mizzy/Dissertation_Cooja_Work/rpl-dis-flood/experiments/dissertation_overleaf_v1/chapters/07_limitations.tex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26:25-29:15 including live demonstration. Preload the Cooja configuration before presenting. Do not wait for a complete simulation. The local adaptive demo must not be described as an external LLM result. If anything stalls, switch immediately to the recorded clip and preserved result table.</a:t>
            </a:r>
          </a:p>
          <a:p xmlns:a="http://schemas.openxmlformats.org/drawingml/2006/main">
            <a:r>
              <a:t/>
            </a:r>
          </a:p>
          <a:p xmlns:a="http://schemas.openxmlformats.org/drawingml/2006/main">
            <a:r>
              <a:t>[Sources]</a:t>
            </a:r>
          </a:p>
          <a:p xmlns:a="http://schemas.openxmlformats.org/drawingml/2006/main">
            <a:r>
              <a:t>- /Users/mizzy/Dissertation_Cooja_Work/rpl-dis-flood/experiments/presentation_demo_pack_v1/recording_checklist.md</a:t>
            </a:r>
          </a:p>
          <a:p xmlns:a="http://schemas.openxmlformats.org/drawingml/2006/main">
            <a:r>
              <a:t>- /Users/mizzy/Dissertation_Cooja_Work/rpl-dis-flood/experiments/llm_explanations_v2/LIVE_DEMO_PLAN.md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29:15-30:00. Close by stating exactly what the evidence supports. The strongest claim is a linked one: cross-attack drift causes failure, mechanism-aware evidence enables adaptation, Sybil extends the identity surface, and operational experiments show why adaptation and defence must be evaluated beyond accuracy.</a:t>
            </a:r>
          </a:p>
          <a:p xmlns:a="http://schemas.openxmlformats.org/drawingml/2006/main">
            <a:r>
              <a:t/>
            </a:r>
          </a:p>
          <a:p xmlns:a="http://schemas.openxmlformats.org/drawingml/2006/main">
            <a:r>
              <a:t>[Sources]</a:t>
            </a:r>
          </a:p>
          <a:p xmlns:a="http://schemas.openxmlformats.org/drawingml/2006/main">
            <a:r>
              <a:t>- /Users/mizzy/Dissertation_Cooja_Work/rpl-dis-flood/experiments/dissertation_results_summary_v1/results_summary.md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983b7a6c1a45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25a866ccb24801" /><Relationship Type="http://schemas.openxmlformats.org/officeDocument/2006/relationships/slideLayout" Target="/ppt/slideLayouts/slideLayout1.xml" Id="Rfd70a6a18ca746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70a6a18ca746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40b379397514694" /><Relationship Type="http://schemas.openxmlformats.org/officeDocument/2006/relationships/notesSlide" Target="/ppt/notesSlides/notesSlide1.xml" Id="Rb63e609a759d47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080275d5d1b432d" /><Relationship Type="http://schemas.openxmlformats.org/officeDocument/2006/relationships/notesSlide" Target="/ppt/notesSlides/notesSlide2.xml" Id="R7d9a0d613dea4d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20921290aa4fb7" /><Relationship Type="http://schemas.openxmlformats.org/officeDocument/2006/relationships/notesSlide" Target="/ppt/notesSlides/notesSlide3.xml" Id="R1567f1e94eff4f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6fac62d8954d91" /><Relationship Type="http://schemas.openxmlformats.org/officeDocument/2006/relationships/notesSlide" Target="/ppt/notesSlides/notesSlide4.xml" Id="R7ac4e7630b114d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51634d0a89471d" /><Relationship Type="http://schemas.openxmlformats.org/officeDocument/2006/relationships/image" Target="/ppt/media/image.png" Id="R3333680ad0a8480c" /><Relationship Type="http://schemas.openxmlformats.org/officeDocument/2006/relationships/notesSlide" Target="/ppt/notesSlides/notesSlide5.xml" Id="R4efeb0460bf748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1fbbc8b90a34c24" /><Relationship Type="http://schemas.openxmlformats.org/officeDocument/2006/relationships/notesSlide" Target="/ppt/notesSlides/notesSlide6.xml" Id="Rae1ab76ed51c4b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89679a7d884030" /><Relationship Type="http://schemas.openxmlformats.org/officeDocument/2006/relationships/notesSlide" Target="/ppt/notesSlides/notesSlide7.xml" Id="R12596a511fcd40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b840c748e354359" /><Relationship Type="http://schemas.openxmlformats.org/officeDocument/2006/relationships/notesSlide" Target="/ppt/notesSlides/notesSlide8.xml" Id="R913e105a24c946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6a62a2dc8b442dd" /><Relationship Type="http://schemas.openxmlformats.org/officeDocument/2006/relationships/notesSlide" Target="/ppt/notesSlides/notesSlide9.xml" Id="R554babc7fa044e7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a2f1bf208614637" /><Relationship Type="http://schemas.openxmlformats.org/officeDocument/2006/relationships/image" Target="/ppt/media/image2.png" Id="Rb72b37f90e7f4dc2" /><Relationship Type="http://schemas.openxmlformats.org/officeDocument/2006/relationships/notesSlide" Target="/ppt/notesSlides/notesSlide10.xml" Id="R259c34a58ddb47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3f49857f7f241c5" /><Relationship Type="http://schemas.openxmlformats.org/officeDocument/2006/relationships/notesSlide" Target="/ppt/notesSlides/notesSlide11.xml" Id="R31606e005a3c46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c9ad91ffb814980" /><Relationship Type="http://schemas.openxmlformats.org/officeDocument/2006/relationships/notesSlide" Target="/ppt/notesSlides/notesSlide12.xml" Id="R6c3b8f4bc3614e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97d452dffdd4821" /><Relationship Type="http://schemas.openxmlformats.org/officeDocument/2006/relationships/image" Target="/ppt/media/image3.png" Id="R1801644f8dfa43b1" /><Relationship Type="http://schemas.openxmlformats.org/officeDocument/2006/relationships/notesSlide" Target="/ppt/notesSlides/notesSlide13.xml" Id="Ra3c3efcd91e3426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e93b9c5612240d5" /><Relationship Type="http://schemas.openxmlformats.org/officeDocument/2006/relationships/notesSlide" Target="/ppt/notesSlides/notesSlide14.xml" Id="R9b71a57232f94d8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20c379f22bd4ad2" /><Relationship Type="http://schemas.openxmlformats.org/officeDocument/2006/relationships/notesSlide" Target="/ppt/notesSlides/notesSlide15.xml" Id="R70c2e25aa7804ac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b4f47090eb04c4b" /><Relationship Type="http://schemas.openxmlformats.org/officeDocument/2006/relationships/notesSlide" Target="/ppt/notesSlides/notesSlide16.xml" Id="R6c8622ca5f0c441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da1555f813744b2" /><Relationship Type="http://schemas.openxmlformats.org/officeDocument/2006/relationships/notesSlide" Target="/ppt/notesSlides/notesSlide17.xml" Id="R2c19c528553a4f0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65c2fa4af54446c" /><Relationship Type="http://schemas.openxmlformats.org/officeDocument/2006/relationships/notesSlide" Target="/ppt/notesSlides/notesSlide18.xml" Id="R13879a396cb6475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3b9f1c89ee44d82" /><Relationship Type="http://schemas.openxmlformats.org/officeDocument/2006/relationships/image" Target="/ppt/media/image4.png" Id="R387ddb278df84712" /><Relationship Type="http://schemas.openxmlformats.org/officeDocument/2006/relationships/notesSlide" Target="/ppt/notesSlides/notesSlide19.xml" Id="R8e88ffa733d040a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8cca429e30d44d5" /><Relationship Type="http://schemas.openxmlformats.org/officeDocument/2006/relationships/image" Target="/ppt/media/image5.png" Id="Ra6394a620c3746ca" /><Relationship Type="http://schemas.openxmlformats.org/officeDocument/2006/relationships/notesSlide" Target="/ppt/notesSlides/notesSlide20.xml" Id="Rcb872ec8c81f476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fd70c23a44241e5" /><Relationship Type="http://schemas.openxmlformats.org/officeDocument/2006/relationships/notesSlide" Target="/ppt/notesSlides/notesSlide21.xml" Id="Rcafae56dcbc144d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3fbae36d4c343ac" /><Relationship Type="http://schemas.openxmlformats.org/officeDocument/2006/relationships/notesSlide" Target="/ppt/notesSlides/notesSlide22.xml" Id="Ra108aec05e8847b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18bd3c3f9364e61" /><Relationship Type="http://schemas.openxmlformats.org/officeDocument/2006/relationships/notesSlide" Target="/ppt/notesSlides/notesSlide23.xml" Id="R12afeaae80564c6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e7a028bbc3a4073" /><Relationship Type="http://schemas.openxmlformats.org/officeDocument/2006/relationships/notesSlide" Target="/ppt/notesSlides/notesSlide24.xml" Id="R8806e2eddae24fd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d75e520bb294d98" /><Relationship Type="http://schemas.openxmlformats.org/officeDocument/2006/relationships/notesSlide" Target="/ppt/notesSlides/notesSlide25.xml" Id="R49ef52c946b54d8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984F19-B010-4F8A-99E3-38ECAB0DAEB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BC1EF5A-45C2-4F9F-919F-AEFB84BCDC23}"/>
              </a:ext>
            </a:extLst>
          </p:cNvPr>
          <p:cNvSpPr>
            <a:spLocks xmlns:a="http://schemas.openxmlformats.org/drawingml/2006/main" noGrp="1"/>
          </p:cNvSpPr>
          <p:nvPr/>
        </p:nvSpPr>
        <p:spPr>
          <a:xfrm xmlns:a="http://schemas.openxmlformats.org/drawingml/2006/main">
            <a:off x="666750" y="81915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07C83"/>
                </a:solidFill>
              </a:defRPr>
            </a:pPr>
            <a:r>
              <a:rPr sz="1125" b="1">
                <a:solidFill>
                  <a:srgbClr val="007C83"/>
                </a:solidFill>
              </a:rPr>
              <a:t>ADAPTIVE INTRUSION DETECTION FOR EVOLVING RPL ATTACKS</a:t>
            </a:r>
          </a:p>
        </p:txBody>
      </p:sp>
      <p:sp>
        <p:nvSpPr>
          <p:cNvPr id="3" name="">
            <a:extLst xmlns:a="http://schemas.openxmlformats.org/drawingml/2006/main">
              <a:ext uri="{FF2B5EF4-FFF2-40B4-BE49-F238E27FC236}">
                <a16:creationId xmlns:a16="http://schemas.microsoft.com/office/drawing/2014/main" id="{779F320C-A8A3-4E7B-AAC2-8FA43332629A}"/>
              </a:ext>
            </a:extLst>
          </p:cNvPr>
          <p:cNvSpPr>
            <a:spLocks xmlns:a="http://schemas.openxmlformats.org/drawingml/2006/main" noGrp="1"/>
          </p:cNvSpPr>
          <p:nvPr/>
        </p:nvSpPr>
        <p:spPr>
          <a:xfrm xmlns:a="http://schemas.openxmlformats.org/drawingml/2006/main">
            <a:off x="666750" y="1333500"/>
            <a:ext cx="9906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0F2239"/>
                </a:solidFill>
              </a:defRPr>
            </a:pPr>
            <a:r>
              <a:rPr sz="3600" b="1">
                <a:solidFill>
                  <a:srgbClr val="0F2239"/>
                </a:solidFill>
              </a:rPr>
              <a:t>Controlled concept drift, Sybil identity attacks</a:t>
            </a:r>
          </a:p>
          <a:p xmlns:a="http://schemas.openxmlformats.org/drawingml/2006/main">
            <a:pPr algn="l">
              <a:defRPr sz="3600" b="1">
                <a:solidFill>
                  <a:srgbClr val="0F2239"/>
                </a:solidFill>
              </a:defRPr>
            </a:pPr>
            <a:r>
              <a:rPr sz="3600" b="1">
                <a:solidFill>
                  <a:srgbClr val="0F2239"/>
                </a:solidFill>
              </a:rPr>
              <a:t>and operationally grounded evaluation</a:t>
            </a:r>
          </a:p>
        </p:txBody>
      </p:sp>
      <p:sp>
        <p:nvSpPr>
          <p:cNvPr id="4" name="">
            <a:extLst xmlns:a="http://schemas.openxmlformats.org/drawingml/2006/main">
              <a:ext uri="{FF2B5EF4-FFF2-40B4-BE49-F238E27FC236}">
                <a16:creationId xmlns:a16="http://schemas.microsoft.com/office/drawing/2014/main" id="{90F0EE00-BE7F-497F-8590-9E4B9B228084}"/>
              </a:ext>
            </a:extLst>
          </p:cNvPr>
          <p:cNvSpPr>
            <a:spLocks xmlns:a="http://schemas.openxmlformats.org/drawingml/2006/main" noGrp="1"/>
          </p:cNvSpPr>
          <p:nvPr/>
        </p:nvSpPr>
        <p:spPr>
          <a:xfrm xmlns:a="http://schemas.openxmlformats.org/drawingml/2006/main">
            <a:off x="666750" y="2952750"/>
            <a:ext cx="45720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1123AF4-97D8-4546-A234-69B04F7CC829}"/>
              </a:ext>
            </a:extLst>
          </p:cNvPr>
          <p:cNvSpPr>
            <a:spLocks xmlns:a="http://schemas.openxmlformats.org/drawingml/2006/main" noGrp="1"/>
          </p:cNvSpPr>
          <p:nvPr/>
        </p:nvSpPr>
        <p:spPr>
          <a:xfrm xmlns:a="http://schemas.openxmlformats.org/drawingml/2006/main">
            <a:off x="666750" y="3286125"/>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11827"/>
                </a:solidFill>
              </a:defRPr>
            </a:pPr>
            <a:r>
              <a:rPr sz="1875" b="1">
                <a:solidFill>
                  <a:srgbClr val="111827"/>
                </a:solidFill>
              </a:rPr>
              <a:t>AL-MIZAAN JAMAL</a:t>
            </a:r>
          </a:p>
        </p:txBody>
      </p:sp>
      <p:sp>
        <p:nvSpPr>
          <p:cNvPr id="6" name="">
            <a:extLst xmlns:a="http://schemas.openxmlformats.org/drawingml/2006/main">
              <a:ext uri="{FF2B5EF4-FFF2-40B4-BE49-F238E27FC236}">
                <a16:creationId xmlns:a16="http://schemas.microsoft.com/office/drawing/2014/main" id="{8D5F4E9C-6F71-4F8B-BC98-DF97550AC960}"/>
              </a:ext>
            </a:extLst>
          </p:cNvPr>
          <p:cNvSpPr>
            <a:spLocks xmlns:a="http://schemas.openxmlformats.org/drawingml/2006/main" noGrp="1"/>
          </p:cNvSpPr>
          <p:nvPr/>
        </p:nvSpPr>
        <p:spPr>
          <a:xfrm xmlns:a="http://schemas.openxmlformats.org/drawingml/2006/main">
            <a:off x="666750" y="37338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475569"/>
                </a:solidFill>
              </a:defRPr>
            </a:pPr>
            <a:r>
              <a:rPr sz="1350" b="0">
                <a:solidFill>
                  <a:srgbClr val="475569"/>
                </a:solidFill>
              </a:rPr>
              <a:t>MSc Cybersecurity dissertation defence</a:t>
            </a:r>
          </a:p>
        </p:txBody>
      </p:sp>
      <p:sp>
        <p:nvSpPr>
          <p:cNvPr id="7" name="">
            <a:extLst xmlns:a="http://schemas.openxmlformats.org/drawingml/2006/main">
              <a:ext uri="{FF2B5EF4-FFF2-40B4-BE49-F238E27FC236}">
                <a16:creationId xmlns:a16="http://schemas.microsoft.com/office/drawing/2014/main" id="{A6E7EA29-E4A4-406F-95B4-AEC027790B52}"/>
              </a:ext>
            </a:extLst>
          </p:cNvPr>
          <p:cNvSpPr>
            <a:spLocks xmlns:a="http://schemas.openxmlformats.org/drawingml/2006/main" noGrp="1"/>
          </p:cNvSpPr>
          <p:nvPr/>
        </p:nvSpPr>
        <p:spPr>
          <a:xfrm xmlns:a="http://schemas.openxmlformats.org/drawingml/2006/main">
            <a:off x="666750" y="521970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475569"/>
                </a:solidFill>
              </a:defRPr>
            </a:pPr>
            <a:r>
              <a:rPr sz="1425" b="0">
                <a:solidFill>
                  <a:srgbClr val="475569"/>
                </a:solidFill>
              </a:rPr>
              <a:t>Contiki-NG • Cooja • cross-attack transfer • whole-seed adaptation</a:t>
            </a:r>
          </a:p>
        </p:txBody>
      </p:sp>
      <p:sp>
        <p:nvSpPr>
          <p:cNvPr id="8" name="">
            <a:extLst xmlns:a="http://schemas.openxmlformats.org/drawingml/2006/main">
              <a:ext uri="{FF2B5EF4-FFF2-40B4-BE49-F238E27FC236}">
                <a16:creationId xmlns:a16="http://schemas.microsoft.com/office/drawing/2014/main" id="{90E56530-9346-4E87-A37D-C6D8CC447C32}"/>
              </a:ext>
            </a:extLst>
          </p:cNvPr>
          <p:cNvSpPr>
            <a:spLocks xmlns:a="http://schemas.openxmlformats.org/drawingml/2006/main" noGrp="1"/>
          </p:cNvSpPr>
          <p:nvPr/>
        </p:nvSpPr>
        <p:spPr>
          <a:xfrm xmlns:a="http://schemas.openxmlformats.org/drawingml/2006/main">
            <a:off x="666750" y="56959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64748B"/>
                </a:solidFill>
              </a:defRPr>
            </a:pPr>
            <a:r>
              <a:rPr sz="1050" b="0">
                <a:solidFill>
                  <a:srgbClr val="64748B"/>
                </a:solidFill>
              </a:rPr>
              <a:t>30-minute defence presentation</a:t>
            </a:r>
          </a:p>
        </p:txBody>
      </p:sp>
    </p:spTree>
    <p:extLst>
      <p:ext uri="{BB962C8B-B14F-4D97-AF65-F5344CB8AC3E}">
        <p14:creationId xmlns:p14="http://schemas.microsoft.com/office/powerpoint/2010/main" val="160303684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FEDB5830-42D3-4828-B00A-1770D1E3EDDF}"/>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Problem, evidence and contribution</a:t>
            </a:r>
          </a:p>
        </p:txBody>
      </p:sp>
      <p:sp>
        <p:nvSpPr>
          <p:cNvPr id="2" name="">
            <a:extLst xmlns:a="http://schemas.openxmlformats.org/drawingml/2006/main">
              <a:ext uri="{FF2B5EF4-FFF2-40B4-BE49-F238E27FC236}">
                <a16:creationId xmlns:a16="http://schemas.microsoft.com/office/drawing/2014/main" id="{65A29EC5-7396-433A-BA82-28A33E2A40F1}"/>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The dissertation asks whether an IDS trained in one RPL attack environment remains reliable when the mechanism changes.</a:t>
            </a:r>
          </a:p>
        </p:txBody>
      </p:sp>
      <p:sp>
        <p:nvSpPr>
          <p:cNvPr id="3" name="">
            <a:extLst xmlns:a="http://schemas.openxmlformats.org/drawingml/2006/main">
              <a:ext uri="{FF2B5EF4-FFF2-40B4-BE49-F238E27FC236}">
                <a16:creationId xmlns:a16="http://schemas.microsoft.com/office/drawing/2014/main" id="{6C0C67E8-52F0-48BD-AA50-6B19E543DC00}"/>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E35E2BA-55BD-4E18-8E7F-05E190C4B237}"/>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04D7D12-1193-4536-B17C-2B81D60A643D}"/>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Research framing</a:t>
            </a:r>
          </a:p>
        </p:txBody>
      </p:sp>
      <p:sp>
        <p:nvSpPr>
          <p:cNvPr id="6" name="">
            <a:extLst xmlns:a="http://schemas.openxmlformats.org/drawingml/2006/main">
              <a:ext uri="{FF2B5EF4-FFF2-40B4-BE49-F238E27FC236}">
                <a16:creationId xmlns:a16="http://schemas.microsoft.com/office/drawing/2014/main" id="{17801499-32EF-4286-9E96-A533D993A44A}"/>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02  </a:t>
            </a:r>
          </a:p>
        </p:txBody>
      </p:sp>
      <p:sp>
        <p:nvSpPr>
          <p:cNvPr id="7" name="">
            <a:extLst xmlns:a="http://schemas.openxmlformats.org/drawingml/2006/main">
              <a:ext uri="{FF2B5EF4-FFF2-40B4-BE49-F238E27FC236}">
                <a16:creationId xmlns:a16="http://schemas.microsoft.com/office/drawing/2014/main" id="{9A8E4F3B-0558-4901-8C86-45F6C74F7750}"/>
              </a:ext>
            </a:extLst>
          </p:cNvPr>
          <p:cNvSpPr>
            <a:spLocks xmlns:a="http://schemas.openxmlformats.org/drawingml/2006/main" noGrp="1"/>
          </p:cNvSpPr>
          <p:nvPr/>
        </p:nvSpPr>
        <p:spPr>
          <a:xfrm xmlns:a="http://schemas.openxmlformats.org/drawingml/2006/main">
            <a:off x="666750" y="1504950"/>
            <a:ext cx="990600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89AA916-3D34-45E7-A910-0A3608E18E13}"/>
              </a:ext>
            </a:extLst>
          </p:cNvPr>
          <p:cNvSpPr>
            <a:spLocks xmlns:a="http://schemas.openxmlformats.org/drawingml/2006/main" noGrp="1"/>
          </p:cNvSpPr>
          <p:nvPr/>
        </p:nvSpPr>
        <p:spPr>
          <a:xfrm xmlns:a="http://schemas.openxmlformats.org/drawingml/2006/main">
            <a:off x="742950" y="15049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Element</a:t>
            </a:r>
          </a:p>
        </p:txBody>
      </p:sp>
      <p:sp>
        <p:nvSpPr>
          <p:cNvPr id="9" name="">
            <a:extLst xmlns:a="http://schemas.openxmlformats.org/drawingml/2006/main">
              <a:ext uri="{FF2B5EF4-FFF2-40B4-BE49-F238E27FC236}">
                <a16:creationId xmlns:a16="http://schemas.microsoft.com/office/drawing/2014/main" id="{A8AA947F-77DE-4FD8-A306-C780C498B7F2}"/>
              </a:ext>
            </a:extLst>
          </p:cNvPr>
          <p:cNvSpPr>
            <a:spLocks xmlns:a="http://schemas.openxmlformats.org/drawingml/2006/main" noGrp="1"/>
          </p:cNvSpPr>
          <p:nvPr/>
        </p:nvSpPr>
        <p:spPr>
          <a:xfrm xmlns:a="http://schemas.openxmlformats.org/drawingml/2006/main">
            <a:off x="2743200" y="1504950"/>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Question</a:t>
            </a:r>
          </a:p>
        </p:txBody>
      </p:sp>
      <p:sp>
        <p:nvSpPr>
          <p:cNvPr id="10" name="">
            <a:extLst xmlns:a="http://schemas.openxmlformats.org/drawingml/2006/main">
              <a:ext uri="{FF2B5EF4-FFF2-40B4-BE49-F238E27FC236}">
                <a16:creationId xmlns:a16="http://schemas.microsoft.com/office/drawing/2014/main" id="{917F68BE-0590-4F79-AED6-02852088E61E}"/>
              </a:ext>
            </a:extLst>
          </p:cNvPr>
          <p:cNvSpPr>
            <a:spLocks xmlns:a="http://schemas.openxmlformats.org/drawingml/2006/main" noGrp="1"/>
          </p:cNvSpPr>
          <p:nvPr/>
        </p:nvSpPr>
        <p:spPr>
          <a:xfrm xmlns:a="http://schemas.openxmlformats.org/drawingml/2006/main">
            <a:off x="6172200" y="1504950"/>
            <a:ext cx="432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Evidence produced</a:t>
            </a:r>
          </a:p>
        </p:txBody>
      </p:sp>
      <p:sp>
        <p:nvSpPr>
          <p:cNvPr id="11" name="">
            <a:extLst xmlns:a="http://schemas.openxmlformats.org/drawingml/2006/main">
              <a:ext uri="{FF2B5EF4-FFF2-40B4-BE49-F238E27FC236}">
                <a16:creationId xmlns:a16="http://schemas.microsoft.com/office/drawing/2014/main" id="{8C129453-A092-428D-9096-B2EBE3A89FEE}"/>
              </a:ext>
            </a:extLst>
          </p:cNvPr>
          <p:cNvSpPr>
            <a:spLocks xmlns:a="http://schemas.openxmlformats.org/drawingml/2006/main" noGrp="1"/>
          </p:cNvSpPr>
          <p:nvPr/>
        </p:nvSpPr>
        <p:spPr>
          <a:xfrm xmlns:a="http://schemas.openxmlformats.org/drawingml/2006/main">
            <a:off x="666750" y="1828800"/>
            <a:ext cx="9906000" cy="6477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8FA2A05-4DB4-4712-9C52-D37B40B9BA6C}"/>
              </a:ext>
            </a:extLst>
          </p:cNvPr>
          <p:cNvSpPr>
            <a:spLocks xmlns:a="http://schemas.openxmlformats.org/drawingml/2006/main" noGrp="1"/>
          </p:cNvSpPr>
          <p:nvPr/>
        </p:nvSpPr>
        <p:spPr>
          <a:xfrm xmlns:a="http://schemas.openxmlformats.org/drawingml/2006/main">
            <a:off x="742950" y="1828800"/>
            <a:ext cx="1847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Generalisation</a:t>
            </a:r>
          </a:p>
        </p:txBody>
      </p:sp>
      <p:sp>
        <p:nvSpPr>
          <p:cNvPr id="13" name="">
            <a:extLst xmlns:a="http://schemas.openxmlformats.org/drawingml/2006/main">
              <a:ext uri="{FF2B5EF4-FFF2-40B4-BE49-F238E27FC236}">
                <a16:creationId xmlns:a16="http://schemas.microsoft.com/office/drawing/2014/main" id="{A2612977-331C-4580-BC59-ED3EDE92E5E6}"/>
              </a:ext>
            </a:extLst>
          </p:cNvPr>
          <p:cNvSpPr>
            <a:spLocks xmlns:a="http://schemas.openxmlformats.org/drawingml/2006/main" noGrp="1"/>
          </p:cNvSpPr>
          <p:nvPr/>
        </p:nvSpPr>
        <p:spPr>
          <a:xfrm xmlns:a="http://schemas.openxmlformats.org/drawingml/2006/main">
            <a:off x="2743200" y="1828800"/>
            <a:ext cx="3276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Does a static IDS transfer to a different attack family?</a:t>
            </a:r>
          </a:p>
        </p:txBody>
      </p:sp>
      <p:sp>
        <p:nvSpPr>
          <p:cNvPr id="14" name="">
            <a:extLst xmlns:a="http://schemas.openxmlformats.org/drawingml/2006/main">
              <a:ext uri="{FF2B5EF4-FFF2-40B4-BE49-F238E27FC236}">
                <a16:creationId xmlns:a16="http://schemas.microsoft.com/office/drawing/2014/main" id="{B2D6FD42-C796-4118-A203-D7B492C662A8}"/>
              </a:ext>
            </a:extLst>
          </p:cNvPr>
          <p:cNvSpPr>
            <a:spLocks xmlns:a="http://schemas.openxmlformats.org/drawingml/2006/main" noGrp="1"/>
          </p:cNvSpPr>
          <p:nvPr/>
        </p:nvSpPr>
        <p:spPr>
          <a:xfrm xmlns:a="http://schemas.openxmlformats.org/drawingml/2006/main">
            <a:off x="6172200" y="1828800"/>
            <a:ext cx="4324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9 × 9 cross-attack matrix; 72 off-diagonal train/test pairs</a:t>
            </a:r>
          </a:p>
        </p:txBody>
      </p:sp>
      <p:sp>
        <p:nvSpPr>
          <p:cNvPr id="15" name="">
            <a:extLst xmlns:a="http://schemas.openxmlformats.org/drawingml/2006/main">
              <a:ext uri="{FF2B5EF4-FFF2-40B4-BE49-F238E27FC236}">
                <a16:creationId xmlns:a16="http://schemas.microsoft.com/office/drawing/2014/main" id="{BBFB85FB-E939-4281-AB28-4CF98169B1AD}"/>
              </a:ext>
            </a:extLst>
          </p:cNvPr>
          <p:cNvSpPr>
            <a:spLocks xmlns:a="http://schemas.openxmlformats.org/drawingml/2006/main" noGrp="1"/>
          </p:cNvSpPr>
          <p:nvPr/>
        </p:nvSpPr>
        <p:spPr>
          <a:xfrm xmlns:a="http://schemas.openxmlformats.org/drawingml/2006/main">
            <a:off x="666750" y="2476500"/>
            <a:ext cx="9906000" cy="647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3769D51-EE81-487B-8450-DE291FAF79DF}"/>
              </a:ext>
            </a:extLst>
          </p:cNvPr>
          <p:cNvSpPr>
            <a:spLocks xmlns:a="http://schemas.openxmlformats.org/drawingml/2006/main" noGrp="1"/>
          </p:cNvSpPr>
          <p:nvPr/>
        </p:nvSpPr>
        <p:spPr>
          <a:xfrm xmlns:a="http://schemas.openxmlformats.org/drawingml/2006/main">
            <a:off x="742950" y="2476500"/>
            <a:ext cx="1847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Adaptation</a:t>
            </a:r>
          </a:p>
        </p:txBody>
      </p:sp>
      <p:sp>
        <p:nvSpPr>
          <p:cNvPr id="17" name="">
            <a:extLst xmlns:a="http://schemas.openxmlformats.org/drawingml/2006/main">
              <a:ext uri="{FF2B5EF4-FFF2-40B4-BE49-F238E27FC236}">
                <a16:creationId xmlns:a16="http://schemas.microsoft.com/office/drawing/2014/main" id="{1D3CBB1B-B042-450A-BFCA-B9089D05780F}"/>
              </a:ext>
            </a:extLst>
          </p:cNvPr>
          <p:cNvSpPr>
            <a:spLocks xmlns:a="http://schemas.openxmlformats.org/drawingml/2006/main" noGrp="1"/>
          </p:cNvSpPr>
          <p:nvPr/>
        </p:nvSpPr>
        <p:spPr>
          <a:xfrm xmlns:a="http://schemas.openxmlformats.org/drawingml/2006/main">
            <a:off x="2743200" y="2476500"/>
            <a:ext cx="3276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How much target data recovers detection?</a:t>
            </a:r>
          </a:p>
        </p:txBody>
      </p:sp>
      <p:sp>
        <p:nvSpPr>
          <p:cNvPr id="18" name="">
            <a:extLst xmlns:a="http://schemas.openxmlformats.org/drawingml/2006/main">
              <a:ext uri="{FF2B5EF4-FFF2-40B4-BE49-F238E27FC236}">
                <a16:creationId xmlns:a16="http://schemas.microsoft.com/office/drawing/2014/main" id="{4FF957C8-7670-46EB-B9B1-6619211F51A3}"/>
              </a:ext>
            </a:extLst>
          </p:cNvPr>
          <p:cNvSpPr>
            <a:spLocks xmlns:a="http://schemas.openxmlformats.org/drawingml/2006/main" noGrp="1"/>
          </p:cNvSpPr>
          <p:nvPr/>
        </p:nvSpPr>
        <p:spPr>
          <a:xfrm xmlns:a="http://schemas.openxmlformats.org/drawingml/2006/main">
            <a:off x="6172200" y="2476500"/>
            <a:ext cx="4324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0-3 complete target seeds; held-out target-seed evaluation</a:t>
            </a:r>
          </a:p>
        </p:txBody>
      </p:sp>
      <p:sp>
        <p:nvSpPr>
          <p:cNvPr id="19" name="">
            <a:extLst xmlns:a="http://schemas.openxmlformats.org/drawingml/2006/main">
              <a:ext uri="{FF2B5EF4-FFF2-40B4-BE49-F238E27FC236}">
                <a16:creationId xmlns:a16="http://schemas.microsoft.com/office/drawing/2014/main" id="{6AD0BFDF-5900-4D92-ACDB-621D155221DF}"/>
              </a:ext>
            </a:extLst>
          </p:cNvPr>
          <p:cNvSpPr>
            <a:spLocks xmlns:a="http://schemas.openxmlformats.org/drawingml/2006/main" noGrp="1"/>
          </p:cNvSpPr>
          <p:nvPr/>
        </p:nvSpPr>
        <p:spPr>
          <a:xfrm xmlns:a="http://schemas.openxmlformats.org/drawingml/2006/main">
            <a:off x="666750" y="3124200"/>
            <a:ext cx="9906000" cy="6477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11B057C-FCD2-4F91-A256-D2B3599E6CE1}"/>
              </a:ext>
            </a:extLst>
          </p:cNvPr>
          <p:cNvSpPr>
            <a:spLocks xmlns:a="http://schemas.openxmlformats.org/drawingml/2006/main" noGrp="1"/>
          </p:cNvSpPr>
          <p:nvPr/>
        </p:nvSpPr>
        <p:spPr>
          <a:xfrm xmlns:a="http://schemas.openxmlformats.org/drawingml/2006/main">
            <a:off x="742950" y="3124200"/>
            <a:ext cx="1847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New surface</a:t>
            </a:r>
          </a:p>
        </p:txBody>
      </p:sp>
      <p:sp>
        <p:nvSpPr>
          <p:cNvPr id="21" name="">
            <a:extLst xmlns:a="http://schemas.openxmlformats.org/drawingml/2006/main">
              <a:ext uri="{FF2B5EF4-FFF2-40B4-BE49-F238E27FC236}">
                <a16:creationId xmlns:a16="http://schemas.microsoft.com/office/drawing/2014/main" id="{AFD6E029-6BCF-4610-90EE-7E227B84DE70}"/>
              </a:ext>
            </a:extLst>
          </p:cNvPr>
          <p:cNvSpPr>
            <a:spLocks xmlns:a="http://schemas.openxmlformats.org/drawingml/2006/main" noGrp="1"/>
          </p:cNvSpPr>
          <p:nvPr/>
        </p:nvSpPr>
        <p:spPr>
          <a:xfrm xmlns:a="http://schemas.openxmlformats.org/drawingml/2006/main">
            <a:off x="2743200" y="3124200"/>
            <a:ext cx="3276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Does identity manipulation behave differently?</a:t>
            </a:r>
          </a:p>
        </p:txBody>
      </p:sp>
      <p:sp>
        <p:nvSpPr>
          <p:cNvPr id="22" name="">
            <a:extLst xmlns:a="http://schemas.openxmlformats.org/drawingml/2006/main">
              <a:ext uri="{FF2B5EF4-FFF2-40B4-BE49-F238E27FC236}">
                <a16:creationId xmlns:a16="http://schemas.microsoft.com/office/drawing/2014/main" id="{8E30EB99-7796-4020-8EAC-3F6419104071}"/>
              </a:ext>
            </a:extLst>
          </p:cNvPr>
          <p:cNvSpPr>
            <a:spLocks xmlns:a="http://schemas.openxmlformats.org/drawingml/2006/main" noGrp="1"/>
          </p:cNvSpPr>
          <p:nvPr/>
        </p:nvSpPr>
        <p:spPr>
          <a:xfrm xmlns:a="http://schemas.openxmlformats.org/drawingml/2006/main">
            <a:off x="6172200" y="3124200"/>
            <a:ext cx="4324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Sybil baseline, low/high-rate campaign, identity monitoring</a:t>
            </a:r>
          </a:p>
        </p:txBody>
      </p:sp>
      <p:sp>
        <p:nvSpPr>
          <p:cNvPr id="23" name="">
            <a:extLst xmlns:a="http://schemas.openxmlformats.org/drawingml/2006/main">
              <a:ext uri="{FF2B5EF4-FFF2-40B4-BE49-F238E27FC236}">
                <a16:creationId xmlns:a16="http://schemas.microsoft.com/office/drawing/2014/main" id="{EADF7852-9525-4296-9454-B9207415BE8D}"/>
              </a:ext>
            </a:extLst>
          </p:cNvPr>
          <p:cNvSpPr>
            <a:spLocks xmlns:a="http://schemas.openxmlformats.org/drawingml/2006/main" noGrp="1"/>
          </p:cNvSpPr>
          <p:nvPr/>
        </p:nvSpPr>
        <p:spPr>
          <a:xfrm xmlns:a="http://schemas.openxmlformats.org/drawingml/2006/main">
            <a:off x="666750" y="3771900"/>
            <a:ext cx="9906000" cy="647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E2DDF71-DE0C-4394-8145-ED1AD0D0F8F8}"/>
              </a:ext>
            </a:extLst>
          </p:cNvPr>
          <p:cNvSpPr>
            <a:spLocks xmlns:a="http://schemas.openxmlformats.org/drawingml/2006/main" noGrp="1"/>
          </p:cNvSpPr>
          <p:nvPr/>
        </p:nvSpPr>
        <p:spPr>
          <a:xfrm xmlns:a="http://schemas.openxmlformats.org/drawingml/2006/main">
            <a:off x="742950" y="3771900"/>
            <a:ext cx="1847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Online response</a:t>
            </a:r>
          </a:p>
        </p:txBody>
      </p:sp>
      <p:sp>
        <p:nvSpPr>
          <p:cNvPr id="25" name="">
            <a:extLst xmlns:a="http://schemas.openxmlformats.org/drawingml/2006/main">
              <a:ext uri="{FF2B5EF4-FFF2-40B4-BE49-F238E27FC236}">
                <a16:creationId xmlns:a16="http://schemas.microsoft.com/office/drawing/2014/main" id="{149B5EF3-D39F-411A-AC74-4F0B7804596B}"/>
              </a:ext>
            </a:extLst>
          </p:cNvPr>
          <p:cNvSpPr>
            <a:spLocks xmlns:a="http://schemas.openxmlformats.org/drawingml/2006/main" noGrp="1"/>
          </p:cNvSpPr>
          <p:nvPr/>
        </p:nvSpPr>
        <p:spPr>
          <a:xfrm xmlns:a="http://schemas.openxmlformats.org/drawingml/2006/main">
            <a:off x="2743200" y="3771900"/>
            <a:ext cx="3276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Can change be detected and acted upon?</a:t>
            </a:r>
          </a:p>
        </p:txBody>
      </p:sp>
      <p:sp>
        <p:nvSpPr>
          <p:cNvPr id="26" name="">
            <a:extLst xmlns:a="http://schemas.openxmlformats.org/drawingml/2006/main">
              <a:ext uri="{FF2B5EF4-FFF2-40B4-BE49-F238E27FC236}">
                <a16:creationId xmlns:a16="http://schemas.microsoft.com/office/drawing/2014/main" id="{148449A4-A9BE-4DB2-A642-45344EA2A239}"/>
              </a:ext>
            </a:extLst>
          </p:cNvPr>
          <p:cNvSpPr>
            <a:spLocks xmlns:a="http://schemas.openxmlformats.org/drawingml/2006/main" noGrp="1"/>
          </p:cNvSpPr>
          <p:nvPr/>
        </p:nvSpPr>
        <p:spPr>
          <a:xfrm xmlns:a="http://schemas.openxmlformats.org/drawingml/2006/main">
            <a:off x="6172200" y="3771900"/>
            <a:ext cx="4324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CUSUM, DDM, incremental baselines, DQN/DDQN controllers</a:t>
            </a:r>
          </a:p>
        </p:txBody>
      </p:sp>
      <p:sp>
        <p:nvSpPr>
          <p:cNvPr id="27" name="">
            <a:extLst xmlns:a="http://schemas.openxmlformats.org/drawingml/2006/main">
              <a:ext uri="{FF2B5EF4-FFF2-40B4-BE49-F238E27FC236}">
                <a16:creationId xmlns:a16="http://schemas.microsoft.com/office/drawing/2014/main" id="{ACB97618-887F-4B90-B1F9-4B5F3A781FA6}"/>
              </a:ext>
            </a:extLst>
          </p:cNvPr>
          <p:cNvSpPr>
            <a:spLocks xmlns:a="http://schemas.openxmlformats.org/drawingml/2006/main" noGrp="1"/>
          </p:cNvSpPr>
          <p:nvPr/>
        </p:nvSpPr>
        <p:spPr>
          <a:xfrm xmlns:a="http://schemas.openxmlformats.org/drawingml/2006/main">
            <a:off x="666750" y="4419600"/>
            <a:ext cx="9906000" cy="6477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9B85744-C151-406C-92A4-713BC4316983}"/>
              </a:ext>
            </a:extLst>
          </p:cNvPr>
          <p:cNvSpPr>
            <a:spLocks xmlns:a="http://schemas.openxmlformats.org/drawingml/2006/main" noGrp="1"/>
          </p:cNvSpPr>
          <p:nvPr/>
        </p:nvSpPr>
        <p:spPr>
          <a:xfrm xmlns:a="http://schemas.openxmlformats.org/drawingml/2006/main">
            <a:off x="742950" y="4419600"/>
            <a:ext cx="1847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Operational validity</a:t>
            </a:r>
          </a:p>
        </p:txBody>
      </p:sp>
      <p:sp>
        <p:nvSpPr>
          <p:cNvPr id="29" name="">
            <a:extLst xmlns:a="http://schemas.openxmlformats.org/drawingml/2006/main">
              <a:ext uri="{FF2B5EF4-FFF2-40B4-BE49-F238E27FC236}">
                <a16:creationId xmlns:a16="http://schemas.microsoft.com/office/drawing/2014/main" id="{A8438D71-63B2-4B50-8BA8-C50E214F4BF2}"/>
              </a:ext>
            </a:extLst>
          </p:cNvPr>
          <p:cNvSpPr>
            <a:spLocks xmlns:a="http://schemas.openxmlformats.org/drawingml/2006/main" noGrp="1"/>
          </p:cNvSpPr>
          <p:nvPr/>
        </p:nvSpPr>
        <p:spPr>
          <a:xfrm xmlns:a="http://schemas.openxmlformats.org/drawingml/2006/main">
            <a:off x="2743200" y="4419600"/>
            <a:ext cx="3276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Do conclusions survive environmental change?</a:t>
            </a:r>
          </a:p>
        </p:txBody>
      </p:sp>
      <p:sp>
        <p:nvSpPr>
          <p:cNvPr id="30" name="">
            <a:extLst xmlns:a="http://schemas.openxmlformats.org/drawingml/2006/main">
              <a:ext uri="{FF2B5EF4-FFF2-40B4-BE49-F238E27FC236}">
                <a16:creationId xmlns:a16="http://schemas.microsoft.com/office/drawing/2014/main" id="{EDC24338-13DD-4998-AB3A-E366299E32C0}"/>
              </a:ext>
            </a:extLst>
          </p:cNvPr>
          <p:cNvSpPr>
            <a:spLocks xmlns:a="http://schemas.openxmlformats.org/drawingml/2006/main" noGrp="1"/>
          </p:cNvSpPr>
          <p:nvPr/>
        </p:nvSpPr>
        <p:spPr>
          <a:xfrm xmlns:a="http://schemas.openxmlformats.org/drawingml/2006/main">
            <a:off x="6172200" y="4419600"/>
            <a:ext cx="4324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Relocation, lossy radio, trust analysis and defence cost</a:t>
            </a:r>
          </a:p>
        </p:txBody>
      </p:sp>
      <p:sp>
        <p:nvSpPr>
          <p:cNvPr id="31" name="">
            <a:extLst xmlns:a="http://schemas.openxmlformats.org/drawingml/2006/main">
              <a:ext uri="{FF2B5EF4-FFF2-40B4-BE49-F238E27FC236}">
                <a16:creationId xmlns:a16="http://schemas.microsoft.com/office/drawing/2014/main" id="{0E4E3632-B67E-4B1B-AB0E-930DC3724997}"/>
              </a:ext>
            </a:extLst>
          </p:cNvPr>
          <p:cNvSpPr>
            <a:spLocks xmlns:a="http://schemas.openxmlformats.org/drawingml/2006/main" noGrp="1"/>
          </p:cNvSpPr>
          <p:nvPr/>
        </p:nvSpPr>
        <p:spPr>
          <a:xfrm xmlns:a="http://schemas.openxmlformats.org/drawingml/2006/main">
            <a:off x="666750" y="1504950"/>
            <a:ext cx="9906000" cy="356235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32" name="">
            <a:extLst xmlns:a="http://schemas.openxmlformats.org/drawingml/2006/main">
              <a:ext uri="{FF2B5EF4-FFF2-40B4-BE49-F238E27FC236}">
                <a16:creationId xmlns:a16="http://schemas.microsoft.com/office/drawing/2014/main" id="{A44D0988-BFE7-488C-9349-D9EB5358074F}"/>
              </a:ext>
            </a:extLst>
          </p:cNvPr>
          <p:cNvSpPr>
            <a:spLocks xmlns:a="http://schemas.openxmlformats.org/drawingml/2006/main" noGrp="1"/>
          </p:cNvSpPr>
          <p:nvPr/>
        </p:nvSpPr>
        <p:spPr>
          <a:xfrm xmlns:a="http://schemas.openxmlformats.org/drawingml/2006/main">
            <a:off x="666750" y="5334000"/>
            <a:ext cx="9906000" cy="6667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423ECC0-2B36-42D7-9C73-AFE9E18E1F48}"/>
              </a:ext>
            </a:extLst>
          </p:cNvPr>
          <p:cNvSpPr>
            <a:spLocks xmlns:a="http://schemas.openxmlformats.org/drawingml/2006/main" noGrp="1"/>
          </p:cNvSpPr>
          <p:nvPr/>
        </p:nvSpPr>
        <p:spPr>
          <a:xfrm xmlns:a="http://schemas.openxmlformats.org/drawingml/2006/main">
            <a:off x="666750" y="5334000"/>
            <a:ext cx="47625" cy="66675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C7BCB7C-6F8C-49DD-B6E9-B71D5460EC36}"/>
              </a:ext>
            </a:extLst>
          </p:cNvPr>
          <p:cNvSpPr>
            <a:spLocks xmlns:a="http://schemas.openxmlformats.org/drawingml/2006/main" noGrp="1"/>
          </p:cNvSpPr>
          <p:nvPr/>
        </p:nvSpPr>
        <p:spPr>
          <a:xfrm xmlns:a="http://schemas.openxmlformats.org/drawingml/2006/main">
            <a:off x="838200" y="5419725"/>
            <a:ext cx="962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Central argument: adaptation helps only when the feature representation exposes the changed mechanism.</a:t>
            </a:r>
          </a:p>
        </p:txBody>
      </p:sp>
    </p:spTree>
    <p:extLst>
      <p:ext uri="{BB962C8B-B14F-4D97-AF65-F5344CB8AC3E}">
        <p14:creationId xmlns:p14="http://schemas.microsoft.com/office/powerpoint/2010/main" val="111838888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40F6456E-BDFB-4D60-AA44-23C27193E6F1}"/>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RPL security context</a:t>
            </a:r>
          </a:p>
        </p:txBody>
      </p:sp>
      <p:sp>
        <p:nvSpPr>
          <p:cNvPr id="2" name="">
            <a:extLst xmlns:a="http://schemas.openxmlformats.org/drawingml/2006/main">
              <a:ext uri="{FF2B5EF4-FFF2-40B4-BE49-F238E27FC236}">
                <a16:creationId xmlns:a16="http://schemas.microsoft.com/office/drawing/2014/main" id="{A3895604-AF44-45A1-A273-3E060295B8ED}"/>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RPL creates a rank-based routing graph toward a root; attacks target forwarding, control, route choice or identity.</a:t>
            </a:r>
          </a:p>
        </p:txBody>
      </p:sp>
      <p:sp>
        <p:nvSpPr>
          <p:cNvPr id="3" name="">
            <a:extLst xmlns:a="http://schemas.openxmlformats.org/drawingml/2006/main">
              <a:ext uri="{FF2B5EF4-FFF2-40B4-BE49-F238E27FC236}">
                <a16:creationId xmlns:a16="http://schemas.microsoft.com/office/drawing/2014/main" id="{AA93168C-4146-4FFB-93BF-DC865DE674F5}"/>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7B7CA25-3180-40C8-B43E-C861DB363E2D}"/>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F45CEAB-8D8C-422F-9B1A-6DCA46C694A4}"/>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Technical context</a:t>
            </a:r>
          </a:p>
        </p:txBody>
      </p:sp>
      <p:sp>
        <p:nvSpPr>
          <p:cNvPr id="6" name="">
            <a:extLst xmlns:a="http://schemas.openxmlformats.org/drawingml/2006/main">
              <a:ext uri="{FF2B5EF4-FFF2-40B4-BE49-F238E27FC236}">
                <a16:creationId xmlns:a16="http://schemas.microsoft.com/office/drawing/2014/main" id="{99050B4A-0D22-427B-A2FF-B7B3701A7407}"/>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03  </a:t>
            </a:r>
          </a:p>
        </p:txBody>
      </p:sp>
      <p:sp>
        <p:nvSpPr>
          <p:cNvPr id="7" name="">
            <a:extLst xmlns:a="http://schemas.openxmlformats.org/drawingml/2006/main">
              <a:ext uri="{FF2B5EF4-FFF2-40B4-BE49-F238E27FC236}">
                <a16:creationId xmlns:a16="http://schemas.microsoft.com/office/drawing/2014/main" id="{37425B98-9C97-41DC-9DC3-19471A7EA2CE}"/>
              </a:ext>
            </a:extLst>
          </p:cNvPr>
          <p:cNvSpPr>
            <a:spLocks xmlns:a="http://schemas.openxmlformats.org/drawingml/2006/main" noGrp="1"/>
          </p:cNvSpPr>
          <p:nvPr/>
        </p:nvSpPr>
        <p:spPr>
          <a:xfrm xmlns:a="http://schemas.openxmlformats.org/drawingml/2006/main">
            <a:off x="666750" y="1504950"/>
            <a:ext cx="990600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58985C5-0138-4B26-B9E7-742AA522418B}"/>
              </a:ext>
            </a:extLst>
          </p:cNvPr>
          <p:cNvSpPr>
            <a:spLocks xmlns:a="http://schemas.openxmlformats.org/drawingml/2006/main" noGrp="1"/>
          </p:cNvSpPr>
          <p:nvPr/>
        </p:nvSpPr>
        <p:spPr>
          <a:xfrm xmlns:a="http://schemas.openxmlformats.org/drawingml/2006/main">
            <a:off x="742950" y="15049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Security surface</a:t>
            </a:r>
          </a:p>
        </p:txBody>
      </p:sp>
      <p:sp>
        <p:nvSpPr>
          <p:cNvPr id="9" name="">
            <a:extLst xmlns:a="http://schemas.openxmlformats.org/drawingml/2006/main">
              <a:ext uri="{FF2B5EF4-FFF2-40B4-BE49-F238E27FC236}">
                <a16:creationId xmlns:a16="http://schemas.microsoft.com/office/drawing/2014/main" id="{813CDFCE-A0A6-4047-BAD9-78DA9DD2B998}"/>
              </a:ext>
            </a:extLst>
          </p:cNvPr>
          <p:cNvSpPr>
            <a:spLocks xmlns:a="http://schemas.openxmlformats.org/drawingml/2006/main" noGrp="1"/>
          </p:cNvSpPr>
          <p:nvPr/>
        </p:nvSpPr>
        <p:spPr>
          <a:xfrm xmlns:a="http://schemas.openxmlformats.org/drawingml/2006/main">
            <a:off x="2552700" y="1504950"/>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Implemented attacks</a:t>
            </a:r>
          </a:p>
        </p:txBody>
      </p:sp>
      <p:sp>
        <p:nvSpPr>
          <p:cNvPr id="10" name="">
            <a:extLst xmlns:a="http://schemas.openxmlformats.org/drawingml/2006/main">
              <a:ext uri="{FF2B5EF4-FFF2-40B4-BE49-F238E27FC236}">
                <a16:creationId xmlns:a16="http://schemas.microsoft.com/office/drawing/2014/main" id="{6C9BEF1F-2856-4445-BBCB-78D12360B1B1}"/>
              </a:ext>
            </a:extLst>
          </p:cNvPr>
          <p:cNvSpPr>
            <a:spLocks xmlns:a="http://schemas.openxmlformats.org/drawingml/2006/main" noGrp="1"/>
          </p:cNvSpPr>
          <p:nvPr/>
        </p:nvSpPr>
        <p:spPr>
          <a:xfrm xmlns:a="http://schemas.openxmlformats.org/drawingml/2006/main">
            <a:off x="5124450" y="1504950"/>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Protocol behaviour changed</a:t>
            </a:r>
          </a:p>
        </p:txBody>
      </p:sp>
      <p:sp>
        <p:nvSpPr>
          <p:cNvPr id="11" name="">
            <a:extLst xmlns:a="http://schemas.openxmlformats.org/drawingml/2006/main">
              <a:ext uri="{FF2B5EF4-FFF2-40B4-BE49-F238E27FC236}">
                <a16:creationId xmlns:a16="http://schemas.microsoft.com/office/drawing/2014/main" id="{B39B3030-739C-442D-A2A5-73EB87FDAA09}"/>
              </a:ext>
            </a:extLst>
          </p:cNvPr>
          <p:cNvSpPr>
            <a:spLocks xmlns:a="http://schemas.openxmlformats.org/drawingml/2006/main" noGrp="1"/>
          </p:cNvSpPr>
          <p:nvPr/>
        </p:nvSpPr>
        <p:spPr>
          <a:xfrm xmlns:a="http://schemas.openxmlformats.org/drawingml/2006/main">
            <a:off x="7505700" y="15049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Expected observables</a:t>
            </a:r>
          </a:p>
        </p:txBody>
      </p:sp>
      <p:sp>
        <p:nvSpPr>
          <p:cNvPr id="12" name="">
            <a:extLst xmlns:a="http://schemas.openxmlformats.org/drawingml/2006/main">
              <a:ext uri="{FF2B5EF4-FFF2-40B4-BE49-F238E27FC236}">
                <a16:creationId xmlns:a16="http://schemas.microsoft.com/office/drawing/2014/main" id="{91F297C6-909A-4EAD-A7DE-5DC730ABF28D}"/>
              </a:ext>
            </a:extLst>
          </p:cNvPr>
          <p:cNvSpPr>
            <a:spLocks xmlns:a="http://schemas.openxmlformats.org/drawingml/2006/main" noGrp="1"/>
          </p:cNvSpPr>
          <p:nvPr/>
        </p:nvSpPr>
        <p:spPr>
          <a:xfrm xmlns:a="http://schemas.openxmlformats.org/drawingml/2006/main">
            <a:off x="666750" y="1828800"/>
            <a:ext cx="9906000" cy="7810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7CC46B8-3A91-4D91-BB8E-094BFB4C2EDA}"/>
              </a:ext>
            </a:extLst>
          </p:cNvPr>
          <p:cNvSpPr>
            <a:spLocks xmlns:a="http://schemas.openxmlformats.org/drawingml/2006/main" noGrp="1"/>
          </p:cNvSpPr>
          <p:nvPr/>
        </p:nvSpPr>
        <p:spPr>
          <a:xfrm xmlns:a="http://schemas.openxmlformats.org/drawingml/2006/main">
            <a:off x="742950" y="1828800"/>
            <a:ext cx="1657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Forwarding</a:t>
            </a:r>
          </a:p>
        </p:txBody>
      </p:sp>
      <p:sp>
        <p:nvSpPr>
          <p:cNvPr id="14" name="">
            <a:extLst xmlns:a="http://schemas.openxmlformats.org/drawingml/2006/main">
              <a:ext uri="{FF2B5EF4-FFF2-40B4-BE49-F238E27FC236}">
                <a16:creationId xmlns:a16="http://schemas.microsoft.com/office/drawing/2014/main" id="{B05A426B-9690-42EB-9ACD-37FB925EC3CC}"/>
              </a:ext>
            </a:extLst>
          </p:cNvPr>
          <p:cNvSpPr>
            <a:spLocks xmlns:a="http://schemas.openxmlformats.org/drawingml/2006/main" noGrp="1"/>
          </p:cNvSpPr>
          <p:nvPr/>
        </p:nvSpPr>
        <p:spPr>
          <a:xfrm xmlns:a="http://schemas.openxmlformats.org/drawingml/2006/main">
            <a:off x="2552700" y="1828800"/>
            <a:ext cx="2419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Blackhole, grayhole</a:t>
            </a:r>
          </a:p>
        </p:txBody>
      </p:sp>
      <p:sp>
        <p:nvSpPr>
          <p:cNvPr id="15" name="">
            <a:extLst xmlns:a="http://schemas.openxmlformats.org/drawingml/2006/main">
              <a:ext uri="{FF2B5EF4-FFF2-40B4-BE49-F238E27FC236}">
                <a16:creationId xmlns:a16="http://schemas.microsoft.com/office/drawing/2014/main" id="{B803088D-BD79-4A19-AC0D-3F09C1FA30F4}"/>
              </a:ext>
            </a:extLst>
          </p:cNvPr>
          <p:cNvSpPr>
            <a:spLocks xmlns:a="http://schemas.openxmlformats.org/drawingml/2006/main" noGrp="1"/>
          </p:cNvSpPr>
          <p:nvPr/>
        </p:nvSpPr>
        <p:spPr>
          <a:xfrm xmlns:a="http://schemas.openxmlformats.org/drawingml/2006/main">
            <a:off x="5124450" y="1828800"/>
            <a:ext cx="2228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Drop all or selected application packets</a:t>
            </a:r>
          </a:p>
        </p:txBody>
      </p:sp>
      <p:sp>
        <p:nvSpPr>
          <p:cNvPr id="16" name="">
            <a:extLst xmlns:a="http://schemas.openxmlformats.org/drawingml/2006/main">
              <a:ext uri="{FF2B5EF4-FFF2-40B4-BE49-F238E27FC236}">
                <a16:creationId xmlns:a16="http://schemas.microsoft.com/office/drawing/2014/main" id="{3610B73D-EAEF-4EC5-852D-D3EFD71391CB}"/>
              </a:ext>
            </a:extLst>
          </p:cNvPr>
          <p:cNvSpPr>
            <a:spLocks xmlns:a="http://schemas.openxmlformats.org/drawingml/2006/main" noGrp="1"/>
          </p:cNvSpPr>
          <p:nvPr/>
        </p:nvSpPr>
        <p:spPr>
          <a:xfrm xmlns:a="http://schemas.openxmlformats.org/drawingml/2006/main">
            <a:off x="7505700" y="1828800"/>
            <a:ext cx="2990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Delivery, retransmission and response volume</a:t>
            </a:r>
          </a:p>
        </p:txBody>
      </p:sp>
      <p:sp>
        <p:nvSpPr>
          <p:cNvPr id="17" name="">
            <a:extLst xmlns:a="http://schemas.openxmlformats.org/drawingml/2006/main">
              <a:ext uri="{FF2B5EF4-FFF2-40B4-BE49-F238E27FC236}">
                <a16:creationId xmlns:a16="http://schemas.microsoft.com/office/drawing/2014/main" id="{641BF1E8-2891-4B56-9A9C-D56461ED3C3A}"/>
              </a:ext>
            </a:extLst>
          </p:cNvPr>
          <p:cNvSpPr>
            <a:spLocks xmlns:a="http://schemas.openxmlformats.org/drawingml/2006/main" noGrp="1"/>
          </p:cNvSpPr>
          <p:nvPr/>
        </p:nvSpPr>
        <p:spPr>
          <a:xfrm xmlns:a="http://schemas.openxmlformats.org/drawingml/2006/main">
            <a:off x="666750" y="2609850"/>
            <a:ext cx="9906000" cy="781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6276925-740D-4583-A809-7AE8078630F3}"/>
              </a:ext>
            </a:extLst>
          </p:cNvPr>
          <p:cNvSpPr>
            <a:spLocks xmlns:a="http://schemas.openxmlformats.org/drawingml/2006/main" noGrp="1"/>
          </p:cNvSpPr>
          <p:nvPr/>
        </p:nvSpPr>
        <p:spPr>
          <a:xfrm xmlns:a="http://schemas.openxmlformats.org/drawingml/2006/main">
            <a:off x="742950" y="2609850"/>
            <a:ext cx="1657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Rank and route</a:t>
            </a:r>
          </a:p>
        </p:txBody>
      </p:sp>
      <p:sp>
        <p:nvSpPr>
          <p:cNvPr id="19" name="">
            <a:extLst xmlns:a="http://schemas.openxmlformats.org/drawingml/2006/main">
              <a:ext uri="{FF2B5EF4-FFF2-40B4-BE49-F238E27FC236}">
                <a16:creationId xmlns:a16="http://schemas.microsoft.com/office/drawing/2014/main" id="{9667C809-0755-4449-A69C-A81BF252A84E}"/>
              </a:ext>
            </a:extLst>
          </p:cNvPr>
          <p:cNvSpPr>
            <a:spLocks xmlns:a="http://schemas.openxmlformats.org/drawingml/2006/main" noGrp="1"/>
          </p:cNvSpPr>
          <p:nvPr/>
        </p:nvSpPr>
        <p:spPr>
          <a:xfrm xmlns:a="http://schemas.openxmlformats.org/drawingml/2006/main">
            <a:off x="2552700" y="2609850"/>
            <a:ext cx="2419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Sinkhole, increase rank, worst parent, wormhole</a:t>
            </a:r>
          </a:p>
        </p:txBody>
      </p:sp>
      <p:sp>
        <p:nvSpPr>
          <p:cNvPr id="20" name="">
            <a:extLst xmlns:a="http://schemas.openxmlformats.org/drawingml/2006/main">
              <a:ext uri="{FF2B5EF4-FFF2-40B4-BE49-F238E27FC236}">
                <a16:creationId xmlns:a16="http://schemas.microsoft.com/office/drawing/2014/main" id="{F17C1AFB-458B-4AA9-B38C-2CC71B735E77}"/>
              </a:ext>
            </a:extLst>
          </p:cNvPr>
          <p:cNvSpPr>
            <a:spLocks xmlns:a="http://schemas.openxmlformats.org/drawingml/2006/main" noGrp="1"/>
          </p:cNvSpPr>
          <p:nvPr/>
        </p:nvSpPr>
        <p:spPr>
          <a:xfrm xmlns:a="http://schemas.openxmlformats.org/drawingml/2006/main">
            <a:off x="5124450" y="2609850"/>
            <a:ext cx="2228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Advertised rank, parent choice or radio path</a:t>
            </a:r>
          </a:p>
        </p:txBody>
      </p:sp>
      <p:sp>
        <p:nvSpPr>
          <p:cNvPr id="21" name="">
            <a:extLst xmlns:a="http://schemas.openxmlformats.org/drawingml/2006/main">
              <a:ext uri="{FF2B5EF4-FFF2-40B4-BE49-F238E27FC236}">
                <a16:creationId xmlns:a16="http://schemas.microsoft.com/office/drawing/2014/main" id="{580769EB-0137-4C3B-9748-614AC903623C}"/>
              </a:ext>
            </a:extLst>
          </p:cNvPr>
          <p:cNvSpPr>
            <a:spLocks xmlns:a="http://schemas.openxmlformats.org/drawingml/2006/main" noGrp="1"/>
          </p:cNvSpPr>
          <p:nvPr/>
        </p:nvSpPr>
        <p:spPr>
          <a:xfrm xmlns:a="http://schemas.openxmlformats.org/drawingml/2006/main">
            <a:off x="7505700" y="2609850"/>
            <a:ext cx="2990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Rank, parent churn and topology/radio evidence</a:t>
            </a:r>
          </a:p>
        </p:txBody>
      </p:sp>
      <p:sp>
        <p:nvSpPr>
          <p:cNvPr id="22" name="">
            <a:extLst xmlns:a="http://schemas.openxmlformats.org/drawingml/2006/main">
              <a:ext uri="{FF2B5EF4-FFF2-40B4-BE49-F238E27FC236}">
                <a16:creationId xmlns:a16="http://schemas.microsoft.com/office/drawing/2014/main" id="{435C32FA-6532-44E5-A3D4-EEB2664BFA05}"/>
              </a:ext>
            </a:extLst>
          </p:cNvPr>
          <p:cNvSpPr>
            <a:spLocks xmlns:a="http://schemas.openxmlformats.org/drawingml/2006/main" noGrp="1"/>
          </p:cNvSpPr>
          <p:nvPr/>
        </p:nvSpPr>
        <p:spPr>
          <a:xfrm xmlns:a="http://schemas.openxmlformats.org/drawingml/2006/main">
            <a:off x="666750" y="3390900"/>
            <a:ext cx="9906000" cy="7810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4D37165-50ED-4A91-A734-E603212C0278}"/>
              </a:ext>
            </a:extLst>
          </p:cNvPr>
          <p:cNvSpPr>
            <a:spLocks xmlns:a="http://schemas.openxmlformats.org/drawingml/2006/main" noGrp="1"/>
          </p:cNvSpPr>
          <p:nvPr/>
        </p:nvSpPr>
        <p:spPr>
          <a:xfrm xmlns:a="http://schemas.openxmlformats.org/drawingml/2006/main">
            <a:off x="742950" y="3390900"/>
            <a:ext cx="1657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Control plane</a:t>
            </a:r>
          </a:p>
        </p:txBody>
      </p:sp>
      <p:sp>
        <p:nvSpPr>
          <p:cNvPr id="24" name="">
            <a:extLst xmlns:a="http://schemas.openxmlformats.org/drawingml/2006/main">
              <a:ext uri="{FF2B5EF4-FFF2-40B4-BE49-F238E27FC236}">
                <a16:creationId xmlns:a16="http://schemas.microsoft.com/office/drawing/2014/main" id="{96E8D1A5-6F23-4609-8DC0-1976A544B005}"/>
              </a:ext>
            </a:extLst>
          </p:cNvPr>
          <p:cNvSpPr>
            <a:spLocks xmlns:a="http://schemas.openxmlformats.org/drawingml/2006/main" noGrp="1"/>
          </p:cNvSpPr>
          <p:nvPr/>
        </p:nvSpPr>
        <p:spPr>
          <a:xfrm xmlns:a="http://schemas.openxmlformats.org/drawingml/2006/main">
            <a:off x="2552700" y="3390900"/>
            <a:ext cx="2419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DIS flood, DIO suppression</a:t>
            </a:r>
          </a:p>
        </p:txBody>
      </p:sp>
      <p:sp>
        <p:nvSpPr>
          <p:cNvPr id="25" name="">
            <a:extLst xmlns:a="http://schemas.openxmlformats.org/drawingml/2006/main">
              <a:ext uri="{FF2B5EF4-FFF2-40B4-BE49-F238E27FC236}">
                <a16:creationId xmlns:a16="http://schemas.microsoft.com/office/drawing/2014/main" id="{946F4940-223A-4999-B125-CA5BE53B91B8}"/>
              </a:ext>
            </a:extLst>
          </p:cNvPr>
          <p:cNvSpPr>
            <a:spLocks xmlns:a="http://schemas.openxmlformats.org/drawingml/2006/main" noGrp="1"/>
          </p:cNvSpPr>
          <p:nvPr/>
        </p:nvSpPr>
        <p:spPr>
          <a:xfrm xmlns:a="http://schemas.openxmlformats.org/drawingml/2006/main">
            <a:off x="5124450" y="3390900"/>
            <a:ext cx="2228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Increase or suppress RPL control messages</a:t>
            </a:r>
          </a:p>
        </p:txBody>
      </p:sp>
      <p:sp>
        <p:nvSpPr>
          <p:cNvPr id="26" name="">
            <a:extLst xmlns:a="http://schemas.openxmlformats.org/drawingml/2006/main">
              <a:ext uri="{FF2B5EF4-FFF2-40B4-BE49-F238E27FC236}">
                <a16:creationId xmlns:a16="http://schemas.microsoft.com/office/drawing/2014/main" id="{BE667543-9A78-455F-95E3-14066B7B9CC5}"/>
              </a:ext>
            </a:extLst>
          </p:cNvPr>
          <p:cNvSpPr>
            <a:spLocks xmlns:a="http://schemas.openxmlformats.org/drawingml/2006/main" noGrp="1"/>
          </p:cNvSpPr>
          <p:nvPr/>
        </p:nvSpPr>
        <p:spPr>
          <a:xfrm xmlns:a="http://schemas.openxmlformats.org/drawingml/2006/main">
            <a:off x="7505700" y="3390900"/>
            <a:ext cx="2990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DIS/DIO rates and timing</a:t>
            </a:r>
          </a:p>
        </p:txBody>
      </p:sp>
      <p:sp>
        <p:nvSpPr>
          <p:cNvPr id="27" name="">
            <a:extLst xmlns:a="http://schemas.openxmlformats.org/drawingml/2006/main">
              <a:ext uri="{FF2B5EF4-FFF2-40B4-BE49-F238E27FC236}">
                <a16:creationId xmlns:a16="http://schemas.microsoft.com/office/drawing/2014/main" id="{0BD7D30D-0FA5-48A5-8D1A-2E8F6B8C2509}"/>
              </a:ext>
            </a:extLst>
          </p:cNvPr>
          <p:cNvSpPr>
            <a:spLocks xmlns:a="http://schemas.openxmlformats.org/drawingml/2006/main" noGrp="1"/>
          </p:cNvSpPr>
          <p:nvPr/>
        </p:nvSpPr>
        <p:spPr>
          <a:xfrm xmlns:a="http://schemas.openxmlformats.org/drawingml/2006/main">
            <a:off x="666750" y="4171950"/>
            <a:ext cx="9906000" cy="781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88C9BF0-6A79-4C48-BB28-A387C9657734}"/>
              </a:ext>
            </a:extLst>
          </p:cNvPr>
          <p:cNvSpPr>
            <a:spLocks xmlns:a="http://schemas.openxmlformats.org/drawingml/2006/main" noGrp="1"/>
          </p:cNvSpPr>
          <p:nvPr/>
        </p:nvSpPr>
        <p:spPr>
          <a:xfrm xmlns:a="http://schemas.openxmlformats.org/drawingml/2006/main">
            <a:off x="742950" y="4171950"/>
            <a:ext cx="1657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Identity</a:t>
            </a:r>
          </a:p>
        </p:txBody>
      </p:sp>
      <p:sp>
        <p:nvSpPr>
          <p:cNvPr id="29" name="">
            <a:extLst xmlns:a="http://schemas.openxmlformats.org/drawingml/2006/main">
              <a:ext uri="{FF2B5EF4-FFF2-40B4-BE49-F238E27FC236}">
                <a16:creationId xmlns:a16="http://schemas.microsoft.com/office/drawing/2014/main" id="{2508B709-CB22-43C1-9E27-3F192FF1704E}"/>
              </a:ext>
            </a:extLst>
          </p:cNvPr>
          <p:cNvSpPr>
            <a:spLocks xmlns:a="http://schemas.openxmlformats.org/drawingml/2006/main" noGrp="1"/>
          </p:cNvSpPr>
          <p:nvPr/>
        </p:nvSpPr>
        <p:spPr>
          <a:xfrm xmlns:a="http://schemas.openxmlformats.org/drawingml/2006/main">
            <a:off x="2552700" y="4171950"/>
            <a:ext cx="2419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Sybil</a:t>
            </a:r>
          </a:p>
        </p:txBody>
      </p:sp>
      <p:sp>
        <p:nvSpPr>
          <p:cNvPr id="30" name="">
            <a:extLst xmlns:a="http://schemas.openxmlformats.org/drawingml/2006/main">
              <a:ext uri="{FF2B5EF4-FFF2-40B4-BE49-F238E27FC236}">
                <a16:creationId xmlns:a16="http://schemas.microsoft.com/office/drawing/2014/main" id="{5CD0302D-5599-4566-9ED6-776ED894452A}"/>
              </a:ext>
            </a:extLst>
          </p:cNvPr>
          <p:cNvSpPr>
            <a:spLocks xmlns:a="http://schemas.openxmlformats.org/drawingml/2006/main" noGrp="1"/>
          </p:cNvSpPr>
          <p:nvPr/>
        </p:nvSpPr>
        <p:spPr>
          <a:xfrm xmlns:a="http://schemas.openxmlformats.org/drawingml/2006/main">
            <a:off x="5124450" y="4171950"/>
            <a:ext cx="2228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Rotate IPv6 source identity in DIO traffic</a:t>
            </a:r>
          </a:p>
        </p:txBody>
      </p:sp>
      <p:sp>
        <p:nvSpPr>
          <p:cNvPr id="31" name="">
            <a:extLst xmlns:a="http://schemas.openxmlformats.org/drawingml/2006/main">
              <a:ext uri="{FF2B5EF4-FFF2-40B4-BE49-F238E27FC236}">
                <a16:creationId xmlns:a16="http://schemas.microsoft.com/office/drawing/2014/main" id="{2314193A-062B-4772-BBCC-A8488CDCF776}"/>
              </a:ext>
            </a:extLst>
          </p:cNvPr>
          <p:cNvSpPr>
            <a:spLocks xmlns:a="http://schemas.openxmlformats.org/drawingml/2006/main" noGrp="1"/>
          </p:cNvSpPr>
          <p:nvPr/>
        </p:nvSpPr>
        <p:spPr>
          <a:xfrm xmlns:a="http://schemas.openxmlformats.org/drawingml/2006/main">
            <a:off x="7505700" y="4171950"/>
            <a:ext cx="2990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Distinct identities, churn and consistency</a:t>
            </a:r>
          </a:p>
        </p:txBody>
      </p:sp>
      <p:sp>
        <p:nvSpPr>
          <p:cNvPr id="32" name="">
            <a:extLst xmlns:a="http://schemas.openxmlformats.org/drawingml/2006/main">
              <a:ext uri="{FF2B5EF4-FFF2-40B4-BE49-F238E27FC236}">
                <a16:creationId xmlns:a16="http://schemas.microsoft.com/office/drawing/2014/main" id="{E0D9946F-B99E-4AFD-8344-289D9689DE7F}"/>
              </a:ext>
            </a:extLst>
          </p:cNvPr>
          <p:cNvSpPr>
            <a:spLocks xmlns:a="http://schemas.openxmlformats.org/drawingml/2006/main" noGrp="1"/>
          </p:cNvSpPr>
          <p:nvPr/>
        </p:nvSpPr>
        <p:spPr>
          <a:xfrm xmlns:a="http://schemas.openxmlformats.org/drawingml/2006/main">
            <a:off x="666750" y="1504950"/>
            <a:ext cx="9906000" cy="344805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B19E7ED7-30A3-480F-90F5-9EFDA7EB6A0A}"/>
              </a:ext>
            </a:extLst>
          </p:cNvPr>
          <p:cNvSpPr>
            <a:spLocks xmlns:a="http://schemas.openxmlformats.org/drawingml/2006/main" noGrp="1"/>
          </p:cNvSpPr>
          <p:nvPr/>
        </p:nvSpPr>
        <p:spPr>
          <a:xfrm xmlns:a="http://schemas.openxmlformats.org/drawingml/2006/main">
            <a:off x="666750" y="52387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07C83"/>
                </a:solidFill>
              </a:defRPr>
            </a:pPr>
            <a:r>
              <a:rPr sz="1350" b="1">
                <a:solidFill>
                  <a:srgbClr val="007C83"/>
                </a:solidFill>
              </a:rPr>
              <a:t>Why Cooja</a:t>
            </a:r>
          </a:p>
        </p:txBody>
      </p:sp>
      <p:sp>
        <p:nvSpPr>
          <p:cNvPr id="34" name="">
            <a:extLst xmlns:a="http://schemas.openxmlformats.org/drawingml/2006/main">
              <a:ext uri="{FF2B5EF4-FFF2-40B4-BE49-F238E27FC236}">
                <a16:creationId xmlns:a16="http://schemas.microsoft.com/office/drawing/2014/main" id="{C50CDA3F-81D7-43EB-815F-3BC05212CF8A}"/>
              </a:ext>
            </a:extLst>
          </p:cNvPr>
          <p:cNvSpPr>
            <a:spLocks xmlns:a="http://schemas.openxmlformats.org/drawingml/2006/main" noGrp="1"/>
          </p:cNvSpPr>
          <p:nvPr/>
        </p:nvSpPr>
        <p:spPr>
          <a:xfrm xmlns:a="http://schemas.openxmlformats.org/drawingml/2006/main">
            <a:off x="2095500" y="5162550"/>
            <a:ext cx="847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11827"/>
                </a:solidFill>
              </a:defRPr>
            </a:pPr>
            <a:r>
              <a:rPr sz="1275" b="0">
                <a:solidFill>
                  <a:srgbClr val="111827"/>
                </a:solidFill>
              </a:rPr>
              <a:t>Executes Contiki-NG firmware logic, controls seed/topology/radio conditions, and preserves protocol-level logs. It provides simulator validity, not physical deployment validity.</a:t>
            </a:r>
          </a:p>
        </p:txBody>
      </p:sp>
    </p:spTree>
    <p:extLst>
      <p:ext uri="{BB962C8B-B14F-4D97-AF65-F5344CB8AC3E}">
        <p14:creationId xmlns:p14="http://schemas.microsoft.com/office/powerpoint/2010/main" val="128404624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654C87F-14D7-4FAF-8914-00C039403A68}"/>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Relationship to SVELTE and Gope et al.</a:t>
            </a:r>
          </a:p>
        </p:txBody>
      </p:sp>
      <p:sp>
        <p:nvSpPr>
          <p:cNvPr id="2" name="">
            <a:extLst xmlns:a="http://schemas.openxmlformats.org/drawingml/2006/main">
              <a:ext uri="{FF2B5EF4-FFF2-40B4-BE49-F238E27FC236}">
                <a16:creationId xmlns:a16="http://schemas.microsoft.com/office/drawing/2014/main" id="{083D5205-38C6-48EE-A68D-030811648B4C}"/>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The prior papers shaped the security signals and adaptation question, but the experimental implementations differ.</a:t>
            </a:r>
          </a:p>
        </p:txBody>
      </p:sp>
      <p:sp>
        <p:nvSpPr>
          <p:cNvPr id="3" name="">
            <a:extLst xmlns:a="http://schemas.openxmlformats.org/drawingml/2006/main">
              <a:ext uri="{FF2B5EF4-FFF2-40B4-BE49-F238E27FC236}">
                <a16:creationId xmlns:a16="http://schemas.microsoft.com/office/drawing/2014/main" id="{D1363A7E-67DD-4B46-A0D4-B502B04B219A}"/>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C5FB43A-AF3A-42CA-81C5-1F267AFF440F}"/>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DFB6116-72AB-4ACD-8DE9-CBF84FC188FB}"/>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Literature positioning</a:t>
            </a:r>
          </a:p>
        </p:txBody>
      </p:sp>
      <p:sp>
        <p:nvSpPr>
          <p:cNvPr id="6" name="">
            <a:extLst xmlns:a="http://schemas.openxmlformats.org/drawingml/2006/main">
              <a:ext uri="{FF2B5EF4-FFF2-40B4-BE49-F238E27FC236}">
                <a16:creationId xmlns:a16="http://schemas.microsoft.com/office/drawing/2014/main" id="{B25DF412-0FB9-4188-BD4B-B60499C321B1}"/>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04  </a:t>
            </a:r>
          </a:p>
        </p:txBody>
      </p:sp>
      <p:sp>
        <p:nvSpPr>
          <p:cNvPr id="7" name="">
            <a:extLst xmlns:a="http://schemas.openxmlformats.org/drawingml/2006/main">
              <a:ext uri="{FF2B5EF4-FFF2-40B4-BE49-F238E27FC236}">
                <a16:creationId xmlns:a16="http://schemas.microsoft.com/office/drawing/2014/main" id="{3CDDE6A1-A6EF-46AC-8C89-DAB21574B92D}"/>
              </a:ext>
            </a:extLst>
          </p:cNvPr>
          <p:cNvSpPr>
            <a:spLocks xmlns:a="http://schemas.openxmlformats.org/drawingml/2006/main" noGrp="1"/>
          </p:cNvSpPr>
          <p:nvPr/>
        </p:nvSpPr>
        <p:spPr>
          <a:xfrm xmlns:a="http://schemas.openxmlformats.org/drawingml/2006/main">
            <a:off x="457200" y="1466850"/>
            <a:ext cx="1114425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D4CA051-F8BE-4A7D-B85E-981381AA94D6}"/>
              </a:ext>
            </a:extLst>
          </p:cNvPr>
          <p:cNvSpPr>
            <a:spLocks xmlns:a="http://schemas.openxmlformats.org/drawingml/2006/main" noGrp="1"/>
          </p:cNvSpPr>
          <p:nvPr/>
        </p:nvSpPr>
        <p:spPr>
          <a:xfrm xmlns:a="http://schemas.openxmlformats.org/drawingml/2006/main">
            <a:off x="533400" y="14668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Study</a:t>
            </a:r>
          </a:p>
        </p:txBody>
      </p:sp>
      <p:sp>
        <p:nvSpPr>
          <p:cNvPr id="9" name="">
            <a:extLst xmlns:a="http://schemas.openxmlformats.org/drawingml/2006/main">
              <a:ext uri="{FF2B5EF4-FFF2-40B4-BE49-F238E27FC236}">
                <a16:creationId xmlns:a16="http://schemas.microsoft.com/office/drawing/2014/main" id="{F750253D-4EFF-4589-B611-5E095C8334EA}"/>
              </a:ext>
            </a:extLst>
          </p:cNvPr>
          <p:cNvSpPr>
            <a:spLocks xmlns:a="http://schemas.openxmlformats.org/drawingml/2006/main" noGrp="1"/>
          </p:cNvSpPr>
          <p:nvPr/>
        </p:nvSpPr>
        <p:spPr>
          <a:xfrm xmlns:a="http://schemas.openxmlformats.org/drawingml/2006/main">
            <a:off x="1962150" y="14668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Environment</a:t>
            </a:r>
          </a:p>
        </p:txBody>
      </p:sp>
      <p:sp>
        <p:nvSpPr>
          <p:cNvPr id="10" name="">
            <a:extLst xmlns:a="http://schemas.openxmlformats.org/drawingml/2006/main">
              <a:ext uri="{FF2B5EF4-FFF2-40B4-BE49-F238E27FC236}">
                <a16:creationId xmlns:a16="http://schemas.microsoft.com/office/drawing/2014/main" id="{1A57B23D-22AF-49E0-A0E3-C20CC6F3A406}"/>
              </a:ext>
            </a:extLst>
          </p:cNvPr>
          <p:cNvSpPr>
            <a:spLocks xmlns:a="http://schemas.openxmlformats.org/drawingml/2006/main" noGrp="1"/>
          </p:cNvSpPr>
          <p:nvPr/>
        </p:nvSpPr>
        <p:spPr>
          <a:xfrm xmlns:a="http://schemas.openxmlformats.org/drawingml/2006/main">
            <a:off x="4438650" y="1466850"/>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Security scope</a:t>
            </a:r>
          </a:p>
        </p:txBody>
      </p:sp>
      <p:sp>
        <p:nvSpPr>
          <p:cNvPr id="11" name="">
            <a:extLst xmlns:a="http://schemas.openxmlformats.org/drawingml/2006/main">
              <a:ext uri="{FF2B5EF4-FFF2-40B4-BE49-F238E27FC236}">
                <a16:creationId xmlns:a16="http://schemas.microsoft.com/office/drawing/2014/main" id="{60371CD2-FE5C-40DF-B7DA-300538104CD6}"/>
              </a:ext>
            </a:extLst>
          </p:cNvPr>
          <p:cNvSpPr>
            <a:spLocks xmlns:a="http://schemas.openxmlformats.org/drawingml/2006/main" noGrp="1"/>
          </p:cNvSpPr>
          <p:nvPr/>
        </p:nvSpPr>
        <p:spPr>
          <a:xfrm xmlns:a="http://schemas.openxmlformats.org/drawingml/2006/main">
            <a:off x="6819900" y="14668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Adaptive method</a:t>
            </a:r>
          </a:p>
        </p:txBody>
      </p:sp>
      <p:sp>
        <p:nvSpPr>
          <p:cNvPr id="12" name="">
            <a:extLst xmlns:a="http://schemas.openxmlformats.org/drawingml/2006/main">
              <a:ext uri="{FF2B5EF4-FFF2-40B4-BE49-F238E27FC236}">
                <a16:creationId xmlns:a16="http://schemas.microsoft.com/office/drawing/2014/main" id="{9DDEE4AD-FF80-44AF-8474-D78A74A4A7B5}"/>
              </a:ext>
            </a:extLst>
          </p:cNvPr>
          <p:cNvSpPr>
            <a:spLocks xmlns:a="http://schemas.openxmlformats.org/drawingml/2006/main" noGrp="1"/>
          </p:cNvSpPr>
          <p:nvPr/>
        </p:nvSpPr>
        <p:spPr>
          <a:xfrm xmlns:a="http://schemas.openxmlformats.org/drawingml/2006/main">
            <a:off x="9296400" y="1466850"/>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Role in this dissertation</a:t>
            </a:r>
          </a:p>
        </p:txBody>
      </p:sp>
      <p:sp>
        <p:nvSpPr>
          <p:cNvPr id="13" name="">
            <a:extLst xmlns:a="http://schemas.openxmlformats.org/drawingml/2006/main">
              <a:ext uri="{FF2B5EF4-FFF2-40B4-BE49-F238E27FC236}">
                <a16:creationId xmlns:a16="http://schemas.microsoft.com/office/drawing/2014/main" id="{2C64E369-882A-41E0-9093-C202D4DF121B}"/>
              </a:ext>
            </a:extLst>
          </p:cNvPr>
          <p:cNvSpPr>
            <a:spLocks xmlns:a="http://schemas.openxmlformats.org/drawingml/2006/main" noGrp="1"/>
          </p:cNvSpPr>
          <p:nvPr/>
        </p:nvSpPr>
        <p:spPr>
          <a:xfrm xmlns:a="http://schemas.openxmlformats.org/drawingml/2006/main">
            <a:off x="457200" y="1790700"/>
            <a:ext cx="11144250" cy="11049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4B3F6A1-DC00-48BC-9D44-C2D4EF077877}"/>
              </a:ext>
            </a:extLst>
          </p:cNvPr>
          <p:cNvSpPr>
            <a:spLocks xmlns:a="http://schemas.openxmlformats.org/drawingml/2006/main" noGrp="1"/>
          </p:cNvSpPr>
          <p:nvPr/>
        </p:nvSpPr>
        <p:spPr>
          <a:xfrm xmlns:a="http://schemas.openxmlformats.org/drawingml/2006/main">
            <a:off x="533400" y="1790700"/>
            <a:ext cx="12763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SVELTE (2013)</a:t>
            </a:r>
          </a:p>
        </p:txBody>
      </p:sp>
      <p:sp>
        <p:nvSpPr>
          <p:cNvPr id="15" name="">
            <a:extLst xmlns:a="http://schemas.openxmlformats.org/drawingml/2006/main">
              <a:ext uri="{FF2B5EF4-FFF2-40B4-BE49-F238E27FC236}">
                <a16:creationId xmlns:a16="http://schemas.microsoft.com/office/drawing/2014/main" id="{7821C6B9-72FC-4FE0-A14D-97BF6C345467}"/>
              </a:ext>
            </a:extLst>
          </p:cNvPr>
          <p:cNvSpPr>
            <a:spLocks xmlns:a="http://schemas.openxmlformats.org/drawingml/2006/main" noGrp="1"/>
          </p:cNvSpPr>
          <p:nvPr/>
        </p:nvSpPr>
        <p:spPr>
          <a:xfrm xmlns:a="http://schemas.openxmlformats.org/drawingml/2006/main">
            <a:off x="1962150" y="1790700"/>
            <a:ext cx="23241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Contiki/Cooja</a:t>
            </a:r>
          </a:p>
        </p:txBody>
      </p:sp>
      <p:sp>
        <p:nvSpPr>
          <p:cNvPr id="16" name="">
            <a:extLst xmlns:a="http://schemas.openxmlformats.org/drawingml/2006/main">
              <a:ext uri="{FF2B5EF4-FFF2-40B4-BE49-F238E27FC236}">
                <a16:creationId xmlns:a16="http://schemas.microsoft.com/office/drawing/2014/main" id="{844F849C-1D1E-423D-BB44-F18FC15CC57C}"/>
              </a:ext>
            </a:extLst>
          </p:cNvPr>
          <p:cNvSpPr>
            <a:spLocks xmlns:a="http://schemas.openxmlformats.org/drawingml/2006/main" noGrp="1"/>
          </p:cNvSpPr>
          <p:nvPr/>
        </p:nvSpPr>
        <p:spPr>
          <a:xfrm xmlns:a="http://schemas.openxmlformats.org/drawingml/2006/main">
            <a:off x="4438650" y="1790700"/>
            <a:ext cx="22288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RPL-aware sinkhole and selective forwarding detection</a:t>
            </a:r>
          </a:p>
        </p:txBody>
      </p:sp>
      <p:sp>
        <p:nvSpPr>
          <p:cNvPr id="17" name="">
            <a:extLst xmlns:a="http://schemas.openxmlformats.org/drawingml/2006/main">
              <a:ext uri="{FF2B5EF4-FFF2-40B4-BE49-F238E27FC236}">
                <a16:creationId xmlns:a16="http://schemas.microsoft.com/office/drawing/2014/main" id="{C39B7DC8-C87E-4A16-86A1-8543E84A41B9}"/>
              </a:ext>
            </a:extLst>
          </p:cNvPr>
          <p:cNvSpPr>
            <a:spLocks xmlns:a="http://schemas.openxmlformats.org/drawingml/2006/main" noGrp="1"/>
          </p:cNvSpPr>
          <p:nvPr/>
        </p:nvSpPr>
        <p:spPr>
          <a:xfrm xmlns:a="http://schemas.openxmlformats.org/drawingml/2006/main">
            <a:off x="6819900" y="1790700"/>
            <a:ext cx="23241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Hybrid routing and intrusion evidence</a:t>
            </a:r>
          </a:p>
        </p:txBody>
      </p:sp>
      <p:sp>
        <p:nvSpPr>
          <p:cNvPr id="18" name="">
            <a:extLst xmlns:a="http://schemas.openxmlformats.org/drawingml/2006/main">
              <a:ext uri="{FF2B5EF4-FFF2-40B4-BE49-F238E27FC236}">
                <a16:creationId xmlns:a16="http://schemas.microsoft.com/office/drawing/2014/main" id="{F09A51CF-571D-465E-B9E3-BAF59C3B1DB1}"/>
              </a:ext>
            </a:extLst>
          </p:cNvPr>
          <p:cNvSpPr>
            <a:spLocks xmlns:a="http://schemas.openxmlformats.org/drawingml/2006/main" noGrp="1"/>
          </p:cNvSpPr>
          <p:nvPr/>
        </p:nvSpPr>
        <p:spPr>
          <a:xfrm xmlns:a="http://schemas.openxmlformats.org/drawingml/2006/main">
            <a:off x="9296400" y="1790700"/>
            <a:ext cx="22288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Motivates protocol-specific features and Cooja validation</a:t>
            </a:r>
          </a:p>
        </p:txBody>
      </p:sp>
      <p:sp>
        <p:nvSpPr>
          <p:cNvPr id="19" name="">
            <a:extLst xmlns:a="http://schemas.openxmlformats.org/drawingml/2006/main">
              <a:ext uri="{FF2B5EF4-FFF2-40B4-BE49-F238E27FC236}">
                <a16:creationId xmlns:a16="http://schemas.microsoft.com/office/drawing/2014/main" id="{75B0FE03-574C-490D-B41F-736FD1DF77E7}"/>
              </a:ext>
            </a:extLst>
          </p:cNvPr>
          <p:cNvSpPr>
            <a:spLocks xmlns:a="http://schemas.openxmlformats.org/drawingml/2006/main" noGrp="1"/>
          </p:cNvSpPr>
          <p:nvPr/>
        </p:nvSpPr>
        <p:spPr>
          <a:xfrm xmlns:a="http://schemas.openxmlformats.org/drawingml/2006/main">
            <a:off x="457200" y="2895600"/>
            <a:ext cx="11144250" cy="11049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6F0D063-E891-4A5B-8CCB-1AECE7400BFA}"/>
              </a:ext>
            </a:extLst>
          </p:cNvPr>
          <p:cNvSpPr>
            <a:spLocks xmlns:a="http://schemas.openxmlformats.org/drawingml/2006/main" noGrp="1"/>
          </p:cNvSpPr>
          <p:nvPr/>
        </p:nvSpPr>
        <p:spPr>
          <a:xfrm xmlns:a="http://schemas.openxmlformats.org/drawingml/2006/main">
            <a:off x="533400" y="2895600"/>
            <a:ext cx="12763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Gope et al. (2022)</a:t>
            </a:r>
          </a:p>
        </p:txBody>
      </p:sp>
      <p:sp>
        <p:nvSpPr>
          <p:cNvPr id="21" name="">
            <a:extLst xmlns:a="http://schemas.openxmlformats.org/drawingml/2006/main">
              <a:ext uri="{FF2B5EF4-FFF2-40B4-BE49-F238E27FC236}">
                <a16:creationId xmlns:a16="http://schemas.microsoft.com/office/drawing/2014/main" id="{64162059-EAAF-4AEA-A859-8478E7FBCADE}"/>
              </a:ext>
            </a:extLst>
          </p:cNvPr>
          <p:cNvSpPr>
            <a:spLocks xmlns:a="http://schemas.openxmlformats.org/drawingml/2006/main" noGrp="1"/>
          </p:cNvSpPr>
          <p:nvPr/>
        </p:nvSpPr>
        <p:spPr>
          <a:xfrm xmlns:a="http://schemas.openxmlformats.org/drawingml/2006/main">
            <a:off x="1962150" y="2895600"/>
            <a:ext cx="23241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NetSim</a:t>
            </a:r>
          </a:p>
        </p:txBody>
      </p:sp>
      <p:sp>
        <p:nvSpPr>
          <p:cNvPr id="22" name="">
            <a:extLst xmlns:a="http://schemas.openxmlformats.org/drawingml/2006/main">
              <a:ext uri="{FF2B5EF4-FFF2-40B4-BE49-F238E27FC236}">
                <a16:creationId xmlns:a16="http://schemas.microsoft.com/office/drawing/2014/main" id="{D4E44897-9BBC-431C-AAD2-E0A7D62B3C2E}"/>
              </a:ext>
            </a:extLst>
          </p:cNvPr>
          <p:cNvSpPr>
            <a:spLocks xmlns:a="http://schemas.openxmlformats.org/drawingml/2006/main" noGrp="1"/>
          </p:cNvSpPr>
          <p:nvPr/>
        </p:nvSpPr>
        <p:spPr>
          <a:xfrm xmlns:a="http://schemas.openxmlformats.org/drawingml/2006/main">
            <a:off x="4438650" y="2895600"/>
            <a:ext cx="22288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Multiple evolving RPL/6LoWPAN attack profiles</a:t>
            </a:r>
          </a:p>
        </p:txBody>
      </p:sp>
      <p:sp>
        <p:nvSpPr>
          <p:cNvPr id="23" name="">
            <a:extLst xmlns:a="http://schemas.openxmlformats.org/drawingml/2006/main">
              <a:ext uri="{FF2B5EF4-FFF2-40B4-BE49-F238E27FC236}">
                <a16:creationId xmlns:a16="http://schemas.microsoft.com/office/drawing/2014/main" id="{D566F8E2-1CA8-4CB1-A87E-68307DDD2631}"/>
              </a:ext>
            </a:extLst>
          </p:cNvPr>
          <p:cNvSpPr>
            <a:spLocks xmlns:a="http://schemas.openxmlformats.org/drawingml/2006/main" noGrp="1"/>
          </p:cNvSpPr>
          <p:nvPr/>
        </p:nvSpPr>
        <p:spPr>
          <a:xfrm xmlns:a="http://schemas.openxmlformats.org/drawingml/2006/main">
            <a:off x="6819900" y="2895600"/>
            <a:ext cx="23241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Adversarial RL; DQN/DDQN; DDM</a:t>
            </a:r>
          </a:p>
        </p:txBody>
      </p:sp>
      <p:sp>
        <p:nvSpPr>
          <p:cNvPr id="24" name="">
            <a:extLst xmlns:a="http://schemas.openxmlformats.org/drawingml/2006/main">
              <a:ext uri="{FF2B5EF4-FFF2-40B4-BE49-F238E27FC236}">
                <a16:creationId xmlns:a16="http://schemas.microsoft.com/office/drawing/2014/main" id="{33AE524E-538C-47F3-BB3A-3FAD7ACC04E5}"/>
              </a:ext>
            </a:extLst>
          </p:cNvPr>
          <p:cNvSpPr>
            <a:spLocks xmlns:a="http://schemas.openxmlformats.org/drawingml/2006/main" noGrp="1"/>
          </p:cNvSpPr>
          <p:nvPr/>
        </p:nvSpPr>
        <p:spPr>
          <a:xfrm xmlns:a="http://schemas.openxmlformats.org/drawingml/2006/main">
            <a:off x="9296400" y="2895600"/>
            <a:ext cx="22288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Motivates drift, adaptation and adversarial profile selection</a:t>
            </a:r>
          </a:p>
        </p:txBody>
      </p:sp>
      <p:sp>
        <p:nvSpPr>
          <p:cNvPr id="25" name="">
            <a:extLst xmlns:a="http://schemas.openxmlformats.org/drawingml/2006/main">
              <a:ext uri="{FF2B5EF4-FFF2-40B4-BE49-F238E27FC236}">
                <a16:creationId xmlns:a16="http://schemas.microsoft.com/office/drawing/2014/main" id="{BC2C35C0-8B41-4488-BC6B-E718B314D889}"/>
              </a:ext>
            </a:extLst>
          </p:cNvPr>
          <p:cNvSpPr>
            <a:spLocks xmlns:a="http://schemas.openxmlformats.org/drawingml/2006/main" noGrp="1"/>
          </p:cNvSpPr>
          <p:nvPr/>
        </p:nvSpPr>
        <p:spPr>
          <a:xfrm xmlns:a="http://schemas.openxmlformats.org/drawingml/2006/main">
            <a:off x="457200" y="4000500"/>
            <a:ext cx="11144250" cy="11049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04913E6-98A0-4E3D-A864-8DC35675AA42}"/>
              </a:ext>
            </a:extLst>
          </p:cNvPr>
          <p:cNvSpPr>
            <a:spLocks xmlns:a="http://schemas.openxmlformats.org/drawingml/2006/main" noGrp="1"/>
          </p:cNvSpPr>
          <p:nvPr/>
        </p:nvSpPr>
        <p:spPr>
          <a:xfrm xmlns:a="http://schemas.openxmlformats.org/drawingml/2006/main">
            <a:off x="533400" y="4000500"/>
            <a:ext cx="12763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This work</a:t>
            </a:r>
          </a:p>
        </p:txBody>
      </p:sp>
      <p:sp>
        <p:nvSpPr>
          <p:cNvPr id="27" name="">
            <a:extLst xmlns:a="http://schemas.openxmlformats.org/drawingml/2006/main">
              <a:ext uri="{FF2B5EF4-FFF2-40B4-BE49-F238E27FC236}">
                <a16:creationId xmlns:a16="http://schemas.microsoft.com/office/drawing/2014/main" id="{21459355-17E5-4CDF-AA86-1618297615D3}"/>
              </a:ext>
            </a:extLst>
          </p:cNvPr>
          <p:cNvSpPr>
            <a:spLocks xmlns:a="http://schemas.openxmlformats.org/drawingml/2006/main" noGrp="1"/>
          </p:cNvSpPr>
          <p:nvPr/>
        </p:nvSpPr>
        <p:spPr>
          <a:xfrm xmlns:a="http://schemas.openxmlformats.org/drawingml/2006/main">
            <a:off x="1962150" y="4000500"/>
            <a:ext cx="23241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Contiki-NG/Cooja</a:t>
            </a:r>
          </a:p>
        </p:txBody>
      </p:sp>
      <p:sp>
        <p:nvSpPr>
          <p:cNvPr id="28" name="">
            <a:extLst xmlns:a="http://schemas.openxmlformats.org/drawingml/2006/main">
              <a:ext uri="{FF2B5EF4-FFF2-40B4-BE49-F238E27FC236}">
                <a16:creationId xmlns:a16="http://schemas.microsoft.com/office/drawing/2014/main" id="{3673F540-8879-4807-8457-E7AD8A6CE7FF}"/>
              </a:ext>
            </a:extLst>
          </p:cNvPr>
          <p:cNvSpPr>
            <a:spLocks xmlns:a="http://schemas.openxmlformats.org/drawingml/2006/main" noGrp="1"/>
          </p:cNvSpPr>
          <p:nvPr/>
        </p:nvSpPr>
        <p:spPr>
          <a:xfrm xmlns:a="http://schemas.openxmlformats.org/drawingml/2006/main">
            <a:off x="4438650" y="4000500"/>
            <a:ext cx="22288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Nine validated attack families plus Sybil rate variation</a:t>
            </a:r>
          </a:p>
        </p:txBody>
      </p:sp>
      <p:sp>
        <p:nvSpPr>
          <p:cNvPr id="29" name="">
            <a:extLst xmlns:a="http://schemas.openxmlformats.org/drawingml/2006/main">
              <a:ext uri="{FF2B5EF4-FFF2-40B4-BE49-F238E27FC236}">
                <a16:creationId xmlns:a16="http://schemas.microsoft.com/office/drawing/2014/main" id="{66EDE739-D05C-42BA-A069-8575E919E9FB}"/>
              </a:ext>
            </a:extLst>
          </p:cNvPr>
          <p:cNvSpPr>
            <a:spLocks xmlns:a="http://schemas.openxmlformats.org/drawingml/2006/main" noGrp="1"/>
          </p:cNvSpPr>
          <p:nvPr/>
        </p:nvSpPr>
        <p:spPr>
          <a:xfrm xmlns:a="http://schemas.openxmlformats.org/drawingml/2006/main">
            <a:off x="6819900" y="4000500"/>
            <a:ext cx="23241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Static transfer; whole-seed retraining; online and isolated RL studies</a:t>
            </a:r>
          </a:p>
        </p:txBody>
      </p:sp>
      <p:sp>
        <p:nvSpPr>
          <p:cNvPr id="30" name="">
            <a:extLst xmlns:a="http://schemas.openxmlformats.org/drawingml/2006/main">
              <a:ext uri="{FF2B5EF4-FFF2-40B4-BE49-F238E27FC236}">
                <a16:creationId xmlns:a16="http://schemas.microsoft.com/office/drawing/2014/main" id="{DFA0F8FB-5FA0-4765-A15A-53DE20A88DC0}"/>
              </a:ext>
            </a:extLst>
          </p:cNvPr>
          <p:cNvSpPr>
            <a:spLocks xmlns:a="http://schemas.openxmlformats.org/drawingml/2006/main" noGrp="1"/>
          </p:cNvSpPr>
          <p:nvPr/>
        </p:nvSpPr>
        <p:spPr>
          <a:xfrm xmlns:a="http://schemas.openxmlformats.org/drawingml/2006/main">
            <a:off x="9296400" y="4000500"/>
            <a:ext cx="22288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Controlled firmware-level extension with leakage-aware evaluation</a:t>
            </a:r>
          </a:p>
        </p:txBody>
      </p:sp>
      <p:sp>
        <p:nvSpPr>
          <p:cNvPr id="31" name="">
            <a:extLst xmlns:a="http://schemas.openxmlformats.org/drawingml/2006/main">
              <a:ext uri="{FF2B5EF4-FFF2-40B4-BE49-F238E27FC236}">
                <a16:creationId xmlns:a16="http://schemas.microsoft.com/office/drawing/2014/main" id="{B688EBB5-2FDB-4860-8D53-592582D0BA09}"/>
              </a:ext>
            </a:extLst>
          </p:cNvPr>
          <p:cNvSpPr>
            <a:spLocks xmlns:a="http://schemas.openxmlformats.org/drawingml/2006/main" noGrp="1"/>
          </p:cNvSpPr>
          <p:nvPr/>
        </p:nvSpPr>
        <p:spPr>
          <a:xfrm xmlns:a="http://schemas.openxmlformats.org/drawingml/2006/main">
            <a:off x="457200" y="1466850"/>
            <a:ext cx="11144250" cy="363855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32" name="">
            <a:extLst xmlns:a="http://schemas.openxmlformats.org/drawingml/2006/main">
              <a:ext uri="{FF2B5EF4-FFF2-40B4-BE49-F238E27FC236}">
                <a16:creationId xmlns:a16="http://schemas.microsoft.com/office/drawing/2014/main" id="{B08AA173-5D45-4F64-A0A9-1DEDF61AA130}"/>
              </a:ext>
            </a:extLst>
          </p:cNvPr>
          <p:cNvSpPr>
            <a:spLocks xmlns:a="http://schemas.openxmlformats.org/drawingml/2006/main" noGrp="1"/>
          </p:cNvSpPr>
          <p:nvPr/>
        </p:nvSpPr>
        <p:spPr>
          <a:xfrm xmlns:a="http://schemas.openxmlformats.org/drawingml/2006/main">
            <a:off x="666750" y="5353050"/>
            <a:ext cx="10287000" cy="5334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705231D-8F9E-4AB0-8E87-6493F7D760C1}"/>
              </a:ext>
            </a:extLst>
          </p:cNvPr>
          <p:cNvSpPr>
            <a:spLocks xmlns:a="http://schemas.openxmlformats.org/drawingml/2006/main" noGrp="1"/>
          </p:cNvSpPr>
          <p:nvPr/>
        </p:nvSpPr>
        <p:spPr>
          <a:xfrm xmlns:a="http://schemas.openxmlformats.org/drawingml/2006/main">
            <a:off x="666750" y="5353050"/>
            <a:ext cx="47625" cy="53340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8929E20A-3AC6-4F3A-8E52-EF139379EEBC}"/>
              </a:ext>
            </a:extLst>
          </p:cNvPr>
          <p:cNvSpPr>
            <a:spLocks xmlns:a="http://schemas.openxmlformats.org/drawingml/2006/main" noGrp="1"/>
          </p:cNvSpPr>
          <p:nvPr/>
        </p:nvSpPr>
        <p:spPr>
          <a:xfrm xmlns:a="http://schemas.openxmlformats.org/drawingml/2006/main">
            <a:off x="838200" y="5438775"/>
            <a:ext cx="1000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Claim boundary: extension and empirical comparison, not an exact reproduction of the NetSim ARL architecture.</a:t>
            </a:r>
          </a:p>
        </p:txBody>
      </p:sp>
    </p:spTree>
    <p:extLst>
      <p:ext uri="{BB962C8B-B14F-4D97-AF65-F5344CB8AC3E}">
        <p14:creationId xmlns:p14="http://schemas.microsoft.com/office/powerpoint/2010/main" val="25909837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77FA972-239B-46E7-8A04-FAFE3DB1C86A}"/>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NetSim versus Cooja</a:t>
            </a:r>
          </a:p>
        </p:txBody>
      </p:sp>
      <p:sp>
        <p:nvSpPr>
          <p:cNvPr id="2" name="">
            <a:extLst xmlns:a="http://schemas.openxmlformats.org/drawingml/2006/main">
              <a:ext uri="{FF2B5EF4-FFF2-40B4-BE49-F238E27FC236}">
                <a16:creationId xmlns:a16="http://schemas.microsoft.com/office/drawing/2014/main" id="{0FEBFD93-D20E-4DFE-B31D-8A39D6B20BEF}"/>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The choice changes what can be controlled, inspected and claimed.</a:t>
            </a:r>
          </a:p>
        </p:txBody>
      </p:sp>
      <p:sp>
        <p:nvSpPr>
          <p:cNvPr id="3" name="">
            <a:extLst xmlns:a="http://schemas.openxmlformats.org/drawingml/2006/main">
              <a:ext uri="{FF2B5EF4-FFF2-40B4-BE49-F238E27FC236}">
                <a16:creationId xmlns:a16="http://schemas.microsoft.com/office/drawing/2014/main" id="{10EAA838-A1AE-475A-81D1-008CAF4A467C}"/>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2DE29D9-72F1-4B13-9777-4CFB7591B7C4}"/>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D309914-B680-4607-B569-D9266504F48C}"/>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Method comparison</a:t>
            </a:r>
          </a:p>
        </p:txBody>
      </p:sp>
      <p:sp>
        <p:nvSpPr>
          <p:cNvPr id="6" name="">
            <a:extLst xmlns:a="http://schemas.openxmlformats.org/drawingml/2006/main">
              <a:ext uri="{FF2B5EF4-FFF2-40B4-BE49-F238E27FC236}">
                <a16:creationId xmlns:a16="http://schemas.microsoft.com/office/drawing/2014/main" id="{53F217DE-41FE-417C-9769-475A405A345F}"/>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05  </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3333680ad0a8480c"/>
          <a:srcRect xmlns:a="http://schemas.openxmlformats.org/drawingml/2006/main" l="0" t="7937" r="0" b="7937"/>
          <a:stretch xmlns:a="http://schemas.openxmlformats.org/drawingml/2006/main">
            <a:fillRect l="0" t="0" r="0" b="0"/>
          </a:stretch>
        </p:blipFill>
        <p:spPr>
          <a:xfrm xmlns:a="http://schemas.openxmlformats.org/drawingml/2006/main">
            <a:off x="523875" y="1476375"/>
            <a:ext cx="4238625" cy="3000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AC7E3DA-1EE1-4BEC-82F3-AB6D2FAB5EFD}"/>
              </a:ext>
            </a:extLst>
          </p:cNvPr>
          <p:cNvSpPr>
            <a:spLocks xmlns:a="http://schemas.openxmlformats.org/drawingml/2006/main" noGrp="1"/>
          </p:cNvSpPr>
          <p:nvPr/>
        </p:nvSpPr>
        <p:spPr>
          <a:xfrm xmlns:a="http://schemas.openxmlformats.org/drawingml/2006/main">
            <a:off x="5095875" y="1476375"/>
            <a:ext cx="628650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6CBFA5D-B841-4F77-A691-70648FFDB6E9}"/>
              </a:ext>
            </a:extLst>
          </p:cNvPr>
          <p:cNvSpPr>
            <a:spLocks xmlns:a="http://schemas.openxmlformats.org/drawingml/2006/main" noGrp="1"/>
          </p:cNvSpPr>
          <p:nvPr/>
        </p:nvSpPr>
        <p:spPr>
          <a:xfrm xmlns:a="http://schemas.openxmlformats.org/drawingml/2006/main">
            <a:off x="5172075" y="1476375"/>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Criterion</a:t>
            </a:r>
          </a:p>
        </p:txBody>
      </p:sp>
      <p:sp>
        <p:nvSpPr>
          <p:cNvPr id="10" name="">
            <a:extLst xmlns:a="http://schemas.openxmlformats.org/drawingml/2006/main">
              <a:ext uri="{FF2B5EF4-FFF2-40B4-BE49-F238E27FC236}">
                <a16:creationId xmlns:a16="http://schemas.microsoft.com/office/drawing/2014/main" id="{B0447808-C918-4E9D-A8D1-0F52E6D6BB5F}"/>
              </a:ext>
            </a:extLst>
          </p:cNvPr>
          <p:cNvSpPr>
            <a:spLocks xmlns:a="http://schemas.openxmlformats.org/drawingml/2006/main" noGrp="1"/>
          </p:cNvSpPr>
          <p:nvPr/>
        </p:nvSpPr>
        <p:spPr>
          <a:xfrm xmlns:a="http://schemas.openxmlformats.org/drawingml/2006/main">
            <a:off x="6981825" y="1476375"/>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NetSim route</a:t>
            </a:r>
          </a:p>
        </p:txBody>
      </p:sp>
      <p:sp>
        <p:nvSpPr>
          <p:cNvPr id="11" name="">
            <a:extLst xmlns:a="http://schemas.openxmlformats.org/drawingml/2006/main">
              <a:ext uri="{FF2B5EF4-FFF2-40B4-BE49-F238E27FC236}">
                <a16:creationId xmlns:a16="http://schemas.microsoft.com/office/drawing/2014/main" id="{F6F4A583-C854-45BB-944F-80406A7234A4}"/>
              </a:ext>
            </a:extLst>
          </p:cNvPr>
          <p:cNvSpPr>
            <a:spLocks xmlns:a="http://schemas.openxmlformats.org/drawingml/2006/main" noGrp="1"/>
          </p:cNvSpPr>
          <p:nvPr/>
        </p:nvSpPr>
        <p:spPr>
          <a:xfrm xmlns:a="http://schemas.openxmlformats.org/drawingml/2006/main">
            <a:off x="9077325" y="1476375"/>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Cooja route</a:t>
            </a:r>
          </a:p>
        </p:txBody>
      </p:sp>
      <p:sp>
        <p:nvSpPr>
          <p:cNvPr id="12" name="">
            <a:extLst xmlns:a="http://schemas.openxmlformats.org/drawingml/2006/main">
              <a:ext uri="{FF2B5EF4-FFF2-40B4-BE49-F238E27FC236}">
                <a16:creationId xmlns:a16="http://schemas.microsoft.com/office/drawing/2014/main" id="{ADF8676A-EE80-41A5-891C-CD4784FFD7C1}"/>
              </a:ext>
            </a:extLst>
          </p:cNvPr>
          <p:cNvSpPr>
            <a:spLocks xmlns:a="http://schemas.openxmlformats.org/drawingml/2006/main" noGrp="1"/>
          </p:cNvSpPr>
          <p:nvPr/>
        </p:nvSpPr>
        <p:spPr>
          <a:xfrm xmlns:a="http://schemas.openxmlformats.org/drawingml/2006/main">
            <a:off x="5095875" y="1800225"/>
            <a:ext cx="6286500" cy="7239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EE3E106-2AFC-459E-956F-C5D43CE3190F}"/>
              </a:ext>
            </a:extLst>
          </p:cNvPr>
          <p:cNvSpPr>
            <a:spLocks xmlns:a="http://schemas.openxmlformats.org/drawingml/2006/main" noGrp="1"/>
          </p:cNvSpPr>
          <p:nvPr/>
        </p:nvSpPr>
        <p:spPr>
          <a:xfrm xmlns:a="http://schemas.openxmlformats.org/drawingml/2006/main">
            <a:off x="5172075" y="1800225"/>
            <a:ext cx="1657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11827"/>
                </a:solidFill>
              </a:defRPr>
            </a:pPr>
            <a:r>
              <a:rPr sz="1050" b="1">
                <a:solidFill>
                  <a:srgbClr val="111827"/>
                </a:solidFill>
              </a:rPr>
              <a:t>Scale and scenario design</a:t>
            </a:r>
          </a:p>
        </p:txBody>
      </p:sp>
      <p:sp>
        <p:nvSpPr>
          <p:cNvPr id="14" name="">
            <a:extLst xmlns:a="http://schemas.openxmlformats.org/drawingml/2006/main">
              <a:ext uri="{FF2B5EF4-FFF2-40B4-BE49-F238E27FC236}">
                <a16:creationId xmlns:a16="http://schemas.microsoft.com/office/drawing/2014/main" id="{73471EA1-48C0-4D27-AB0B-E098058392D1}"/>
              </a:ext>
            </a:extLst>
          </p:cNvPr>
          <p:cNvSpPr>
            <a:spLocks xmlns:a="http://schemas.openxmlformats.org/drawingml/2006/main" noGrp="1"/>
          </p:cNvSpPr>
          <p:nvPr/>
        </p:nvSpPr>
        <p:spPr>
          <a:xfrm xmlns:a="http://schemas.openxmlformats.org/drawingml/2006/main">
            <a:off x="6981825" y="1800225"/>
            <a:ext cx="1943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11827"/>
                </a:solidFill>
              </a:defRPr>
            </a:pPr>
            <a:r>
              <a:rPr sz="1050" b="0">
                <a:solidFill>
                  <a:srgbClr val="111827"/>
                </a:solidFill>
              </a:rPr>
              <a:t>Strong for network-level profiles</a:t>
            </a:r>
          </a:p>
        </p:txBody>
      </p:sp>
      <p:sp>
        <p:nvSpPr>
          <p:cNvPr id="15" name="">
            <a:extLst xmlns:a="http://schemas.openxmlformats.org/drawingml/2006/main">
              <a:ext uri="{FF2B5EF4-FFF2-40B4-BE49-F238E27FC236}">
                <a16:creationId xmlns:a16="http://schemas.microsoft.com/office/drawing/2014/main" id="{437059DA-E97A-4E46-BCBC-119796461440}"/>
              </a:ext>
            </a:extLst>
          </p:cNvPr>
          <p:cNvSpPr>
            <a:spLocks xmlns:a="http://schemas.openxmlformats.org/drawingml/2006/main" noGrp="1"/>
          </p:cNvSpPr>
          <p:nvPr/>
        </p:nvSpPr>
        <p:spPr>
          <a:xfrm xmlns:a="http://schemas.openxmlformats.org/drawingml/2006/main">
            <a:off x="9077325" y="1800225"/>
            <a:ext cx="2228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11827"/>
                </a:solidFill>
              </a:defRPr>
            </a:pPr>
            <a:r>
              <a:rPr sz="1050" b="0">
                <a:solidFill>
                  <a:srgbClr val="111827"/>
                </a:solidFill>
              </a:rPr>
              <a:t>Smaller campaigns; detailed firmware execution</a:t>
            </a:r>
          </a:p>
        </p:txBody>
      </p:sp>
      <p:sp>
        <p:nvSpPr>
          <p:cNvPr id="16" name="">
            <a:extLst xmlns:a="http://schemas.openxmlformats.org/drawingml/2006/main">
              <a:ext uri="{FF2B5EF4-FFF2-40B4-BE49-F238E27FC236}">
                <a16:creationId xmlns:a16="http://schemas.microsoft.com/office/drawing/2014/main" id="{F10CF5B3-F661-4C41-9109-AD6C0F8D51DE}"/>
              </a:ext>
            </a:extLst>
          </p:cNvPr>
          <p:cNvSpPr>
            <a:spLocks xmlns:a="http://schemas.openxmlformats.org/drawingml/2006/main" noGrp="1"/>
          </p:cNvSpPr>
          <p:nvPr/>
        </p:nvSpPr>
        <p:spPr>
          <a:xfrm xmlns:a="http://schemas.openxmlformats.org/drawingml/2006/main">
            <a:off x="5095875" y="2524125"/>
            <a:ext cx="6286500" cy="7239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88C312D-C4F8-497A-85BA-4C29C782BE56}"/>
              </a:ext>
            </a:extLst>
          </p:cNvPr>
          <p:cNvSpPr>
            <a:spLocks xmlns:a="http://schemas.openxmlformats.org/drawingml/2006/main" noGrp="1"/>
          </p:cNvSpPr>
          <p:nvPr/>
        </p:nvSpPr>
        <p:spPr>
          <a:xfrm xmlns:a="http://schemas.openxmlformats.org/drawingml/2006/main">
            <a:off x="5172075" y="2524125"/>
            <a:ext cx="1657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11827"/>
                </a:solidFill>
              </a:defRPr>
            </a:pPr>
            <a:r>
              <a:rPr sz="1050" b="1">
                <a:solidFill>
                  <a:srgbClr val="111827"/>
                </a:solidFill>
              </a:rPr>
              <a:t>Protocol implementation</a:t>
            </a:r>
          </a:p>
        </p:txBody>
      </p:sp>
      <p:sp>
        <p:nvSpPr>
          <p:cNvPr id="18" name="">
            <a:extLst xmlns:a="http://schemas.openxmlformats.org/drawingml/2006/main">
              <a:ext uri="{FF2B5EF4-FFF2-40B4-BE49-F238E27FC236}">
                <a16:creationId xmlns:a16="http://schemas.microsoft.com/office/drawing/2014/main" id="{F4E3962B-FB0A-4741-8074-23B82A883FBE}"/>
              </a:ext>
            </a:extLst>
          </p:cNvPr>
          <p:cNvSpPr>
            <a:spLocks xmlns:a="http://schemas.openxmlformats.org/drawingml/2006/main" noGrp="1"/>
          </p:cNvSpPr>
          <p:nvPr/>
        </p:nvSpPr>
        <p:spPr>
          <a:xfrm xmlns:a="http://schemas.openxmlformats.org/drawingml/2006/main">
            <a:off x="6981825" y="2524125"/>
            <a:ext cx="1943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11827"/>
                </a:solidFill>
              </a:defRPr>
            </a:pPr>
            <a:r>
              <a:rPr sz="1050" b="0">
                <a:solidFill>
                  <a:srgbClr val="111827"/>
                </a:solidFill>
              </a:rPr>
              <a:t>Model configuration</a:t>
            </a:r>
          </a:p>
        </p:txBody>
      </p:sp>
      <p:sp>
        <p:nvSpPr>
          <p:cNvPr id="19" name="">
            <a:extLst xmlns:a="http://schemas.openxmlformats.org/drawingml/2006/main">
              <a:ext uri="{FF2B5EF4-FFF2-40B4-BE49-F238E27FC236}">
                <a16:creationId xmlns:a16="http://schemas.microsoft.com/office/drawing/2014/main" id="{0BCF2A67-967D-4EF9-A00D-7C37930E551B}"/>
              </a:ext>
            </a:extLst>
          </p:cNvPr>
          <p:cNvSpPr>
            <a:spLocks xmlns:a="http://schemas.openxmlformats.org/drawingml/2006/main" noGrp="1"/>
          </p:cNvSpPr>
          <p:nvPr/>
        </p:nvSpPr>
        <p:spPr>
          <a:xfrm xmlns:a="http://schemas.openxmlformats.org/drawingml/2006/main">
            <a:off x="9077325" y="2524125"/>
            <a:ext cx="2228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11827"/>
                </a:solidFill>
              </a:defRPr>
            </a:pPr>
            <a:r>
              <a:rPr sz="1050" b="0">
                <a:solidFill>
                  <a:srgbClr val="111827"/>
                </a:solidFill>
              </a:rPr>
              <a:t>Real Contiki-NG application and RPL hook code</a:t>
            </a:r>
          </a:p>
        </p:txBody>
      </p:sp>
      <p:sp>
        <p:nvSpPr>
          <p:cNvPr id="20" name="">
            <a:extLst xmlns:a="http://schemas.openxmlformats.org/drawingml/2006/main">
              <a:ext uri="{FF2B5EF4-FFF2-40B4-BE49-F238E27FC236}">
                <a16:creationId xmlns:a16="http://schemas.microsoft.com/office/drawing/2014/main" id="{49BB9961-410C-4FAB-A413-BE079484825D}"/>
              </a:ext>
            </a:extLst>
          </p:cNvPr>
          <p:cNvSpPr>
            <a:spLocks xmlns:a="http://schemas.openxmlformats.org/drawingml/2006/main" noGrp="1"/>
          </p:cNvSpPr>
          <p:nvPr/>
        </p:nvSpPr>
        <p:spPr>
          <a:xfrm xmlns:a="http://schemas.openxmlformats.org/drawingml/2006/main">
            <a:off x="5095875" y="3248025"/>
            <a:ext cx="6286500" cy="7239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B6DA692-1D01-4A27-BBD7-29A4DA61A287}"/>
              </a:ext>
            </a:extLst>
          </p:cNvPr>
          <p:cNvSpPr>
            <a:spLocks xmlns:a="http://schemas.openxmlformats.org/drawingml/2006/main" noGrp="1"/>
          </p:cNvSpPr>
          <p:nvPr/>
        </p:nvSpPr>
        <p:spPr>
          <a:xfrm xmlns:a="http://schemas.openxmlformats.org/drawingml/2006/main">
            <a:off x="5172075" y="3248025"/>
            <a:ext cx="1657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11827"/>
                </a:solidFill>
              </a:defRPr>
            </a:pPr>
            <a:r>
              <a:rPr sz="1050" b="1">
                <a:solidFill>
                  <a:srgbClr val="111827"/>
                </a:solidFill>
              </a:rPr>
              <a:t>Inspection</a:t>
            </a:r>
          </a:p>
        </p:txBody>
      </p:sp>
      <p:sp>
        <p:nvSpPr>
          <p:cNvPr id="22" name="">
            <a:extLst xmlns:a="http://schemas.openxmlformats.org/drawingml/2006/main">
              <a:ext uri="{FF2B5EF4-FFF2-40B4-BE49-F238E27FC236}">
                <a16:creationId xmlns:a16="http://schemas.microsoft.com/office/drawing/2014/main" id="{3AE8877F-5D13-44AC-BFA8-E615B3B73D9E}"/>
              </a:ext>
            </a:extLst>
          </p:cNvPr>
          <p:cNvSpPr>
            <a:spLocks xmlns:a="http://schemas.openxmlformats.org/drawingml/2006/main" noGrp="1"/>
          </p:cNvSpPr>
          <p:nvPr/>
        </p:nvSpPr>
        <p:spPr>
          <a:xfrm xmlns:a="http://schemas.openxmlformats.org/drawingml/2006/main">
            <a:off x="6981825" y="3248025"/>
            <a:ext cx="1943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11827"/>
                </a:solidFill>
              </a:defRPr>
            </a:pPr>
            <a:r>
              <a:rPr sz="1050" b="0">
                <a:solidFill>
                  <a:srgbClr val="111827"/>
                </a:solidFill>
              </a:rPr>
              <a:t>Aggregate simulator evidence</a:t>
            </a:r>
          </a:p>
        </p:txBody>
      </p:sp>
      <p:sp>
        <p:nvSpPr>
          <p:cNvPr id="23" name="">
            <a:extLst xmlns:a="http://schemas.openxmlformats.org/drawingml/2006/main">
              <a:ext uri="{FF2B5EF4-FFF2-40B4-BE49-F238E27FC236}">
                <a16:creationId xmlns:a16="http://schemas.microsoft.com/office/drawing/2014/main" id="{09F70033-3A1A-4CE6-AF6A-4C6F9AE8D7AA}"/>
              </a:ext>
            </a:extLst>
          </p:cNvPr>
          <p:cNvSpPr>
            <a:spLocks xmlns:a="http://schemas.openxmlformats.org/drawingml/2006/main" noGrp="1"/>
          </p:cNvSpPr>
          <p:nvPr/>
        </p:nvSpPr>
        <p:spPr>
          <a:xfrm xmlns:a="http://schemas.openxmlformats.org/drawingml/2006/main">
            <a:off x="9077325" y="3248025"/>
            <a:ext cx="2228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11827"/>
                </a:solidFill>
              </a:defRPr>
            </a:pPr>
            <a:r>
              <a:rPr sz="1050" b="0">
                <a:solidFill>
                  <a:srgbClr val="111827"/>
                </a:solidFill>
              </a:rPr>
              <a:t>Attack markers, routing logs and radio traces</a:t>
            </a:r>
          </a:p>
        </p:txBody>
      </p:sp>
      <p:sp>
        <p:nvSpPr>
          <p:cNvPr id="24" name="">
            <a:extLst xmlns:a="http://schemas.openxmlformats.org/drawingml/2006/main">
              <a:ext uri="{FF2B5EF4-FFF2-40B4-BE49-F238E27FC236}">
                <a16:creationId xmlns:a16="http://schemas.microsoft.com/office/drawing/2014/main" id="{B89DE2BC-1822-4605-A294-326694FF305C}"/>
              </a:ext>
            </a:extLst>
          </p:cNvPr>
          <p:cNvSpPr>
            <a:spLocks xmlns:a="http://schemas.openxmlformats.org/drawingml/2006/main" noGrp="1"/>
          </p:cNvSpPr>
          <p:nvPr/>
        </p:nvSpPr>
        <p:spPr>
          <a:xfrm xmlns:a="http://schemas.openxmlformats.org/drawingml/2006/main">
            <a:off x="5095875" y="3971925"/>
            <a:ext cx="6286500" cy="7239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B079149-5797-4AE0-9202-E3A9CDE8DE67}"/>
              </a:ext>
            </a:extLst>
          </p:cNvPr>
          <p:cNvSpPr>
            <a:spLocks xmlns:a="http://schemas.openxmlformats.org/drawingml/2006/main" noGrp="1"/>
          </p:cNvSpPr>
          <p:nvPr/>
        </p:nvSpPr>
        <p:spPr>
          <a:xfrm xmlns:a="http://schemas.openxmlformats.org/drawingml/2006/main">
            <a:off x="5172075" y="3971925"/>
            <a:ext cx="1657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11827"/>
                </a:solidFill>
              </a:defRPr>
            </a:pPr>
            <a:r>
              <a:rPr sz="1050" b="1">
                <a:solidFill>
                  <a:srgbClr val="111827"/>
                </a:solidFill>
              </a:rPr>
              <a:t>Reproducibility risk</a:t>
            </a:r>
          </a:p>
        </p:txBody>
      </p:sp>
      <p:sp>
        <p:nvSpPr>
          <p:cNvPr id="26" name="">
            <a:extLst xmlns:a="http://schemas.openxmlformats.org/drawingml/2006/main">
              <a:ext uri="{FF2B5EF4-FFF2-40B4-BE49-F238E27FC236}">
                <a16:creationId xmlns:a16="http://schemas.microsoft.com/office/drawing/2014/main" id="{391EFD9F-7758-4CB5-8580-849A9DDAF320}"/>
              </a:ext>
            </a:extLst>
          </p:cNvPr>
          <p:cNvSpPr>
            <a:spLocks xmlns:a="http://schemas.openxmlformats.org/drawingml/2006/main" noGrp="1"/>
          </p:cNvSpPr>
          <p:nvPr/>
        </p:nvSpPr>
        <p:spPr>
          <a:xfrm xmlns:a="http://schemas.openxmlformats.org/drawingml/2006/main">
            <a:off x="6981825" y="3971925"/>
            <a:ext cx="1943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11827"/>
                </a:solidFill>
              </a:defRPr>
            </a:pPr>
            <a:r>
              <a:rPr sz="1050" b="0">
                <a:solidFill>
                  <a:srgbClr val="111827"/>
                </a:solidFill>
              </a:rPr>
              <a:t>Simulator and model configuration</a:t>
            </a:r>
          </a:p>
        </p:txBody>
      </p:sp>
      <p:sp>
        <p:nvSpPr>
          <p:cNvPr id="27" name="">
            <a:extLst xmlns:a="http://schemas.openxmlformats.org/drawingml/2006/main">
              <a:ext uri="{FF2B5EF4-FFF2-40B4-BE49-F238E27FC236}">
                <a16:creationId xmlns:a16="http://schemas.microsoft.com/office/drawing/2014/main" id="{F277399C-6B7B-4DA1-9675-CBCAC72FC3E2}"/>
              </a:ext>
            </a:extLst>
          </p:cNvPr>
          <p:cNvSpPr>
            <a:spLocks xmlns:a="http://schemas.openxmlformats.org/drawingml/2006/main" noGrp="1"/>
          </p:cNvSpPr>
          <p:nvPr/>
        </p:nvSpPr>
        <p:spPr>
          <a:xfrm xmlns:a="http://schemas.openxmlformats.org/drawingml/2006/main">
            <a:off x="9077325" y="3971925"/>
            <a:ext cx="2228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11827"/>
                </a:solidFill>
              </a:defRPr>
            </a:pPr>
            <a:r>
              <a:rPr sz="1050" b="0">
                <a:solidFill>
                  <a:srgbClr val="111827"/>
                </a:solidFill>
              </a:rPr>
              <a:t>Contiki version, Cooja configuration and build state</a:t>
            </a:r>
          </a:p>
        </p:txBody>
      </p:sp>
      <p:sp>
        <p:nvSpPr>
          <p:cNvPr id="28" name="">
            <a:extLst xmlns:a="http://schemas.openxmlformats.org/drawingml/2006/main">
              <a:ext uri="{FF2B5EF4-FFF2-40B4-BE49-F238E27FC236}">
                <a16:creationId xmlns:a16="http://schemas.microsoft.com/office/drawing/2014/main" id="{F8BF401B-61A2-432F-A542-12C5B7FD8A01}"/>
              </a:ext>
            </a:extLst>
          </p:cNvPr>
          <p:cNvSpPr>
            <a:spLocks xmlns:a="http://schemas.openxmlformats.org/drawingml/2006/main" noGrp="1"/>
          </p:cNvSpPr>
          <p:nvPr/>
        </p:nvSpPr>
        <p:spPr>
          <a:xfrm xmlns:a="http://schemas.openxmlformats.org/drawingml/2006/main">
            <a:off x="5095875" y="4695825"/>
            <a:ext cx="6286500" cy="7239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F7614DE-472E-409C-B985-7E66BF4A3973}"/>
              </a:ext>
            </a:extLst>
          </p:cNvPr>
          <p:cNvSpPr>
            <a:spLocks xmlns:a="http://schemas.openxmlformats.org/drawingml/2006/main" noGrp="1"/>
          </p:cNvSpPr>
          <p:nvPr/>
        </p:nvSpPr>
        <p:spPr>
          <a:xfrm xmlns:a="http://schemas.openxmlformats.org/drawingml/2006/main">
            <a:off x="5172075" y="4695825"/>
            <a:ext cx="1657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11827"/>
                </a:solidFill>
              </a:defRPr>
            </a:pPr>
            <a:r>
              <a:rPr sz="1050" b="1">
                <a:solidFill>
                  <a:srgbClr val="111827"/>
                </a:solidFill>
              </a:rPr>
              <a:t>Validity limit</a:t>
            </a:r>
          </a:p>
        </p:txBody>
      </p:sp>
      <p:sp>
        <p:nvSpPr>
          <p:cNvPr id="30" name="">
            <a:extLst xmlns:a="http://schemas.openxmlformats.org/drawingml/2006/main">
              <a:ext uri="{FF2B5EF4-FFF2-40B4-BE49-F238E27FC236}">
                <a16:creationId xmlns:a16="http://schemas.microsoft.com/office/drawing/2014/main" id="{5D9960B6-18EF-4E12-BFEC-A3E0E852EB71}"/>
              </a:ext>
            </a:extLst>
          </p:cNvPr>
          <p:cNvSpPr>
            <a:spLocks xmlns:a="http://schemas.openxmlformats.org/drawingml/2006/main" noGrp="1"/>
          </p:cNvSpPr>
          <p:nvPr/>
        </p:nvSpPr>
        <p:spPr>
          <a:xfrm xmlns:a="http://schemas.openxmlformats.org/drawingml/2006/main">
            <a:off x="6981825" y="4695825"/>
            <a:ext cx="1943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11827"/>
                </a:solidFill>
              </a:defRPr>
            </a:pPr>
            <a:r>
              <a:rPr sz="1050" b="0">
                <a:solidFill>
                  <a:srgbClr val="111827"/>
                </a:solidFill>
              </a:rPr>
              <a:t>Abstracted implementation behaviour</a:t>
            </a:r>
          </a:p>
        </p:txBody>
      </p:sp>
      <p:sp>
        <p:nvSpPr>
          <p:cNvPr id="31" name="">
            <a:extLst xmlns:a="http://schemas.openxmlformats.org/drawingml/2006/main">
              <a:ext uri="{FF2B5EF4-FFF2-40B4-BE49-F238E27FC236}">
                <a16:creationId xmlns:a16="http://schemas.microsoft.com/office/drawing/2014/main" id="{6DA74D60-A5C4-4F71-AFD8-E19EF1BFD9C3}"/>
              </a:ext>
            </a:extLst>
          </p:cNvPr>
          <p:cNvSpPr>
            <a:spLocks xmlns:a="http://schemas.openxmlformats.org/drawingml/2006/main" noGrp="1"/>
          </p:cNvSpPr>
          <p:nvPr/>
        </p:nvSpPr>
        <p:spPr>
          <a:xfrm xmlns:a="http://schemas.openxmlformats.org/drawingml/2006/main">
            <a:off x="9077325" y="4695825"/>
            <a:ext cx="2228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11827"/>
                </a:solidFill>
              </a:defRPr>
            </a:pPr>
            <a:r>
              <a:rPr sz="1050" b="0">
                <a:solidFill>
                  <a:srgbClr val="111827"/>
                </a:solidFill>
              </a:rPr>
              <a:t>No physical radio/hardware deployment</a:t>
            </a:r>
          </a:p>
        </p:txBody>
      </p:sp>
      <p:sp>
        <p:nvSpPr>
          <p:cNvPr id="32" name="">
            <a:extLst xmlns:a="http://schemas.openxmlformats.org/drawingml/2006/main">
              <a:ext uri="{FF2B5EF4-FFF2-40B4-BE49-F238E27FC236}">
                <a16:creationId xmlns:a16="http://schemas.microsoft.com/office/drawing/2014/main" id="{0E6FB113-E810-4141-9CB8-825CC4E627FC}"/>
              </a:ext>
            </a:extLst>
          </p:cNvPr>
          <p:cNvSpPr>
            <a:spLocks xmlns:a="http://schemas.openxmlformats.org/drawingml/2006/main" noGrp="1"/>
          </p:cNvSpPr>
          <p:nvPr/>
        </p:nvSpPr>
        <p:spPr>
          <a:xfrm xmlns:a="http://schemas.openxmlformats.org/drawingml/2006/main">
            <a:off x="5095875" y="1476375"/>
            <a:ext cx="6286500" cy="394335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C1A57FA4-B694-4767-90FC-7022B57AAC36}"/>
              </a:ext>
            </a:extLst>
          </p:cNvPr>
          <p:cNvSpPr>
            <a:spLocks xmlns:a="http://schemas.openxmlformats.org/drawingml/2006/main" noGrp="1"/>
          </p:cNvSpPr>
          <p:nvPr/>
        </p:nvSpPr>
        <p:spPr>
          <a:xfrm xmlns:a="http://schemas.openxmlformats.org/drawingml/2006/main">
            <a:off x="523875" y="4648200"/>
            <a:ext cx="423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475569"/>
                </a:solidFill>
              </a:defRPr>
            </a:pPr>
            <a:r>
              <a:rPr sz="975" b="1">
                <a:solidFill>
                  <a:srgbClr val="475569"/>
                </a:solidFill>
              </a:rPr>
              <a:t>Gope et al. architecture</a:t>
            </a:r>
          </a:p>
        </p:txBody>
      </p:sp>
      <p:sp>
        <p:nvSpPr>
          <p:cNvPr id="34" name="">
            <a:extLst xmlns:a="http://schemas.openxmlformats.org/drawingml/2006/main">
              <a:ext uri="{FF2B5EF4-FFF2-40B4-BE49-F238E27FC236}">
                <a16:creationId xmlns:a16="http://schemas.microsoft.com/office/drawing/2014/main" id="{1A498C21-651C-406E-BB2A-3C56996E1023}"/>
              </a:ext>
            </a:extLst>
          </p:cNvPr>
          <p:cNvSpPr>
            <a:spLocks xmlns:a="http://schemas.openxmlformats.org/drawingml/2006/main" noGrp="1"/>
          </p:cNvSpPr>
          <p:nvPr/>
        </p:nvSpPr>
        <p:spPr>
          <a:xfrm xmlns:a="http://schemas.openxmlformats.org/drawingml/2006/main">
            <a:off x="523875" y="512445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827"/>
                </a:solidFill>
              </a:defRPr>
            </a:pPr>
            <a:r>
              <a:rPr sz="1350" b="1">
                <a:solidFill>
                  <a:srgbClr val="111827"/>
                </a:solidFill>
              </a:rPr>
              <a:t>The methods are complementary. Cooja provides implementation fidelity; NetSim supports the paper's larger adaptive architecture.</a:t>
            </a:r>
          </a:p>
        </p:txBody>
      </p:sp>
    </p:spTree>
    <p:extLst>
      <p:ext uri="{BB962C8B-B14F-4D97-AF65-F5344CB8AC3E}">
        <p14:creationId xmlns:p14="http://schemas.microsoft.com/office/powerpoint/2010/main" val="143084446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35AF0235-B4AF-439A-BAB4-96D1178475BE}"/>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Experimental protocol</a:t>
            </a:r>
          </a:p>
        </p:txBody>
      </p:sp>
      <p:sp>
        <p:nvSpPr>
          <p:cNvPr id="2" name="">
            <a:extLst xmlns:a="http://schemas.openxmlformats.org/drawingml/2006/main">
              <a:ext uri="{FF2B5EF4-FFF2-40B4-BE49-F238E27FC236}">
                <a16:creationId xmlns:a16="http://schemas.microsoft.com/office/drawing/2014/main" id="{AE477523-9D4D-4BE0-B41D-7F739321A9D4}"/>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Each family uses matched attack/control seeds and a delayed activation point.</a:t>
            </a:r>
          </a:p>
        </p:txBody>
      </p:sp>
      <p:sp>
        <p:nvSpPr>
          <p:cNvPr id="3" name="">
            <a:extLst xmlns:a="http://schemas.openxmlformats.org/drawingml/2006/main">
              <a:ext uri="{FF2B5EF4-FFF2-40B4-BE49-F238E27FC236}">
                <a16:creationId xmlns:a16="http://schemas.microsoft.com/office/drawing/2014/main" id="{85732748-0367-42FA-B4A6-1E9C804E6993}"/>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F3B795C-359C-4390-9B4D-974F5F074469}"/>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025F299-43C2-4160-8E60-768EA3994DBC}"/>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Methodology</a:t>
            </a:r>
          </a:p>
        </p:txBody>
      </p:sp>
      <p:sp>
        <p:nvSpPr>
          <p:cNvPr id="6" name="">
            <a:extLst xmlns:a="http://schemas.openxmlformats.org/drawingml/2006/main">
              <a:ext uri="{FF2B5EF4-FFF2-40B4-BE49-F238E27FC236}">
                <a16:creationId xmlns:a16="http://schemas.microsoft.com/office/drawing/2014/main" id="{23BB6A8F-AF6E-4864-9932-A09CAE8DC2A4}"/>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06  </a:t>
            </a:r>
          </a:p>
        </p:txBody>
      </p:sp>
      <p:sp>
        <p:nvSpPr>
          <p:cNvPr id="7" name="">
            <a:extLst xmlns:a="http://schemas.openxmlformats.org/drawingml/2006/main">
              <a:ext uri="{FF2B5EF4-FFF2-40B4-BE49-F238E27FC236}">
                <a16:creationId xmlns:a16="http://schemas.microsoft.com/office/drawing/2014/main" id="{07EA4EA0-584E-45DD-AFCE-85AF7374E546}"/>
              </a:ext>
            </a:extLst>
          </p:cNvPr>
          <p:cNvSpPr>
            <a:spLocks xmlns:a="http://schemas.openxmlformats.org/drawingml/2006/main" noGrp="1"/>
          </p:cNvSpPr>
          <p:nvPr/>
        </p:nvSpPr>
        <p:spPr>
          <a:xfrm xmlns:a="http://schemas.openxmlformats.org/drawingml/2006/main">
            <a:off x="666750" y="1524000"/>
            <a:ext cx="990600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CE663C9-257B-4058-93B2-33F44A3434FE}"/>
              </a:ext>
            </a:extLst>
          </p:cNvPr>
          <p:cNvSpPr>
            <a:spLocks xmlns:a="http://schemas.openxmlformats.org/drawingml/2006/main" noGrp="1"/>
          </p:cNvSpPr>
          <p:nvPr/>
        </p:nvSpPr>
        <p:spPr>
          <a:xfrm xmlns:a="http://schemas.openxmlformats.org/drawingml/2006/main">
            <a:off x="742950" y="1524000"/>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Parameter</a:t>
            </a:r>
          </a:p>
        </p:txBody>
      </p:sp>
      <p:sp>
        <p:nvSpPr>
          <p:cNvPr id="9" name="">
            <a:extLst xmlns:a="http://schemas.openxmlformats.org/drawingml/2006/main">
              <a:ext uri="{FF2B5EF4-FFF2-40B4-BE49-F238E27FC236}">
                <a16:creationId xmlns:a16="http://schemas.microsoft.com/office/drawing/2014/main" id="{2EB8F851-24D5-419D-BE60-9F3E416D5035}"/>
              </a:ext>
            </a:extLst>
          </p:cNvPr>
          <p:cNvSpPr>
            <a:spLocks xmlns:a="http://schemas.openxmlformats.org/drawingml/2006/main" noGrp="1"/>
          </p:cNvSpPr>
          <p:nvPr/>
        </p:nvSpPr>
        <p:spPr>
          <a:xfrm xmlns:a="http://schemas.openxmlformats.org/drawingml/2006/main">
            <a:off x="3314700" y="1524000"/>
            <a:ext cx="270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Value</a:t>
            </a:r>
          </a:p>
        </p:txBody>
      </p:sp>
      <p:sp>
        <p:nvSpPr>
          <p:cNvPr id="10" name="">
            <a:extLst xmlns:a="http://schemas.openxmlformats.org/drawingml/2006/main">
              <a:ext uri="{FF2B5EF4-FFF2-40B4-BE49-F238E27FC236}">
                <a16:creationId xmlns:a16="http://schemas.microsoft.com/office/drawing/2014/main" id="{DFFC8EEB-824A-4B80-97A9-D2F4826BA234}"/>
              </a:ext>
            </a:extLst>
          </p:cNvPr>
          <p:cNvSpPr>
            <a:spLocks xmlns:a="http://schemas.openxmlformats.org/drawingml/2006/main" noGrp="1"/>
          </p:cNvSpPr>
          <p:nvPr/>
        </p:nvSpPr>
        <p:spPr>
          <a:xfrm xmlns:a="http://schemas.openxmlformats.org/drawingml/2006/main">
            <a:off x="6172200" y="1524000"/>
            <a:ext cx="432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Purpose</a:t>
            </a:r>
          </a:p>
        </p:txBody>
      </p:sp>
      <p:sp>
        <p:nvSpPr>
          <p:cNvPr id="11" name="">
            <a:extLst xmlns:a="http://schemas.openxmlformats.org/drawingml/2006/main">
              <a:ext uri="{FF2B5EF4-FFF2-40B4-BE49-F238E27FC236}">
                <a16:creationId xmlns:a16="http://schemas.microsoft.com/office/drawing/2014/main" id="{DFFBC9AE-26F3-4F69-ADBC-98EED437A158}"/>
              </a:ext>
            </a:extLst>
          </p:cNvPr>
          <p:cNvSpPr>
            <a:spLocks xmlns:a="http://schemas.openxmlformats.org/drawingml/2006/main" noGrp="1"/>
          </p:cNvSpPr>
          <p:nvPr/>
        </p:nvSpPr>
        <p:spPr>
          <a:xfrm xmlns:a="http://schemas.openxmlformats.org/drawingml/2006/main">
            <a:off x="666750" y="1847850"/>
            <a:ext cx="9906000" cy="5143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C1D0118-7643-49DD-ABBA-931087E049A2}"/>
              </a:ext>
            </a:extLst>
          </p:cNvPr>
          <p:cNvSpPr>
            <a:spLocks xmlns:a="http://schemas.openxmlformats.org/drawingml/2006/main" noGrp="1"/>
          </p:cNvSpPr>
          <p:nvPr/>
        </p:nvSpPr>
        <p:spPr>
          <a:xfrm xmlns:a="http://schemas.openxmlformats.org/drawingml/2006/main">
            <a:off x="742950" y="1847850"/>
            <a:ext cx="2419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Topology</a:t>
            </a:r>
          </a:p>
        </p:txBody>
      </p:sp>
      <p:sp>
        <p:nvSpPr>
          <p:cNvPr id="13" name="">
            <a:extLst xmlns:a="http://schemas.openxmlformats.org/drawingml/2006/main">
              <a:ext uri="{FF2B5EF4-FFF2-40B4-BE49-F238E27FC236}">
                <a16:creationId xmlns:a16="http://schemas.microsoft.com/office/drawing/2014/main" id="{52E3B291-7E4F-4F51-AC78-12337AD37EE0}"/>
              </a:ext>
            </a:extLst>
          </p:cNvPr>
          <p:cNvSpPr>
            <a:spLocks xmlns:a="http://schemas.openxmlformats.org/drawingml/2006/main" noGrp="1"/>
          </p:cNvSpPr>
          <p:nvPr/>
        </p:nvSpPr>
        <p:spPr>
          <a:xfrm xmlns:a="http://schemas.openxmlformats.org/drawingml/2006/main">
            <a:off x="3314700" y="1847850"/>
            <a:ext cx="2705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16 nodes; attack node 16 in baseline</a:t>
            </a:r>
          </a:p>
        </p:txBody>
      </p:sp>
      <p:sp>
        <p:nvSpPr>
          <p:cNvPr id="14" name="">
            <a:extLst xmlns:a="http://schemas.openxmlformats.org/drawingml/2006/main">
              <a:ext uri="{FF2B5EF4-FFF2-40B4-BE49-F238E27FC236}">
                <a16:creationId xmlns:a16="http://schemas.microsoft.com/office/drawing/2014/main" id="{494175A8-599A-45A6-A301-C1CDFD52B110}"/>
              </a:ext>
            </a:extLst>
          </p:cNvPr>
          <p:cNvSpPr>
            <a:spLocks xmlns:a="http://schemas.openxmlformats.org/drawingml/2006/main" noGrp="1"/>
          </p:cNvSpPr>
          <p:nvPr/>
        </p:nvSpPr>
        <p:spPr>
          <a:xfrm xmlns:a="http://schemas.openxmlformats.org/drawingml/2006/main">
            <a:off x="6172200" y="1847850"/>
            <a:ext cx="432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Comparable routing environment across families</a:t>
            </a:r>
          </a:p>
        </p:txBody>
      </p:sp>
      <p:sp>
        <p:nvSpPr>
          <p:cNvPr id="15" name="">
            <a:extLst xmlns:a="http://schemas.openxmlformats.org/drawingml/2006/main">
              <a:ext uri="{FF2B5EF4-FFF2-40B4-BE49-F238E27FC236}">
                <a16:creationId xmlns:a16="http://schemas.microsoft.com/office/drawing/2014/main" id="{6DF2A7B0-AFEE-49CB-9385-1659F9F2565A}"/>
              </a:ext>
            </a:extLst>
          </p:cNvPr>
          <p:cNvSpPr>
            <a:spLocks xmlns:a="http://schemas.openxmlformats.org/drawingml/2006/main" noGrp="1"/>
          </p:cNvSpPr>
          <p:nvPr/>
        </p:nvSpPr>
        <p:spPr>
          <a:xfrm xmlns:a="http://schemas.openxmlformats.org/drawingml/2006/main">
            <a:off x="666750" y="2362200"/>
            <a:ext cx="9906000" cy="514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09F8D99-37DD-45A5-96C6-112B4686922A}"/>
              </a:ext>
            </a:extLst>
          </p:cNvPr>
          <p:cNvSpPr>
            <a:spLocks xmlns:a="http://schemas.openxmlformats.org/drawingml/2006/main" noGrp="1"/>
          </p:cNvSpPr>
          <p:nvPr/>
        </p:nvSpPr>
        <p:spPr>
          <a:xfrm xmlns:a="http://schemas.openxmlformats.org/drawingml/2006/main">
            <a:off x="742950" y="2362200"/>
            <a:ext cx="2419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Simulation duration</a:t>
            </a:r>
          </a:p>
        </p:txBody>
      </p:sp>
      <p:sp>
        <p:nvSpPr>
          <p:cNvPr id="17" name="">
            <a:extLst xmlns:a="http://schemas.openxmlformats.org/drawingml/2006/main">
              <a:ext uri="{FF2B5EF4-FFF2-40B4-BE49-F238E27FC236}">
                <a16:creationId xmlns:a16="http://schemas.microsoft.com/office/drawing/2014/main" id="{EDABF33D-99B1-45B4-A26D-1F7E7E0C5F03}"/>
              </a:ext>
            </a:extLst>
          </p:cNvPr>
          <p:cNvSpPr>
            <a:spLocks xmlns:a="http://schemas.openxmlformats.org/drawingml/2006/main" noGrp="1"/>
          </p:cNvSpPr>
          <p:nvPr/>
        </p:nvSpPr>
        <p:spPr>
          <a:xfrm xmlns:a="http://schemas.openxmlformats.org/drawingml/2006/main">
            <a:off x="3314700" y="2362200"/>
            <a:ext cx="2705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540 simulated seconds</a:t>
            </a:r>
          </a:p>
        </p:txBody>
      </p:sp>
      <p:sp>
        <p:nvSpPr>
          <p:cNvPr id="18" name="">
            <a:extLst xmlns:a="http://schemas.openxmlformats.org/drawingml/2006/main">
              <a:ext uri="{FF2B5EF4-FFF2-40B4-BE49-F238E27FC236}">
                <a16:creationId xmlns:a16="http://schemas.microsoft.com/office/drawing/2014/main" id="{71700CAA-8367-4755-BB51-965B01885CE8}"/>
              </a:ext>
            </a:extLst>
          </p:cNvPr>
          <p:cNvSpPr>
            <a:spLocks xmlns:a="http://schemas.openxmlformats.org/drawingml/2006/main" noGrp="1"/>
          </p:cNvSpPr>
          <p:nvPr/>
        </p:nvSpPr>
        <p:spPr>
          <a:xfrm xmlns:a="http://schemas.openxmlformats.org/drawingml/2006/main">
            <a:off x="6172200" y="2362200"/>
            <a:ext cx="432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Captures pre-attack and post-attack behaviour</a:t>
            </a:r>
          </a:p>
        </p:txBody>
      </p:sp>
      <p:sp>
        <p:nvSpPr>
          <p:cNvPr id="19" name="">
            <a:extLst xmlns:a="http://schemas.openxmlformats.org/drawingml/2006/main">
              <a:ext uri="{FF2B5EF4-FFF2-40B4-BE49-F238E27FC236}">
                <a16:creationId xmlns:a16="http://schemas.microsoft.com/office/drawing/2014/main" id="{9C70D46F-3818-437B-AED1-E764E6114DFE}"/>
              </a:ext>
            </a:extLst>
          </p:cNvPr>
          <p:cNvSpPr>
            <a:spLocks xmlns:a="http://schemas.openxmlformats.org/drawingml/2006/main" noGrp="1"/>
          </p:cNvSpPr>
          <p:nvPr/>
        </p:nvSpPr>
        <p:spPr>
          <a:xfrm xmlns:a="http://schemas.openxmlformats.org/drawingml/2006/main">
            <a:off x="666750" y="2876550"/>
            <a:ext cx="9906000" cy="5143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769B00F-4183-4763-8243-C33B3A9F235D}"/>
              </a:ext>
            </a:extLst>
          </p:cNvPr>
          <p:cNvSpPr>
            <a:spLocks xmlns:a="http://schemas.openxmlformats.org/drawingml/2006/main" noGrp="1"/>
          </p:cNvSpPr>
          <p:nvPr/>
        </p:nvSpPr>
        <p:spPr>
          <a:xfrm xmlns:a="http://schemas.openxmlformats.org/drawingml/2006/main">
            <a:off x="742950" y="2876550"/>
            <a:ext cx="2419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Attack activation</a:t>
            </a:r>
          </a:p>
        </p:txBody>
      </p:sp>
      <p:sp>
        <p:nvSpPr>
          <p:cNvPr id="21" name="">
            <a:extLst xmlns:a="http://schemas.openxmlformats.org/drawingml/2006/main">
              <a:ext uri="{FF2B5EF4-FFF2-40B4-BE49-F238E27FC236}">
                <a16:creationId xmlns:a16="http://schemas.microsoft.com/office/drawing/2014/main" id="{EF0D31E1-39E4-4065-8F35-AD94381A48F5}"/>
              </a:ext>
            </a:extLst>
          </p:cNvPr>
          <p:cNvSpPr>
            <a:spLocks xmlns:a="http://schemas.openxmlformats.org/drawingml/2006/main" noGrp="1"/>
          </p:cNvSpPr>
          <p:nvPr/>
        </p:nvSpPr>
        <p:spPr>
          <a:xfrm xmlns:a="http://schemas.openxmlformats.org/drawingml/2006/main">
            <a:off x="3314700" y="2876550"/>
            <a:ext cx="2705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240 seconds</a:t>
            </a:r>
          </a:p>
        </p:txBody>
      </p:sp>
      <p:sp>
        <p:nvSpPr>
          <p:cNvPr id="22" name="">
            <a:extLst xmlns:a="http://schemas.openxmlformats.org/drawingml/2006/main">
              <a:ext uri="{FF2B5EF4-FFF2-40B4-BE49-F238E27FC236}">
                <a16:creationId xmlns:a16="http://schemas.microsoft.com/office/drawing/2014/main" id="{F679ADC1-5785-42F5-89C7-5257B3C38A72}"/>
              </a:ext>
            </a:extLst>
          </p:cNvPr>
          <p:cNvSpPr>
            <a:spLocks xmlns:a="http://schemas.openxmlformats.org/drawingml/2006/main" noGrp="1"/>
          </p:cNvSpPr>
          <p:nvPr/>
        </p:nvSpPr>
        <p:spPr>
          <a:xfrm xmlns:a="http://schemas.openxmlformats.org/drawingml/2006/main">
            <a:off x="6172200" y="2876550"/>
            <a:ext cx="432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Separates normal warm-up from attack period</a:t>
            </a:r>
          </a:p>
        </p:txBody>
      </p:sp>
      <p:sp>
        <p:nvSpPr>
          <p:cNvPr id="23" name="">
            <a:extLst xmlns:a="http://schemas.openxmlformats.org/drawingml/2006/main">
              <a:ext uri="{FF2B5EF4-FFF2-40B4-BE49-F238E27FC236}">
                <a16:creationId xmlns:a16="http://schemas.microsoft.com/office/drawing/2014/main" id="{C195D21F-CAC0-4D83-B5EE-C0FC522C2292}"/>
              </a:ext>
            </a:extLst>
          </p:cNvPr>
          <p:cNvSpPr>
            <a:spLocks xmlns:a="http://schemas.openxmlformats.org/drawingml/2006/main" noGrp="1"/>
          </p:cNvSpPr>
          <p:nvPr/>
        </p:nvSpPr>
        <p:spPr>
          <a:xfrm xmlns:a="http://schemas.openxmlformats.org/drawingml/2006/main">
            <a:off x="666750" y="3390900"/>
            <a:ext cx="9906000" cy="514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3A81DDA-8A4C-4C4D-9A41-BC78A3F603EC}"/>
              </a:ext>
            </a:extLst>
          </p:cNvPr>
          <p:cNvSpPr>
            <a:spLocks xmlns:a="http://schemas.openxmlformats.org/drawingml/2006/main" noGrp="1"/>
          </p:cNvSpPr>
          <p:nvPr/>
        </p:nvSpPr>
        <p:spPr>
          <a:xfrm xmlns:a="http://schemas.openxmlformats.org/drawingml/2006/main">
            <a:off x="742950" y="3390900"/>
            <a:ext cx="2419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Seeds</a:t>
            </a:r>
          </a:p>
        </p:txBody>
      </p:sp>
      <p:sp>
        <p:nvSpPr>
          <p:cNvPr id="25" name="">
            <a:extLst xmlns:a="http://schemas.openxmlformats.org/drawingml/2006/main">
              <a:ext uri="{FF2B5EF4-FFF2-40B4-BE49-F238E27FC236}">
                <a16:creationId xmlns:a16="http://schemas.microsoft.com/office/drawing/2014/main" id="{E06B9602-351B-4A0C-A5F3-F6EB854734CC}"/>
              </a:ext>
            </a:extLst>
          </p:cNvPr>
          <p:cNvSpPr>
            <a:spLocks xmlns:a="http://schemas.openxmlformats.org/drawingml/2006/main" noGrp="1"/>
          </p:cNvSpPr>
          <p:nvPr/>
        </p:nvSpPr>
        <p:spPr>
          <a:xfrm xmlns:a="http://schemas.openxmlformats.org/drawingml/2006/main">
            <a:off x="3314700" y="3390900"/>
            <a:ext cx="2705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123456, 234567, 345678, 456789, 567890</a:t>
            </a:r>
          </a:p>
        </p:txBody>
      </p:sp>
      <p:sp>
        <p:nvSpPr>
          <p:cNvPr id="26" name="">
            <a:extLst xmlns:a="http://schemas.openxmlformats.org/drawingml/2006/main">
              <a:ext uri="{FF2B5EF4-FFF2-40B4-BE49-F238E27FC236}">
                <a16:creationId xmlns:a16="http://schemas.microsoft.com/office/drawing/2014/main" id="{CDB54FE4-9181-4DF8-B1F9-4C2DC63F660C}"/>
              </a:ext>
            </a:extLst>
          </p:cNvPr>
          <p:cNvSpPr>
            <a:spLocks xmlns:a="http://schemas.openxmlformats.org/drawingml/2006/main" noGrp="1"/>
          </p:cNvSpPr>
          <p:nvPr/>
        </p:nvSpPr>
        <p:spPr>
          <a:xfrm xmlns:a="http://schemas.openxmlformats.org/drawingml/2006/main">
            <a:off x="6172200" y="3390900"/>
            <a:ext cx="432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Five independent matched repetitions</a:t>
            </a:r>
          </a:p>
        </p:txBody>
      </p:sp>
      <p:sp>
        <p:nvSpPr>
          <p:cNvPr id="27" name="">
            <a:extLst xmlns:a="http://schemas.openxmlformats.org/drawingml/2006/main">
              <a:ext uri="{FF2B5EF4-FFF2-40B4-BE49-F238E27FC236}">
                <a16:creationId xmlns:a16="http://schemas.microsoft.com/office/drawing/2014/main" id="{2DD664E9-28AF-4F0B-8EDA-56C6A9CBEE25}"/>
              </a:ext>
            </a:extLst>
          </p:cNvPr>
          <p:cNvSpPr>
            <a:spLocks xmlns:a="http://schemas.openxmlformats.org/drawingml/2006/main" noGrp="1"/>
          </p:cNvSpPr>
          <p:nvPr/>
        </p:nvSpPr>
        <p:spPr>
          <a:xfrm xmlns:a="http://schemas.openxmlformats.org/drawingml/2006/main">
            <a:off x="666750" y="3905250"/>
            <a:ext cx="9906000" cy="5143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F84C82B-1137-4084-B6B4-C10996BBF09E}"/>
              </a:ext>
            </a:extLst>
          </p:cNvPr>
          <p:cNvSpPr>
            <a:spLocks xmlns:a="http://schemas.openxmlformats.org/drawingml/2006/main" noGrp="1"/>
          </p:cNvSpPr>
          <p:nvPr/>
        </p:nvSpPr>
        <p:spPr>
          <a:xfrm xmlns:a="http://schemas.openxmlformats.org/drawingml/2006/main">
            <a:off x="742950" y="3905250"/>
            <a:ext cx="2419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Per-family baseline</a:t>
            </a:r>
          </a:p>
        </p:txBody>
      </p:sp>
      <p:sp>
        <p:nvSpPr>
          <p:cNvPr id="29" name="">
            <a:extLst xmlns:a="http://schemas.openxmlformats.org/drawingml/2006/main">
              <a:ext uri="{FF2B5EF4-FFF2-40B4-BE49-F238E27FC236}">
                <a16:creationId xmlns:a16="http://schemas.microsoft.com/office/drawing/2014/main" id="{31F628BC-6DF2-4162-8519-9312FDA3DAD6}"/>
              </a:ext>
            </a:extLst>
          </p:cNvPr>
          <p:cNvSpPr>
            <a:spLocks xmlns:a="http://schemas.openxmlformats.org/drawingml/2006/main" noGrp="1"/>
          </p:cNvSpPr>
          <p:nvPr/>
        </p:nvSpPr>
        <p:spPr>
          <a:xfrm xmlns:a="http://schemas.openxmlformats.org/drawingml/2006/main">
            <a:off x="3314700" y="3905250"/>
            <a:ext cx="2705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5 attack + 5 control runs</a:t>
            </a:r>
          </a:p>
        </p:txBody>
      </p:sp>
      <p:sp>
        <p:nvSpPr>
          <p:cNvPr id="30" name="">
            <a:extLst xmlns:a="http://schemas.openxmlformats.org/drawingml/2006/main">
              <a:ext uri="{FF2B5EF4-FFF2-40B4-BE49-F238E27FC236}">
                <a16:creationId xmlns:a16="http://schemas.microsoft.com/office/drawing/2014/main" id="{D66071BA-5CB3-4A21-AB61-5692C7398622}"/>
              </a:ext>
            </a:extLst>
          </p:cNvPr>
          <p:cNvSpPr>
            <a:spLocks xmlns:a="http://schemas.openxmlformats.org/drawingml/2006/main" noGrp="1"/>
          </p:cNvSpPr>
          <p:nvPr/>
        </p:nvSpPr>
        <p:spPr>
          <a:xfrm xmlns:a="http://schemas.openxmlformats.org/drawingml/2006/main">
            <a:off x="6172200" y="3905250"/>
            <a:ext cx="432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Balanced condition-level validation</a:t>
            </a:r>
          </a:p>
        </p:txBody>
      </p:sp>
      <p:sp>
        <p:nvSpPr>
          <p:cNvPr id="31" name="">
            <a:extLst xmlns:a="http://schemas.openxmlformats.org/drawingml/2006/main">
              <a:ext uri="{FF2B5EF4-FFF2-40B4-BE49-F238E27FC236}">
                <a16:creationId xmlns:a16="http://schemas.microsoft.com/office/drawing/2014/main" id="{AB686B74-FAA6-404B-B7A4-1D125334E1EC}"/>
              </a:ext>
            </a:extLst>
          </p:cNvPr>
          <p:cNvSpPr>
            <a:spLocks xmlns:a="http://schemas.openxmlformats.org/drawingml/2006/main" noGrp="1"/>
          </p:cNvSpPr>
          <p:nvPr/>
        </p:nvSpPr>
        <p:spPr>
          <a:xfrm xmlns:a="http://schemas.openxmlformats.org/drawingml/2006/main">
            <a:off x="666750" y="4419600"/>
            <a:ext cx="9906000" cy="514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73D59B1-E12F-4231-8B75-622369779630}"/>
              </a:ext>
            </a:extLst>
          </p:cNvPr>
          <p:cNvSpPr>
            <a:spLocks xmlns:a="http://schemas.openxmlformats.org/drawingml/2006/main" noGrp="1"/>
          </p:cNvSpPr>
          <p:nvPr/>
        </p:nvSpPr>
        <p:spPr>
          <a:xfrm xmlns:a="http://schemas.openxmlformats.org/drawingml/2006/main">
            <a:off x="742950" y="4419600"/>
            <a:ext cx="2419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Feature window</a:t>
            </a:r>
          </a:p>
        </p:txBody>
      </p:sp>
      <p:sp>
        <p:nvSpPr>
          <p:cNvPr id="33" name="">
            <a:extLst xmlns:a="http://schemas.openxmlformats.org/drawingml/2006/main">
              <a:ext uri="{FF2B5EF4-FFF2-40B4-BE49-F238E27FC236}">
                <a16:creationId xmlns:a16="http://schemas.microsoft.com/office/drawing/2014/main" id="{DE2041FF-7AD4-458A-B94C-D9C1A4567041}"/>
              </a:ext>
            </a:extLst>
          </p:cNvPr>
          <p:cNvSpPr>
            <a:spLocks xmlns:a="http://schemas.openxmlformats.org/drawingml/2006/main" noGrp="1"/>
          </p:cNvSpPr>
          <p:nvPr/>
        </p:nvSpPr>
        <p:spPr>
          <a:xfrm xmlns:a="http://schemas.openxmlformats.org/drawingml/2006/main">
            <a:off x="3314700" y="4419600"/>
            <a:ext cx="2705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60 seconds</a:t>
            </a:r>
          </a:p>
        </p:txBody>
      </p:sp>
      <p:sp>
        <p:nvSpPr>
          <p:cNvPr id="34" name="">
            <a:extLst xmlns:a="http://schemas.openxmlformats.org/drawingml/2006/main">
              <a:ext uri="{FF2B5EF4-FFF2-40B4-BE49-F238E27FC236}">
                <a16:creationId xmlns:a16="http://schemas.microsoft.com/office/drawing/2014/main" id="{D0CED3FD-F79D-4CBF-A250-DAFA9828EDAF}"/>
              </a:ext>
            </a:extLst>
          </p:cNvPr>
          <p:cNvSpPr>
            <a:spLocks xmlns:a="http://schemas.openxmlformats.org/drawingml/2006/main" noGrp="1"/>
          </p:cNvSpPr>
          <p:nvPr/>
        </p:nvSpPr>
        <p:spPr>
          <a:xfrm xmlns:a="http://schemas.openxmlformats.org/drawingml/2006/main">
            <a:off x="6172200" y="4419600"/>
            <a:ext cx="432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Temporal observations for drift and adaptation</a:t>
            </a:r>
          </a:p>
        </p:txBody>
      </p:sp>
      <p:sp>
        <p:nvSpPr>
          <p:cNvPr id="35" name="">
            <a:extLst xmlns:a="http://schemas.openxmlformats.org/drawingml/2006/main">
              <a:ext uri="{FF2B5EF4-FFF2-40B4-BE49-F238E27FC236}">
                <a16:creationId xmlns:a16="http://schemas.microsoft.com/office/drawing/2014/main" id="{F16A61AC-BEF2-42BD-A880-26B4EC19BB39}"/>
              </a:ext>
            </a:extLst>
          </p:cNvPr>
          <p:cNvSpPr>
            <a:spLocks xmlns:a="http://schemas.openxmlformats.org/drawingml/2006/main" noGrp="1"/>
          </p:cNvSpPr>
          <p:nvPr/>
        </p:nvSpPr>
        <p:spPr>
          <a:xfrm xmlns:a="http://schemas.openxmlformats.org/drawingml/2006/main">
            <a:off x="666750" y="4933950"/>
            <a:ext cx="9906000" cy="5143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8973FD85-0029-40D8-BD7B-ED32574617B7}"/>
              </a:ext>
            </a:extLst>
          </p:cNvPr>
          <p:cNvSpPr>
            <a:spLocks xmlns:a="http://schemas.openxmlformats.org/drawingml/2006/main" noGrp="1"/>
          </p:cNvSpPr>
          <p:nvPr/>
        </p:nvSpPr>
        <p:spPr>
          <a:xfrm xmlns:a="http://schemas.openxmlformats.org/drawingml/2006/main">
            <a:off x="742950" y="4933950"/>
            <a:ext cx="2419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Split unit</a:t>
            </a:r>
          </a:p>
        </p:txBody>
      </p:sp>
      <p:sp>
        <p:nvSpPr>
          <p:cNvPr id="37" name="">
            <a:extLst xmlns:a="http://schemas.openxmlformats.org/drawingml/2006/main">
              <a:ext uri="{FF2B5EF4-FFF2-40B4-BE49-F238E27FC236}">
                <a16:creationId xmlns:a16="http://schemas.microsoft.com/office/drawing/2014/main" id="{AD4257E5-1D5B-4822-8426-D69CF33E9CE0}"/>
              </a:ext>
            </a:extLst>
          </p:cNvPr>
          <p:cNvSpPr>
            <a:spLocks xmlns:a="http://schemas.openxmlformats.org/drawingml/2006/main" noGrp="1"/>
          </p:cNvSpPr>
          <p:nvPr/>
        </p:nvSpPr>
        <p:spPr>
          <a:xfrm xmlns:a="http://schemas.openxmlformats.org/drawingml/2006/main">
            <a:off x="3314700" y="4933950"/>
            <a:ext cx="2705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Complete simulation seed/run</a:t>
            </a:r>
          </a:p>
        </p:txBody>
      </p:sp>
      <p:sp>
        <p:nvSpPr>
          <p:cNvPr id="38" name="">
            <a:extLst xmlns:a="http://schemas.openxmlformats.org/drawingml/2006/main">
              <a:ext uri="{FF2B5EF4-FFF2-40B4-BE49-F238E27FC236}">
                <a16:creationId xmlns:a16="http://schemas.microsoft.com/office/drawing/2014/main" id="{3ABEC9DC-FF61-4F05-8B9D-F8B1DDB82362}"/>
              </a:ext>
            </a:extLst>
          </p:cNvPr>
          <p:cNvSpPr>
            <a:spLocks xmlns:a="http://schemas.openxmlformats.org/drawingml/2006/main" noGrp="1"/>
          </p:cNvSpPr>
          <p:nvPr/>
        </p:nvSpPr>
        <p:spPr>
          <a:xfrm xmlns:a="http://schemas.openxmlformats.org/drawingml/2006/main">
            <a:off x="6172200" y="4933950"/>
            <a:ext cx="432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Prevents windows from one run crossing train and test</a:t>
            </a:r>
          </a:p>
        </p:txBody>
      </p:sp>
      <p:sp>
        <p:nvSpPr>
          <p:cNvPr id="39" name="">
            <a:extLst xmlns:a="http://schemas.openxmlformats.org/drawingml/2006/main">
              <a:ext uri="{FF2B5EF4-FFF2-40B4-BE49-F238E27FC236}">
                <a16:creationId xmlns:a16="http://schemas.microsoft.com/office/drawing/2014/main" id="{F76996A4-4532-42BA-803E-BAC441861DE6}"/>
              </a:ext>
            </a:extLst>
          </p:cNvPr>
          <p:cNvSpPr>
            <a:spLocks xmlns:a="http://schemas.openxmlformats.org/drawingml/2006/main" noGrp="1"/>
          </p:cNvSpPr>
          <p:nvPr/>
        </p:nvSpPr>
        <p:spPr>
          <a:xfrm xmlns:a="http://schemas.openxmlformats.org/drawingml/2006/main">
            <a:off x="666750" y="1524000"/>
            <a:ext cx="9906000" cy="392430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18663079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9" name="">
            <a:extLst xmlns:a="http://schemas.openxmlformats.org/drawingml/2006/main">
              <a:ext uri="{FF2B5EF4-FFF2-40B4-BE49-F238E27FC236}">
                <a16:creationId xmlns:a16="http://schemas.microsoft.com/office/drawing/2014/main" id="{694A39BD-6D7E-4152-B654-4058E916461F}"/>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Attack implementation and validation evidence</a:t>
            </a:r>
          </a:p>
        </p:txBody>
      </p:sp>
      <p:sp>
        <p:nvSpPr>
          <p:cNvPr id="2" name="">
            <a:extLst xmlns:a="http://schemas.openxmlformats.org/drawingml/2006/main">
              <a:ext uri="{FF2B5EF4-FFF2-40B4-BE49-F238E27FC236}">
                <a16:creationId xmlns:a16="http://schemas.microsoft.com/office/drawing/2014/main" id="{9AD331F7-50A4-453F-9802-9E3D6F00D074}"/>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Ninety baseline Cooja runs were validated before any cross-attack IDS claim was made.</a:t>
            </a:r>
          </a:p>
        </p:txBody>
      </p:sp>
      <p:sp>
        <p:nvSpPr>
          <p:cNvPr id="3" name="">
            <a:extLst xmlns:a="http://schemas.openxmlformats.org/drawingml/2006/main">
              <a:ext uri="{FF2B5EF4-FFF2-40B4-BE49-F238E27FC236}">
                <a16:creationId xmlns:a16="http://schemas.microsoft.com/office/drawing/2014/main" id="{E833041B-F436-49A2-8985-BDCDA37FE358}"/>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CAFECE8-F898-4A91-A60C-42C2AF9EE699}"/>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9C7ADA2-2750-42E6-9833-BCE92F0D96CF}"/>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Implementation validation</a:t>
            </a:r>
          </a:p>
        </p:txBody>
      </p:sp>
      <p:sp>
        <p:nvSpPr>
          <p:cNvPr id="6" name="">
            <a:extLst xmlns:a="http://schemas.openxmlformats.org/drawingml/2006/main">
              <a:ext uri="{FF2B5EF4-FFF2-40B4-BE49-F238E27FC236}">
                <a16:creationId xmlns:a16="http://schemas.microsoft.com/office/drawing/2014/main" id="{317CCBEF-ABE6-403E-B91A-472ABCE5EFF4}"/>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07  </a:t>
            </a:r>
          </a:p>
        </p:txBody>
      </p:sp>
      <p:sp>
        <p:nvSpPr>
          <p:cNvPr id="7" name="">
            <a:extLst xmlns:a="http://schemas.openxmlformats.org/drawingml/2006/main">
              <a:ext uri="{FF2B5EF4-FFF2-40B4-BE49-F238E27FC236}">
                <a16:creationId xmlns:a16="http://schemas.microsoft.com/office/drawing/2014/main" id="{FDD80D21-F2EA-4524-9AD8-526164B0EBB8}"/>
              </a:ext>
            </a:extLst>
          </p:cNvPr>
          <p:cNvSpPr>
            <a:spLocks xmlns:a="http://schemas.openxmlformats.org/drawingml/2006/main" noGrp="1"/>
          </p:cNvSpPr>
          <p:nvPr/>
        </p:nvSpPr>
        <p:spPr>
          <a:xfrm xmlns:a="http://schemas.openxmlformats.org/drawingml/2006/main">
            <a:off x="361950" y="1409700"/>
            <a:ext cx="11191875"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EA82423-151D-4112-9652-F2256A6F59BD}"/>
              </a:ext>
            </a:extLst>
          </p:cNvPr>
          <p:cNvSpPr>
            <a:spLocks xmlns:a="http://schemas.openxmlformats.org/drawingml/2006/main" noGrp="1"/>
          </p:cNvSpPr>
          <p:nvPr/>
        </p:nvSpPr>
        <p:spPr>
          <a:xfrm xmlns:a="http://schemas.openxmlformats.org/drawingml/2006/main">
            <a:off x="438150" y="140970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Attack</a:t>
            </a:r>
          </a:p>
        </p:txBody>
      </p:sp>
      <p:sp>
        <p:nvSpPr>
          <p:cNvPr id="9" name="">
            <a:extLst xmlns:a="http://schemas.openxmlformats.org/drawingml/2006/main">
              <a:ext uri="{FF2B5EF4-FFF2-40B4-BE49-F238E27FC236}">
                <a16:creationId xmlns:a16="http://schemas.microsoft.com/office/drawing/2014/main" id="{637B075B-4949-4813-8832-9BAC1B62DB70}"/>
              </a:ext>
            </a:extLst>
          </p:cNvPr>
          <p:cNvSpPr>
            <a:spLocks xmlns:a="http://schemas.openxmlformats.org/drawingml/2006/main" noGrp="1"/>
          </p:cNvSpPr>
          <p:nvPr/>
        </p:nvSpPr>
        <p:spPr>
          <a:xfrm xmlns:a="http://schemas.openxmlformats.org/drawingml/2006/main">
            <a:off x="1866900" y="1409700"/>
            <a:ext cx="1752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Mechanism</a:t>
            </a:r>
          </a:p>
        </p:txBody>
      </p:sp>
      <p:sp>
        <p:nvSpPr>
          <p:cNvPr id="10" name="">
            <a:extLst xmlns:a="http://schemas.openxmlformats.org/drawingml/2006/main">
              <a:ext uri="{FF2B5EF4-FFF2-40B4-BE49-F238E27FC236}">
                <a16:creationId xmlns:a16="http://schemas.microsoft.com/office/drawing/2014/main" id="{71ECE991-6255-499F-9840-87E9B87FFF5B}"/>
              </a:ext>
            </a:extLst>
          </p:cNvPr>
          <p:cNvSpPr>
            <a:spLocks xmlns:a="http://schemas.openxmlformats.org/drawingml/2006/main" noGrp="1"/>
          </p:cNvSpPr>
          <p:nvPr/>
        </p:nvSpPr>
        <p:spPr>
          <a:xfrm xmlns:a="http://schemas.openxmlformats.org/drawingml/2006/main">
            <a:off x="3771900" y="1409700"/>
            <a:ext cx="847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Attack</a:t>
            </a:r>
          </a:p>
        </p:txBody>
      </p:sp>
      <p:sp>
        <p:nvSpPr>
          <p:cNvPr id="11" name="">
            <a:extLst xmlns:a="http://schemas.openxmlformats.org/drawingml/2006/main">
              <a:ext uri="{FF2B5EF4-FFF2-40B4-BE49-F238E27FC236}">
                <a16:creationId xmlns:a16="http://schemas.microsoft.com/office/drawing/2014/main" id="{16EB97FE-7EE5-4573-B078-D53C14BE3359}"/>
              </a:ext>
            </a:extLst>
          </p:cNvPr>
          <p:cNvSpPr>
            <a:spLocks xmlns:a="http://schemas.openxmlformats.org/drawingml/2006/main" noGrp="1"/>
          </p:cNvSpPr>
          <p:nvPr/>
        </p:nvSpPr>
        <p:spPr>
          <a:xfrm xmlns:a="http://schemas.openxmlformats.org/drawingml/2006/main">
            <a:off x="4772025" y="1409700"/>
            <a:ext cx="895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Control</a:t>
            </a:r>
          </a:p>
        </p:txBody>
      </p:sp>
      <p:sp>
        <p:nvSpPr>
          <p:cNvPr id="12" name="">
            <a:extLst xmlns:a="http://schemas.openxmlformats.org/drawingml/2006/main">
              <a:ext uri="{FF2B5EF4-FFF2-40B4-BE49-F238E27FC236}">
                <a16:creationId xmlns:a16="http://schemas.microsoft.com/office/drawing/2014/main" id="{28549682-2434-4477-9BA6-577C2E3A9991}"/>
              </a:ext>
            </a:extLst>
          </p:cNvPr>
          <p:cNvSpPr>
            <a:spLocks xmlns:a="http://schemas.openxmlformats.org/drawingml/2006/main" noGrp="1"/>
          </p:cNvSpPr>
          <p:nvPr/>
        </p:nvSpPr>
        <p:spPr>
          <a:xfrm xmlns:a="http://schemas.openxmlformats.org/drawingml/2006/main">
            <a:off x="5819775" y="1409700"/>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Observed attack evidence</a:t>
            </a:r>
          </a:p>
        </p:txBody>
      </p:sp>
      <p:sp>
        <p:nvSpPr>
          <p:cNvPr id="13" name="">
            <a:extLst xmlns:a="http://schemas.openxmlformats.org/drawingml/2006/main">
              <a:ext uri="{FF2B5EF4-FFF2-40B4-BE49-F238E27FC236}">
                <a16:creationId xmlns:a16="http://schemas.microsoft.com/office/drawing/2014/main" id="{E1B260CF-1954-40B3-8669-47A261061B7C}"/>
              </a:ext>
            </a:extLst>
          </p:cNvPr>
          <p:cNvSpPr>
            <a:spLocks xmlns:a="http://schemas.openxmlformats.org/drawingml/2006/main" noGrp="1"/>
          </p:cNvSpPr>
          <p:nvPr/>
        </p:nvSpPr>
        <p:spPr>
          <a:xfrm xmlns:a="http://schemas.openxmlformats.org/drawingml/2006/main">
            <a:off x="9248775" y="1409700"/>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Status</a:t>
            </a:r>
          </a:p>
        </p:txBody>
      </p:sp>
      <p:sp>
        <p:nvSpPr>
          <p:cNvPr id="14" name="">
            <a:extLst xmlns:a="http://schemas.openxmlformats.org/drawingml/2006/main">
              <a:ext uri="{FF2B5EF4-FFF2-40B4-BE49-F238E27FC236}">
                <a16:creationId xmlns:a16="http://schemas.microsoft.com/office/drawing/2014/main" id="{A2E710FD-529F-4F4C-9FE2-EDFFAC16045A}"/>
              </a:ext>
            </a:extLst>
          </p:cNvPr>
          <p:cNvSpPr>
            <a:spLocks xmlns:a="http://schemas.openxmlformats.org/drawingml/2006/main" noGrp="1"/>
          </p:cNvSpPr>
          <p:nvPr/>
        </p:nvSpPr>
        <p:spPr>
          <a:xfrm xmlns:a="http://schemas.openxmlformats.org/drawingml/2006/main">
            <a:off x="361950" y="1733550"/>
            <a:ext cx="11191875" cy="4572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5AADEF2-DDAE-40BD-8185-A428F5CF909D}"/>
              </a:ext>
            </a:extLst>
          </p:cNvPr>
          <p:cNvSpPr>
            <a:spLocks xmlns:a="http://schemas.openxmlformats.org/drawingml/2006/main" noGrp="1"/>
          </p:cNvSpPr>
          <p:nvPr/>
        </p:nvSpPr>
        <p:spPr>
          <a:xfrm xmlns:a="http://schemas.openxmlformats.org/drawingml/2006/main">
            <a:off x="438150" y="1733550"/>
            <a:ext cx="127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111827"/>
                </a:solidFill>
              </a:defRPr>
            </a:pPr>
            <a:r>
              <a:rPr sz="975" b="1">
                <a:solidFill>
                  <a:srgbClr val="111827"/>
                </a:solidFill>
              </a:rPr>
              <a:t>Blackhole</a:t>
            </a:r>
          </a:p>
        </p:txBody>
      </p:sp>
      <p:sp>
        <p:nvSpPr>
          <p:cNvPr id="16" name="">
            <a:extLst xmlns:a="http://schemas.openxmlformats.org/drawingml/2006/main">
              <a:ext uri="{FF2B5EF4-FFF2-40B4-BE49-F238E27FC236}">
                <a16:creationId xmlns:a16="http://schemas.microsoft.com/office/drawing/2014/main" id="{455AA1E1-4E56-433F-A544-96A2FC27306E}"/>
              </a:ext>
            </a:extLst>
          </p:cNvPr>
          <p:cNvSpPr>
            <a:spLocks xmlns:a="http://schemas.openxmlformats.org/drawingml/2006/main" noGrp="1"/>
          </p:cNvSpPr>
          <p:nvPr/>
        </p:nvSpPr>
        <p:spPr>
          <a:xfrm xmlns:a="http://schemas.openxmlformats.org/drawingml/2006/main">
            <a:off x="1866900" y="17335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111827"/>
                </a:solidFill>
              </a:defRPr>
            </a:pPr>
            <a:r>
              <a:rPr sz="975" b="0">
                <a:solidFill>
                  <a:srgbClr val="111827"/>
                </a:solidFill>
              </a:rPr>
              <a:t>Drop forwarding</a:t>
            </a:r>
          </a:p>
        </p:txBody>
      </p:sp>
      <p:sp>
        <p:nvSpPr>
          <p:cNvPr id="17" name="">
            <a:extLst xmlns:a="http://schemas.openxmlformats.org/drawingml/2006/main">
              <a:ext uri="{FF2B5EF4-FFF2-40B4-BE49-F238E27FC236}">
                <a16:creationId xmlns:a16="http://schemas.microsoft.com/office/drawing/2014/main" id="{7D30C7C0-4158-46B9-9143-DE825847FABC}"/>
              </a:ext>
            </a:extLst>
          </p:cNvPr>
          <p:cNvSpPr>
            <a:spLocks xmlns:a="http://schemas.openxmlformats.org/drawingml/2006/main" noGrp="1"/>
          </p:cNvSpPr>
          <p:nvPr/>
        </p:nvSpPr>
        <p:spPr>
          <a:xfrm xmlns:a="http://schemas.openxmlformats.org/drawingml/2006/main">
            <a:off x="3771900" y="1733550"/>
            <a:ext cx="8477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5</a:t>
            </a:r>
          </a:p>
        </p:txBody>
      </p:sp>
      <p:sp>
        <p:nvSpPr>
          <p:cNvPr id="18" name="">
            <a:extLst xmlns:a="http://schemas.openxmlformats.org/drawingml/2006/main">
              <a:ext uri="{FF2B5EF4-FFF2-40B4-BE49-F238E27FC236}">
                <a16:creationId xmlns:a16="http://schemas.microsoft.com/office/drawing/2014/main" id="{6F41386D-4FEB-4CED-B09F-FC765D63A3FE}"/>
              </a:ext>
            </a:extLst>
          </p:cNvPr>
          <p:cNvSpPr>
            <a:spLocks xmlns:a="http://schemas.openxmlformats.org/drawingml/2006/main" noGrp="1"/>
          </p:cNvSpPr>
          <p:nvPr/>
        </p:nvSpPr>
        <p:spPr>
          <a:xfrm xmlns:a="http://schemas.openxmlformats.org/drawingml/2006/main">
            <a:off x="4772025" y="1733550"/>
            <a:ext cx="895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5</a:t>
            </a:r>
          </a:p>
        </p:txBody>
      </p:sp>
      <p:sp>
        <p:nvSpPr>
          <p:cNvPr id="19" name="">
            <a:extLst xmlns:a="http://schemas.openxmlformats.org/drawingml/2006/main">
              <a:ext uri="{FF2B5EF4-FFF2-40B4-BE49-F238E27FC236}">
                <a16:creationId xmlns:a16="http://schemas.microsoft.com/office/drawing/2014/main" id="{29BF0C23-5C80-4BAF-BF19-98251520DCF5}"/>
              </a:ext>
            </a:extLst>
          </p:cNvPr>
          <p:cNvSpPr>
            <a:spLocks xmlns:a="http://schemas.openxmlformats.org/drawingml/2006/main" noGrp="1"/>
          </p:cNvSpPr>
          <p:nvPr/>
        </p:nvSpPr>
        <p:spPr>
          <a:xfrm xmlns:a="http://schemas.openxmlformats.org/drawingml/2006/main">
            <a:off x="5819775" y="1733550"/>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111827"/>
                </a:solidFill>
              </a:defRPr>
            </a:pPr>
            <a:r>
              <a:rPr sz="975" b="0">
                <a:solidFill>
                  <a:srgbClr val="111827"/>
                </a:solidFill>
              </a:rPr>
              <a:t>Post-activation responses suppressed to 0-3</a:t>
            </a:r>
          </a:p>
        </p:txBody>
      </p:sp>
      <p:sp>
        <p:nvSpPr>
          <p:cNvPr id="20" name="">
            <a:extLst xmlns:a="http://schemas.openxmlformats.org/drawingml/2006/main">
              <a:ext uri="{FF2B5EF4-FFF2-40B4-BE49-F238E27FC236}">
                <a16:creationId xmlns:a16="http://schemas.microsoft.com/office/drawing/2014/main" id="{4DFCE026-4E95-4DBE-93AF-5A5CC3DE0FCF}"/>
              </a:ext>
            </a:extLst>
          </p:cNvPr>
          <p:cNvSpPr>
            <a:spLocks xmlns:a="http://schemas.openxmlformats.org/drawingml/2006/main" noGrp="1"/>
          </p:cNvSpPr>
          <p:nvPr/>
        </p:nvSpPr>
        <p:spPr>
          <a:xfrm xmlns:a="http://schemas.openxmlformats.org/drawingml/2006/main">
            <a:off x="9248775" y="1733550"/>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Validated</a:t>
            </a:r>
          </a:p>
        </p:txBody>
      </p:sp>
      <p:sp>
        <p:nvSpPr>
          <p:cNvPr id="21" name="">
            <a:extLst xmlns:a="http://schemas.openxmlformats.org/drawingml/2006/main">
              <a:ext uri="{FF2B5EF4-FFF2-40B4-BE49-F238E27FC236}">
                <a16:creationId xmlns:a16="http://schemas.microsoft.com/office/drawing/2014/main" id="{EEAACD10-5E72-48F9-8309-7FEF2AEB8220}"/>
              </a:ext>
            </a:extLst>
          </p:cNvPr>
          <p:cNvSpPr>
            <a:spLocks xmlns:a="http://schemas.openxmlformats.org/drawingml/2006/main" noGrp="1"/>
          </p:cNvSpPr>
          <p:nvPr/>
        </p:nvSpPr>
        <p:spPr>
          <a:xfrm xmlns:a="http://schemas.openxmlformats.org/drawingml/2006/main">
            <a:off x="361950" y="2190750"/>
            <a:ext cx="11191875" cy="4572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00BE2DD-E56C-448C-AA65-8F1A871017D6}"/>
              </a:ext>
            </a:extLst>
          </p:cNvPr>
          <p:cNvSpPr>
            <a:spLocks xmlns:a="http://schemas.openxmlformats.org/drawingml/2006/main" noGrp="1"/>
          </p:cNvSpPr>
          <p:nvPr/>
        </p:nvSpPr>
        <p:spPr>
          <a:xfrm xmlns:a="http://schemas.openxmlformats.org/drawingml/2006/main">
            <a:off x="438150" y="2190750"/>
            <a:ext cx="127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111827"/>
                </a:solidFill>
              </a:defRPr>
            </a:pPr>
            <a:r>
              <a:rPr sz="975" b="1">
                <a:solidFill>
                  <a:srgbClr val="111827"/>
                </a:solidFill>
              </a:rPr>
              <a:t>Sinkhole</a:t>
            </a:r>
          </a:p>
        </p:txBody>
      </p:sp>
      <p:sp>
        <p:nvSpPr>
          <p:cNvPr id="23" name="">
            <a:extLst xmlns:a="http://schemas.openxmlformats.org/drawingml/2006/main">
              <a:ext uri="{FF2B5EF4-FFF2-40B4-BE49-F238E27FC236}">
                <a16:creationId xmlns:a16="http://schemas.microsoft.com/office/drawing/2014/main" id="{1A4421F8-5E26-44E8-B59E-BC8F98971E5F}"/>
              </a:ext>
            </a:extLst>
          </p:cNvPr>
          <p:cNvSpPr>
            <a:spLocks xmlns:a="http://schemas.openxmlformats.org/drawingml/2006/main" noGrp="1"/>
          </p:cNvSpPr>
          <p:nvPr/>
        </p:nvSpPr>
        <p:spPr>
          <a:xfrm xmlns:a="http://schemas.openxmlformats.org/drawingml/2006/main">
            <a:off x="1866900" y="21907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111827"/>
                </a:solidFill>
              </a:defRPr>
            </a:pPr>
            <a:r>
              <a:rPr sz="975" b="0">
                <a:solidFill>
                  <a:srgbClr val="111827"/>
                </a:solidFill>
              </a:rPr>
              <a:t>Advertise minimum rank</a:t>
            </a:r>
          </a:p>
        </p:txBody>
      </p:sp>
      <p:sp>
        <p:nvSpPr>
          <p:cNvPr id="24" name="">
            <a:extLst xmlns:a="http://schemas.openxmlformats.org/drawingml/2006/main">
              <a:ext uri="{FF2B5EF4-FFF2-40B4-BE49-F238E27FC236}">
                <a16:creationId xmlns:a16="http://schemas.microsoft.com/office/drawing/2014/main" id="{AFA83711-21CD-4353-AF33-A8028F527F55}"/>
              </a:ext>
            </a:extLst>
          </p:cNvPr>
          <p:cNvSpPr>
            <a:spLocks xmlns:a="http://schemas.openxmlformats.org/drawingml/2006/main" noGrp="1"/>
          </p:cNvSpPr>
          <p:nvPr/>
        </p:nvSpPr>
        <p:spPr>
          <a:xfrm xmlns:a="http://schemas.openxmlformats.org/drawingml/2006/main">
            <a:off x="3771900" y="2190750"/>
            <a:ext cx="8477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5</a:t>
            </a:r>
          </a:p>
        </p:txBody>
      </p:sp>
      <p:sp>
        <p:nvSpPr>
          <p:cNvPr id="25" name="">
            <a:extLst xmlns:a="http://schemas.openxmlformats.org/drawingml/2006/main">
              <a:ext uri="{FF2B5EF4-FFF2-40B4-BE49-F238E27FC236}">
                <a16:creationId xmlns:a16="http://schemas.microsoft.com/office/drawing/2014/main" id="{177BD425-1863-4FA8-B433-55FC4559354F}"/>
              </a:ext>
            </a:extLst>
          </p:cNvPr>
          <p:cNvSpPr>
            <a:spLocks xmlns:a="http://schemas.openxmlformats.org/drawingml/2006/main" noGrp="1"/>
          </p:cNvSpPr>
          <p:nvPr/>
        </p:nvSpPr>
        <p:spPr>
          <a:xfrm xmlns:a="http://schemas.openxmlformats.org/drawingml/2006/main">
            <a:off x="4772025" y="2190750"/>
            <a:ext cx="895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5</a:t>
            </a:r>
          </a:p>
        </p:txBody>
      </p:sp>
      <p:sp>
        <p:nvSpPr>
          <p:cNvPr id="26" name="">
            <a:extLst xmlns:a="http://schemas.openxmlformats.org/drawingml/2006/main">
              <a:ext uri="{FF2B5EF4-FFF2-40B4-BE49-F238E27FC236}">
                <a16:creationId xmlns:a16="http://schemas.microsoft.com/office/drawing/2014/main" id="{E1826867-FB09-44D9-829B-A9347286CB36}"/>
              </a:ext>
            </a:extLst>
          </p:cNvPr>
          <p:cNvSpPr>
            <a:spLocks xmlns:a="http://schemas.openxmlformats.org/drawingml/2006/main" noGrp="1"/>
          </p:cNvSpPr>
          <p:nvPr/>
        </p:nvSpPr>
        <p:spPr>
          <a:xfrm xmlns:a="http://schemas.openxmlformats.org/drawingml/2006/main">
            <a:off x="5819775" y="2190750"/>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111827"/>
                </a:solidFill>
              </a:defRPr>
            </a:pPr>
            <a:r>
              <a:rPr sz="975" b="0">
                <a:solidFill>
                  <a:srgbClr val="111827"/>
                </a:solidFill>
              </a:rPr>
              <a:t>1 advertised-rank event per attack run</a:t>
            </a:r>
          </a:p>
        </p:txBody>
      </p:sp>
      <p:sp>
        <p:nvSpPr>
          <p:cNvPr id="27" name="">
            <a:extLst xmlns:a="http://schemas.openxmlformats.org/drawingml/2006/main">
              <a:ext uri="{FF2B5EF4-FFF2-40B4-BE49-F238E27FC236}">
                <a16:creationId xmlns:a16="http://schemas.microsoft.com/office/drawing/2014/main" id="{27207BCB-434A-497F-84D3-F424F445FB96}"/>
              </a:ext>
            </a:extLst>
          </p:cNvPr>
          <p:cNvSpPr>
            <a:spLocks xmlns:a="http://schemas.openxmlformats.org/drawingml/2006/main" noGrp="1"/>
          </p:cNvSpPr>
          <p:nvPr/>
        </p:nvSpPr>
        <p:spPr>
          <a:xfrm xmlns:a="http://schemas.openxmlformats.org/drawingml/2006/main">
            <a:off x="9248775" y="2190750"/>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Validated</a:t>
            </a:r>
          </a:p>
        </p:txBody>
      </p:sp>
      <p:sp>
        <p:nvSpPr>
          <p:cNvPr id="28" name="">
            <a:extLst xmlns:a="http://schemas.openxmlformats.org/drawingml/2006/main">
              <a:ext uri="{FF2B5EF4-FFF2-40B4-BE49-F238E27FC236}">
                <a16:creationId xmlns:a16="http://schemas.microsoft.com/office/drawing/2014/main" id="{D5A2201E-8C4D-4C53-9B6E-6B4368FC2428}"/>
              </a:ext>
            </a:extLst>
          </p:cNvPr>
          <p:cNvSpPr>
            <a:spLocks xmlns:a="http://schemas.openxmlformats.org/drawingml/2006/main" noGrp="1"/>
          </p:cNvSpPr>
          <p:nvPr/>
        </p:nvSpPr>
        <p:spPr>
          <a:xfrm xmlns:a="http://schemas.openxmlformats.org/drawingml/2006/main">
            <a:off x="361950" y="2647950"/>
            <a:ext cx="11191875" cy="4572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56779F4-C323-4DEE-BB0C-8B54614D31AA}"/>
              </a:ext>
            </a:extLst>
          </p:cNvPr>
          <p:cNvSpPr>
            <a:spLocks xmlns:a="http://schemas.openxmlformats.org/drawingml/2006/main" noGrp="1"/>
          </p:cNvSpPr>
          <p:nvPr/>
        </p:nvSpPr>
        <p:spPr>
          <a:xfrm xmlns:a="http://schemas.openxmlformats.org/drawingml/2006/main">
            <a:off x="438150" y="2647950"/>
            <a:ext cx="127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111827"/>
                </a:solidFill>
              </a:defRPr>
            </a:pPr>
            <a:r>
              <a:rPr sz="975" b="1">
                <a:solidFill>
                  <a:srgbClr val="111827"/>
                </a:solidFill>
              </a:rPr>
              <a:t>DIS flood</a:t>
            </a:r>
          </a:p>
        </p:txBody>
      </p:sp>
      <p:sp>
        <p:nvSpPr>
          <p:cNvPr id="30" name="">
            <a:extLst xmlns:a="http://schemas.openxmlformats.org/drawingml/2006/main">
              <a:ext uri="{FF2B5EF4-FFF2-40B4-BE49-F238E27FC236}">
                <a16:creationId xmlns:a16="http://schemas.microsoft.com/office/drawing/2014/main" id="{9AAA5CC7-5115-4572-B4A9-C47404692371}"/>
              </a:ext>
            </a:extLst>
          </p:cNvPr>
          <p:cNvSpPr>
            <a:spLocks xmlns:a="http://schemas.openxmlformats.org/drawingml/2006/main" noGrp="1"/>
          </p:cNvSpPr>
          <p:nvPr/>
        </p:nvSpPr>
        <p:spPr>
          <a:xfrm xmlns:a="http://schemas.openxmlformats.org/drawingml/2006/main">
            <a:off x="1866900" y="26479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111827"/>
                </a:solidFill>
              </a:defRPr>
            </a:pPr>
            <a:r>
              <a:rPr sz="975" b="0">
                <a:solidFill>
                  <a:srgbClr val="111827"/>
                </a:solidFill>
              </a:rPr>
              <a:t>Flood DIS</a:t>
            </a:r>
          </a:p>
        </p:txBody>
      </p:sp>
      <p:sp>
        <p:nvSpPr>
          <p:cNvPr id="31" name="">
            <a:extLst xmlns:a="http://schemas.openxmlformats.org/drawingml/2006/main">
              <a:ext uri="{FF2B5EF4-FFF2-40B4-BE49-F238E27FC236}">
                <a16:creationId xmlns:a16="http://schemas.microsoft.com/office/drawing/2014/main" id="{5C7AEF32-06B8-4793-8C7C-798FBF3E39B8}"/>
              </a:ext>
            </a:extLst>
          </p:cNvPr>
          <p:cNvSpPr>
            <a:spLocks xmlns:a="http://schemas.openxmlformats.org/drawingml/2006/main" noGrp="1"/>
          </p:cNvSpPr>
          <p:nvPr/>
        </p:nvSpPr>
        <p:spPr>
          <a:xfrm xmlns:a="http://schemas.openxmlformats.org/drawingml/2006/main">
            <a:off x="3771900" y="2647950"/>
            <a:ext cx="8477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5</a:t>
            </a:r>
          </a:p>
        </p:txBody>
      </p:sp>
      <p:sp>
        <p:nvSpPr>
          <p:cNvPr id="32" name="">
            <a:extLst xmlns:a="http://schemas.openxmlformats.org/drawingml/2006/main">
              <a:ext uri="{FF2B5EF4-FFF2-40B4-BE49-F238E27FC236}">
                <a16:creationId xmlns:a16="http://schemas.microsoft.com/office/drawing/2014/main" id="{5F2A84FA-E39D-4BD8-A14B-61BF8D2270DE}"/>
              </a:ext>
            </a:extLst>
          </p:cNvPr>
          <p:cNvSpPr>
            <a:spLocks xmlns:a="http://schemas.openxmlformats.org/drawingml/2006/main" noGrp="1"/>
          </p:cNvSpPr>
          <p:nvPr/>
        </p:nvSpPr>
        <p:spPr>
          <a:xfrm xmlns:a="http://schemas.openxmlformats.org/drawingml/2006/main">
            <a:off x="4772025" y="2647950"/>
            <a:ext cx="895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5</a:t>
            </a:r>
          </a:p>
        </p:txBody>
      </p:sp>
      <p:sp>
        <p:nvSpPr>
          <p:cNvPr id="33" name="">
            <a:extLst xmlns:a="http://schemas.openxmlformats.org/drawingml/2006/main">
              <a:ext uri="{FF2B5EF4-FFF2-40B4-BE49-F238E27FC236}">
                <a16:creationId xmlns:a16="http://schemas.microsoft.com/office/drawing/2014/main" id="{388D211D-DE19-401F-8E55-D78D8B02AF36}"/>
              </a:ext>
            </a:extLst>
          </p:cNvPr>
          <p:cNvSpPr>
            <a:spLocks xmlns:a="http://schemas.openxmlformats.org/drawingml/2006/main" noGrp="1"/>
          </p:cNvSpPr>
          <p:nvPr/>
        </p:nvSpPr>
        <p:spPr>
          <a:xfrm xmlns:a="http://schemas.openxmlformats.org/drawingml/2006/main">
            <a:off x="5819775" y="2647950"/>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111827"/>
                </a:solidFill>
              </a:defRPr>
            </a:pPr>
            <a:r>
              <a:rPr sz="975" b="0">
                <a:solidFill>
                  <a:srgbClr val="111827"/>
                </a:solidFill>
              </a:rPr>
              <a:t>149 effect events per run</a:t>
            </a:r>
          </a:p>
        </p:txBody>
      </p:sp>
      <p:sp>
        <p:nvSpPr>
          <p:cNvPr id="34" name="">
            <a:extLst xmlns:a="http://schemas.openxmlformats.org/drawingml/2006/main">
              <a:ext uri="{FF2B5EF4-FFF2-40B4-BE49-F238E27FC236}">
                <a16:creationId xmlns:a16="http://schemas.microsoft.com/office/drawing/2014/main" id="{80A43DF1-4162-4D1B-8B77-7E5D752AB73A}"/>
              </a:ext>
            </a:extLst>
          </p:cNvPr>
          <p:cNvSpPr>
            <a:spLocks xmlns:a="http://schemas.openxmlformats.org/drawingml/2006/main" noGrp="1"/>
          </p:cNvSpPr>
          <p:nvPr/>
        </p:nvSpPr>
        <p:spPr>
          <a:xfrm xmlns:a="http://schemas.openxmlformats.org/drawingml/2006/main">
            <a:off x="9248775" y="2647950"/>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Validated</a:t>
            </a:r>
          </a:p>
        </p:txBody>
      </p:sp>
      <p:sp>
        <p:nvSpPr>
          <p:cNvPr id="35" name="">
            <a:extLst xmlns:a="http://schemas.openxmlformats.org/drawingml/2006/main">
              <a:ext uri="{FF2B5EF4-FFF2-40B4-BE49-F238E27FC236}">
                <a16:creationId xmlns:a16="http://schemas.microsoft.com/office/drawing/2014/main" id="{233BC1CE-5716-4648-8295-1941285141F3}"/>
              </a:ext>
            </a:extLst>
          </p:cNvPr>
          <p:cNvSpPr>
            <a:spLocks xmlns:a="http://schemas.openxmlformats.org/drawingml/2006/main" noGrp="1"/>
          </p:cNvSpPr>
          <p:nvPr/>
        </p:nvSpPr>
        <p:spPr>
          <a:xfrm xmlns:a="http://schemas.openxmlformats.org/drawingml/2006/main">
            <a:off x="361950" y="3105150"/>
            <a:ext cx="11191875" cy="4572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E6FECDC5-802F-4039-927C-7B488EE038AC}"/>
              </a:ext>
            </a:extLst>
          </p:cNvPr>
          <p:cNvSpPr>
            <a:spLocks xmlns:a="http://schemas.openxmlformats.org/drawingml/2006/main" noGrp="1"/>
          </p:cNvSpPr>
          <p:nvPr/>
        </p:nvSpPr>
        <p:spPr>
          <a:xfrm xmlns:a="http://schemas.openxmlformats.org/drawingml/2006/main">
            <a:off x="438150" y="3105150"/>
            <a:ext cx="127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111827"/>
                </a:solidFill>
              </a:defRPr>
            </a:pPr>
            <a:r>
              <a:rPr sz="975" b="1">
                <a:solidFill>
                  <a:srgbClr val="111827"/>
                </a:solidFill>
              </a:rPr>
              <a:t>Grayhole</a:t>
            </a:r>
          </a:p>
        </p:txBody>
      </p:sp>
      <p:sp>
        <p:nvSpPr>
          <p:cNvPr id="37" name="">
            <a:extLst xmlns:a="http://schemas.openxmlformats.org/drawingml/2006/main">
              <a:ext uri="{FF2B5EF4-FFF2-40B4-BE49-F238E27FC236}">
                <a16:creationId xmlns:a16="http://schemas.microsoft.com/office/drawing/2014/main" id="{6E54C278-D295-4D45-A11E-CE6763006308}"/>
              </a:ext>
            </a:extLst>
          </p:cNvPr>
          <p:cNvSpPr>
            <a:spLocks xmlns:a="http://schemas.openxmlformats.org/drawingml/2006/main" noGrp="1"/>
          </p:cNvSpPr>
          <p:nvPr/>
        </p:nvSpPr>
        <p:spPr>
          <a:xfrm xmlns:a="http://schemas.openxmlformats.org/drawingml/2006/main">
            <a:off x="1866900" y="31051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111827"/>
                </a:solidFill>
              </a:defRPr>
            </a:pPr>
            <a:r>
              <a:rPr sz="975" b="0">
                <a:solidFill>
                  <a:srgbClr val="111827"/>
                </a:solidFill>
              </a:rPr>
              <a:t>Selective drop</a:t>
            </a:r>
          </a:p>
        </p:txBody>
      </p:sp>
      <p:sp>
        <p:nvSpPr>
          <p:cNvPr id="38" name="">
            <a:extLst xmlns:a="http://schemas.openxmlformats.org/drawingml/2006/main">
              <a:ext uri="{FF2B5EF4-FFF2-40B4-BE49-F238E27FC236}">
                <a16:creationId xmlns:a16="http://schemas.microsoft.com/office/drawing/2014/main" id="{6F8A51DC-9067-4333-AA41-3247DD1E5B1A}"/>
              </a:ext>
            </a:extLst>
          </p:cNvPr>
          <p:cNvSpPr>
            <a:spLocks xmlns:a="http://schemas.openxmlformats.org/drawingml/2006/main" noGrp="1"/>
          </p:cNvSpPr>
          <p:nvPr/>
        </p:nvSpPr>
        <p:spPr>
          <a:xfrm xmlns:a="http://schemas.openxmlformats.org/drawingml/2006/main">
            <a:off x="3771900" y="3105150"/>
            <a:ext cx="8477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5</a:t>
            </a:r>
          </a:p>
        </p:txBody>
      </p:sp>
      <p:sp>
        <p:nvSpPr>
          <p:cNvPr id="39" name="">
            <a:extLst xmlns:a="http://schemas.openxmlformats.org/drawingml/2006/main">
              <a:ext uri="{FF2B5EF4-FFF2-40B4-BE49-F238E27FC236}">
                <a16:creationId xmlns:a16="http://schemas.microsoft.com/office/drawing/2014/main" id="{8B82E7B8-E7D9-4927-AB86-7C5007C057FA}"/>
              </a:ext>
            </a:extLst>
          </p:cNvPr>
          <p:cNvSpPr>
            <a:spLocks xmlns:a="http://schemas.openxmlformats.org/drawingml/2006/main" noGrp="1"/>
          </p:cNvSpPr>
          <p:nvPr/>
        </p:nvSpPr>
        <p:spPr>
          <a:xfrm xmlns:a="http://schemas.openxmlformats.org/drawingml/2006/main">
            <a:off x="4772025" y="3105150"/>
            <a:ext cx="895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5</a:t>
            </a:r>
          </a:p>
        </p:txBody>
      </p:sp>
      <p:sp>
        <p:nvSpPr>
          <p:cNvPr id="40" name="">
            <a:extLst xmlns:a="http://schemas.openxmlformats.org/drawingml/2006/main">
              <a:ext uri="{FF2B5EF4-FFF2-40B4-BE49-F238E27FC236}">
                <a16:creationId xmlns:a16="http://schemas.microsoft.com/office/drawing/2014/main" id="{1A758F59-B0BF-4ECA-B684-65D15A77D11B}"/>
              </a:ext>
            </a:extLst>
          </p:cNvPr>
          <p:cNvSpPr>
            <a:spLocks xmlns:a="http://schemas.openxmlformats.org/drawingml/2006/main" noGrp="1"/>
          </p:cNvSpPr>
          <p:nvPr/>
        </p:nvSpPr>
        <p:spPr>
          <a:xfrm xmlns:a="http://schemas.openxmlformats.org/drawingml/2006/main">
            <a:off x="5819775" y="3105150"/>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111827"/>
                </a:solidFill>
              </a:defRPr>
            </a:pPr>
            <a:r>
              <a:rPr sz="975" b="0">
                <a:solidFill>
                  <a:srgbClr val="111827"/>
                </a:solidFill>
              </a:rPr>
              <a:t>208-211 effect events per run</a:t>
            </a:r>
          </a:p>
        </p:txBody>
      </p:sp>
      <p:sp>
        <p:nvSpPr>
          <p:cNvPr id="41" name="">
            <a:extLst xmlns:a="http://schemas.openxmlformats.org/drawingml/2006/main">
              <a:ext uri="{FF2B5EF4-FFF2-40B4-BE49-F238E27FC236}">
                <a16:creationId xmlns:a16="http://schemas.microsoft.com/office/drawing/2014/main" id="{9E33127B-FC12-4C39-902C-19535568816F}"/>
              </a:ext>
            </a:extLst>
          </p:cNvPr>
          <p:cNvSpPr>
            <a:spLocks xmlns:a="http://schemas.openxmlformats.org/drawingml/2006/main" noGrp="1"/>
          </p:cNvSpPr>
          <p:nvPr/>
        </p:nvSpPr>
        <p:spPr>
          <a:xfrm xmlns:a="http://schemas.openxmlformats.org/drawingml/2006/main">
            <a:off x="9248775" y="3105150"/>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Validated</a:t>
            </a:r>
          </a:p>
        </p:txBody>
      </p:sp>
      <p:sp>
        <p:nvSpPr>
          <p:cNvPr id="42" name="">
            <a:extLst xmlns:a="http://schemas.openxmlformats.org/drawingml/2006/main">
              <a:ext uri="{FF2B5EF4-FFF2-40B4-BE49-F238E27FC236}">
                <a16:creationId xmlns:a16="http://schemas.microsoft.com/office/drawing/2014/main" id="{2365ABFB-6E10-435E-BBFF-EBA9F1E13E4E}"/>
              </a:ext>
            </a:extLst>
          </p:cNvPr>
          <p:cNvSpPr>
            <a:spLocks xmlns:a="http://schemas.openxmlformats.org/drawingml/2006/main" noGrp="1"/>
          </p:cNvSpPr>
          <p:nvPr/>
        </p:nvSpPr>
        <p:spPr>
          <a:xfrm xmlns:a="http://schemas.openxmlformats.org/drawingml/2006/main">
            <a:off x="361950" y="3562350"/>
            <a:ext cx="11191875" cy="4572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A0CD60FD-AF02-453C-9AD2-B162BE591F5C}"/>
              </a:ext>
            </a:extLst>
          </p:cNvPr>
          <p:cNvSpPr>
            <a:spLocks xmlns:a="http://schemas.openxmlformats.org/drawingml/2006/main" noGrp="1"/>
          </p:cNvSpPr>
          <p:nvPr/>
        </p:nvSpPr>
        <p:spPr>
          <a:xfrm xmlns:a="http://schemas.openxmlformats.org/drawingml/2006/main">
            <a:off x="438150" y="3562350"/>
            <a:ext cx="127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111827"/>
                </a:solidFill>
              </a:defRPr>
            </a:pPr>
            <a:r>
              <a:rPr sz="975" b="1">
                <a:solidFill>
                  <a:srgbClr val="111827"/>
                </a:solidFill>
              </a:rPr>
              <a:t>Increase rank</a:t>
            </a:r>
          </a:p>
        </p:txBody>
      </p:sp>
      <p:sp>
        <p:nvSpPr>
          <p:cNvPr id="44" name="">
            <a:extLst xmlns:a="http://schemas.openxmlformats.org/drawingml/2006/main">
              <a:ext uri="{FF2B5EF4-FFF2-40B4-BE49-F238E27FC236}">
                <a16:creationId xmlns:a16="http://schemas.microsoft.com/office/drawing/2014/main" id="{E01D2E23-E327-40BC-A196-11755150997B}"/>
              </a:ext>
            </a:extLst>
          </p:cNvPr>
          <p:cNvSpPr>
            <a:spLocks xmlns:a="http://schemas.openxmlformats.org/drawingml/2006/main" noGrp="1"/>
          </p:cNvSpPr>
          <p:nvPr/>
        </p:nvSpPr>
        <p:spPr>
          <a:xfrm xmlns:a="http://schemas.openxmlformats.org/drawingml/2006/main">
            <a:off x="1866900" y="35623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111827"/>
                </a:solidFill>
              </a:defRPr>
            </a:pPr>
            <a:r>
              <a:rPr sz="975" b="0">
                <a:solidFill>
                  <a:srgbClr val="111827"/>
                </a:solidFill>
              </a:rPr>
              <a:t>Degrade advertised rank</a:t>
            </a:r>
          </a:p>
        </p:txBody>
      </p:sp>
      <p:sp>
        <p:nvSpPr>
          <p:cNvPr id="45" name="">
            <a:extLst xmlns:a="http://schemas.openxmlformats.org/drawingml/2006/main">
              <a:ext uri="{FF2B5EF4-FFF2-40B4-BE49-F238E27FC236}">
                <a16:creationId xmlns:a16="http://schemas.microsoft.com/office/drawing/2014/main" id="{1CD67D78-7EEC-4863-8630-1039A882A520}"/>
              </a:ext>
            </a:extLst>
          </p:cNvPr>
          <p:cNvSpPr>
            <a:spLocks xmlns:a="http://schemas.openxmlformats.org/drawingml/2006/main" noGrp="1"/>
          </p:cNvSpPr>
          <p:nvPr/>
        </p:nvSpPr>
        <p:spPr>
          <a:xfrm xmlns:a="http://schemas.openxmlformats.org/drawingml/2006/main">
            <a:off x="3771900" y="3562350"/>
            <a:ext cx="8477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5</a:t>
            </a:r>
          </a:p>
        </p:txBody>
      </p:sp>
      <p:sp>
        <p:nvSpPr>
          <p:cNvPr id="46" name="">
            <a:extLst xmlns:a="http://schemas.openxmlformats.org/drawingml/2006/main">
              <a:ext uri="{FF2B5EF4-FFF2-40B4-BE49-F238E27FC236}">
                <a16:creationId xmlns:a16="http://schemas.microsoft.com/office/drawing/2014/main" id="{B717BE05-DC46-486A-AA6C-FF43C34E3EA2}"/>
              </a:ext>
            </a:extLst>
          </p:cNvPr>
          <p:cNvSpPr>
            <a:spLocks xmlns:a="http://schemas.openxmlformats.org/drawingml/2006/main" noGrp="1"/>
          </p:cNvSpPr>
          <p:nvPr/>
        </p:nvSpPr>
        <p:spPr>
          <a:xfrm xmlns:a="http://schemas.openxmlformats.org/drawingml/2006/main">
            <a:off x="4772025" y="3562350"/>
            <a:ext cx="895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5</a:t>
            </a:r>
          </a:p>
        </p:txBody>
      </p:sp>
      <p:sp>
        <p:nvSpPr>
          <p:cNvPr id="47" name="">
            <a:extLst xmlns:a="http://schemas.openxmlformats.org/drawingml/2006/main">
              <a:ext uri="{FF2B5EF4-FFF2-40B4-BE49-F238E27FC236}">
                <a16:creationId xmlns:a16="http://schemas.microsoft.com/office/drawing/2014/main" id="{A737BCC2-563D-446D-A184-CD2284202636}"/>
              </a:ext>
            </a:extLst>
          </p:cNvPr>
          <p:cNvSpPr>
            <a:spLocks xmlns:a="http://schemas.openxmlformats.org/drawingml/2006/main" noGrp="1"/>
          </p:cNvSpPr>
          <p:nvPr/>
        </p:nvSpPr>
        <p:spPr>
          <a:xfrm xmlns:a="http://schemas.openxmlformats.org/drawingml/2006/main">
            <a:off x="5819775" y="3562350"/>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111827"/>
                </a:solidFill>
              </a:defRPr>
            </a:pPr>
            <a:r>
              <a:rPr sz="975" b="0">
                <a:solidFill>
                  <a:srgbClr val="111827"/>
                </a:solidFill>
              </a:rPr>
              <a:t>1-2 effect events per run</a:t>
            </a:r>
          </a:p>
        </p:txBody>
      </p:sp>
      <p:sp>
        <p:nvSpPr>
          <p:cNvPr id="48" name="">
            <a:extLst xmlns:a="http://schemas.openxmlformats.org/drawingml/2006/main">
              <a:ext uri="{FF2B5EF4-FFF2-40B4-BE49-F238E27FC236}">
                <a16:creationId xmlns:a16="http://schemas.microsoft.com/office/drawing/2014/main" id="{A8E0548E-BE7E-48CF-9A2D-D5D0F92D3244}"/>
              </a:ext>
            </a:extLst>
          </p:cNvPr>
          <p:cNvSpPr>
            <a:spLocks xmlns:a="http://schemas.openxmlformats.org/drawingml/2006/main" noGrp="1"/>
          </p:cNvSpPr>
          <p:nvPr/>
        </p:nvSpPr>
        <p:spPr>
          <a:xfrm xmlns:a="http://schemas.openxmlformats.org/drawingml/2006/main">
            <a:off x="9248775" y="3562350"/>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Validated</a:t>
            </a:r>
          </a:p>
        </p:txBody>
      </p:sp>
      <p:sp>
        <p:nvSpPr>
          <p:cNvPr id="49" name="">
            <a:extLst xmlns:a="http://schemas.openxmlformats.org/drawingml/2006/main">
              <a:ext uri="{FF2B5EF4-FFF2-40B4-BE49-F238E27FC236}">
                <a16:creationId xmlns:a16="http://schemas.microsoft.com/office/drawing/2014/main" id="{72F859D7-4710-4032-BF49-A4C9F2205787}"/>
              </a:ext>
            </a:extLst>
          </p:cNvPr>
          <p:cNvSpPr>
            <a:spLocks xmlns:a="http://schemas.openxmlformats.org/drawingml/2006/main" noGrp="1"/>
          </p:cNvSpPr>
          <p:nvPr/>
        </p:nvSpPr>
        <p:spPr>
          <a:xfrm xmlns:a="http://schemas.openxmlformats.org/drawingml/2006/main">
            <a:off x="361950" y="4019550"/>
            <a:ext cx="11191875" cy="4572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1BF90331-F8DA-47C0-BD1F-B22151FB76AB}"/>
              </a:ext>
            </a:extLst>
          </p:cNvPr>
          <p:cNvSpPr>
            <a:spLocks xmlns:a="http://schemas.openxmlformats.org/drawingml/2006/main" noGrp="1"/>
          </p:cNvSpPr>
          <p:nvPr/>
        </p:nvSpPr>
        <p:spPr>
          <a:xfrm xmlns:a="http://schemas.openxmlformats.org/drawingml/2006/main">
            <a:off x="438150" y="4019550"/>
            <a:ext cx="127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111827"/>
                </a:solidFill>
              </a:defRPr>
            </a:pPr>
            <a:r>
              <a:rPr sz="975" b="1">
                <a:solidFill>
                  <a:srgbClr val="111827"/>
                </a:solidFill>
              </a:rPr>
              <a:t>DIO suppression</a:t>
            </a:r>
          </a:p>
        </p:txBody>
      </p:sp>
      <p:sp>
        <p:nvSpPr>
          <p:cNvPr id="51" name="">
            <a:extLst xmlns:a="http://schemas.openxmlformats.org/drawingml/2006/main">
              <a:ext uri="{FF2B5EF4-FFF2-40B4-BE49-F238E27FC236}">
                <a16:creationId xmlns:a16="http://schemas.microsoft.com/office/drawing/2014/main" id="{E5375450-7835-41B4-9AB0-E085255C9D36}"/>
              </a:ext>
            </a:extLst>
          </p:cNvPr>
          <p:cNvSpPr>
            <a:spLocks xmlns:a="http://schemas.openxmlformats.org/drawingml/2006/main" noGrp="1"/>
          </p:cNvSpPr>
          <p:nvPr/>
        </p:nvSpPr>
        <p:spPr>
          <a:xfrm xmlns:a="http://schemas.openxmlformats.org/drawingml/2006/main">
            <a:off x="1866900" y="40195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111827"/>
                </a:solidFill>
              </a:defRPr>
            </a:pPr>
            <a:r>
              <a:rPr sz="975" b="0">
                <a:solidFill>
                  <a:srgbClr val="111827"/>
                </a:solidFill>
              </a:rPr>
              <a:t>Suppress DIO</a:t>
            </a:r>
          </a:p>
        </p:txBody>
      </p:sp>
      <p:sp>
        <p:nvSpPr>
          <p:cNvPr id="52" name="">
            <a:extLst xmlns:a="http://schemas.openxmlformats.org/drawingml/2006/main">
              <a:ext uri="{FF2B5EF4-FFF2-40B4-BE49-F238E27FC236}">
                <a16:creationId xmlns:a16="http://schemas.microsoft.com/office/drawing/2014/main" id="{625C5A94-4F5B-424B-A047-A034AAFCC1DD}"/>
              </a:ext>
            </a:extLst>
          </p:cNvPr>
          <p:cNvSpPr>
            <a:spLocks xmlns:a="http://schemas.openxmlformats.org/drawingml/2006/main" noGrp="1"/>
          </p:cNvSpPr>
          <p:nvPr/>
        </p:nvSpPr>
        <p:spPr>
          <a:xfrm xmlns:a="http://schemas.openxmlformats.org/drawingml/2006/main">
            <a:off x="3771900" y="4019550"/>
            <a:ext cx="8477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5</a:t>
            </a:r>
          </a:p>
        </p:txBody>
      </p:sp>
      <p:sp>
        <p:nvSpPr>
          <p:cNvPr id="53" name="">
            <a:extLst xmlns:a="http://schemas.openxmlformats.org/drawingml/2006/main">
              <a:ext uri="{FF2B5EF4-FFF2-40B4-BE49-F238E27FC236}">
                <a16:creationId xmlns:a16="http://schemas.microsoft.com/office/drawing/2014/main" id="{20E05B70-2FFD-435C-A573-696181B19B30}"/>
              </a:ext>
            </a:extLst>
          </p:cNvPr>
          <p:cNvSpPr>
            <a:spLocks xmlns:a="http://schemas.openxmlformats.org/drawingml/2006/main" noGrp="1"/>
          </p:cNvSpPr>
          <p:nvPr/>
        </p:nvSpPr>
        <p:spPr>
          <a:xfrm xmlns:a="http://schemas.openxmlformats.org/drawingml/2006/main">
            <a:off x="4772025" y="4019550"/>
            <a:ext cx="895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5</a:t>
            </a:r>
          </a:p>
        </p:txBody>
      </p:sp>
      <p:sp>
        <p:nvSpPr>
          <p:cNvPr id="54" name="">
            <a:extLst xmlns:a="http://schemas.openxmlformats.org/drawingml/2006/main">
              <a:ext uri="{FF2B5EF4-FFF2-40B4-BE49-F238E27FC236}">
                <a16:creationId xmlns:a16="http://schemas.microsoft.com/office/drawing/2014/main" id="{956616B8-844B-408B-9DAA-1B176C552B17}"/>
              </a:ext>
            </a:extLst>
          </p:cNvPr>
          <p:cNvSpPr>
            <a:spLocks xmlns:a="http://schemas.openxmlformats.org/drawingml/2006/main" noGrp="1"/>
          </p:cNvSpPr>
          <p:nvPr/>
        </p:nvSpPr>
        <p:spPr>
          <a:xfrm xmlns:a="http://schemas.openxmlformats.org/drawingml/2006/main">
            <a:off x="5819775" y="4019550"/>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111827"/>
                </a:solidFill>
              </a:defRPr>
            </a:pPr>
            <a:r>
              <a:rPr sz="975" b="0">
                <a:solidFill>
                  <a:srgbClr val="111827"/>
                </a:solidFill>
              </a:rPr>
              <a:t>1-2 effect events per run</a:t>
            </a:r>
          </a:p>
        </p:txBody>
      </p:sp>
      <p:sp>
        <p:nvSpPr>
          <p:cNvPr id="55" name="">
            <a:extLst xmlns:a="http://schemas.openxmlformats.org/drawingml/2006/main">
              <a:ext uri="{FF2B5EF4-FFF2-40B4-BE49-F238E27FC236}">
                <a16:creationId xmlns:a16="http://schemas.microsoft.com/office/drawing/2014/main" id="{49458425-B5A4-45DF-9973-506E3E875EB7}"/>
              </a:ext>
            </a:extLst>
          </p:cNvPr>
          <p:cNvSpPr>
            <a:spLocks xmlns:a="http://schemas.openxmlformats.org/drawingml/2006/main" noGrp="1"/>
          </p:cNvSpPr>
          <p:nvPr/>
        </p:nvSpPr>
        <p:spPr>
          <a:xfrm xmlns:a="http://schemas.openxmlformats.org/drawingml/2006/main">
            <a:off x="9248775" y="4019550"/>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Validated</a:t>
            </a:r>
          </a:p>
        </p:txBody>
      </p:sp>
      <p:sp>
        <p:nvSpPr>
          <p:cNvPr id="56" name="">
            <a:extLst xmlns:a="http://schemas.openxmlformats.org/drawingml/2006/main">
              <a:ext uri="{FF2B5EF4-FFF2-40B4-BE49-F238E27FC236}">
                <a16:creationId xmlns:a16="http://schemas.microsoft.com/office/drawing/2014/main" id="{91E8FE86-96DB-4AE1-A764-CDCB55306C66}"/>
              </a:ext>
            </a:extLst>
          </p:cNvPr>
          <p:cNvSpPr>
            <a:spLocks xmlns:a="http://schemas.openxmlformats.org/drawingml/2006/main" noGrp="1"/>
          </p:cNvSpPr>
          <p:nvPr/>
        </p:nvSpPr>
        <p:spPr>
          <a:xfrm xmlns:a="http://schemas.openxmlformats.org/drawingml/2006/main">
            <a:off x="361950" y="4476750"/>
            <a:ext cx="11191875" cy="4572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3975D412-537A-4EDC-B38A-9374A154C947}"/>
              </a:ext>
            </a:extLst>
          </p:cNvPr>
          <p:cNvSpPr>
            <a:spLocks xmlns:a="http://schemas.openxmlformats.org/drawingml/2006/main" noGrp="1"/>
          </p:cNvSpPr>
          <p:nvPr/>
        </p:nvSpPr>
        <p:spPr>
          <a:xfrm xmlns:a="http://schemas.openxmlformats.org/drawingml/2006/main">
            <a:off x="438150" y="4476750"/>
            <a:ext cx="127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111827"/>
                </a:solidFill>
              </a:defRPr>
            </a:pPr>
            <a:r>
              <a:rPr sz="975" b="1">
                <a:solidFill>
                  <a:srgbClr val="111827"/>
                </a:solidFill>
              </a:rPr>
              <a:t>Worst parent</a:t>
            </a:r>
          </a:p>
        </p:txBody>
      </p:sp>
      <p:sp>
        <p:nvSpPr>
          <p:cNvPr id="58" name="">
            <a:extLst xmlns:a="http://schemas.openxmlformats.org/drawingml/2006/main">
              <a:ext uri="{FF2B5EF4-FFF2-40B4-BE49-F238E27FC236}">
                <a16:creationId xmlns:a16="http://schemas.microsoft.com/office/drawing/2014/main" id="{10684FAF-FF55-47F6-AB72-ABFF48080E10}"/>
              </a:ext>
            </a:extLst>
          </p:cNvPr>
          <p:cNvSpPr>
            <a:spLocks xmlns:a="http://schemas.openxmlformats.org/drawingml/2006/main" noGrp="1"/>
          </p:cNvSpPr>
          <p:nvPr/>
        </p:nvSpPr>
        <p:spPr>
          <a:xfrm xmlns:a="http://schemas.openxmlformats.org/drawingml/2006/main">
            <a:off x="1866900" y="44767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111827"/>
                </a:solidFill>
              </a:defRPr>
            </a:pPr>
            <a:r>
              <a:rPr sz="975" b="0">
                <a:solidFill>
                  <a:srgbClr val="111827"/>
                </a:solidFill>
              </a:rPr>
              <a:t>Malicious parent choice</a:t>
            </a:r>
          </a:p>
        </p:txBody>
      </p:sp>
      <p:sp>
        <p:nvSpPr>
          <p:cNvPr id="59" name="">
            <a:extLst xmlns:a="http://schemas.openxmlformats.org/drawingml/2006/main">
              <a:ext uri="{FF2B5EF4-FFF2-40B4-BE49-F238E27FC236}">
                <a16:creationId xmlns:a16="http://schemas.microsoft.com/office/drawing/2014/main" id="{E4A46EE0-8907-4228-B3D3-6DF71A12EFBE}"/>
              </a:ext>
            </a:extLst>
          </p:cNvPr>
          <p:cNvSpPr>
            <a:spLocks xmlns:a="http://schemas.openxmlformats.org/drawingml/2006/main" noGrp="1"/>
          </p:cNvSpPr>
          <p:nvPr/>
        </p:nvSpPr>
        <p:spPr>
          <a:xfrm xmlns:a="http://schemas.openxmlformats.org/drawingml/2006/main">
            <a:off x="3771900" y="4476750"/>
            <a:ext cx="8477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5</a:t>
            </a:r>
          </a:p>
        </p:txBody>
      </p:sp>
      <p:sp>
        <p:nvSpPr>
          <p:cNvPr id="60" name="">
            <a:extLst xmlns:a="http://schemas.openxmlformats.org/drawingml/2006/main">
              <a:ext uri="{FF2B5EF4-FFF2-40B4-BE49-F238E27FC236}">
                <a16:creationId xmlns:a16="http://schemas.microsoft.com/office/drawing/2014/main" id="{796582D6-58BC-467E-B522-2FD8FDEFABA6}"/>
              </a:ext>
            </a:extLst>
          </p:cNvPr>
          <p:cNvSpPr>
            <a:spLocks xmlns:a="http://schemas.openxmlformats.org/drawingml/2006/main" noGrp="1"/>
          </p:cNvSpPr>
          <p:nvPr/>
        </p:nvSpPr>
        <p:spPr>
          <a:xfrm xmlns:a="http://schemas.openxmlformats.org/drawingml/2006/main">
            <a:off x="4772025" y="4476750"/>
            <a:ext cx="895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5</a:t>
            </a:r>
          </a:p>
        </p:txBody>
      </p:sp>
      <p:sp>
        <p:nvSpPr>
          <p:cNvPr id="61" name="">
            <a:extLst xmlns:a="http://schemas.openxmlformats.org/drawingml/2006/main">
              <a:ext uri="{FF2B5EF4-FFF2-40B4-BE49-F238E27FC236}">
                <a16:creationId xmlns:a16="http://schemas.microsoft.com/office/drawing/2014/main" id="{158859E6-E795-4691-9C65-CB33186C500A}"/>
              </a:ext>
            </a:extLst>
          </p:cNvPr>
          <p:cNvSpPr>
            <a:spLocks xmlns:a="http://schemas.openxmlformats.org/drawingml/2006/main" noGrp="1"/>
          </p:cNvSpPr>
          <p:nvPr/>
        </p:nvSpPr>
        <p:spPr>
          <a:xfrm xmlns:a="http://schemas.openxmlformats.org/drawingml/2006/main">
            <a:off x="5819775" y="4476750"/>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111827"/>
                </a:solidFill>
              </a:defRPr>
            </a:pPr>
            <a:r>
              <a:rPr sz="975" b="0">
                <a:solidFill>
                  <a:srgbClr val="111827"/>
                </a:solidFill>
              </a:rPr>
              <a:t>2630-3593 effect events per run</a:t>
            </a:r>
          </a:p>
        </p:txBody>
      </p:sp>
      <p:sp>
        <p:nvSpPr>
          <p:cNvPr id="62" name="">
            <a:extLst xmlns:a="http://schemas.openxmlformats.org/drawingml/2006/main">
              <a:ext uri="{FF2B5EF4-FFF2-40B4-BE49-F238E27FC236}">
                <a16:creationId xmlns:a16="http://schemas.microsoft.com/office/drawing/2014/main" id="{72432E05-BDA2-40F5-B86F-C370D5AF7648}"/>
              </a:ext>
            </a:extLst>
          </p:cNvPr>
          <p:cNvSpPr>
            <a:spLocks xmlns:a="http://schemas.openxmlformats.org/drawingml/2006/main" noGrp="1"/>
          </p:cNvSpPr>
          <p:nvPr/>
        </p:nvSpPr>
        <p:spPr>
          <a:xfrm xmlns:a="http://schemas.openxmlformats.org/drawingml/2006/main">
            <a:off x="9248775" y="4476750"/>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Validated</a:t>
            </a:r>
          </a:p>
        </p:txBody>
      </p:sp>
      <p:sp>
        <p:nvSpPr>
          <p:cNvPr id="63" name="">
            <a:extLst xmlns:a="http://schemas.openxmlformats.org/drawingml/2006/main">
              <a:ext uri="{FF2B5EF4-FFF2-40B4-BE49-F238E27FC236}">
                <a16:creationId xmlns:a16="http://schemas.microsoft.com/office/drawing/2014/main" id="{794AD3C5-9F52-4F30-BCF7-F94F9CFFC4C7}"/>
              </a:ext>
            </a:extLst>
          </p:cNvPr>
          <p:cNvSpPr>
            <a:spLocks xmlns:a="http://schemas.openxmlformats.org/drawingml/2006/main" noGrp="1"/>
          </p:cNvSpPr>
          <p:nvPr/>
        </p:nvSpPr>
        <p:spPr>
          <a:xfrm xmlns:a="http://schemas.openxmlformats.org/drawingml/2006/main">
            <a:off x="361950" y="4933950"/>
            <a:ext cx="11191875" cy="4572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37EDC86C-D056-4010-9127-4164ED913A71}"/>
              </a:ext>
            </a:extLst>
          </p:cNvPr>
          <p:cNvSpPr>
            <a:spLocks xmlns:a="http://schemas.openxmlformats.org/drawingml/2006/main" noGrp="1"/>
          </p:cNvSpPr>
          <p:nvPr/>
        </p:nvSpPr>
        <p:spPr>
          <a:xfrm xmlns:a="http://schemas.openxmlformats.org/drawingml/2006/main">
            <a:off x="438150" y="4933950"/>
            <a:ext cx="127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111827"/>
                </a:solidFill>
              </a:defRPr>
            </a:pPr>
            <a:r>
              <a:rPr sz="975" b="1">
                <a:solidFill>
                  <a:srgbClr val="111827"/>
                </a:solidFill>
              </a:rPr>
              <a:t>Wormhole</a:t>
            </a:r>
          </a:p>
        </p:txBody>
      </p:sp>
      <p:sp>
        <p:nvSpPr>
          <p:cNvPr id="65" name="">
            <a:extLst xmlns:a="http://schemas.openxmlformats.org/drawingml/2006/main">
              <a:ext uri="{FF2B5EF4-FFF2-40B4-BE49-F238E27FC236}">
                <a16:creationId xmlns:a16="http://schemas.microsoft.com/office/drawing/2014/main" id="{05F1710F-50BD-44FA-8E9B-633AFFD0770C}"/>
              </a:ext>
            </a:extLst>
          </p:cNvPr>
          <p:cNvSpPr>
            <a:spLocks xmlns:a="http://schemas.openxmlformats.org/drawingml/2006/main" noGrp="1"/>
          </p:cNvSpPr>
          <p:nvPr/>
        </p:nvSpPr>
        <p:spPr>
          <a:xfrm xmlns:a="http://schemas.openxmlformats.org/drawingml/2006/main">
            <a:off x="1866900" y="49339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111827"/>
                </a:solidFill>
              </a:defRPr>
            </a:pPr>
            <a:r>
              <a:rPr sz="975" b="0">
                <a:solidFill>
                  <a:srgbClr val="111827"/>
                </a:solidFill>
              </a:rPr>
              <a:t>Directed radio tunnel</a:t>
            </a:r>
          </a:p>
        </p:txBody>
      </p:sp>
      <p:sp>
        <p:nvSpPr>
          <p:cNvPr id="66" name="">
            <a:extLst xmlns:a="http://schemas.openxmlformats.org/drawingml/2006/main">
              <a:ext uri="{FF2B5EF4-FFF2-40B4-BE49-F238E27FC236}">
                <a16:creationId xmlns:a16="http://schemas.microsoft.com/office/drawing/2014/main" id="{2C5D30B2-7369-46D6-A48E-210157E05207}"/>
              </a:ext>
            </a:extLst>
          </p:cNvPr>
          <p:cNvSpPr>
            <a:spLocks xmlns:a="http://schemas.openxmlformats.org/drawingml/2006/main" noGrp="1"/>
          </p:cNvSpPr>
          <p:nvPr/>
        </p:nvSpPr>
        <p:spPr>
          <a:xfrm xmlns:a="http://schemas.openxmlformats.org/drawingml/2006/main">
            <a:off x="3771900" y="4933950"/>
            <a:ext cx="8477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5</a:t>
            </a:r>
          </a:p>
        </p:txBody>
      </p:sp>
      <p:sp>
        <p:nvSpPr>
          <p:cNvPr id="67" name="">
            <a:extLst xmlns:a="http://schemas.openxmlformats.org/drawingml/2006/main">
              <a:ext uri="{FF2B5EF4-FFF2-40B4-BE49-F238E27FC236}">
                <a16:creationId xmlns:a16="http://schemas.microsoft.com/office/drawing/2014/main" id="{2D320E7F-75D5-4712-AAFD-B90E9030AAFB}"/>
              </a:ext>
            </a:extLst>
          </p:cNvPr>
          <p:cNvSpPr>
            <a:spLocks xmlns:a="http://schemas.openxmlformats.org/drawingml/2006/main" noGrp="1"/>
          </p:cNvSpPr>
          <p:nvPr/>
        </p:nvSpPr>
        <p:spPr>
          <a:xfrm xmlns:a="http://schemas.openxmlformats.org/drawingml/2006/main">
            <a:off x="4772025" y="4933950"/>
            <a:ext cx="895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5</a:t>
            </a:r>
          </a:p>
        </p:txBody>
      </p:sp>
      <p:sp>
        <p:nvSpPr>
          <p:cNvPr id="68" name="">
            <a:extLst xmlns:a="http://schemas.openxmlformats.org/drawingml/2006/main">
              <a:ext uri="{FF2B5EF4-FFF2-40B4-BE49-F238E27FC236}">
                <a16:creationId xmlns:a16="http://schemas.microsoft.com/office/drawing/2014/main" id="{10AB0F11-6BF5-454F-8DAE-C0F8E0FA2BF0}"/>
              </a:ext>
            </a:extLst>
          </p:cNvPr>
          <p:cNvSpPr>
            <a:spLocks xmlns:a="http://schemas.openxmlformats.org/drawingml/2006/main" noGrp="1"/>
          </p:cNvSpPr>
          <p:nvPr/>
        </p:nvSpPr>
        <p:spPr>
          <a:xfrm xmlns:a="http://schemas.openxmlformats.org/drawingml/2006/main">
            <a:off x="5819775" y="4933950"/>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111827"/>
                </a:solidFill>
              </a:defRPr>
            </a:pPr>
            <a:r>
              <a:rPr sz="975" b="0">
                <a:solidFill>
                  <a:srgbClr val="111827"/>
                </a:solidFill>
              </a:rPr>
              <a:t>1706-1725 tunnel events per run</a:t>
            </a:r>
          </a:p>
        </p:txBody>
      </p:sp>
      <p:sp>
        <p:nvSpPr>
          <p:cNvPr id="69" name="">
            <a:extLst xmlns:a="http://schemas.openxmlformats.org/drawingml/2006/main">
              <a:ext uri="{FF2B5EF4-FFF2-40B4-BE49-F238E27FC236}">
                <a16:creationId xmlns:a16="http://schemas.microsoft.com/office/drawing/2014/main" id="{9E7D0E94-1F55-4F9E-9AEE-1E12414B6317}"/>
              </a:ext>
            </a:extLst>
          </p:cNvPr>
          <p:cNvSpPr>
            <a:spLocks xmlns:a="http://schemas.openxmlformats.org/drawingml/2006/main" noGrp="1"/>
          </p:cNvSpPr>
          <p:nvPr/>
        </p:nvSpPr>
        <p:spPr>
          <a:xfrm xmlns:a="http://schemas.openxmlformats.org/drawingml/2006/main">
            <a:off x="9248775" y="4933950"/>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Validated</a:t>
            </a:r>
          </a:p>
        </p:txBody>
      </p:sp>
      <p:sp>
        <p:nvSpPr>
          <p:cNvPr id="70" name="">
            <a:extLst xmlns:a="http://schemas.openxmlformats.org/drawingml/2006/main">
              <a:ext uri="{FF2B5EF4-FFF2-40B4-BE49-F238E27FC236}">
                <a16:creationId xmlns:a16="http://schemas.microsoft.com/office/drawing/2014/main" id="{C49DCF2D-744F-4A16-9B56-EE0A314AB02D}"/>
              </a:ext>
            </a:extLst>
          </p:cNvPr>
          <p:cNvSpPr>
            <a:spLocks xmlns:a="http://schemas.openxmlformats.org/drawingml/2006/main" noGrp="1"/>
          </p:cNvSpPr>
          <p:nvPr/>
        </p:nvSpPr>
        <p:spPr>
          <a:xfrm xmlns:a="http://schemas.openxmlformats.org/drawingml/2006/main">
            <a:off x="361950" y="5391150"/>
            <a:ext cx="11191875" cy="4572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80C11BE7-B4FD-4382-B85E-1F07019CD89A}"/>
              </a:ext>
            </a:extLst>
          </p:cNvPr>
          <p:cNvSpPr>
            <a:spLocks xmlns:a="http://schemas.openxmlformats.org/drawingml/2006/main" noGrp="1"/>
          </p:cNvSpPr>
          <p:nvPr/>
        </p:nvSpPr>
        <p:spPr>
          <a:xfrm xmlns:a="http://schemas.openxmlformats.org/drawingml/2006/main">
            <a:off x="438150" y="5391150"/>
            <a:ext cx="127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111827"/>
                </a:solidFill>
              </a:defRPr>
            </a:pPr>
            <a:r>
              <a:rPr sz="975" b="1">
                <a:solidFill>
                  <a:srgbClr val="111827"/>
                </a:solidFill>
              </a:rPr>
              <a:t>Sybil</a:t>
            </a:r>
          </a:p>
        </p:txBody>
      </p:sp>
      <p:sp>
        <p:nvSpPr>
          <p:cNvPr id="72" name="">
            <a:extLst xmlns:a="http://schemas.openxmlformats.org/drawingml/2006/main">
              <a:ext uri="{FF2B5EF4-FFF2-40B4-BE49-F238E27FC236}">
                <a16:creationId xmlns:a16="http://schemas.microsoft.com/office/drawing/2014/main" id="{C9AB78EC-E4FA-45C0-B30E-BAA4FE1BD185}"/>
              </a:ext>
            </a:extLst>
          </p:cNvPr>
          <p:cNvSpPr>
            <a:spLocks xmlns:a="http://schemas.openxmlformats.org/drawingml/2006/main" noGrp="1"/>
          </p:cNvSpPr>
          <p:nvPr/>
        </p:nvSpPr>
        <p:spPr>
          <a:xfrm xmlns:a="http://schemas.openxmlformats.org/drawingml/2006/main">
            <a:off x="1866900" y="53911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111827"/>
                </a:solidFill>
              </a:defRPr>
            </a:pPr>
            <a:r>
              <a:rPr sz="975" b="0">
                <a:solidFill>
                  <a:srgbClr val="111827"/>
                </a:solidFill>
              </a:rPr>
              <a:t>Rotate DIO identity</a:t>
            </a:r>
          </a:p>
        </p:txBody>
      </p:sp>
      <p:sp>
        <p:nvSpPr>
          <p:cNvPr id="73" name="">
            <a:extLst xmlns:a="http://schemas.openxmlformats.org/drawingml/2006/main">
              <a:ext uri="{FF2B5EF4-FFF2-40B4-BE49-F238E27FC236}">
                <a16:creationId xmlns:a16="http://schemas.microsoft.com/office/drawing/2014/main" id="{52434A18-8369-4368-9592-F502B59C42E5}"/>
              </a:ext>
            </a:extLst>
          </p:cNvPr>
          <p:cNvSpPr>
            <a:spLocks xmlns:a="http://schemas.openxmlformats.org/drawingml/2006/main" noGrp="1"/>
          </p:cNvSpPr>
          <p:nvPr/>
        </p:nvSpPr>
        <p:spPr>
          <a:xfrm xmlns:a="http://schemas.openxmlformats.org/drawingml/2006/main">
            <a:off x="3771900" y="5391150"/>
            <a:ext cx="8477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5</a:t>
            </a:r>
          </a:p>
        </p:txBody>
      </p:sp>
      <p:sp>
        <p:nvSpPr>
          <p:cNvPr id="74" name="">
            <a:extLst xmlns:a="http://schemas.openxmlformats.org/drawingml/2006/main">
              <a:ext uri="{FF2B5EF4-FFF2-40B4-BE49-F238E27FC236}">
                <a16:creationId xmlns:a16="http://schemas.microsoft.com/office/drawing/2014/main" id="{F2271BB0-ACA7-41CC-BD39-4A9D32125B22}"/>
              </a:ext>
            </a:extLst>
          </p:cNvPr>
          <p:cNvSpPr>
            <a:spLocks xmlns:a="http://schemas.openxmlformats.org/drawingml/2006/main" noGrp="1"/>
          </p:cNvSpPr>
          <p:nvPr/>
        </p:nvSpPr>
        <p:spPr>
          <a:xfrm xmlns:a="http://schemas.openxmlformats.org/drawingml/2006/main">
            <a:off x="4772025" y="5391150"/>
            <a:ext cx="895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5</a:t>
            </a:r>
          </a:p>
        </p:txBody>
      </p:sp>
      <p:sp>
        <p:nvSpPr>
          <p:cNvPr id="75" name="">
            <a:extLst xmlns:a="http://schemas.openxmlformats.org/drawingml/2006/main">
              <a:ext uri="{FF2B5EF4-FFF2-40B4-BE49-F238E27FC236}">
                <a16:creationId xmlns:a16="http://schemas.microsoft.com/office/drawing/2014/main" id="{2DC52276-C3AD-4043-A91D-79B03D113EA4}"/>
              </a:ext>
            </a:extLst>
          </p:cNvPr>
          <p:cNvSpPr>
            <a:spLocks xmlns:a="http://schemas.openxmlformats.org/drawingml/2006/main" noGrp="1"/>
          </p:cNvSpPr>
          <p:nvPr/>
        </p:nvSpPr>
        <p:spPr>
          <a:xfrm xmlns:a="http://schemas.openxmlformats.org/drawingml/2006/main">
            <a:off x="5819775" y="5391150"/>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111827"/>
                </a:solidFill>
              </a:defRPr>
            </a:pPr>
            <a:r>
              <a:rPr sz="975" b="0">
                <a:solidFill>
                  <a:srgbClr val="111827"/>
                </a:solidFill>
              </a:rPr>
              <a:t>150-151 spoofed identity events per run</a:t>
            </a:r>
          </a:p>
        </p:txBody>
      </p:sp>
      <p:sp>
        <p:nvSpPr>
          <p:cNvPr id="76" name="">
            <a:extLst xmlns:a="http://schemas.openxmlformats.org/drawingml/2006/main">
              <a:ext uri="{FF2B5EF4-FFF2-40B4-BE49-F238E27FC236}">
                <a16:creationId xmlns:a16="http://schemas.microsoft.com/office/drawing/2014/main" id="{3684B72A-7369-4D87-9B92-DF5955CAF838}"/>
              </a:ext>
            </a:extLst>
          </p:cNvPr>
          <p:cNvSpPr>
            <a:spLocks xmlns:a="http://schemas.openxmlformats.org/drawingml/2006/main" noGrp="1"/>
          </p:cNvSpPr>
          <p:nvPr/>
        </p:nvSpPr>
        <p:spPr>
          <a:xfrm xmlns:a="http://schemas.openxmlformats.org/drawingml/2006/main">
            <a:off x="9248775" y="5391150"/>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a:solidFill>
                  <a:srgbClr val="111827"/>
                </a:solidFill>
              </a:defRPr>
            </a:pPr>
            <a:r>
              <a:rPr sz="975" b="0">
                <a:solidFill>
                  <a:srgbClr val="111827"/>
                </a:solidFill>
              </a:rPr>
              <a:t>Validated</a:t>
            </a:r>
          </a:p>
        </p:txBody>
      </p:sp>
      <p:sp>
        <p:nvSpPr>
          <p:cNvPr id="77" name="">
            <a:extLst xmlns:a="http://schemas.openxmlformats.org/drawingml/2006/main">
              <a:ext uri="{FF2B5EF4-FFF2-40B4-BE49-F238E27FC236}">
                <a16:creationId xmlns:a16="http://schemas.microsoft.com/office/drawing/2014/main" id="{1B60967C-68AB-4E7B-954D-592A42A57FFA}"/>
              </a:ext>
            </a:extLst>
          </p:cNvPr>
          <p:cNvSpPr>
            <a:spLocks xmlns:a="http://schemas.openxmlformats.org/drawingml/2006/main" noGrp="1"/>
          </p:cNvSpPr>
          <p:nvPr/>
        </p:nvSpPr>
        <p:spPr>
          <a:xfrm xmlns:a="http://schemas.openxmlformats.org/drawingml/2006/main">
            <a:off x="361950" y="1409700"/>
            <a:ext cx="11191875" cy="443865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78" name="">
            <a:extLst xmlns:a="http://schemas.openxmlformats.org/drawingml/2006/main">
              <a:ext uri="{FF2B5EF4-FFF2-40B4-BE49-F238E27FC236}">
                <a16:creationId xmlns:a16="http://schemas.microsoft.com/office/drawing/2014/main" id="{CB7CC806-CB2B-40E8-B98F-94FBDD156BFA}"/>
              </a:ext>
            </a:extLst>
          </p:cNvPr>
          <p:cNvSpPr>
            <a:spLocks xmlns:a="http://schemas.openxmlformats.org/drawingml/2006/main" noGrp="1"/>
          </p:cNvSpPr>
          <p:nvPr/>
        </p:nvSpPr>
        <p:spPr>
          <a:xfrm xmlns:a="http://schemas.openxmlformats.org/drawingml/2006/main">
            <a:off x="666750" y="5981700"/>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007C83"/>
                </a:solidFill>
              </a:defRPr>
            </a:pPr>
            <a:r>
              <a:rPr sz="1350" b="1">
                <a:solidFill>
                  <a:srgbClr val="007C83"/>
                </a:solidFill>
              </a:rPr>
              <a:t>Baseline total: 45 attack + 45 matched control simulations</a:t>
            </a:r>
          </a:p>
        </p:txBody>
      </p:sp>
    </p:spTree>
    <p:extLst>
      <p:ext uri="{BB962C8B-B14F-4D97-AF65-F5344CB8AC3E}">
        <p14:creationId xmlns:p14="http://schemas.microsoft.com/office/powerpoint/2010/main" val="113278641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50E1AC0B-528D-4F10-8F35-09F3F091CCCA}"/>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Frozen dataset and provenance controls</a:t>
            </a:r>
          </a:p>
        </p:txBody>
      </p:sp>
      <p:sp>
        <p:nvSpPr>
          <p:cNvPr id="2" name="">
            <a:extLst xmlns:a="http://schemas.openxmlformats.org/drawingml/2006/main">
              <a:ext uri="{FF2B5EF4-FFF2-40B4-BE49-F238E27FC236}">
                <a16:creationId xmlns:a16="http://schemas.microsoft.com/office/drawing/2014/main" id="{A2A1E629-5F07-4B01-B588-5277EF2F6CB8}"/>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The dataset is generated from validated runs and keeps validation metadata separate from predictive evidence.</a:t>
            </a:r>
          </a:p>
        </p:txBody>
      </p:sp>
      <p:sp>
        <p:nvSpPr>
          <p:cNvPr id="3" name="">
            <a:extLst xmlns:a="http://schemas.openxmlformats.org/drawingml/2006/main">
              <a:ext uri="{FF2B5EF4-FFF2-40B4-BE49-F238E27FC236}">
                <a16:creationId xmlns:a16="http://schemas.microsoft.com/office/drawing/2014/main" id="{563908B1-65BC-4C93-85D6-4E58A0EAC480}"/>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7841AF8-2D0D-49A2-9920-9421AEAF16A8}"/>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4C14D04-E972-4BF1-9929-9A560485F566}"/>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Dataset construction</a:t>
            </a:r>
          </a:p>
        </p:txBody>
      </p:sp>
      <p:sp>
        <p:nvSpPr>
          <p:cNvPr id="6" name="">
            <a:extLst xmlns:a="http://schemas.openxmlformats.org/drawingml/2006/main">
              <a:ext uri="{FF2B5EF4-FFF2-40B4-BE49-F238E27FC236}">
                <a16:creationId xmlns:a16="http://schemas.microsoft.com/office/drawing/2014/main" id="{2955EB28-C1F7-4AD1-9FA4-45D89FDECCA7}"/>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08  </a:t>
            </a:r>
          </a:p>
        </p:txBody>
      </p:sp>
      <p:sp>
        <p:nvSpPr>
          <p:cNvPr id="7" name="">
            <a:extLst xmlns:a="http://schemas.openxmlformats.org/drawingml/2006/main">
              <a:ext uri="{FF2B5EF4-FFF2-40B4-BE49-F238E27FC236}">
                <a16:creationId xmlns:a16="http://schemas.microsoft.com/office/drawing/2014/main" id="{ABFB791E-3F12-49FC-A428-4233702DBBDF}"/>
              </a:ext>
            </a:extLst>
          </p:cNvPr>
          <p:cNvSpPr>
            <a:spLocks xmlns:a="http://schemas.openxmlformats.org/drawingml/2006/main" noGrp="1"/>
          </p:cNvSpPr>
          <p:nvPr/>
        </p:nvSpPr>
        <p:spPr>
          <a:xfrm xmlns:a="http://schemas.openxmlformats.org/drawingml/2006/main">
            <a:off x="666750" y="1571625"/>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07C83"/>
                </a:solidFill>
              </a:defRPr>
            </a:pPr>
            <a:r>
              <a:rPr sz="2700" b="1">
                <a:solidFill>
                  <a:srgbClr val="007C83"/>
                </a:solidFill>
              </a:rPr>
              <a:t>810</a:t>
            </a:r>
          </a:p>
        </p:txBody>
      </p:sp>
      <p:sp>
        <p:nvSpPr>
          <p:cNvPr id="8" name="">
            <a:extLst xmlns:a="http://schemas.openxmlformats.org/drawingml/2006/main">
              <a:ext uri="{FF2B5EF4-FFF2-40B4-BE49-F238E27FC236}">
                <a16:creationId xmlns:a16="http://schemas.microsoft.com/office/drawing/2014/main" id="{3476D628-D438-4DD8-957E-57DDC6D1AC33}"/>
              </a:ext>
            </a:extLst>
          </p:cNvPr>
          <p:cNvSpPr>
            <a:spLocks xmlns:a="http://schemas.openxmlformats.org/drawingml/2006/main" noGrp="1"/>
          </p:cNvSpPr>
          <p:nvPr/>
        </p:nvSpPr>
        <p:spPr>
          <a:xfrm xmlns:a="http://schemas.openxmlformats.org/drawingml/2006/main">
            <a:off x="666750" y="20288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475569"/>
                </a:solidFill>
              </a:defRPr>
            </a:pPr>
            <a:r>
              <a:rPr sz="1050" b="0">
                <a:solidFill>
                  <a:srgbClr val="475569"/>
                </a:solidFill>
              </a:rPr>
              <a:t>60-second windows</a:t>
            </a:r>
          </a:p>
        </p:txBody>
      </p:sp>
      <p:sp>
        <p:nvSpPr>
          <p:cNvPr id="9" name="">
            <a:extLst xmlns:a="http://schemas.openxmlformats.org/drawingml/2006/main">
              <a:ext uri="{FF2B5EF4-FFF2-40B4-BE49-F238E27FC236}">
                <a16:creationId xmlns:a16="http://schemas.microsoft.com/office/drawing/2014/main" id="{157A9FBA-D0D9-4919-80C6-326E698FED24}"/>
              </a:ext>
            </a:extLst>
          </p:cNvPr>
          <p:cNvSpPr>
            <a:spLocks xmlns:a="http://schemas.openxmlformats.org/drawingml/2006/main" noGrp="1"/>
          </p:cNvSpPr>
          <p:nvPr/>
        </p:nvSpPr>
        <p:spPr>
          <a:xfrm xmlns:a="http://schemas.openxmlformats.org/drawingml/2006/main">
            <a:off x="3143250" y="1571625"/>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D4ED8"/>
                </a:solidFill>
              </a:defRPr>
            </a:pPr>
            <a:r>
              <a:rPr sz="2700" b="1">
                <a:solidFill>
                  <a:srgbClr val="1D4ED8"/>
                </a:solidFill>
              </a:rPr>
              <a:t>90</a:t>
            </a:r>
          </a:p>
        </p:txBody>
      </p:sp>
      <p:sp>
        <p:nvSpPr>
          <p:cNvPr id="10" name="">
            <a:extLst xmlns:a="http://schemas.openxmlformats.org/drawingml/2006/main">
              <a:ext uri="{FF2B5EF4-FFF2-40B4-BE49-F238E27FC236}">
                <a16:creationId xmlns:a16="http://schemas.microsoft.com/office/drawing/2014/main" id="{17DA7774-06CE-4A44-BBE1-38109A094373}"/>
              </a:ext>
            </a:extLst>
          </p:cNvPr>
          <p:cNvSpPr>
            <a:spLocks xmlns:a="http://schemas.openxmlformats.org/drawingml/2006/main" noGrp="1"/>
          </p:cNvSpPr>
          <p:nvPr/>
        </p:nvSpPr>
        <p:spPr>
          <a:xfrm xmlns:a="http://schemas.openxmlformats.org/drawingml/2006/main">
            <a:off x="3143250" y="20288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475569"/>
                </a:solidFill>
              </a:defRPr>
            </a:pPr>
            <a:r>
              <a:rPr sz="1050" b="0">
                <a:solidFill>
                  <a:srgbClr val="475569"/>
                </a:solidFill>
              </a:rPr>
              <a:t>run groups</a:t>
            </a:r>
          </a:p>
        </p:txBody>
      </p:sp>
      <p:sp>
        <p:nvSpPr>
          <p:cNvPr id="11" name="">
            <a:extLst xmlns:a="http://schemas.openxmlformats.org/drawingml/2006/main">
              <a:ext uri="{FF2B5EF4-FFF2-40B4-BE49-F238E27FC236}">
                <a16:creationId xmlns:a16="http://schemas.microsoft.com/office/drawing/2014/main" id="{7A4A4CAE-FF36-45F1-AE9C-CA19AB46DC68}"/>
              </a:ext>
            </a:extLst>
          </p:cNvPr>
          <p:cNvSpPr>
            <a:spLocks xmlns:a="http://schemas.openxmlformats.org/drawingml/2006/main" noGrp="1"/>
          </p:cNvSpPr>
          <p:nvPr/>
        </p:nvSpPr>
        <p:spPr>
          <a:xfrm xmlns:a="http://schemas.openxmlformats.org/drawingml/2006/main">
            <a:off x="5619750" y="1571625"/>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11827"/>
                </a:solidFill>
              </a:defRPr>
            </a:pPr>
            <a:r>
              <a:rPr sz="2700" b="1">
                <a:solidFill>
                  <a:srgbClr val="111827"/>
                </a:solidFill>
              </a:rPr>
              <a:t>84</a:t>
            </a:r>
          </a:p>
        </p:txBody>
      </p:sp>
      <p:sp>
        <p:nvSpPr>
          <p:cNvPr id="12" name="">
            <a:extLst xmlns:a="http://schemas.openxmlformats.org/drawingml/2006/main">
              <a:ext uri="{FF2B5EF4-FFF2-40B4-BE49-F238E27FC236}">
                <a16:creationId xmlns:a16="http://schemas.microsoft.com/office/drawing/2014/main" id="{71FFFC6E-DA7C-4557-90AE-DA72E1AB83C9}"/>
              </a:ext>
            </a:extLst>
          </p:cNvPr>
          <p:cNvSpPr>
            <a:spLocks xmlns:a="http://schemas.openxmlformats.org/drawingml/2006/main" noGrp="1"/>
          </p:cNvSpPr>
          <p:nvPr/>
        </p:nvSpPr>
        <p:spPr>
          <a:xfrm xmlns:a="http://schemas.openxmlformats.org/drawingml/2006/main">
            <a:off x="5619750" y="20288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475569"/>
                </a:solidFill>
              </a:defRPr>
            </a:pPr>
            <a:r>
              <a:rPr sz="1050" b="0">
                <a:solidFill>
                  <a:srgbClr val="475569"/>
                </a:solidFill>
              </a:rPr>
              <a:t>total columns</a:t>
            </a:r>
          </a:p>
        </p:txBody>
      </p:sp>
      <p:sp>
        <p:nvSpPr>
          <p:cNvPr id="13" name="">
            <a:extLst xmlns:a="http://schemas.openxmlformats.org/drawingml/2006/main">
              <a:ext uri="{FF2B5EF4-FFF2-40B4-BE49-F238E27FC236}">
                <a16:creationId xmlns:a16="http://schemas.microsoft.com/office/drawing/2014/main" id="{1FE9F22D-1236-4A7D-96A4-4F946B5051B3}"/>
              </a:ext>
            </a:extLst>
          </p:cNvPr>
          <p:cNvSpPr>
            <a:spLocks xmlns:a="http://schemas.openxmlformats.org/drawingml/2006/main" noGrp="1"/>
          </p:cNvSpPr>
          <p:nvPr/>
        </p:nvSpPr>
        <p:spPr>
          <a:xfrm xmlns:a="http://schemas.openxmlformats.org/drawingml/2006/main">
            <a:off x="8096250" y="1571625"/>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47857"/>
                </a:solidFill>
              </a:defRPr>
            </a:pPr>
            <a:r>
              <a:rPr sz="2700" b="1">
                <a:solidFill>
                  <a:srgbClr val="047857"/>
                </a:solidFill>
              </a:rPr>
              <a:t>57</a:t>
            </a:r>
          </a:p>
        </p:txBody>
      </p:sp>
      <p:sp>
        <p:nvSpPr>
          <p:cNvPr id="14" name="">
            <a:extLst xmlns:a="http://schemas.openxmlformats.org/drawingml/2006/main">
              <a:ext uri="{FF2B5EF4-FFF2-40B4-BE49-F238E27FC236}">
                <a16:creationId xmlns:a16="http://schemas.microsoft.com/office/drawing/2014/main" id="{094B42CB-C37E-4718-97DA-25D29D5E55EE}"/>
              </a:ext>
            </a:extLst>
          </p:cNvPr>
          <p:cNvSpPr>
            <a:spLocks xmlns:a="http://schemas.openxmlformats.org/drawingml/2006/main" noGrp="1"/>
          </p:cNvSpPr>
          <p:nvPr/>
        </p:nvSpPr>
        <p:spPr>
          <a:xfrm xmlns:a="http://schemas.openxmlformats.org/drawingml/2006/main">
            <a:off x="8096250" y="20288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475569"/>
                </a:solidFill>
              </a:defRPr>
            </a:pPr>
            <a:r>
              <a:rPr sz="1050" b="0">
                <a:solidFill>
                  <a:srgbClr val="475569"/>
                </a:solidFill>
              </a:rPr>
              <a:t>generic predictive features</a:t>
            </a:r>
          </a:p>
        </p:txBody>
      </p:sp>
      <p:sp>
        <p:nvSpPr>
          <p:cNvPr id="15" name="">
            <a:extLst xmlns:a="http://schemas.openxmlformats.org/drawingml/2006/main">
              <a:ext uri="{FF2B5EF4-FFF2-40B4-BE49-F238E27FC236}">
                <a16:creationId xmlns:a16="http://schemas.microsoft.com/office/drawing/2014/main" id="{3D39A195-4E12-495F-BEA8-718AD804C5C3}"/>
              </a:ext>
            </a:extLst>
          </p:cNvPr>
          <p:cNvSpPr>
            <a:spLocks xmlns:a="http://schemas.openxmlformats.org/drawingml/2006/main" noGrp="1"/>
          </p:cNvSpPr>
          <p:nvPr/>
        </p:nvSpPr>
        <p:spPr>
          <a:xfrm xmlns:a="http://schemas.openxmlformats.org/drawingml/2006/main">
            <a:off x="666750" y="2857500"/>
            <a:ext cx="990600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80CA2CD-74BE-42D1-BAF3-A50F8770BCA2}"/>
              </a:ext>
            </a:extLst>
          </p:cNvPr>
          <p:cNvSpPr>
            <a:spLocks xmlns:a="http://schemas.openxmlformats.org/drawingml/2006/main" noGrp="1"/>
          </p:cNvSpPr>
          <p:nvPr/>
        </p:nvSpPr>
        <p:spPr>
          <a:xfrm xmlns:a="http://schemas.openxmlformats.org/drawingml/2006/main">
            <a:off x="742950" y="285750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Column group</a:t>
            </a:r>
          </a:p>
        </p:txBody>
      </p:sp>
      <p:sp>
        <p:nvSpPr>
          <p:cNvPr id="17" name="">
            <a:extLst xmlns:a="http://schemas.openxmlformats.org/drawingml/2006/main">
              <a:ext uri="{FF2B5EF4-FFF2-40B4-BE49-F238E27FC236}">
                <a16:creationId xmlns:a16="http://schemas.microsoft.com/office/drawing/2014/main" id="{22549B6E-F919-4F91-AC97-9787724350BA}"/>
              </a:ext>
            </a:extLst>
          </p:cNvPr>
          <p:cNvSpPr>
            <a:spLocks xmlns:a="http://schemas.openxmlformats.org/drawingml/2006/main" noGrp="1"/>
          </p:cNvSpPr>
          <p:nvPr/>
        </p:nvSpPr>
        <p:spPr>
          <a:xfrm xmlns:a="http://schemas.openxmlformats.org/drawingml/2006/main">
            <a:off x="2933700" y="2857500"/>
            <a:ext cx="270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Included in model?</a:t>
            </a:r>
          </a:p>
        </p:txBody>
      </p:sp>
      <p:sp>
        <p:nvSpPr>
          <p:cNvPr id="18" name="">
            <a:extLst xmlns:a="http://schemas.openxmlformats.org/drawingml/2006/main">
              <a:ext uri="{FF2B5EF4-FFF2-40B4-BE49-F238E27FC236}">
                <a16:creationId xmlns:a16="http://schemas.microsoft.com/office/drawing/2014/main" id="{D15715AD-7DD5-4E49-9979-B1FEE0C6950D}"/>
              </a:ext>
            </a:extLst>
          </p:cNvPr>
          <p:cNvSpPr>
            <a:spLocks xmlns:a="http://schemas.openxmlformats.org/drawingml/2006/main" noGrp="1"/>
          </p:cNvSpPr>
          <p:nvPr/>
        </p:nvSpPr>
        <p:spPr>
          <a:xfrm xmlns:a="http://schemas.openxmlformats.org/drawingml/2006/main">
            <a:off x="5791200" y="2857500"/>
            <a:ext cx="4705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Examples and purpose</a:t>
            </a:r>
          </a:p>
        </p:txBody>
      </p:sp>
      <p:sp>
        <p:nvSpPr>
          <p:cNvPr id="19" name="">
            <a:extLst xmlns:a="http://schemas.openxmlformats.org/drawingml/2006/main">
              <a:ext uri="{FF2B5EF4-FFF2-40B4-BE49-F238E27FC236}">
                <a16:creationId xmlns:a16="http://schemas.microsoft.com/office/drawing/2014/main" id="{5543D605-8CC7-44A2-84DB-0D5468B1F743}"/>
              </a:ext>
            </a:extLst>
          </p:cNvPr>
          <p:cNvSpPr>
            <a:spLocks xmlns:a="http://schemas.openxmlformats.org/drawingml/2006/main" noGrp="1"/>
          </p:cNvSpPr>
          <p:nvPr/>
        </p:nvSpPr>
        <p:spPr>
          <a:xfrm xmlns:a="http://schemas.openxmlformats.org/drawingml/2006/main">
            <a:off x="666750" y="3181350"/>
            <a:ext cx="9906000" cy="5905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3653314-FF31-4D33-B72D-76BD2685B1FE}"/>
              </a:ext>
            </a:extLst>
          </p:cNvPr>
          <p:cNvSpPr>
            <a:spLocks xmlns:a="http://schemas.openxmlformats.org/drawingml/2006/main" noGrp="1"/>
          </p:cNvSpPr>
          <p:nvPr/>
        </p:nvSpPr>
        <p:spPr>
          <a:xfrm xmlns:a="http://schemas.openxmlformats.org/drawingml/2006/main">
            <a:off x="742950" y="3181350"/>
            <a:ext cx="2038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Predictive network features</a:t>
            </a:r>
          </a:p>
        </p:txBody>
      </p:sp>
      <p:sp>
        <p:nvSpPr>
          <p:cNvPr id="21" name="">
            <a:extLst xmlns:a="http://schemas.openxmlformats.org/drawingml/2006/main">
              <a:ext uri="{FF2B5EF4-FFF2-40B4-BE49-F238E27FC236}">
                <a16:creationId xmlns:a16="http://schemas.microsoft.com/office/drawing/2014/main" id="{5994EE62-F659-4581-B57C-AF3D99C146A8}"/>
              </a:ext>
            </a:extLst>
          </p:cNvPr>
          <p:cNvSpPr>
            <a:spLocks xmlns:a="http://schemas.openxmlformats.org/drawingml/2006/main" noGrp="1"/>
          </p:cNvSpPr>
          <p:nvPr/>
        </p:nvSpPr>
        <p:spPr>
          <a:xfrm xmlns:a="http://schemas.openxmlformats.org/drawingml/2006/main">
            <a:off x="2933700" y="3181350"/>
            <a:ext cx="2705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Yes</a:t>
            </a:r>
          </a:p>
        </p:txBody>
      </p:sp>
      <p:sp>
        <p:nvSpPr>
          <p:cNvPr id="22" name="">
            <a:extLst xmlns:a="http://schemas.openxmlformats.org/drawingml/2006/main">
              <a:ext uri="{FF2B5EF4-FFF2-40B4-BE49-F238E27FC236}">
                <a16:creationId xmlns:a16="http://schemas.microsoft.com/office/drawing/2014/main" id="{BAC5B6D5-FBF4-41BA-9629-52ECA1872AC7}"/>
              </a:ext>
            </a:extLst>
          </p:cNvPr>
          <p:cNvSpPr>
            <a:spLocks xmlns:a="http://schemas.openxmlformats.org/drawingml/2006/main" noGrp="1"/>
          </p:cNvSpPr>
          <p:nvPr/>
        </p:nvSpPr>
        <p:spPr>
          <a:xfrm xmlns:a="http://schemas.openxmlformats.org/drawingml/2006/main">
            <a:off x="5791200" y="3181350"/>
            <a:ext cx="4705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Delivery, radio, routing-state, parent and identity evidence</a:t>
            </a:r>
          </a:p>
        </p:txBody>
      </p:sp>
      <p:sp>
        <p:nvSpPr>
          <p:cNvPr id="23" name="">
            <a:extLst xmlns:a="http://schemas.openxmlformats.org/drawingml/2006/main">
              <a:ext uri="{FF2B5EF4-FFF2-40B4-BE49-F238E27FC236}">
                <a16:creationId xmlns:a16="http://schemas.microsoft.com/office/drawing/2014/main" id="{39884E5D-3E4B-4797-B5BA-01FC00182782}"/>
              </a:ext>
            </a:extLst>
          </p:cNvPr>
          <p:cNvSpPr>
            <a:spLocks xmlns:a="http://schemas.openxmlformats.org/drawingml/2006/main" noGrp="1"/>
          </p:cNvSpPr>
          <p:nvPr/>
        </p:nvSpPr>
        <p:spPr>
          <a:xfrm xmlns:a="http://schemas.openxmlformats.org/drawingml/2006/main">
            <a:off x="666750" y="3771900"/>
            <a:ext cx="9906000" cy="5905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63D6F78-EFC9-477E-AF0F-877CD7A0214E}"/>
              </a:ext>
            </a:extLst>
          </p:cNvPr>
          <p:cNvSpPr>
            <a:spLocks xmlns:a="http://schemas.openxmlformats.org/drawingml/2006/main" noGrp="1"/>
          </p:cNvSpPr>
          <p:nvPr/>
        </p:nvSpPr>
        <p:spPr>
          <a:xfrm xmlns:a="http://schemas.openxmlformats.org/drawingml/2006/main">
            <a:off x="742950" y="3771900"/>
            <a:ext cx="2038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Run provenance</a:t>
            </a:r>
          </a:p>
        </p:txBody>
      </p:sp>
      <p:sp>
        <p:nvSpPr>
          <p:cNvPr id="25" name="">
            <a:extLst xmlns:a="http://schemas.openxmlformats.org/drawingml/2006/main">
              <a:ext uri="{FF2B5EF4-FFF2-40B4-BE49-F238E27FC236}">
                <a16:creationId xmlns:a16="http://schemas.microsoft.com/office/drawing/2014/main" id="{3C0B8AAA-17E6-46D7-98AE-6D500DDB0DBD}"/>
              </a:ext>
            </a:extLst>
          </p:cNvPr>
          <p:cNvSpPr>
            <a:spLocks xmlns:a="http://schemas.openxmlformats.org/drawingml/2006/main" noGrp="1"/>
          </p:cNvSpPr>
          <p:nvPr/>
        </p:nvSpPr>
        <p:spPr>
          <a:xfrm xmlns:a="http://schemas.openxmlformats.org/drawingml/2006/main">
            <a:off x="2933700" y="3771900"/>
            <a:ext cx="2705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No</a:t>
            </a:r>
          </a:p>
        </p:txBody>
      </p:sp>
      <p:sp>
        <p:nvSpPr>
          <p:cNvPr id="26" name="">
            <a:extLst xmlns:a="http://schemas.openxmlformats.org/drawingml/2006/main">
              <a:ext uri="{FF2B5EF4-FFF2-40B4-BE49-F238E27FC236}">
                <a16:creationId xmlns:a16="http://schemas.microsoft.com/office/drawing/2014/main" id="{25D7BAB8-269F-41B1-BB7E-DEF7F18FF54E}"/>
              </a:ext>
            </a:extLst>
          </p:cNvPr>
          <p:cNvSpPr>
            <a:spLocks xmlns:a="http://schemas.openxmlformats.org/drawingml/2006/main" noGrp="1"/>
          </p:cNvSpPr>
          <p:nvPr/>
        </p:nvSpPr>
        <p:spPr>
          <a:xfrm xmlns:a="http://schemas.openxmlformats.org/drawingml/2006/main">
            <a:off x="5791200" y="3771900"/>
            <a:ext cx="4705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Family, seed, attack/control mode and source file</a:t>
            </a:r>
          </a:p>
        </p:txBody>
      </p:sp>
      <p:sp>
        <p:nvSpPr>
          <p:cNvPr id="27" name="">
            <a:extLst xmlns:a="http://schemas.openxmlformats.org/drawingml/2006/main">
              <a:ext uri="{FF2B5EF4-FFF2-40B4-BE49-F238E27FC236}">
                <a16:creationId xmlns:a16="http://schemas.microsoft.com/office/drawing/2014/main" id="{377D11E5-BBA4-466A-A749-5526DA9F5C34}"/>
              </a:ext>
            </a:extLst>
          </p:cNvPr>
          <p:cNvSpPr>
            <a:spLocks xmlns:a="http://schemas.openxmlformats.org/drawingml/2006/main" noGrp="1"/>
          </p:cNvSpPr>
          <p:nvPr/>
        </p:nvSpPr>
        <p:spPr>
          <a:xfrm xmlns:a="http://schemas.openxmlformats.org/drawingml/2006/main">
            <a:off x="666750" y="4362450"/>
            <a:ext cx="9906000" cy="5905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659D6C1-1E43-4E65-A093-5EB9402B0B34}"/>
              </a:ext>
            </a:extLst>
          </p:cNvPr>
          <p:cNvSpPr>
            <a:spLocks xmlns:a="http://schemas.openxmlformats.org/drawingml/2006/main" noGrp="1"/>
          </p:cNvSpPr>
          <p:nvPr/>
        </p:nvSpPr>
        <p:spPr>
          <a:xfrm xmlns:a="http://schemas.openxmlformats.org/drawingml/2006/main">
            <a:off x="742950" y="4362450"/>
            <a:ext cx="2038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Attack markers</a:t>
            </a:r>
          </a:p>
        </p:txBody>
      </p:sp>
      <p:sp>
        <p:nvSpPr>
          <p:cNvPr id="29" name="">
            <a:extLst xmlns:a="http://schemas.openxmlformats.org/drawingml/2006/main">
              <a:ext uri="{FF2B5EF4-FFF2-40B4-BE49-F238E27FC236}">
                <a16:creationId xmlns:a16="http://schemas.microsoft.com/office/drawing/2014/main" id="{DEC10038-1C54-41A4-B5A6-4DB82E27D7D6}"/>
              </a:ext>
            </a:extLst>
          </p:cNvPr>
          <p:cNvSpPr>
            <a:spLocks xmlns:a="http://schemas.openxmlformats.org/drawingml/2006/main" noGrp="1"/>
          </p:cNvSpPr>
          <p:nvPr/>
        </p:nvSpPr>
        <p:spPr>
          <a:xfrm xmlns:a="http://schemas.openxmlformats.org/drawingml/2006/main">
            <a:off x="2933700" y="4362450"/>
            <a:ext cx="2705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No</a:t>
            </a:r>
          </a:p>
        </p:txBody>
      </p:sp>
      <p:sp>
        <p:nvSpPr>
          <p:cNvPr id="30" name="">
            <a:extLst xmlns:a="http://schemas.openxmlformats.org/drawingml/2006/main">
              <a:ext uri="{FF2B5EF4-FFF2-40B4-BE49-F238E27FC236}">
                <a16:creationId xmlns:a16="http://schemas.microsoft.com/office/drawing/2014/main" id="{AFB56AD8-5F88-45EB-AC83-7D6C0C112E05}"/>
              </a:ext>
            </a:extLst>
          </p:cNvPr>
          <p:cNvSpPr>
            <a:spLocks xmlns:a="http://schemas.openxmlformats.org/drawingml/2006/main" noGrp="1"/>
          </p:cNvSpPr>
          <p:nvPr/>
        </p:nvSpPr>
        <p:spPr>
          <a:xfrm xmlns:a="http://schemas.openxmlformats.org/drawingml/2006/main">
            <a:off x="5791200" y="4362450"/>
            <a:ext cx="4705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Ground-truth activation and mechanism validation</a:t>
            </a:r>
          </a:p>
        </p:txBody>
      </p:sp>
      <p:sp>
        <p:nvSpPr>
          <p:cNvPr id="31" name="">
            <a:extLst xmlns:a="http://schemas.openxmlformats.org/drawingml/2006/main">
              <a:ext uri="{FF2B5EF4-FFF2-40B4-BE49-F238E27FC236}">
                <a16:creationId xmlns:a16="http://schemas.microsoft.com/office/drawing/2014/main" id="{FADBB759-E681-45FD-B410-3B5BF01E95B3}"/>
              </a:ext>
            </a:extLst>
          </p:cNvPr>
          <p:cNvSpPr>
            <a:spLocks xmlns:a="http://schemas.openxmlformats.org/drawingml/2006/main" noGrp="1"/>
          </p:cNvSpPr>
          <p:nvPr/>
        </p:nvSpPr>
        <p:spPr>
          <a:xfrm xmlns:a="http://schemas.openxmlformats.org/drawingml/2006/main">
            <a:off x="666750" y="4953000"/>
            <a:ext cx="9906000" cy="5905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30F9B26-3BBC-4D5F-9672-EE4A507ECAD3}"/>
              </a:ext>
            </a:extLst>
          </p:cNvPr>
          <p:cNvSpPr>
            <a:spLocks xmlns:a="http://schemas.openxmlformats.org/drawingml/2006/main" noGrp="1"/>
          </p:cNvSpPr>
          <p:nvPr/>
        </p:nvSpPr>
        <p:spPr>
          <a:xfrm xmlns:a="http://schemas.openxmlformats.org/drawingml/2006/main">
            <a:off x="742950" y="4953000"/>
            <a:ext cx="2038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Labels</a:t>
            </a:r>
          </a:p>
        </p:txBody>
      </p:sp>
      <p:sp>
        <p:nvSpPr>
          <p:cNvPr id="33" name="">
            <a:extLst xmlns:a="http://schemas.openxmlformats.org/drawingml/2006/main">
              <a:ext uri="{FF2B5EF4-FFF2-40B4-BE49-F238E27FC236}">
                <a16:creationId xmlns:a16="http://schemas.microsoft.com/office/drawing/2014/main" id="{92F14E8C-6C2C-4F2F-BFD3-50721622B310}"/>
              </a:ext>
            </a:extLst>
          </p:cNvPr>
          <p:cNvSpPr>
            <a:spLocks xmlns:a="http://schemas.openxmlformats.org/drawingml/2006/main" noGrp="1"/>
          </p:cNvSpPr>
          <p:nvPr/>
        </p:nvSpPr>
        <p:spPr>
          <a:xfrm xmlns:a="http://schemas.openxmlformats.org/drawingml/2006/main">
            <a:off x="2933700" y="4953000"/>
            <a:ext cx="2705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Target only</a:t>
            </a:r>
          </a:p>
        </p:txBody>
      </p:sp>
      <p:sp>
        <p:nvSpPr>
          <p:cNvPr id="34" name="">
            <a:extLst xmlns:a="http://schemas.openxmlformats.org/drawingml/2006/main">
              <a:ext uri="{FF2B5EF4-FFF2-40B4-BE49-F238E27FC236}">
                <a16:creationId xmlns:a16="http://schemas.microsoft.com/office/drawing/2014/main" id="{3AD18F3E-B5CA-440B-8E17-1A42D8867501}"/>
              </a:ext>
            </a:extLst>
          </p:cNvPr>
          <p:cNvSpPr>
            <a:spLocks xmlns:a="http://schemas.openxmlformats.org/drawingml/2006/main" noGrp="1"/>
          </p:cNvSpPr>
          <p:nvPr/>
        </p:nvSpPr>
        <p:spPr>
          <a:xfrm xmlns:a="http://schemas.openxmlformats.org/drawingml/2006/main">
            <a:off x="5791200" y="4953000"/>
            <a:ext cx="4705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Normal versus post-activation attack windows</a:t>
            </a:r>
          </a:p>
        </p:txBody>
      </p:sp>
      <p:sp>
        <p:nvSpPr>
          <p:cNvPr id="35" name="">
            <a:extLst xmlns:a="http://schemas.openxmlformats.org/drawingml/2006/main">
              <a:ext uri="{FF2B5EF4-FFF2-40B4-BE49-F238E27FC236}">
                <a16:creationId xmlns:a16="http://schemas.microsoft.com/office/drawing/2014/main" id="{D96A4809-EDA3-4703-B6BB-0963D82A2572}"/>
              </a:ext>
            </a:extLst>
          </p:cNvPr>
          <p:cNvSpPr>
            <a:spLocks xmlns:a="http://schemas.openxmlformats.org/drawingml/2006/main" noGrp="1"/>
          </p:cNvSpPr>
          <p:nvPr/>
        </p:nvSpPr>
        <p:spPr>
          <a:xfrm xmlns:a="http://schemas.openxmlformats.org/drawingml/2006/main">
            <a:off x="666750" y="2857500"/>
            <a:ext cx="9906000" cy="268605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36" name="">
            <a:extLst xmlns:a="http://schemas.openxmlformats.org/drawingml/2006/main">
              <a:ext uri="{FF2B5EF4-FFF2-40B4-BE49-F238E27FC236}">
                <a16:creationId xmlns:a16="http://schemas.microsoft.com/office/drawing/2014/main" id="{349E71EC-A9C0-4200-95EA-A83C957FE5B3}"/>
              </a:ext>
            </a:extLst>
          </p:cNvPr>
          <p:cNvSpPr>
            <a:spLocks xmlns:a="http://schemas.openxmlformats.org/drawingml/2006/main" noGrp="1"/>
          </p:cNvSpPr>
          <p:nvPr/>
        </p:nvSpPr>
        <p:spPr>
          <a:xfrm xmlns:a="http://schemas.openxmlformats.org/drawingml/2006/main">
            <a:off x="666750" y="5429250"/>
            <a:ext cx="9906000" cy="5715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62385CC0-3872-4824-978C-EFECA27F46BF}"/>
              </a:ext>
            </a:extLst>
          </p:cNvPr>
          <p:cNvSpPr>
            <a:spLocks xmlns:a="http://schemas.openxmlformats.org/drawingml/2006/main" noGrp="1"/>
          </p:cNvSpPr>
          <p:nvPr/>
        </p:nvSpPr>
        <p:spPr>
          <a:xfrm xmlns:a="http://schemas.openxmlformats.org/drawingml/2006/main">
            <a:off x="666750" y="5429250"/>
            <a:ext cx="47625" cy="5715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7B19F09A-9BEB-4345-95EA-314AB8EE2930}"/>
              </a:ext>
            </a:extLst>
          </p:cNvPr>
          <p:cNvSpPr>
            <a:spLocks xmlns:a="http://schemas.openxmlformats.org/drawingml/2006/main" noGrp="1"/>
          </p:cNvSpPr>
          <p:nvPr/>
        </p:nvSpPr>
        <p:spPr>
          <a:xfrm xmlns:a="http://schemas.openxmlformats.org/drawingml/2006/main">
            <a:off x="838200" y="5514975"/>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Sixteen marker/provenance fields are excluded from predictors. Whole-seed grouping is retained through every evaluation.</a:t>
            </a:r>
          </a:p>
        </p:txBody>
      </p:sp>
    </p:spTree>
    <p:extLst>
      <p:ext uri="{BB962C8B-B14F-4D97-AF65-F5344CB8AC3E}">
        <p14:creationId xmlns:p14="http://schemas.microsoft.com/office/powerpoint/2010/main" val="85687174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EBDE70D1-3D7A-48A3-969B-666CA26FD5DC}"/>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IDS evaluation stack</a:t>
            </a:r>
          </a:p>
        </p:txBody>
      </p:sp>
      <p:sp>
        <p:nvSpPr>
          <p:cNvPr id="2" name="">
            <a:extLst xmlns:a="http://schemas.openxmlformats.org/drawingml/2006/main">
              <a:ext uri="{FF2B5EF4-FFF2-40B4-BE49-F238E27FC236}">
                <a16:creationId xmlns:a16="http://schemas.microsoft.com/office/drawing/2014/main" id="{96981FB7-485D-47F2-A052-FFB97D7E17EA}"/>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Different models answer different questions; they are not treated as interchangeable.</a:t>
            </a:r>
          </a:p>
        </p:txBody>
      </p:sp>
      <p:sp>
        <p:nvSpPr>
          <p:cNvPr id="3" name="">
            <a:extLst xmlns:a="http://schemas.openxmlformats.org/drawingml/2006/main">
              <a:ext uri="{FF2B5EF4-FFF2-40B4-BE49-F238E27FC236}">
                <a16:creationId xmlns:a16="http://schemas.microsoft.com/office/drawing/2014/main" id="{3A8D94B4-EBDA-481F-B28F-DBB420BF7F51}"/>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49926E2-11DB-4507-902E-2380CDC962D8}"/>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23B7621-130D-4CC3-ACCD-00F3A08D7DDD}"/>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Models</a:t>
            </a:r>
          </a:p>
        </p:txBody>
      </p:sp>
      <p:sp>
        <p:nvSpPr>
          <p:cNvPr id="6" name="">
            <a:extLst xmlns:a="http://schemas.openxmlformats.org/drawingml/2006/main">
              <a:ext uri="{FF2B5EF4-FFF2-40B4-BE49-F238E27FC236}">
                <a16:creationId xmlns:a16="http://schemas.microsoft.com/office/drawing/2014/main" id="{261E15AF-68ED-4FC5-9ED0-51F48C45AE8F}"/>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09  </a:t>
            </a:r>
          </a:p>
        </p:txBody>
      </p:sp>
      <p:sp>
        <p:nvSpPr>
          <p:cNvPr id="7" name="">
            <a:extLst xmlns:a="http://schemas.openxmlformats.org/drawingml/2006/main">
              <a:ext uri="{FF2B5EF4-FFF2-40B4-BE49-F238E27FC236}">
                <a16:creationId xmlns:a16="http://schemas.microsoft.com/office/drawing/2014/main" id="{9D62F231-0C32-4F3B-B23B-5516A9C30EB1}"/>
              </a:ext>
            </a:extLst>
          </p:cNvPr>
          <p:cNvSpPr>
            <a:spLocks xmlns:a="http://schemas.openxmlformats.org/drawingml/2006/main" noGrp="1"/>
          </p:cNvSpPr>
          <p:nvPr/>
        </p:nvSpPr>
        <p:spPr>
          <a:xfrm xmlns:a="http://schemas.openxmlformats.org/drawingml/2006/main">
            <a:off x="571500" y="1466850"/>
            <a:ext cx="1009650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46A65FC-949D-4C29-832A-A5061851BC1A}"/>
              </a:ext>
            </a:extLst>
          </p:cNvPr>
          <p:cNvSpPr>
            <a:spLocks xmlns:a="http://schemas.openxmlformats.org/drawingml/2006/main" noGrp="1"/>
          </p:cNvSpPr>
          <p:nvPr/>
        </p:nvSpPr>
        <p:spPr>
          <a:xfrm xmlns:a="http://schemas.openxmlformats.org/drawingml/2006/main">
            <a:off x="647700" y="1466850"/>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Component</a:t>
            </a:r>
          </a:p>
        </p:txBody>
      </p:sp>
      <p:sp>
        <p:nvSpPr>
          <p:cNvPr id="9" name="">
            <a:extLst xmlns:a="http://schemas.openxmlformats.org/drawingml/2006/main">
              <a:ext uri="{FF2B5EF4-FFF2-40B4-BE49-F238E27FC236}">
                <a16:creationId xmlns:a16="http://schemas.microsoft.com/office/drawing/2014/main" id="{A9843559-EF93-4AF4-AFE3-7AB9F4E76102}"/>
              </a:ext>
            </a:extLst>
          </p:cNvPr>
          <p:cNvSpPr>
            <a:spLocks xmlns:a="http://schemas.openxmlformats.org/drawingml/2006/main" noGrp="1"/>
          </p:cNvSpPr>
          <p:nvPr/>
        </p:nvSpPr>
        <p:spPr>
          <a:xfrm xmlns:a="http://schemas.openxmlformats.org/drawingml/2006/main">
            <a:off x="2362200" y="14668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Models</a:t>
            </a:r>
          </a:p>
        </p:txBody>
      </p:sp>
      <p:sp>
        <p:nvSpPr>
          <p:cNvPr id="10" name="">
            <a:extLst xmlns:a="http://schemas.openxmlformats.org/drawingml/2006/main">
              <a:ext uri="{FF2B5EF4-FFF2-40B4-BE49-F238E27FC236}">
                <a16:creationId xmlns:a16="http://schemas.microsoft.com/office/drawing/2014/main" id="{EC1C0176-E912-43F1-A881-9C5E98FFAC31}"/>
              </a:ext>
            </a:extLst>
          </p:cNvPr>
          <p:cNvSpPr>
            <a:spLocks xmlns:a="http://schemas.openxmlformats.org/drawingml/2006/main" noGrp="1"/>
          </p:cNvSpPr>
          <p:nvPr/>
        </p:nvSpPr>
        <p:spPr>
          <a:xfrm xmlns:a="http://schemas.openxmlformats.org/drawingml/2006/main">
            <a:off x="5029200" y="1466850"/>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Evaluation mode</a:t>
            </a:r>
          </a:p>
        </p:txBody>
      </p:sp>
      <p:sp>
        <p:nvSpPr>
          <p:cNvPr id="11" name="">
            <a:extLst xmlns:a="http://schemas.openxmlformats.org/drawingml/2006/main">
              <a:ext uri="{FF2B5EF4-FFF2-40B4-BE49-F238E27FC236}">
                <a16:creationId xmlns:a16="http://schemas.microsoft.com/office/drawing/2014/main" id="{E4CDB45E-7C75-43B8-94AA-5B0A78410C73}"/>
              </a:ext>
            </a:extLst>
          </p:cNvPr>
          <p:cNvSpPr>
            <a:spLocks xmlns:a="http://schemas.openxmlformats.org/drawingml/2006/main" noGrp="1"/>
          </p:cNvSpPr>
          <p:nvPr/>
        </p:nvSpPr>
        <p:spPr>
          <a:xfrm xmlns:a="http://schemas.openxmlformats.org/drawingml/2006/main">
            <a:off x="7315200" y="1466850"/>
            <a:ext cx="3276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Question answered</a:t>
            </a:r>
          </a:p>
        </p:txBody>
      </p:sp>
      <p:sp>
        <p:nvSpPr>
          <p:cNvPr id="12" name="">
            <a:extLst xmlns:a="http://schemas.openxmlformats.org/drawingml/2006/main">
              <a:ext uri="{FF2B5EF4-FFF2-40B4-BE49-F238E27FC236}">
                <a16:creationId xmlns:a16="http://schemas.microsoft.com/office/drawing/2014/main" id="{0C71C8FD-5173-40E8-B5E1-28BB95C94705}"/>
              </a:ext>
            </a:extLst>
          </p:cNvPr>
          <p:cNvSpPr>
            <a:spLocks xmlns:a="http://schemas.openxmlformats.org/drawingml/2006/main" noGrp="1"/>
          </p:cNvSpPr>
          <p:nvPr/>
        </p:nvSpPr>
        <p:spPr>
          <a:xfrm xmlns:a="http://schemas.openxmlformats.org/drawingml/2006/main">
            <a:off x="571500" y="1790700"/>
            <a:ext cx="10096500" cy="7048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080C2BE-0E21-4E1F-9E39-FE094D3E630F}"/>
              </a:ext>
            </a:extLst>
          </p:cNvPr>
          <p:cNvSpPr>
            <a:spLocks xmlns:a="http://schemas.openxmlformats.org/drawingml/2006/main" noGrp="1"/>
          </p:cNvSpPr>
          <p:nvPr/>
        </p:nvSpPr>
        <p:spPr>
          <a:xfrm xmlns:a="http://schemas.openxmlformats.org/drawingml/2006/main">
            <a:off x="647700" y="1790700"/>
            <a:ext cx="156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Static baseline</a:t>
            </a:r>
          </a:p>
        </p:txBody>
      </p:sp>
      <p:sp>
        <p:nvSpPr>
          <p:cNvPr id="14" name="">
            <a:extLst xmlns:a="http://schemas.openxmlformats.org/drawingml/2006/main">
              <a:ext uri="{FF2B5EF4-FFF2-40B4-BE49-F238E27FC236}">
                <a16:creationId xmlns:a16="http://schemas.microsoft.com/office/drawing/2014/main" id="{2FAA2943-8451-4E0B-8ECC-D806EAE7BFA5}"/>
              </a:ext>
            </a:extLst>
          </p:cNvPr>
          <p:cNvSpPr>
            <a:spLocks xmlns:a="http://schemas.openxmlformats.org/drawingml/2006/main" noGrp="1"/>
          </p:cNvSpPr>
          <p:nvPr/>
        </p:nvSpPr>
        <p:spPr>
          <a:xfrm xmlns:a="http://schemas.openxmlformats.org/drawingml/2006/main">
            <a:off x="2362200" y="1790700"/>
            <a:ext cx="2514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CART; Gaussian</a:t>
            </a:r>
          </a:p>
        </p:txBody>
      </p:sp>
      <p:sp>
        <p:nvSpPr>
          <p:cNvPr id="15" name="">
            <a:extLst xmlns:a="http://schemas.openxmlformats.org/drawingml/2006/main">
              <a:ext uri="{FF2B5EF4-FFF2-40B4-BE49-F238E27FC236}">
                <a16:creationId xmlns:a16="http://schemas.microsoft.com/office/drawing/2014/main" id="{EBB1C9BC-73A3-4F01-99F5-8F4C75ABDC6F}"/>
              </a:ext>
            </a:extLst>
          </p:cNvPr>
          <p:cNvSpPr>
            <a:spLocks xmlns:a="http://schemas.openxmlformats.org/drawingml/2006/main" noGrp="1"/>
          </p:cNvSpPr>
          <p:nvPr/>
        </p:nvSpPr>
        <p:spPr>
          <a:xfrm xmlns:a="http://schemas.openxmlformats.org/drawingml/2006/main">
            <a:off x="5029200" y="1790700"/>
            <a:ext cx="2133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Cross-family train/test transfer</a:t>
            </a:r>
          </a:p>
        </p:txBody>
      </p:sp>
      <p:sp>
        <p:nvSpPr>
          <p:cNvPr id="16" name="">
            <a:extLst xmlns:a="http://schemas.openxmlformats.org/drawingml/2006/main">
              <a:ext uri="{FF2B5EF4-FFF2-40B4-BE49-F238E27FC236}">
                <a16:creationId xmlns:a16="http://schemas.microsoft.com/office/drawing/2014/main" id="{9E324A13-E8AD-4268-94C1-B2D43E6650AD}"/>
              </a:ext>
            </a:extLst>
          </p:cNvPr>
          <p:cNvSpPr>
            <a:spLocks xmlns:a="http://schemas.openxmlformats.org/drawingml/2006/main" noGrp="1"/>
          </p:cNvSpPr>
          <p:nvPr/>
        </p:nvSpPr>
        <p:spPr>
          <a:xfrm xmlns:a="http://schemas.openxmlformats.org/drawingml/2006/main">
            <a:off x="7315200" y="1790700"/>
            <a:ext cx="3276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Does a fixed representation generalise?</a:t>
            </a:r>
          </a:p>
        </p:txBody>
      </p:sp>
      <p:sp>
        <p:nvSpPr>
          <p:cNvPr id="17" name="">
            <a:extLst xmlns:a="http://schemas.openxmlformats.org/drawingml/2006/main">
              <a:ext uri="{FF2B5EF4-FFF2-40B4-BE49-F238E27FC236}">
                <a16:creationId xmlns:a16="http://schemas.microsoft.com/office/drawing/2014/main" id="{15709798-6C42-4C33-B4EE-DC9CA70CC5F0}"/>
              </a:ext>
            </a:extLst>
          </p:cNvPr>
          <p:cNvSpPr>
            <a:spLocks xmlns:a="http://schemas.openxmlformats.org/drawingml/2006/main" noGrp="1"/>
          </p:cNvSpPr>
          <p:nvPr/>
        </p:nvSpPr>
        <p:spPr>
          <a:xfrm xmlns:a="http://schemas.openxmlformats.org/drawingml/2006/main">
            <a:off x="571500" y="2495550"/>
            <a:ext cx="10096500" cy="704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3399C14-56F0-4523-BAB4-52CEE7AFC285}"/>
              </a:ext>
            </a:extLst>
          </p:cNvPr>
          <p:cNvSpPr>
            <a:spLocks xmlns:a="http://schemas.openxmlformats.org/drawingml/2006/main" noGrp="1"/>
          </p:cNvSpPr>
          <p:nvPr/>
        </p:nvSpPr>
        <p:spPr>
          <a:xfrm xmlns:a="http://schemas.openxmlformats.org/drawingml/2006/main">
            <a:off x="647700" y="2495550"/>
            <a:ext cx="156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Supervised adaptation</a:t>
            </a:r>
          </a:p>
        </p:txBody>
      </p:sp>
      <p:sp>
        <p:nvSpPr>
          <p:cNvPr id="19" name="">
            <a:extLst xmlns:a="http://schemas.openxmlformats.org/drawingml/2006/main">
              <a:ext uri="{FF2B5EF4-FFF2-40B4-BE49-F238E27FC236}">
                <a16:creationId xmlns:a16="http://schemas.microsoft.com/office/drawing/2014/main" id="{D717984D-B69E-470C-8929-A9506F433E67}"/>
              </a:ext>
            </a:extLst>
          </p:cNvPr>
          <p:cNvSpPr>
            <a:spLocks xmlns:a="http://schemas.openxmlformats.org/drawingml/2006/main" noGrp="1"/>
          </p:cNvSpPr>
          <p:nvPr/>
        </p:nvSpPr>
        <p:spPr>
          <a:xfrm xmlns:a="http://schemas.openxmlformats.org/drawingml/2006/main">
            <a:off x="2362200" y="2495550"/>
            <a:ext cx="2514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CART + 0-3 target seeds</a:t>
            </a:r>
          </a:p>
        </p:txBody>
      </p:sp>
      <p:sp>
        <p:nvSpPr>
          <p:cNvPr id="20" name="">
            <a:extLst xmlns:a="http://schemas.openxmlformats.org/drawingml/2006/main">
              <a:ext uri="{FF2B5EF4-FFF2-40B4-BE49-F238E27FC236}">
                <a16:creationId xmlns:a16="http://schemas.microsoft.com/office/drawing/2014/main" id="{F5B34089-7D26-4F70-BD6F-89D72E465D8F}"/>
              </a:ext>
            </a:extLst>
          </p:cNvPr>
          <p:cNvSpPr>
            <a:spLocks xmlns:a="http://schemas.openxmlformats.org/drawingml/2006/main" noGrp="1"/>
          </p:cNvSpPr>
          <p:nvPr/>
        </p:nvSpPr>
        <p:spPr>
          <a:xfrm xmlns:a="http://schemas.openxmlformats.org/drawingml/2006/main">
            <a:off x="5029200" y="2495550"/>
            <a:ext cx="2133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Held-out whole target seeds</a:t>
            </a:r>
          </a:p>
        </p:txBody>
      </p:sp>
      <p:sp>
        <p:nvSpPr>
          <p:cNvPr id="21" name="">
            <a:extLst xmlns:a="http://schemas.openxmlformats.org/drawingml/2006/main">
              <a:ext uri="{FF2B5EF4-FFF2-40B4-BE49-F238E27FC236}">
                <a16:creationId xmlns:a16="http://schemas.microsoft.com/office/drawing/2014/main" id="{DC7B6E30-6969-43FA-95FA-7771E99257C3}"/>
              </a:ext>
            </a:extLst>
          </p:cNvPr>
          <p:cNvSpPr>
            <a:spLocks xmlns:a="http://schemas.openxmlformats.org/drawingml/2006/main" noGrp="1"/>
          </p:cNvSpPr>
          <p:nvPr/>
        </p:nvSpPr>
        <p:spPr>
          <a:xfrm xmlns:a="http://schemas.openxmlformats.org/drawingml/2006/main">
            <a:off x="7315200" y="2495550"/>
            <a:ext cx="3276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How much labelled target data restores performance?</a:t>
            </a:r>
          </a:p>
        </p:txBody>
      </p:sp>
      <p:sp>
        <p:nvSpPr>
          <p:cNvPr id="22" name="">
            <a:extLst xmlns:a="http://schemas.openxmlformats.org/drawingml/2006/main">
              <a:ext uri="{FF2B5EF4-FFF2-40B4-BE49-F238E27FC236}">
                <a16:creationId xmlns:a16="http://schemas.microsoft.com/office/drawing/2014/main" id="{2664C785-910D-4DE4-AD5C-43EA81930C61}"/>
              </a:ext>
            </a:extLst>
          </p:cNvPr>
          <p:cNvSpPr>
            <a:spLocks xmlns:a="http://schemas.openxmlformats.org/drawingml/2006/main" noGrp="1"/>
          </p:cNvSpPr>
          <p:nvPr/>
        </p:nvSpPr>
        <p:spPr>
          <a:xfrm xmlns:a="http://schemas.openxmlformats.org/drawingml/2006/main">
            <a:off x="571500" y="3200400"/>
            <a:ext cx="10096500" cy="7048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9BD2070-CA55-483C-8E89-8D11A0CB857D}"/>
              </a:ext>
            </a:extLst>
          </p:cNvPr>
          <p:cNvSpPr>
            <a:spLocks xmlns:a="http://schemas.openxmlformats.org/drawingml/2006/main" noGrp="1"/>
          </p:cNvSpPr>
          <p:nvPr/>
        </p:nvSpPr>
        <p:spPr>
          <a:xfrm xmlns:a="http://schemas.openxmlformats.org/drawingml/2006/main">
            <a:off x="647700" y="3200400"/>
            <a:ext cx="156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Online baselines</a:t>
            </a:r>
          </a:p>
        </p:txBody>
      </p:sp>
      <p:sp>
        <p:nvSpPr>
          <p:cNvPr id="24" name="">
            <a:extLst xmlns:a="http://schemas.openxmlformats.org/drawingml/2006/main">
              <a:ext uri="{FF2B5EF4-FFF2-40B4-BE49-F238E27FC236}">
                <a16:creationId xmlns:a16="http://schemas.microsoft.com/office/drawing/2014/main" id="{EA198DE0-0DB6-4CE1-8631-666FAF7A8E68}"/>
              </a:ext>
            </a:extLst>
          </p:cNvPr>
          <p:cNvSpPr>
            <a:spLocks xmlns:a="http://schemas.openxmlformats.org/drawingml/2006/main" noGrp="1"/>
          </p:cNvSpPr>
          <p:nvPr/>
        </p:nvSpPr>
        <p:spPr>
          <a:xfrm xmlns:a="http://schemas.openxmlformats.org/drawingml/2006/main">
            <a:off x="2362200" y="3200400"/>
            <a:ext cx="2514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Gaussian update; River NB; Hoeffding tree</a:t>
            </a:r>
          </a:p>
        </p:txBody>
      </p:sp>
      <p:sp>
        <p:nvSpPr>
          <p:cNvPr id="25" name="">
            <a:extLst xmlns:a="http://schemas.openxmlformats.org/drawingml/2006/main">
              <a:ext uri="{FF2B5EF4-FFF2-40B4-BE49-F238E27FC236}">
                <a16:creationId xmlns:a16="http://schemas.microsoft.com/office/drawing/2014/main" id="{75794C94-69C5-44D5-B148-799B41AE46A1}"/>
              </a:ext>
            </a:extLst>
          </p:cNvPr>
          <p:cNvSpPr>
            <a:spLocks xmlns:a="http://schemas.openxmlformats.org/drawingml/2006/main" noGrp="1"/>
          </p:cNvSpPr>
          <p:nvPr/>
        </p:nvSpPr>
        <p:spPr>
          <a:xfrm xmlns:a="http://schemas.openxmlformats.org/drawingml/2006/main">
            <a:off x="5029200" y="3200400"/>
            <a:ext cx="2133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Prequential stream evaluation</a:t>
            </a:r>
          </a:p>
        </p:txBody>
      </p:sp>
      <p:sp>
        <p:nvSpPr>
          <p:cNvPr id="26" name="">
            <a:extLst xmlns:a="http://schemas.openxmlformats.org/drawingml/2006/main">
              <a:ext uri="{FF2B5EF4-FFF2-40B4-BE49-F238E27FC236}">
                <a16:creationId xmlns:a16="http://schemas.microsoft.com/office/drawing/2014/main" id="{B6E0ED68-DB00-490C-A9CD-2C77B23737FD}"/>
              </a:ext>
            </a:extLst>
          </p:cNvPr>
          <p:cNvSpPr>
            <a:spLocks xmlns:a="http://schemas.openxmlformats.org/drawingml/2006/main" noGrp="1"/>
          </p:cNvSpPr>
          <p:nvPr/>
        </p:nvSpPr>
        <p:spPr>
          <a:xfrm xmlns:a="http://schemas.openxmlformats.org/drawingml/2006/main">
            <a:off x="7315200" y="3200400"/>
            <a:ext cx="3276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Can incremental learning respond without batch retraining?</a:t>
            </a:r>
          </a:p>
        </p:txBody>
      </p:sp>
      <p:sp>
        <p:nvSpPr>
          <p:cNvPr id="27" name="">
            <a:extLst xmlns:a="http://schemas.openxmlformats.org/drawingml/2006/main">
              <a:ext uri="{FF2B5EF4-FFF2-40B4-BE49-F238E27FC236}">
                <a16:creationId xmlns:a16="http://schemas.microsoft.com/office/drawing/2014/main" id="{73601245-4521-4944-A6CC-2D451A40A10C}"/>
              </a:ext>
            </a:extLst>
          </p:cNvPr>
          <p:cNvSpPr>
            <a:spLocks xmlns:a="http://schemas.openxmlformats.org/drawingml/2006/main" noGrp="1"/>
          </p:cNvSpPr>
          <p:nvPr/>
        </p:nvSpPr>
        <p:spPr>
          <a:xfrm xmlns:a="http://schemas.openxmlformats.org/drawingml/2006/main">
            <a:off x="571500" y="3905250"/>
            <a:ext cx="10096500" cy="704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A7671CD-888F-4AD7-87DB-43A6B2C3CDF4}"/>
              </a:ext>
            </a:extLst>
          </p:cNvPr>
          <p:cNvSpPr>
            <a:spLocks xmlns:a="http://schemas.openxmlformats.org/drawingml/2006/main" noGrp="1"/>
          </p:cNvSpPr>
          <p:nvPr/>
        </p:nvSpPr>
        <p:spPr>
          <a:xfrm xmlns:a="http://schemas.openxmlformats.org/drawingml/2006/main">
            <a:off x="647700" y="3905250"/>
            <a:ext cx="156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Change detection</a:t>
            </a:r>
          </a:p>
        </p:txBody>
      </p:sp>
      <p:sp>
        <p:nvSpPr>
          <p:cNvPr id="29" name="">
            <a:extLst xmlns:a="http://schemas.openxmlformats.org/drawingml/2006/main">
              <a:ext uri="{FF2B5EF4-FFF2-40B4-BE49-F238E27FC236}">
                <a16:creationId xmlns:a16="http://schemas.microsoft.com/office/drawing/2014/main" id="{1DE873A0-E5FF-45B9-A817-362B2697B39D}"/>
              </a:ext>
            </a:extLst>
          </p:cNvPr>
          <p:cNvSpPr>
            <a:spLocks xmlns:a="http://schemas.openxmlformats.org/drawingml/2006/main" noGrp="1"/>
          </p:cNvSpPr>
          <p:nvPr/>
        </p:nvSpPr>
        <p:spPr>
          <a:xfrm xmlns:a="http://schemas.openxmlformats.org/drawingml/2006/main">
            <a:off x="2362200" y="3905250"/>
            <a:ext cx="2514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CUSUM; DDM</a:t>
            </a:r>
          </a:p>
        </p:txBody>
      </p:sp>
      <p:sp>
        <p:nvSpPr>
          <p:cNvPr id="30" name="">
            <a:extLst xmlns:a="http://schemas.openxmlformats.org/drawingml/2006/main">
              <a:ext uri="{FF2B5EF4-FFF2-40B4-BE49-F238E27FC236}">
                <a16:creationId xmlns:a16="http://schemas.microsoft.com/office/drawing/2014/main" id="{FD00F117-41D2-4D07-9E21-0FAD9B5E8027}"/>
              </a:ext>
            </a:extLst>
          </p:cNvPr>
          <p:cNvSpPr>
            <a:spLocks xmlns:a="http://schemas.openxmlformats.org/drawingml/2006/main" noGrp="1"/>
          </p:cNvSpPr>
          <p:nvPr/>
        </p:nvSpPr>
        <p:spPr>
          <a:xfrm xmlns:a="http://schemas.openxmlformats.org/drawingml/2006/main">
            <a:off x="5029200" y="3905250"/>
            <a:ext cx="2133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Held-out post-activation stream</a:t>
            </a:r>
          </a:p>
        </p:txBody>
      </p:sp>
      <p:sp>
        <p:nvSpPr>
          <p:cNvPr id="31" name="">
            <a:extLst xmlns:a="http://schemas.openxmlformats.org/drawingml/2006/main">
              <a:ext uri="{FF2B5EF4-FFF2-40B4-BE49-F238E27FC236}">
                <a16:creationId xmlns:a16="http://schemas.microsoft.com/office/drawing/2014/main" id="{D7255786-49FB-48D1-A641-7BC5F2BAE5A8}"/>
              </a:ext>
            </a:extLst>
          </p:cNvPr>
          <p:cNvSpPr>
            <a:spLocks xmlns:a="http://schemas.openxmlformats.org/drawingml/2006/main" noGrp="1"/>
          </p:cNvSpPr>
          <p:nvPr/>
        </p:nvSpPr>
        <p:spPr>
          <a:xfrm xmlns:a="http://schemas.openxmlformats.org/drawingml/2006/main">
            <a:off x="7315200" y="3905250"/>
            <a:ext cx="3276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When should adaptation be triggered?</a:t>
            </a:r>
          </a:p>
        </p:txBody>
      </p:sp>
      <p:sp>
        <p:nvSpPr>
          <p:cNvPr id="32" name="">
            <a:extLst xmlns:a="http://schemas.openxmlformats.org/drawingml/2006/main">
              <a:ext uri="{FF2B5EF4-FFF2-40B4-BE49-F238E27FC236}">
                <a16:creationId xmlns:a16="http://schemas.microsoft.com/office/drawing/2014/main" id="{7326557E-E0F5-4D9B-BA4C-15A1F84B2747}"/>
              </a:ext>
            </a:extLst>
          </p:cNvPr>
          <p:cNvSpPr>
            <a:spLocks xmlns:a="http://schemas.openxmlformats.org/drawingml/2006/main" noGrp="1"/>
          </p:cNvSpPr>
          <p:nvPr/>
        </p:nvSpPr>
        <p:spPr>
          <a:xfrm xmlns:a="http://schemas.openxmlformats.org/drawingml/2006/main">
            <a:off x="571500" y="4610100"/>
            <a:ext cx="10096500" cy="7048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4EDA133-08F4-45D7-A01C-6EC3FAB654D6}"/>
              </a:ext>
            </a:extLst>
          </p:cNvPr>
          <p:cNvSpPr>
            <a:spLocks xmlns:a="http://schemas.openxmlformats.org/drawingml/2006/main" noGrp="1"/>
          </p:cNvSpPr>
          <p:nvPr/>
        </p:nvSpPr>
        <p:spPr>
          <a:xfrm xmlns:a="http://schemas.openxmlformats.org/drawingml/2006/main">
            <a:off x="647700" y="4610100"/>
            <a:ext cx="156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Adaptive controller</a:t>
            </a:r>
          </a:p>
        </p:txBody>
      </p:sp>
      <p:sp>
        <p:nvSpPr>
          <p:cNvPr id="34" name="">
            <a:extLst xmlns:a="http://schemas.openxmlformats.org/drawingml/2006/main">
              <a:ext uri="{FF2B5EF4-FFF2-40B4-BE49-F238E27FC236}">
                <a16:creationId xmlns:a16="http://schemas.microsoft.com/office/drawing/2014/main" id="{8E396EDF-529F-46E5-94FF-78BDBE404DFC}"/>
              </a:ext>
            </a:extLst>
          </p:cNvPr>
          <p:cNvSpPr>
            <a:spLocks xmlns:a="http://schemas.openxmlformats.org/drawingml/2006/main" noGrp="1"/>
          </p:cNvSpPr>
          <p:nvPr/>
        </p:nvSpPr>
        <p:spPr>
          <a:xfrm xmlns:a="http://schemas.openxmlformats.org/drawingml/2006/main">
            <a:off x="2362200" y="4610100"/>
            <a:ext cx="2514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DQN and DDQN</a:t>
            </a:r>
          </a:p>
        </p:txBody>
      </p:sp>
      <p:sp>
        <p:nvSpPr>
          <p:cNvPr id="35" name="">
            <a:extLst xmlns:a="http://schemas.openxmlformats.org/drawingml/2006/main">
              <a:ext uri="{FF2B5EF4-FFF2-40B4-BE49-F238E27FC236}">
                <a16:creationId xmlns:a16="http://schemas.microsoft.com/office/drawing/2014/main" id="{2E7D18D3-E688-484A-8B82-55132711E0D5}"/>
              </a:ext>
            </a:extLst>
          </p:cNvPr>
          <p:cNvSpPr>
            <a:spLocks xmlns:a="http://schemas.openxmlformats.org/drawingml/2006/main" noGrp="1"/>
          </p:cNvSpPr>
          <p:nvPr/>
        </p:nvSpPr>
        <p:spPr>
          <a:xfrm xmlns:a="http://schemas.openxmlformats.org/drawingml/2006/main">
            <a:off x="5029200" y="4610100"/>
            <a:ext cx="2133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Isolated held-out Sybil stream</a:t>
            </a:r>
          </a:p>
        </p:txBody>
      </p:sp>
      <p:sp>
        <p:nvSpPr>
          <p:cNvPr id="36" name="">
            <a:extLst xmlns:a="http://schemas.openxmlformats.org/drawingml/2006/main">
              <a:ext uri="{FF2B5EF4-FFF2-40B4-BE49-F238E27FC236}">
                <a16:creationId xmlns:a16="http://schemas.microsoft.com/office/drawing/2014/main" id="{9DD58D18-7610-456C-ACD1-2E23B7A87348}"/>
              </a:ext>
            </a:extLst>
          </p:cNvPr>
          <p:cNvSpPr>
            <a:spLocks xmlns:a="http://schemas.openxmlformats.org/drawingml/2006/main" noGrp="1"/>
          </p:cNvSpPr>
          <p:nvPr/>
        </p:nvSpPr>
        <p:spPr>
          <a:xfrm xmlns:a="http://schemas.openxmlformats.org/drawingml/2006/main">
            <a:off x="7315200" y="4610100"/>
            <a:ext cx="3276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Can a learned policy choose adaptation actions?</a:t>
            </a:r>
          </a:p>
        </p:txBody>
      </p:sp>
      <p:sp>
        <p:nvSpPr>
          <p:cNvPr id="37" name="">
            <a:extLst xmlns:a="http://schemas.openxmlformats.org/drawingml/2006/main">
              <a:ext uri="{FF2B5EF4-FFF2-40B4-BE49-F238E27FC236}">
                <a16:creationId xmlns:a16="http://schemas.microsoft.com/office/drawing/2014/main" id="{2F49EC91-3263-40B1-A8D9-A01BCA4E0928}"/>
              </a:ext>
            </a:extLst>
          </p:cNvPr>
          <p:cNvSpPr>
            <a:spLocks xmlns:a="http://schemas.openxmlformats.org/drawingml/2006/main" noGrp="1"/>
          </p:cNvSpPr>
          <p:nvPr/>
        </p:nvSpPr>
        <p:spPr>
          <a:xfrm xmlns:a="http://schemas.openxmlformats.org/drawingml/2006/main">
            <a:off x="571500" y="5314950"/>
            <a:ext cx="10096500" cy="704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4F47329-B6AF-4475-997B-1A3283E0053D}"/>
              </a:ext>
            </a:extLst>
          </p:cNvPr>
          <p:cNvSpPr>
            <a:spLocks xmlns:a="http://schemas.openxmlformats.org/drawingml/2006/main" noGrp="1"/>
          </p:cNvSpPr>
          <p:nvPr/>
        </p:nvSpPr>
        <p:spPr>
          <a:xfrm xmlns:a="http://schemas.openxmlformats.org/drawingml/2006/main">
            <a:off x="647700" y="5314950"/>
            <a:ext cx="156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Identity monitor</a:t>
            </a:r>
          </a:p>
        </p:txBody>
      </p:sp>
      <p:sp>
        <p:nvSpPr>
          <p:cNvPr id="39" name="">
            <a:extLst xmlns:a="http://schemas.openxmlformats.org/drawingml/2006/main">
              <a:ext uri="{FF2B5EF4-FFF2-40B4-BE49-F238E27FC236}">
                <a16:creationId xmlns:a16="http://schemas.microsoft.com/office/drawing/2014/main" id="{03373F63-3CF6-45EA-B192-DF2B3D206C5A}"/>
              </a:ext>
            </a:extLst>
          </p:cNvPr>
          <p:cNvSpPr>
            <a:spLocks xmlns:a="http://schemas.openxmlformats.org/drawingml/2006/main" noGrp="1"/>
          </p:cNvSpPr>
          <p:nvPr/>
        </p:nvSpPr>
        <p:spPr>
          <a:xfrm xmlns:a="http://schemas.openxmlformats.org/drawingml/2006/main">
            <a:off x="2362200" y="5314950"/>
            <a:ext cx="2514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Rule-based consistency signal</a:t>
            </a:r>
          </a:p>
        </p:txBody>
      </p:sp>
      <p:sp>
        <p:nvSpPr>
          <p:cNvPr id="40" name="">
            <a:extLst xmlns:a="http://schemas.openxmlformats.org/drawingml/2006/main">
              <a:ext uri="{FF2B5EF4-FFF2-40B4-BE49-F238E27FC236}">
                <a16:creationId xmlns:a16="http://schemas.microsoft.com/office/drawing/2014/main" id="{7B0B870C-AF52-4D58-9BC2-E21BAA776284}"/>
              </a:ext>
            </a:extLst>
          </p:cNvPr>
          <p:cNvSpPr>
            <a:spLocks xmlns:a="http://schemas.openxmlformats.org/drawingml/2006/main" noGrp="1"/>
          </p:cNvSpPr>
          <p:nvPr/>
        </p:nvSpPr>
        <p:spPr>
          <a:xfrm xmlns:a="http://schemas.openxmlformats.org/drawingml/2006/main">
            <a:off x="5029200" y="5314950"/>
            <a:ext cx="2133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Post-activation Sybil/control windows</a:t>
            </a:r>
          </a:p>
        </p:txBody>
      </p:sp>
      <p:sp>
        <p:nvSpPr>
          <p:cNvPr id="41" name="">
            <a:extLst xmlns:a="http://schemas.openxmlformats.org/drawingml/2006/main">
              <a:ext uri="{FF2B5EF4-FFF2-40B4-BE49-F238E27FC236}">
                <a16:creationId xmlns:a16="http://schemas.microsoft.com/office/drawing/2014/main" id="{A29F732A-946D-4817-96EC-4D0D63F5D2EE}"/>
              </a:ext>
            </a:extLst>
          </p:cNvPr>
          <p:cNvSpPr>
            <a:spLocks xmlns:a="http://schemas.openxmlformats.org/drawingml/2006/main" noGrp="1"/>
          </p:cNvSpPr>
          <p:nvPr/>
        </p:nvSpPr>
        <p:spPr>
          <a:xfrm xmlns:a="http://schemas.openxmlformats.org/drawingml/2006/main">
            <a:off x="7315200" y="5314950"/>
            <a:ext cx="3276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Does an identity-specific observable expose Sybil directly?</a:t>
            </a:r>
          </a:p>
        </p:txBody>
      </p:sp>
      <p:sp>
        <p:nvSpPr>
          <p:cNvPr id="42" name="">
            <a:extLst xmlns:a="http://schemas.openxmlformats.org/drawingml/2006/main">
              <a:ext uri="{FF2B5EF4-FFF2-40B4-BE49-F238E27FC236}">
                <a16:creationId xmlns:a16="http://schemas.microsoft.com/office/drawing/2014/main" id="{05DBE8DA-617D-4EAF-A1F1-891332DD12CF}"/>
              </a:ext>
            </a:extLst>
          </p:cNvPr>
          <p:cNvSpPr>
            <a:spLocks xmlns:a="http://schemas.openxmlformats.org/drawingml/2006/main" noGrp="1"/>
          </p:cNvSpPr>
          <p:nvPr/>
        </p:nvSpPr>
        <p:spPr>
          <a:xfrm xmlns:a="http://schemas.openxmlformats.org/drawingml/2006/main">
            <a:off x="571500" y="1466850"/>
            <a:ext cx="10096500" cy="455295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145686868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89D5505-38FF-48BE-8898-A1FF25942129}"/>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Static cross-attack transfer matrix</a:t>
            </a:r>
          </a:p>
        </p:txBody>
      </p:sp>
      <p:sp>
        <p:nvSpPr>
          <p:cNvPr id="2" name="">
            <a:extLst xmlns:a="http://schemas.openxmlformats.org/drawingml/2006/main">
              <a:ext uri="{FF2B5EF4-FFF2-40B4-BE49-F238E27FC236}">
                <a16:creationId xmlns:a16="http://schemas.microsoft.com/office/drawing/2014/main" id="{232D712C-0CE8-41D8-92DE-DA8B33F804C5}"/>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CART is trained on one attack/control environment and evaluated on a different held-out family.</a:t>
            </a:r>
          </a:p>
        </p:txBody>
      </p:sp>
      <p:sp>
        <p:nvSpPr>
          <p:cNvPr id="3" name="">
            <a:extLst xmlns:a="http://schemas.openxmlformats.org/drawingml/2006/main">
              <a:ext uri="{FF2B5EF4-FFF2-40B4-BE49-F238E27FC236}">
                <a16:creationId xmlns:a16="http://schemas.microsoft.com/office/drawing/2014/main" id="{89467774-644D-4CD0-958E-E126609C05F3}"/>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F57D3ED-B24D-4ECB-A486-4E8B670C60CD}"/>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B7A2186-CD60-4D9A-83AB-499BFC0C8BC3}"/>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Concept drift result</a:t>
            </a:r>
          </a:p>
        </p:txBody>
      </p:sp>
      <p:sp>
        <p:nvSpPr>
          <p:cNvPr id="6" name="">
            <a:extLst xmlns:a="http://schemas.openxmlformats.org/drawingml/2006/main">
              <a:ext uri="{FF2B5EF4-FFF2-40B4-BE49-F238E27FC236}">
                <a16:creationId xmlns:a16="http://schemas.microsoft.com/office/drawing/2014/main" id="{E28507DE-508E-4712-8AF5-7A008F2DB7B2}"/>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10  </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72b37f90e7f4dc2"/>
          <a:stretch xmlns:a="http://schemas.openxmlformats.org/drawingml/2006/main"/>
        </p:blipFill>
        <p:spPr>
          <a:xfrm xmlns:a="http://schemas.openxmlformats.org/drawingml/2006/main">
            <a:off x="2043545" y="1381125"/>
            <a:ext cx="5247409" cy="4810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BC43B9E-EB89-40D2-85FA-C088FF3FDA83}"/>
              </a:ext>
            </a:extLst>
          </p:cNvPr>
          <p:cNvSpPr>
            <a:spLocks xmlns:a="http://schemas.openxmlformats.org/drawingml/2006/main" noGrp="1"/>
          </p:cNvSpPr>
          <p:nvPr/>
        </p:nvSpPr>
        <p:spPr>
          <a:xfrm xmlns:a="http://schemas.openxmlformats.org/drawingml/2006/main">
            <a:off x="8953500" y="167640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B42318"/>
                </a:solidFill>
              </a:defRPr>
            </a:pPr>
            <a:r>
              <a:rPr sz="2700" b="1">
                <a:solidFill>
                  <a:srgbClr val="B42318"/>
                </a:solidFill>
              </a:rPr>
              <a:t>48 / 72</a:t>
            </a:r>
          </a:p>
        </p:txBody>
      </p:sp>
      <p:sp>
        <p:nvSpPr>
          <p:cNvPr id="9" name="">
            <a:extLst xmlns:a="http://schemas.openxmlformats.org/drawingml/2006/main">
              <a:ext uri="{FF2B5EF4-FFF2-40B4-BE49-F238E27FC236}">
                <a16:creationId xmlns:a16="http://schemas.microsoft.com/office/drawing/2014/main" id="{AD42C19F-42B1-4725-8007-E1EBBBEF4B8C}"/>
              </a:ext>
            </a:extLst>
          </p:cNvPr>
          <p:cNvSpPr>
            <a:spLocks xmlns:a="http://schemas.openxmlformats.org/drawingml/2006/main" noGrp="1"/>
          </p:cNvSpPr>
          <p:nvPr/>
        </p:nvSpPr>
        <p:spPr>
          <a:xfrm xmlns:a="http://schemas.openxmlformats.org/drawingml/2006/main">
            <a:off x="8953500" y="213360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475569"/>
                </a:solidFill>
              </a:defRPr>
            </a:pPr>
            <a:r>
              <a:rPr sz="1050" b="0">
                <a:solidFill>
                  <a:srgbClr val="475569"/>
                </a:solidFill>
              </a:rPr>
              <a:t>cross-attack pairs with zero recall</a:t>
            </a:r>
          </a:p>
        </p:txBody>
      </p:sp>
      <p:sp>
        <p:nvSpPr>
          <p:cNvPr id="10" name="">
            <a:extLst xmlns:a="http://schemas.openxmlformats.org/drawingml/2006/main">
              <a:ext uri="{FF2B5EF4-FFF2-40B4-BE49-F238E27FC236}">
                <a16:creationId xmlns:a16="http://schemas.microsoft.com/office/drawing/2014/main" id="{D5899F03-4B2C-4A19-BAD2-1E0734069A0E}"/>
              </a:ext>
            </a:extLst>
          </p:cNvPr>
          <p:cNvSpPr>
            <a:spLocks xmlns:a="http://schemas.openxmlformats.org/drawingml/2006/main" noGrp="1"/>
          </p:cNvSpPr>
          <p:nvPr/>
        </p:nvSpPr>
        <p:spPr>
          <a:xfrm xmlns:a="http://schemas.openxmlformats.org/drawingml/2006/main">
            <a:off x="8953500" y="31432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47857"/>
                </a:solidFill>
              </a:defRPr>
            </a:pPr>
            <a:r>
              <a:rPr sz="2700" b="1">
                <a:solidFill>
                  <a:srgbClr val="047857"/>
                </a:solidFill>
              </a:rPr>
              <a:t>6 / 72</a:t>
            </a:r>
          </a:p>
        </p:txBody>
      </p:sp>
      <p:sp>
        <p:nvSpPr>
          <p:cNvPr id="11" name="">
            <a:extLst xmlns:a="http://schemas.openxmlformats.org/drawingml/2006/main">
              <a:ext uri="{FF2B5EF4-FFF2-40B4-BE49-F238E27FC236}">
                <a16:creationId xmlns:a16="http://schemas.microsoft.com/office/drawing/2014/main" id="{5800919D-411A-4DB8-950C-FB2BE18625AE}"/>
              </a:ext>
            </a:extLst>
          </p:cNvPr>
          <p:cNvSpPr>
            <a:spLocks xmlns:a="http://schemas.openxmlformats.org/drawingml/2006/main" noGrp="1"/>
          </p:cNvSpPr>
          <p:nvPr/>
        </p:nvSpPr>
        <p:spPr>
          <a:xfrm xmlns:a="http://schemas.openxmlformats.org/drawingml/2006/main">
            <a:off x="8953500" y="360045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475569"/>
                </a:solidFill>
              </a:defRPr>
            </a:pPr>
            <a:r>
              <a:rPr sz="1050" b="0">
                <a:solidFill>
                  <a:srgbClr val="475569"/>
                </a:solidFill>
              </a:rPr>
              <a:t>pairs with F1 ≥ 0.80</a:t>
            </a:r>
          </a:p>
        </p:txBody>
      </p:sp>
      <p:sp>
        <p:nvSpPr>
          <p:cNvPr id="12" name="">
            <a:extLst xmlns:a="http://schemas.openxmlformats.org/drawingml/2006/main">
              <a:ext uri="{FF2B5EF4-FFF2-40B4-BE49-F238E27FC236}">
                <a16:creationId xmlns:a16="http://schemas.microsoft.com/office/drawing/2014/main" id="{BB9197EA-EFFE-4EEA-8ABC-99CB6D09FEC8}"/>
              </a:ext>
            </a:extLst>
          </p:cNvPr>
          <p:cNvSpPr>
            <a:spLocks xmlns:a="http://schemas.openxmlformats.org/drawingml/2006/main" noGrp="1"/>
          </p:cNvSpPr>
          <p:nvPr/>
        </p:nvSpPr>
        <p:spPr>
          <a:xfrm xmlns:a="http://schemas.openxmlformats.org/drawingml/2006/main">
            <a:off x="8953500" y="461010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07C83"/>
                </a:solidFill>
              </a:defRPr>
            </a:pPr>
            <a:r>
              <a:rPr sz="2700" b="1">
                <a:solidFill>
                  <a:srgbClr val="007C83"/>
                </a:solidFill>
              </a:rPr>
              <a:t>0.182</a:t>
            </a:r>
          </a:p>
        </p:txBody>
      </p:sp>
      <p:sp>
        <p:nvSpPr>
          <p:cNvPr id="13" name="">
            <a:extLst xmlns:a="http://schemas.openxmlformats.org/drawingml/2006/main">
              <a:ext uri="{FF2B5EF4-FFF2-40B4-BE49-F238E27FC236}">
                <a16:creationId xmlns:a16="http://schemas.microsoft.com/office/drawing/2014/main" id="{2D72A29A-3B86-4D45-B07C-1F9708BF4948}"/>
              </a:ext>
            </a:extLst>
          </p:cNvPr>
          <p:cNvSpPr>
            <a:spLocks xmlns:a="http://schemas.openxmlformats.org/drawingml/2006/main" noGrp="1"/>
          </p:cNvSpPr>
          <p:nvPr/>
        </p:nvSpPr>
        <p:spPr>
          <a:xfrm xmlns:a="http://schemas.openxmlformats.org/drawingml/2006/main">
            <a:off x="8953500" y="506730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475569"/>
                </a:solidFill>
              </a:defRPr>
            </a:pPr>
            <a:r>
              <a:rPr sz="1050" b="0">
                <a:solidFill>
                  <a:srgbClr val="475569"/>
                </a:solidFill>
              </a:rPr>
              <a:t>mean cross-attack F1</a:t>
            </a:r>
          </a:p>
        </p:txBody>
      </p:sp>
    </p:spTree>
    <p:extLst>
      <p:ext uri="{BB962C8B-B14F-4D97-AF65-F5344CB8AC3E}">
        <p14:creationId xmlns:p14="http://schemas.microsoft.com/office/powerpoint/2010/main" val="173009050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F4D0BBAE-B601-4E61-95B1-E65EB1DB076E}"/>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Static models agree on the failure, not its severity</a:t>
            </a:r>
          </a:p>
        </p:txBody>
      </p:sp>
      <p:sp>
        <p:nvSpPr>
          <p:cNvPr id="2" name="">
            <a:extLst xmlns:a="http://schemas.openxmlformats.org/drawingml/2006/main">
              <a:ext uri="{FF2B5EF4-FFF2-40B4-BE49-F238E27FC236}">
                <a16:creationId xmlns:a16="http://schemas.microsoft.com/office/drawing/2014/main" id="{F1094820-1B9A-4657-8AEE-7EFA42561373}"/>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The weaker Gaussian baseline shows that model choice does not remove the representation problem.</a:t>
            </a:r>
          </a:p>
        </p:txBody>
      </p:sp>
      <p:sp>
        <p:nvSpPr>
          <p:cNvPr id="3" name="">
            <a:extLst xmlns:a="http://schemas.openxmlformats.org/drawingml/2006/main">
              <a:ext uri="{FF2B5EF4-FFF2-40B4-BE49-F238E27FC236}">
                <a16:creationId xmlns:a16="http://schemas.microsoft.com/office/drawing/2014/main" id="{88F67E89-8A83-4269-B812-9E5ACAC958E7}"/>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E56CD5D-E5FC-4732-A1C6-1506EA5244E8}"/>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FA3555C-1971-45F3-BFD7-B036D548FC2A}"/>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Model comparison</a:t>
            </a:r>
          </a:p>
        </p:txBody>
      </p:sp>
      <p:sp>
        <p:nvSpPr>
          <p:cNvPr id="6" name="">
            <a:extLst xmlns:a="http://schemas.openxmlformats.org/drawingml/2006/main">
              <a:ext uri="{FF2B5EF4-FFF2-40B4-BE49-F238E27FC236}">
                <a16:creationId xmlns:a16="http://schemas.microsoft.com/office/drawing/2014/main" id="{67BCEBF5-4AA4-4B0C-ACDA-F0FD7052BF0D}"/>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11  </a:t>
            </a:r>
          </a:p>
        </p:txBody>
      </p:sp>
      <p:sp>
        <p:nvSpPr>
          <p:cNvPr id="7" name="">
            <a:extLst xmlns:a="http://schemas.openxmlformats.org/drawingml/2006/main">
              <a:ext uri="{FF2B5EF4-FFF2-40B4-BE49-F238E27FC236}">
                <a16:creationId xmlns:a16="http://schemas.microsoft.com/office/drawing/2014/main" id="{F99B3511-B807-42C4-A2BB-F66F87194AB5}"/>
              </a:ext>
            </a:extLst>
          </p:cNvPr>
          <p:cNvSpPr>
            <a:spLocks xmlns:a="http://schemas.openxmlformats.org/drawingml/2006/main" noGrp="1"/>
          </p:cNvSpPr>
          <p:nvPr/>
        </p:nvSpPr>
        <p:spPr>
          <a:xfrm xmlns:a="http://schemas.openxmlformats.org/drawingml/2006/main">
            <a:off x="1857375" y="1847850"/>
            <a:ext cx="9525" cy="30289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49B13E1-248C-4267-A64D-812BB263F462}"/>
              </a:ext>
            </a:extLst>
          </p:cNvPr>
          <p:cNvSpPr>
            <a:spLocks xmlns:a="http://schemas.openxmlformats.org/drawingml/2006/main" noGrp="1"/>
          </p:cNvSpPr>
          <p:nvPr/>
        </p:nvSpPr>
        <p:spPr>
          <a:xfrm xmlns:a="http://schemas.openxmlformats.org/drawingml/2006/main">
            <a:off x="1619250" y="49244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64748B"/>
                </a:solidFill>
              </a:defRPr>
            </a:pPr>
            <a:r>
              <a:rPr sz="825" b="0">
                <a:solidFill>
                  <a:srgbClr val="64748B"/>
                </a:solidFill>
              </a:rPr>
              <a:t>0.00</a:t>
            </a:r>
          </a:p>
        </p:txBody>
      </p:sp>
      <p:sp>
        <p:nvSpPr>
          <p:cNvPr id="9" name="">
            <a:extLst xmlns:a="http://schemas.openxmlformats.org/drawingml/2006/main">
              <a:ext uri="{FF2B5EF4-FFF2-40B4-BE49-F238E27FC236}">
                <a16:creationId xmlns:a16="http://schemas.microsoft.com/office/drawing/2014/main" id="{29B2677D-F675-4735-A4BE-69A4F8CD2C31}"/>
              </a:ext>
            </a:extLst>
          </p:cNvPr>
          <p:cNvSpPr>
            <a:spLocks xmlns:a="http://schemas.openxmlformats.org/drawingml/2006/main" noGrp="1"/>
          </p:cNvSpPr>
          <p:nvPr/>
        </p:nvSpPr>
        <p:spPr>
          <a:xfrm xmlns:a="http://schemas.openxmlformats.org/drawingml/2006/main">
            <a:off x="3309938" y="1847850"/>
            <a:ext cx="9525" cy="30289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2941EF4-F5B1-419D-B330-079146F73F68}"/>
              </a:ext>
            </a:extLst>
          </p:cNvPr>
          <p:cNvSpPr>
            <a:spLocks xmlns:a="http://schemas.openxmlformats.org/drawingml/2006/main" noGrp="1"/>
          </p:cNvSpPr>
          <p:nvPr/>
        </p:nvSpPr>
        <p:spPr>
          <a:xfrm xmlns:a="http://schemas.openxmlformats.org/drawingml/2006/main">
            <a:off x="3071813" y="49244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64748B"/>
                </a:solidFill>
              </a:defRPr>
            </a:pPr>
            <a:r>
              <a:rPr sz="825" b="0">
                <a:solidFill>
                  <a:srgbClr val="64748B"/>
                </a:solidFill>
              </a:rPr>
              <a:t>0.25</a:t>
            </a:r>
          </a:p>
        </p:txBody>
      </p:sp>
      <p:sp>
        <p:nvSpPr>
          <p:cNvPr id="11" name="">
            <a:extLst xmlns:a="http://schemas.openxmlformats.org/drawingml/2006/main">
              <a:ext uri="{FF2B5EF4-FFF2-40B4-BE49-F238E27FC236}">
                <a16:creationId xmlns:a16="http://schemas.microsoft.com/office/drawing/2014/main" id="{EA241347-01C1-4A2D-851A-CDF9B7F4722A}"/>
              </a:ext>
            </a:extLst>
          </p:cNvPr>
          <p:cNvSpPr>
            <a:spLocks xmlns:a="http://schemas.openxmlformats.org/drawingml/2006/main" noGrp="1"/>
          </p:cNvSpPr>
          <p:nvPr/>
        </p:nvSpPr>
        <p:spPr>
          <a:xfrm xmlns:a="http://schemas.openxmlformats.org/drawingml/2006/main">
            <a:off x="4762500" y="1847850"/>
            <a:ext cx="9525" cy="30289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EE3EAD8-F2C9-4F14-9728-BBDB36799F98}"/>
              </a:ext>
            </a:extLst>
          </p:cNvPr>
          <p:cNvSpPr>
            <a:spLocks xmlns:a="http://schemas.openxmlformats.org/drawingml/2006/main" noGrp="1"/>
          </p:cNvSpPr>
          <p:nvPr/>
        </p:nvSpPr>
        <p:spPr>
          <a:xfrm xmlns:a="http://schemas.openxmlformats.org/drawingml/2006/main">
            <a:off x="4524375" y="49244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64748B"/>
                </a:solidFill>
              </a:defRPr>
            </a:pPr>
            <a:r>
              <a:rPr sz="825" b="0">
                <a:solidFill>
                  <a:srgbClr val="64748B"/>
                </a:solidFill>
              </a:rPr>
              <a:t>0.50</a:t>
            </a:r>
          </a:p>
        </p:txBody>
      </p:sp>
      <p:sp>
        <p:nvSpPr>
          <p:cNvPr id="13" name="">
            <a:extLst xmlns:a="http://schemas.openxmlformats.org/drawingml/2006/main">
              <a:ext uri="{FF2B5EF4-FFF2-40B4-BE49-F238E27FC236}">
                <a16:creationId xmlns:a16="http://schemas.microsoft.com/office/drawing/2014/main" id="{2C40EC28-BC6E-43A3-B10B-574E29BAE429}"/>
              </a:ext>
            </a:extLst>
          </p:cNvPr>
          <p:cNvSpPr>
            <a:spLocks xmlns:a="http://schemas.openxmlformats.org/drawingml/2006/main" noGrp="1"/>
          </p:cNvSpPr>
          <p:nvPr/>
        </p:nvSpPr>
        <p:spPr>
          <a:xfrm xmlns:a="http://schemas.openxmlformats.org/drawingml/2006/main">
            <a:off x="6215063" y="1847850"/>
            <a:ext cx="9525" cy="30289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10F5610-2B81-40DB-A7FA-DABF62AB33B6}"/>
              </a:ext>
            </a:extLst>
          </p:cNvPr>
          <p:cNvSpPr>
            <a:spLocks xmlns:a="http://schemas.openxmlformats.org/drawingml/2006/main" noGrp="1"/>
          </p:cNvSpPr>
          <p:nvPr/>
        </p:nvSpPr>
        <p:spPr>
          <a:xfrm xmlns:a="http://schemas.openxmlformats.org/drawingml/2006/main">
            <a:off x="5976938" y="49244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64748B"/>
                </a:solidFill>
              </a:defRPr>
            </a:pPr>
            <a:r>
              <a:rPr sz="825" b="0">
                <a:solidFill>
                  <a:srgbClr val="64748B"/>
                </a:solidFill>
              </a:rPr>
              <a:t>0.75</a:t>
            </a:r>
          </a:p>
        </p:txBody>
      </p:sp>
      <p:sp>
        <p:nvSpPr>
          <p:cNvPr id="15" name="">
            <a:extLst xmlns:a="http://schemas.openxmlformats.org/drawingml/2006/main">
              <a:ext uri="{FF2B5EF4-FFF2-40B4-BE49-F238E27FC236}">
                <a16:creationId xmlns:a16="http://schemas.microsoft.com/office/drawing/2014/main" id="{A29B13FB-9C59-4C29-B681-04A5AE15E0C1}"/>
              </a:ext>
            </a:extLst>
          </p:cNvPr>
          <p:cNvSpPr>
            <a:spLocks xmlns:a="http://schemas.openxmlformats.org/drawingml/2006/main" noGrp="1"/>
          </p:cNvSpPr>
          <p:nvPr/>
        </p:nvSpPr>
        <p:spPr>
          <a:xfrm xmlns:a="http://schemas.openxmlformats.org/drawingml/2006/main">
            <a:off x="7667625" y="1847850"/>
            <a:ext cx="9525" cy="30289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DBF4173-DB8B-4037-9BEF-F5926FA51BAB}"/>
              </a:ext>
            </a:extLst>
          </p:cNvPr>
          <p:cNvSpPr>
            <a:spLocks xmlns:a="http://schemas.openxmlformats.org/drawingml/2006/main" noGrp="1"/>
          </p:cNvSpPr>
          <p:nvPr/>
        </p:nvSpPr>
        <p:spPr>
          <a:xfrm xmlns:a="http://schemas.openxmlformats.org/drawingml/2006/main">
            <a:off x="7429500" y="49244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64748B"/>
                </a:solidFill>
              </a:defRPr>
            </a:pPr>
            <a:r>
              <a:rPr sz="825" b="0">
                <a:solidFill>
                  <a:srgbClr val="64748B"/>
                </a:solidFill>
              </a:rPr>
              <a:t>1.00</a:t>
            </a:r>
          </a:p>
        </p:txBody>
      </p:sp>
      <p:sp>
        <p:nvSpPr>
          <p:cNvPr id="17" name="">
            <a:extLst xmlns:a="http://schemas.openxmlformats.org/drawingml/2006/main">
              <a:ext uri="{FF2B5EF4-FFF2-40B4-BE49-F238E27FC236}">
                <a16:creationId xmlns:a16="http://schemas.microsoft.com/office/drawing/2014/main" id="{778B9F00-35B2-48ED-B5E7-1EFEA065D097}"/>
              </a:ext>
            </a:extLst>
          </p:cNvPr>
          <p:cNvSpPr>
            <a:spLocks xmlns:a="http://schemas.openxmlformats.org/drawingml/2006/main" noGrp="1"/>
          </p:cNvSpPr>
          <p:nvPr/>
        </p:nvSpPr>
        <p:spPr>
          <a:xfrm xmlns:a="http://schemas.openxmlformats.org/drawingml/2006/main">
            <a:off x="666750" y="1847850"/>
            <a:ext cx="109537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111827"/>
                </a:solidFill>
              </a:defRPr>
            </a:pPr>
            <a:r>
              <a:rPr sz="975" b="0">
                <a:solidFill>
                  <a:srgbClr val="111827"/>
                </a:solidFill>
              </a:rPr>
              <a:t>Mean recall</a:t>
            </a:r>
          </a:p>
        </p:txBody>
      </p:sp>
      <p:sp>
        <p:nvSpPr>
          <p:cNvPr id="18" name="">
            <a:extLst xmlns:a="http://schemas.openxmlformats.org/drawingml/2006/main">
              <a:ext uri="{FF2B5EF4-FFF2-40B4-BE49-F238E27FC236}">
                <a16:creationId xmlns:a16="http://schemas.microsoft.com/office/drawing/2014/main" id="{32DB2772-5BCE-43E9-B0B4-57EB1AB72502}"/>
              </a:ext>
            </a:extLst>
          </p:cNvPr>
          <p:cNvSpPr>
            <a:spLocks xmlns:a="http://schemas.openxmlformats.org/drawingml/2006/main" noGrp="1"/>
          </p:cNvSpPr>
          <p:nvPr/>
        </p:nvSpPr>
        <p:spPr>
          <a:xfrm xmlns:a="http://schemas.openxmlformats.org/drawingml/2006/main">
            <a:off x="1857375" y="1885950"/>
            <a:ext cx="1355531" cy="13335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C7CD017-D904-460C-B2DE-0F981ED985E8}"/>
              </a:ext>
            </a:extLst>
          </p:cNvPr>
          <p:cNvSpPr>
            <a:spLocks xmlns:a="http://schemas.openxmlformats.org/drawingml/2006/main" noGrp="1"/>
          </p:cNvSpPr>
          <p:nvPr/>
        </p:nvSpPr>
        <p:spPr>
          <a:xfrm xmlns:a="http://schemas.openxmlformats.org/drawingml/2006/main">
            <a:off x="3260531" y="18669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007C83"/>
                </a:solidFill>
              </a:defRPr>
            </a:pPr>
            <a:r>
              <a:rPr sz="825" b="1">
                <a:solidFill>
                  <a:srgbClr val="007C83"/>
                </a:solidFill>
              </a:rPr>
              <a:t>0.23</a:t>
            </a:r>
          </a:p>
        </p:txBody>
      </p:sp>
      <p:sp>
        <p:nvSpPr>
          <p:cNvPr id="20" name="">
            <a:extLst xmlns:a="http://schemas.openxmlformats.org/drawingml/2006/main">
              <a:ext uri="{FF2B5EF4-FFF2-40B4-BE49-F238E27FC236}">
                <a16:creationId xmlns:a16="http://schemas.microsoft.com/office/drawing/2014/main" id="{73B1126F-1C7D-488E-8D0D-026BAF490D45}"/>
              </a:ext>
            </a:extLst>
          </p:cNvPr>
          <p:cNvSpPr>
            <a:spLocks xmlns:a="http://schemas.openxmlformats.org/drawingml/2006/main" noGrp="1"/>
          </p:cNvSpPr>
          <p:nvPr/>
        </p:nvSpPr>
        <p:spPr>
          <a:xfrm xmlns:a="http://schemas.openxmlformats.org/drawingml/2006/main">
            <a:off x="1857375" y="2047875"/>
            <a:ext cx="429377" cy="13335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2E46450-C77D-4F51-89EB-0F5894D6916B}"/>
              </a:ext>
            </a:extLst>
          </p:cNvPr>
          <p:cNvSpPr>
            <a:spLocks xmlns:a="http://schemas.openxmlformats.org/drawingml/2006/main" noGrp="1"/>
          </p:cNvSpPr>
          <p:nvPr/>
        </p:nvSpPr>
        <p:spPr>
          <a:xfrm xmlns:a="http://schemas.openxmlformats.org/drawingml/2006/main">
            <a:off x="2334377" y="202882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B42318"/>
                </a:solidFill>
              </a:defRPr>
            </a:pPr>
            <a:r>
              <a:rPr sz="825" b="1">
                <a:solidFill>
                  <a:srgbClr val="B42318"/>
                </a:solidFill>
              </a:rPr>
              <a:t>0.07</a:t>
            </a:r>
          </a:p>
        </p:txBody>
      </p:sp>
      <p:sp>
        <p:nvSpPr>
          <p:cNvPr id="22" name="">
            <a:extLst xmlns:a="http://schemas.openxmlformats.org/drawingml/2006/main">
              <a:ext uri="{FF2B5EF4-FFF2-40B4-BE49-F238E27FC236}">
                <a16:creationId xmlns:a16="http://schemas.microsoft.com/office/drawing/2014/main" id="{DE772E5C-8DB8-4E6B-8791-4868449C520D}"/>
              </a:ext>
            </a:extLst>
          </p:cNvPr>
          <p:cNvSpPr>
            <a:spLocks xmlns:a="http://schemas.openxmlformats.org/drawingml/2006/main" noGrp="1"/>
          </p:cNvSpPr>
          <p:nvPr/>
        </p:nvSpPr>
        <p:spPr>
          <a:xfrm xmlns:a="http://schemas.openxmlformats.org/drawingml/2006/main">
            <a:off x="666750" y="2857500"/>
            <a:ext cx="109537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111827"/>
                </a:solidFill>
              </a:defRPr>
            </a:pPr>
            <a:r>
              <a:rPr sz="975" b="0">
                <a:solidFill>
                  <a:srgbClr val="111827"/>
                </a:solidFill>
              </a:rPr>
              <a:t>Mean F1</a:t>
            </a:r>
          </a:p>
        </p:txBody>
      </p:sp>
      <p:sp>
        <p:nvSpPr>
          <p:cNvPr id="23" name="">
            <a:extLst xmlns:a="http://schemas.openxmlformats.org/drawingml/2006/main">
              <a:ext uri="{FF2B5EF4-FFF2-40B4-BE49-F238E27FC236}">
                <a16:creationId xmlns:a16="http://schemas.microsoft.com/office/drawing/2014/main" id="{7BA3A37B-2ACB-485D-91FA-C200D828D820}"/>
              </a:ext>
            </a:extLst>
          </p:cNvPr>
          <p:cNvSpPr>
            <a:spLocks xmlns:a="http://schemas.openxmlformats.org/drawingml/2006/main" noGrp="1"/>
          </p:cNvSpPr>
          <p:nvPr/>
        </p:nvSpPr>
        <p:spPr>
          <a:xfrm xmlns:a="http://schemas.openxmlformats.org/drawingml/2006/main">
            <a:off x="1857375" y="2895600"/>
            <a:ext cx="1058628" cy="13335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DB50C95-8F4D-40CC-895B-22629A7591E4}"/>
              </a:ext>
            </a:extLst>
          </p:cNvPr>
          <p:cNvSpPr>
            <a:spLocks xmlns:a="http://schemas.openxmlformats.org/drawingml/2006/main" noGrp="1"/>
          </p:cNvSpPr>
          <p:nvPr/>
        </p:nvSpPr>
        <p:spPr>
          <a:xfrm xmlns:a="http://schemas.openxmlformats.org/drawingml/2006/main">
            <a:off x="2963628" y="28765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007C83"/>
                </a:solidFill>
              </a:defRPr>
            </a:pPr>
            <a:r>
              <a:rPr sz="825" b="1">
                <a:solidFill>
                  <a:srgbClr val="007C83"/>
                </a:solidFill>
              </a:rPr>
              <a:t>0.18</a:t>
            </a:r>
          </a:p>
        </p:txBody>
      </p:sp>
      <p:sp>
        <p:nvSpPr>
          <p:cNvPr id="25" name="">
            <a:extLst xmlns:a="http://schemas.openxmlformats.org/drawingml/2006/main">
              <a:ext uri="{FF2B5EF4-FFF2-40B4-BE49-F238E27FC236}">
                <a16:creationId xmlns:a16="http://schemas.microsoft.com/office/drawing/2014/main" id="{05A04C1B-BBEF-4CF9-9534-E91ECC87C0B3}"/>
              </a:ext>
            </a:extLst>
          </p:cNvPr>
          <p:cNvSpPr>
            <a:spLocks xmlns:a="http://schemas.openxmlformats.org/drawingml/2006/main" noGrp="1"/>
          </p:cNvSpPr>
          <p:nvPr/>
        </p:nvSpPr>
        <p:spPr>
          <a:xfrm xmlns:a="http://schemas.openxmlformats.org/drawingml/2006/main">
            <a:off x="1857375" y="3057525"/>
            <a:ext cx="210331" cy="13335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46F27BD-5361-41CF-8BA0-0EB330E6EE58}"/>
              </a:ext>
            </a:extLst>
          </p:cNvPr>
          <p:cNvSpPr>
            <a:spLocks xmlns:a="http://schemas.openxmlformats.org/drawingml/2006/main" noGrp="1"/>
          </p:cNvSpPr>
          <p:nvPr/>
        </p:nvSpPr>
        <p:spPr>
          <a:xfrm xmlns:a="http://schemas.openxmlformats.org/drawingml/2006/main">
            <a:off x="2115331" y="303847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B42318"/>
                </a:solidFill>
              </a:defRPr>
            </a:pPr>
            <a:r>
              <a:rPr sz="825" b="1">
                <a:solidFill>
                  <a:srgbClr val="B42318"/>
                </a:solidFill>
              </a:rPr>
              <a:t>0.04</a:t>
            </a:r>
          </a:p>
        </p:txBody>
      </p:sp>
      <p:sp>
        <p:nvSpPr>
          <p:cNvPr id="27" name="">
            <a:extLst xmlns:a="http://schemas.openxmlformats.org/drawingml/2006/main">
              <a:ext uri="{FF2B5EF4-FFF2-40B4-BE49-F238E27FC236}">
                <a16:creationId xmlns:a16="http://schemas.microsoft.com/office/drawing/2014/main" id="{B2863852-CD3D-4149-B949-3219C0979F20}"/>
              </a:ext>
            </a:extLst>
          </p:cNvPr>
          <p:cNvSpPr>
            <a:spLocks xmlns:a="http://schemas.openxmlformats.org/drawingml/2006/main" noGrp="1"/>
          </p:cNvSpPr>
          <p:nvPr/>
        </p:nvSpPr>
        <p:spPr>
          <a:xfrm xmlns:a="http://schemas.openxmlformats.org/drawingml/2006/main">
            <a:off x="666750" y="3867150"/>
            <a:ext cx="109537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111827"/>
                </a:solidFill>
              </a:defRPr>
            </a:pPr>
            <a:r>
              <a:rPr sz="975" b="0">
                <a:solidFill>
                  <a:srgbClr val="111827"/>
                </a:solidFill>
              </a:rPr>
              <a:t>Strong F1 pairs / 72</a:t>
            </a:r>
          </a:p>
        </p:txBody>
      </p:sp>
      <p:sp>
        <p:nvSpPr>
          <p:cNvPr id="28" name="">
            <a:extLst xmlns:a="http://schemas.openxmlformats.org/drawingml/2006/main">
              <a:ext uri="{FF2B5EF4-FFF2-40B4-BE49-F238E27FC236}">
                <a16:creationId xmlns:a16="http://schemas.microsoft.com/office/drawing/2014/main" id="{A2B7B236-B8D3-445A-91F7-EB5466D21F0B}"/>
              </a:ext>
            </a:extLst>
          </p:cNvPr>
          <p:cNvSpPr>
            <a:spLocks xmlns:a="http://schemas.openxmlformats.org/drawingml/2006/main" noGrp="1"/>
          </p:cNvSpPr>
          <p:nvPr/>
        </p:nvSpPr>
        <p:spPr>
          <a:xfrm xmlns:a="http://schemas.openxmlformats.org/drawingml/2006/main">
            <a:off x="1857375" y="3905250"/>
            <a:ext cx="484187" cy="13335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3A63F0D-983C-4FA7-BB28-25481E8B917D}"/>
              </a:ext>
            </a:extLst>
          </p:cNvPr>
          <p:cNvSpPr>
            <a:spLocks xmlns:a="http://schemas.openxmlformats.org/drawingml/2006/main" noGrp="1"/>
          </p:cNvSpPr>
          <p:nvPr/>
        </p:nvSpPr>
        <p:spPr>
          <a:xfrm xmlns:a="http://schemas.openxmlformats.org/drawingml/2006/main">
            <a:off x="2389188" y="38862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007C83"/>
                </a:solidFill>
              </a:defRPr>
            </a:pPr>
            <a:r>
              <a:rPr sz="825" b="1">
                <a:solidFill>
                  <a:srgbClr val="007C83"/>
                </a:solidFill>
              </a:rPr>
              <a:t>0.08</a:t>
            </a:r>
          </a:p>
        </p:txBody>
      </p:sp>
      <p:sp>
        <p:nvSpPr>
          <p:cNvPr id="30" name="">
            <a:extLst xmlns:a="http://schemas.openxmlformats.org/drawingml/2006/main">
              <a:ext uri="{FF2B5EF4-FFF2-40B4-BE49-F238E27FC236}">
                <a16:creationId xmlns:a16="http://schemas.microsoft.com/office/drawing/2014/main" id="{24AA9110-754F-4D0B-AB50-26CF27143462}"/>
              </a:ext>
            </a:extLst>
          </p:cNvPr>
          <p:cNvSpPr>
            <a:spLocks xmlns:a="http://schemas.openxmlformats.org/drawingml/2006/main" noGrp="1"/>
          </p:cNvSpPr>
          <p:nvPr/>
        </p:nvSpPr>
        <p:spPr>
          <a:xfrm xmlns:a="http://schemas.openxmlformats.org/drawingml/2006/main">
            <a:off x="1857375" y="4067175"/>
            <a:ext cx="0" cy="13335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0584444-1375-436A-BCB2-FFD5EEE1CD57}"/>
              </a:ext>
            </a:extLst>
          </p:cNvPr>
          <p:cNvSpPr>
            <a:spLocks xmlns:a="http://schemas.openxmlformats.org/drawingml/2006/main" noGrp="1"/>
          </p:cNvSpPr>
          <p:nvPr/>
        </p:nvSpPr>
        <p:spPr>
          <a:xfrm xmlns:a="http://schemas.openxmlformats.org/drawingml/2006/main">
            <a:off x="1905000" y="404812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B42318"/>
                </a:solidFill>
              </a:defRPr>
            </a:pPr>
            <a:r>
              <a:rPr sz="825" b="1">
                <a:solidFill>
                  <a:srgbClr val="B42318"/>
                </a:solidFill>
              </a:rPr>
              <a:t>0.00</a:t>
            </a:r>
          </a:p>
        </p:txBody>
      </p:sp>
      <p:sp>
        <p:nvSpPr>
          <p:cNvPr id="32" name="">
            <a:extLst xmlns:a="http://schemas.openxmlformats.org/drawingml/2006/main">
              <a:ext uri="{FF2B5EF4-FFF2-40B4-BE49-F238E27FC236}">
                <a16:creationId xmlns:a16="http://schemas.microsoft.com/office/drawing/2014/main" id="{AC9A2826-5F65-49F5-A6F3-2609B1E33466}"/>
              </a:ext>
            </a:extLst>
          </p:cNvPr>
          <p:cNvSpPr>
            <a:spLocks xmlns:a="http://schemas.openxmlformats.org/drawingml/2006/main" noGrp="1"/>
          </p:cNvSpPr>
          <p:nvPr/>
        </p:nvSpPr>
        <p:spPr>
          <a:xfrm xmlns:a="http://schemas.openxmlformats.org/drawingml/2006/main">
            <a:off x="1857375" y="1619250"/>
            <a:ext cx="114300" cy="11430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A8B340F-063D-463D-937A-8CEA06F95F6C}"/>
              </a:ext>
            </a:extLst>
          </p:cNvPr>
          <p:cNvSpPr>
            <a:spLocks xmlns:a="http://schemas.openxmlformats.org/drawingml/2006/main" noGrp="1"/>
          </p:cNvSpPr>
          <p:nvPr/>
        </p:nvSpPr>
        <p:spPr>
          <a:xfrm xmlns:a="http://schemas.openxmlformats.org/drawingml/2006/main">
            <a:off x="2028825" y="158115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475569"/>
                </a:solidFill>
              </a:defRPr>
            </a:pPr>
            <a:r>
              <a:rPr sz="825" b="0">
                <a:solidFill>
                  <a:srgbClr val="475569"/>
                </a:solidFill>
              </a:rPr>
              <a:t>CART</a:t>
            </a:r>
          </a:p>
        </p:txBody>
      </p:sp>
      <p:sp>
        <p:nvSpPr>
          <p:cNvPr id="34" name="">
            <a:extLst xmlns:a="http://schemas.openxmlformats.org/drawingml/2006/main">
              <a:ext uri="{FF2B5EF4-FFF2-40B4-BE49-F238E27FC236}">
                <a16:creationId xmlns:a16="http://schemas.microsoft.com/office/drawing/2014/main" id="{B11C922F-78CE-4C61-A935-F953A4F1FA5A}"/>
              </a:ext>
            </a:extLst>
          </p:cNvPr>
          <p:cNvSpPr>
            <a:spLocks xmlns:a="http://schemas.openxmlformats.org/drawingml/2006/main" noGrp="1"/>
          </p:cNvSpPr>
          <p:nvPr/>
        </p:nvSpPr>
        <p:spPr>
          <a:xfrm xmlns:a="http://schemas.openxmlformats.org/drawingml/2006/main">
            <a:off x="3381375" y="1619250"/>
            <a:ext cx="114300" cy="1143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32011FAF-1E4D-45FA-B91C-854B156DD008}"/>
              </a:ext>
            </a:extLst>
          </p:cNvPr>
          <p:cNvSpPr>
            <a:spLocks xmlns:a="http://schemas.openxmlformats.org/drawingml/2006/main" noGrp="1"/>
          </p:cNvSpPr>
          <p:nvPr/>
        </p:nvSpPr>
        <p:spPr>
          <a:xfrm xmlns:a="http://schemas.openxmlformats.org/drawingml/2006/main">
            <a:off x="3552825" y="158115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475569"/>
                </a:solidFill>
              </a:defRPr>
            </a:pPr>
            <a:r>
              <a:rPr sz="825" b="0">
                <a:solidFill>
                  <a:srgbClr val="475569"/>
                </a:solidFill>
              </a:rPr>
              <a:t>Gaussian</a:t>
            </a:r>
          </a:p>
        </p:txBody>
      </p:sp>
      <p:sp>
        <p:nvSpPr>
          <p:cNvPr id="36" name="">
            <a:extLst xmlns:a="http://schemas.openxmlformats.org/drawingml/2006/main">
              <a:ext uri="{FF2B5EF4-FFF2-40B4-BE49-F238E27FC236}">
                <a16:creationId xmlns:a16="http://schemas.microsoft.com/office/drawing/2014/main" id="{5104CA7B-8D58-46BF-B090-4491115BC31A}"/>
              </a:ext>
            </a:extLst>
          </p:cNvPr>
          <p:cNvSpPr>
            <a:spLocks xmlns:a="http://schemas.openxmlformats.org/drawingml/2006/main" noGrp="1"/>
          </p:cNvSpPr>
          <p:nvPr/>
        </p:nvSpPr>
        <p:spPr>
          <a:xfrm xmlns:a="http://schemas.openxmlformats.org/drawingml/2006/main">
            <a:off x="8191500" y="1714500"/>
            <a:ext cx="3000375"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EA6650B-77A3-4A7F-9CF2-AB8F2876598B}"/>
              </a:ext>
            </a:extLst>
          </p:cNvPr>
          <p:cNvSpPr>
            <a:spLocks xmlns:a="http://schemas.openxmlformats.org/drawingml/2006/main" noGrp="1"/>
          </p:cNvSpPr>
          <p:nvPr/>
        </p:nvSpPr>
        <p:spPr>
          <a:xfrm xmlns:a="http://schemas.openxmlformats.org/drawingml/2006/main">
            <a:off x="8267700" y="1714500"/>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Metric</a:t>
            </a:r>
          </a:p>
        </p:txBody>
      </p:sp>
      <p:sp>
        <p:nvSpPr>
          <p:cNvPr id="38" name="">
            <a:extLst xmlns:a="http://schemas.openxmlformats.org/drawingml/2006/main">
              <a:ext uri="{FF2B5EF4-FFF2-40B4-BE49-F238E27FC236}">
                <a16:creationId xmlns:a16="http://schemas.microsoft.com/office/drawing/2014/main" id="{6D5FBBD8-7553-4DAB-86E6-03C68334998A}"/>
              </a:ext>
            </a:extLst>
          </p:cNvPr>
          <p:cNvSpPr>
            <a:spLocks xmlns:a="http://schemas.openxmlformats.org/drawingml/2006/main" noGrp="1"/>
          </p:cNvSpPr>
          <p:nvPr/>
        </p:nvSpPr>
        <p:spPr>
          <a:xfrm xmlns:a="http://schemas.openxmlformats.org/drawingml/2006/main">
            <a:off x="9791700" y="1714500"/>
            <a:ext cx="1323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Result</a:t>
            </a:r>
          </a:p>
        </p:txBody>
      </p:sp>
      <p:sp>
        <p:nvSpPr>
          <p:cNvPr id="39" name="">
            <a:extLst xmlns:a="http://schemas.openxmlformats.org/drawingml/2006/main">
              <a:ext uri="{FF2B5EF4-FFF2-40B4-BE49-F238E27FC236}">
                <a16:creationId xmlns:a16="http://schemas.microsoft.com/office/drawing/2014/main" id="{8B6061A3-08CA-4ED3-8394-D746C5B0ABDC}"/>
              </a:ext>
            </a:extLst>
          </p:cNvPr>
          <p:cNvSpPr>
            <a:spLocks xmlns:a="http://schemas.openxmlformats.org/drawingml/2006/main" noGrp="1"/>
          </p:cNvSpPr>
          <p:nvPr/>
        </p:nvSpPr>
        <p:spPr>
          <a:xfrm xmlns:a="http://schemas.openxmlformats.org/drawingml/2006/main">
            <a:off x="8191500" y="2038350"/>
            <a:ext cx="3000375" cy="5524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15DE085B-ECAF-476E-AD16-85FD482E828A}"/>
              </a:ext>
            </a:extLst>
          </p:cNvPr>
          <p:cNvSpPr>
            <a:spLocks xmlns:a="http://schemas.openxmlformats.org/drawingml/2006/main" noGrp="1"/>
          </p:cNvSpPr>
          <p:nvPr/>
        </p:nvSpPr>
        <p:spPr>
          <a:xfrm xmlns:a="http://schemas.openxmlformats.org/drawingml/2006/main">
            <a:off x="8267700" y="2038350"/>
            <a:ext cx="1371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CART zero recall</a:t>
            </a:r>
          </a:p>
        </p:txBody>
      </p:sp>
      <p:sp>
        <p:nvSpPr>
          <p:cNvPr id="41" name="">
            <a:extLst xmlns:a="http://schemas.openxmlformats.org/drawingml/2006/main">
              <a:ext uri="{FF2B5EF4-FFF2-40B4-BE49-F238E27FC236}">
                <a16:creationId xmlns:a16="http://schemas.microsoft.com/office/drawing/2014/main" id="{43C4498D-1A6F-42B0-849B-09AD1C0024BE}"/>
              </a:ext>
            </a:extLst>
          </p:cNvPr>
          <p:cNvSpPr>
            <a:spLocks xmlns:a="http://schemas.openxmlformats.org/drawingml/2006/main" noGrp="1"/>
          </p:cNvSpPr>
          <p:nvPr/>
        </p:nvSpPr>
        <p:spPr>
          <a:xfrm xmlns:a="http://schemas.openxmlformats.org/drawingml/2006/main">
            <a:off x="9791700" y="2038350"/>
            <a:ext cx="13239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48 / 72</a:t>
            </a:r>
          </a:p>
        </p:txBody>
      </p:sp>
      <p:sp>
        <p:nvSpPr>
          <p:cNvPr id="42" name="">
            <a:extLst xmlns:a="http://schemas.openxmlformats.org/drawingml/2006/main">
              <a:ext uri="{FF2B5EF4-FFF2-40B4-BE49-F238E27FC236}">
                <a16:creationId xmlns:a16="http://schemas.microsoft.com/office/drawing/2014/main" id="{731BE70A-8867-4CF6-9148-1BD08A3275C0}"/>
              </a:ext>
            </a:extLst>
          </p:cNvPr>
          <p:cNvSpPr>
            <a:spLocks xmlns:a="http://schemas.openxmlformats.org/drawingml/2006/main" noGrp="1"/>
          </p:cNvSpPr>
          <p:nvPr/>
        </p:nvSpPr>
        <p:spPr>
          <a:xfrm xmlns:a="http://schemas.openxmlformats.org/drawingml/2006/main">
            <a:off x="8191500" y="2590800"/>
            <a:ext cx="3000375" cy="552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D4FD5EF1-5E5D-452A-88AA-349073A1390E}"/>
              </a:ext>
            </a:extLst>
          </p:cNvPr>
          <p:cNvSpPr>
            <a:spLocks xmlns:a="http://schemas.openxmlformats.org/drawingml/2006/main" noGrp="1"/>
          </p:cNvSpPr>
          <p:nvPr/>
        </p:nvSpPr>
        <p:spPr>
          <a:xfrm xmlns:a="http://schemas.openxmlformats.org/drawingml/2006/main">
            <a:off x="8267700" y="2590800"/>
            <a:ext cx="1371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Gaussian zero recall</a:t>
            </a:r>
          </a:p>
        </p:txBody>
      </p:sp>
      <p:sp>
        <p:nvSpPr>
          <p:cNvPr id="44" name="">
            <a:extLst xmlns:a="http://schemas.openxmlformats.org/drawingml/2006/main">
              <a:ext uri="{FF2B5EF4-FFF2-40B4-BE49-F238E27FC236}">
                <a16:creationId xmlns:a16="http://schemas.microsoft.com/office/drawing/2014/main" id="{BED2B294-41EF-44A2-9AAA-D81F4B610073}"/>
              </a:ext>
            </a:extLst>
          </p:cNvPr>
          <p:cNvSpPr>
            <a:spLocks xmlns:a="http://schemas.openxmlformats.org/drawingml/2006/main" noGrp="1"/>
          </p:cNvSpPr>
          <p:nvPr/>
        </p:nvSpPr>
        <p:spPr>
          <a:xfrm xmlns:a="http://schemas.openxmlformats.org/drawingml/2006/main">
            <a:off x="9791700" y="2590800"/>
            <a:ext cx="13239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66 / 72</a:t>
            </a:r>
          </a:p>
        </p:txBody>
      </p:sp>
      <p:sp>
        <p:nvSpPr>
          <p:cNvPr id="45" name="">
            <a:extLst xmlns:a="http://schemas.openxmlformats.org/drawingml/2006/main">
              <a:ext uri="{FF2B5EF4-FFF2-40B4-BE49-F238E27FC236}">
                <a16:creationId xmlns:a16="http://schemas.microsoft.com/office/drawing/2014/main" id="{6F62E2F9-090F-4E5C-A563-4FA623605358}"/>
              </a:ext>
            </a:extLst>
          </p:cNvPr>
          <p:cNvSpPr>
            <a:spLocks xmlns:a="http://schemas.openxmlformats.org/drawingml/2006/main" noGrp="1"/>
          </p:cNvSpPr>
          <p:nvPr/>
        </p:nvSpPr>
        <p:spPr>
          <a:xfrm xmlns:a="http://schemas.openxmlformats.org/drawingml/2006/main">
            <a:off x="8191500" y="3143250"/>
            <a:ext cx="3000375" cy="5524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C0085054-ED70-48F5-9071-69C860EE062E}"/>
              </a:ext>
            </a:extLst>
          </p:cNvPr>
          <p:cNvSpPr>
            <a:spLocks xmlns:a="http://schemas.openxmlformats.org/drawingml/2006/main" noGrp="1"/>
          </p:cNvSpPr>
          <p:nvPr/>
        </p:nvSpPr>
        <p:spPr>
          <a:xfrm xmlns:a="http://schemas.openxmlformats.org/drawingml/2006/main">
            <a:off x="8267700" y="3143250"/>
            <a:ext cx="1371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CART mean F1</a:t>
            </a:r>
          </a:p>
        </p:txBody>
      </p:sp>
      <p:sp>
        <p:nvSpPr>
          <p:cNvPr id="47" name="">
            <a:extLst xmlns:a="http://schemas.openxmlformats.org/drawingml/2006/main">
              <a:ext uri="{FF2B5EF4-FFF2-40B4-BE49-F238E27FC236}">
                <a16:creationId xmlns:a16="http://schemas.microsoft.com/office/drawing/2014/main" id="{C9A53608-D808-45AB-9E29-95496EACFFDF}"/>
              </a:ext>
            </a:extLst>
          </p:cNvPr>
          <p:cNvSpPr>
            <a:spLocks xmlns:a="http://schemas.openxmlformats.org/drawingml/2006/main" noGrp="1"/>
          </p:cNvSpPr>
          <p:nvPr/>
        </p:nvSpPr>
        <p:spPr>
          <a:xfrm xmlns:a="http://schemas.openxmlformats.org/drawingml/2006/main">
            <a:off x="9791700" y="3143250"/>
            <a:ext cx="13239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0.1822</a:t>
            </a:r>
          </a:p>
        </p:txBody>
      </p:sp>
      <p:sp>
        <p:nvSpPr>
          <p:cNvPr id="48" name="">
            <a:extLst xmlns:a="http://schemas.openxmlformats.org/drawingml/2006/main">
              <a:ext uri="{FF2B5EF4-FFF2-40B4-BE49-F238E27FC236}">
                <a16:creationId xmlns:a16="http://schemas.microsoft.com/office/drawing/2014/main" id="{6AB17C0B-93F0-4987-89BC-DF9F138FF7AD}"/>
              </a:ext>
            </a:extLst>
          </p:cNvPr>
          <p:cNvSpPr>
            <a:spLocks xmlns:a="http://schemas.openxmlformats.org/drawingml/2006/main" noGrp="1"/>
          </p:cNvSpPr>
          <p:nvPr/>
        </p:nvSpPr>
        <p:spPr>
          <a:xfrm xmlns:a="http://schemas.openxmlformats.org/drawingml/2006/main">
            <a:off x="8191500" y="3695700"/>
            <a:ext cx="3000375" cy="552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CC8B54BB-D7D6-4CC1-A14F-6FC3867EA6A2}"/>
              </a:ext>
            </a:extLst>
          </p:cNvPr>
          <p:cNvSpPr>
            <a:spLocks xmlns:a="http://schemas.openxmlformats.org/drawingml/2006/main" noGrp="1"/>
          </p:cNvSpPr>
          <p:nvPr/>
        </p:nvSpPr>
        <p:spPr>
          <a:xfrm xmlns:a="http://schemas.openxmlformats.org/drawingml/2006/main">
            <a:off x="8267700" y="3695700"/>
            <a:ext cx="1371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Gaussian mean F1</a:t>
            </a:r>
          </a:p>
        </p:txBody>
      </p:sp>
      <p:sp>
        <p:nvSpPr>
          <p:cNvPr id="50" name="">
            <a:extLst xmlns:a="http://schemas.openxmlformats.org/drawingml/2006/main">
              <a:ext uri="{FF2B5EF4-FFF2-40B4-BE49-F238E27FC236}">
                <a16:creationId xmlns:a16="http://schemas.microsoft.com/office/drawing/2014/main" id="{73518DAC-6C29-4E47-89E7-8782638C0F58}"/>
              </a:ext>
            </a:extLst>
          </p:cNvPr>
          <p:cNvSpPr>
            <a:spLocks xmlns:a="http://schemas.openxmlformats.org/drawingml/2006/main" noGrp="1"/>
          </p:cNvSpPr>
          <p:nvPr/>
        </p:nvSpPr>
        <p:spPr>
          <a:xfrm xmlns:a="http://schemas.openxmlformats.org/drawingml/2006/main">
            <a:off x="9791700" y="3695700"/>
            <a:ext cx="13239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0.0362</a:t>
            </a:r>
          </a:p>
        </p:txBody>
      </p:sp>
      <p:sp>
        <p:nvSpPr>
          <p:cNvPr id="51" name="">
            <a:extLst xmlns:a="http://schemas.openxmlformats.org/drawingml/2006/main">
              <a:ext uri="{FF2B5EF4-FFF2-40B4-BE49-F238E27FC236}">
                <a16:creationId xmlns:a16="http://schemas.microsoft.com/office/drawing/2014/main" id="{898F7C82-778C-4E0E-BA17-F82473268840}"/>
              </a:ext>
            </a:extLst>
          </p:cNvPr>
          <p:cNvSpPr>
            <a:spLocks xmlns:a="http://schemas.openxmlformats.org/drawingml/2006/main" noGrp="1"/>
          </p:cNvSpPr>
          <p:nvPr/>
        </p:nvSpPr>
        <p:spPr>
          <a:xfrm xmlns:a="http://schemas.openxmlformats.org/drawingml/2006/main">
            <a:off x="8191500" y="4248150"/>
            <a:ext cx="3000375" cy="5524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7E1EA1B8-718E-451C-B41B-E8E966776CD9}"/>
              </a:ext>
            </a:extLst>
          </p:cNvPr>
          <p:cNvSpPr>
            <a:spLocks xmlns:a="http://schemas.openxmlformats.org/drawingml/2006/main" noGrp="1"/>
          </p:cNvSpPr>
          <p:nvPr/>
        </p:nvSpPr>
        <p:spPr>
          <a:xfrm xmlns:a="http://schemas.openxmlformats.org/drawingml/2006/main">
            <a:off x="8267700" y="4248150"/>
            <a:ext cx="1371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Interpretation</a:t>
            </a:r>
          </a:p>
        </p:txBody>
      </p:sp>
      <p:sp>
        <p:nvSpPr>
          <p:cNvPr id="53" name="">
            <a:extLst xmlns:a="http://schemas.openxmlformats.org/drawingml/2006/main">
              <a:ext uri="{FF2B5EF4-FFF2-40B4-BE49-F238E27FC236}">
                <a16:creationId xmlns:a16="http://schemas.microsoft.com/office/drawing/2014/main" id="{29F94668-3ABB-4C27-8C2A-053DC1B7B7BB}"/>
              </a:ext>
            </a:extLst>
          </p:cNvPr>
          <p:cNvSpPr>
            <a:spLocks xmlns:a="http://schemas.openxmlformats.org/drawingml/2006/main" noGrp="1"/>
          </p:cNvSpPr>
          <p:nvPr/>
        </p:nvSpPr>
        <p:spPr>
          <a:xfrm xmlns:a="http://schemas.openxmlformats.org/drawingml/2006/main">
            <a:off x="9791700" y="4248150"/>
            <a:ext cx="13239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failure persists</a:t>
            </a:r>
          </a:p>
        </p:txBody>
      </p:sp>
      <p:sp>
        <p:nvSpPr>
          <p:cNvPr id="54" name="">
            <a:extLst xmlns:a="http://schemas.openxmlformats.org/drawingml/2006/main">
              <a:ext uri="{FF2B5EF4-FFF2-40B4-BE49-F238E27FC236}">
                <a16:creationId xmlns:a16="http://schemas.microsoft.com/office/drawing/2014/main" id="{00E07D20-AD5C-45D6-B0BE-1820CB3E686F}"/>
              </a:ext>
            </a:extLst>
          </p:cNvPr>
          <p:cNvSpPr>
            <a:spLocks xmlns:a="http://schemas.openxmlformats.org/drawingml/2006/main" noGrp="1"/>
          </p:cNvSpPr>
          <p:nvPr/>
        </p:nvSpPr>
        <p:spPr>
          <a:xfrm xmlns:a="http://schemas.openxmlformats.org/drawingml/2006/main">
            <a:off x="8191500" y="1714500"/>
            <a:ext cx="3000375" cy="308610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55" name="">
            <a:extLst xmlns:a="http://schemas.openxmlformats.org/drawingml/2006/main">
              <a:ext uri="{FF2B5EF4-FFF2-40B4-BE49-F238E27FC236}">
                <a16:creationId xmlns:a16="http://schemas.microsoft.com/office/drawing/2014/main" id="{444A4805-1C98-4C8D-880F-7EF5D3B94DC6}"/>
              </a:ext>
            </a:extLst>
          </p:cNvPr>
          <p:cNvSpPr>
            <a:spLocks xmlns:a="http://schemas.openxmlformats.org/drawingml/2006/main" noGrp="1"/>
          </p:cNvSpPr>
          <p:nvPr/>
        </p:nvSpPr>
        <p:spPr>
          <a:xfrm xmlns:a="http://schemas.openxmlformats.org/drawingml/2006/main">
            <a:off x="666750" y="5562600"/>
            <a:ext cx="10191750" cy="5334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DFB6C575-01FD-49F1-8730-82C070AE0D34}"/>
              </a:ext>
            </a:extLst>
          </p:cNvPr>
          <p:cNvSpPr>
            <a:spLocks xmlns:a="http://schemas.openxmlformats.org/drawingml/2006/main" noGrp="1"/>
          </p:cNvSpPr>
          <p:nvPr/>
        </p:nvSpPr>
        <p:spPr>
          <a:xfrm xmlns:a="http://schemas.openxmlformats.org/drawingml/2006/main">
            <a:off x="666750" y="5562600"/>
            <a:ext cx="47625" cy="53340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6A8F3C84-24C1-488F-8AC5-BA9184D1C7C4}"/>
              </a:ext>
            </a:extLst>
          </p:cNvPr>
          <p:cNvSpPr>
            <a:spLocks xmlns:a="http://schemas.openxmlformats.org/drawingml/2006/main" noGrp="1"/>
          </p:cNvSpPr>
          <p:nvPr/>
        </p:nvSpPr>
        <p:spPr>
          <a:xfrm xmlns:a="http://schemas.openxmlformats.org/drawingml/2006/main">
            <a:off x="838200" y="5648325"/>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827"/>
                </a:solidFill>
              </a:defRPr>
            </a:pPr>
            <a:r>
              <a:rPr sz="1275" b="1">
                <a:solidFill>
                  <a:srgbClr val="111827"/>
                </a:solidFill>
              </a:rPr>
              <a:t>Accuracy alone is misleading on windowed data because pre-attack and control windows dominate the normal class.</a:t>
            </a:r>
          </a:p>
        </p:txBody>
      </p:sp>
    </p:spTree>
    <p:extLst>
      <p:ext uri="{BB962C8B-B14F-4D97-AF65-F5344CB8AC3E}">
        <p14:creationId xmlns:p14="http://schemas.microsoft.com/office/powerpoint/2010/main" val="64993745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7C31EFC6-3563-46C0-8440-3D11224E3845}"/>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Feature representation changed the sinkhole conclusion</a:t>
            </a:r>
          </a:p>
        </p:txBody>
      </p:sp>
      <p:sp>
        <p:nvSpPr>
          <p:cNvPr id="2" name="">
            <a:extLst xmlns:a="http://schemas.openxmlformats.org/drawingml/2006/main">
              <a:ext uri="{FF2B5EF4-FFF2-40B4-BE49-F238E27FC236}">
                <a16:creationId xmlns:a16="http://schemas.microsoft.com/office/drawing/2014/main" id="{6E864591-BC31-4D9C-854B-50336C137CB9}"/>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The early coarse result failed; routing-state evidence made supervised adaptation possible.</a:t>
            </a:r>
          </a:p>
        </p:txBody>
      </p:sp>
      <p:sp>
        <p:nvSpPr>
          <p:cNvPr id="3" name="">
            <a:extLst xmlns:a="http://schemas.openxmlformats.org/drawingml/2006/main">
              <a:ext uri="{FF2B5EF4-FFF2-40B4-BE49-F238E27FC236}">
                <a16:creationId xmlns:a16="http://schemas.microsoft.com/office/drawing/2014/main" id="{8C1A194A-2E7A-433F-82C9-70A94D366263}"/>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4BAF73D-F9B4-4F29-8598-C6365CE6AD20}"/>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DDA6500-0F8D-4E9E-9926-8FA072E50C79}"/>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Feature ablation</a:t>
            </a:r>
          </a:p>
        </p:txBody>
      </p:sp>
      <p:sp>
        <p:nvSpPr>
          <p:cNvPr id="6" name="">
            <a:extLst xmlns:a="http://schemas.openxmlformats.org/drawingml/2006/main">
              <a:ext uri="{FF2B5EF4-FFF2-40B4-BE49-F238E27FC236}">
                <a16:creationId xmlns:a16="http://schemas.microsoft.com/office/drawing/2014/main" id="{29833006-9666-4977-9556-3C7C921F6487}"/>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12  </a:t>
            </a:r>
          </a:p>
        </p:txBody>
      </p:sp>
      <p:sp>
        <p:nvSpPr>
          <p:cNvPr id="7" name="">
            <a:extLst xmlns:a="http://schemas.openxmlformats.org/drawingml/2006/main">
              <a:ext uri="{FF2B5EF4-FFF2-40B4-BE49-F238E27FC236}">
                <a16:creationId xmlns:a16="http://schemas.microsoft.com/office/drawing/2014/main" id="{6187FE3C-59AE-4DE1-A5D6-DB85D590E69F}"/>
              </a:ext>
            </a:extLst>
          </p:cNvPr>
          <p:cNvSpPr>
            <a:spLocks xmlns:a="http://schemas.openxmlformats.org/drawingml/2006/main" noGrp="1"/>
          </p:cNvSpPr>
          <p:nvPr/>
        </p:nvSpPr>
        <p:spPr>
          <a:xfrm xmlns:a="http://schemas.openxmlformats.org/drawingml/2006/main">
            <a:off x="666750" y="1504950"/>
            <a:ext cx="990600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CC04E47-19EE-4D22-9E76-4156F57694F0}"/>
              </a:ext>
            </a:extLst>
          </p:cNvPr>
          <p:cNvSpPr>
            <a:spLocks xmlns:a="http://schemas.openxmlformats.org/drawingml/2006/main" noGrp="1"/>
          </p:cNvSpPr>
          <p:nvPr/>
        </p:nvSpPr>
        <p:spPr>
          <a:xfrm xmlns:a="http://schemas.openxmlformats.org/drawingml/2006/main">
            <a:off x="742950" y="15049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Blackhole → sinkhole condition</a:t>
            </a:r>
          </a:p>
        </p:txBody>
      </p:sp>
      <p:sp>
        <p:nvSpPr>
          <p:cNvPr id="9" name="">
            <a:extLst xmlns:a="http://schemas.openxmlformats.org/drawingml/2006/main">
              <a:ext uri="{FF2B5EF4-FFF2-40B4-BE49-F238E27FC236}">
                <a16:creationId xmlns:a16="http://schemas.microsoft.com/office/drawing/2014/main" id="{38B69A24-1A0D-4E7A-9578-86C5C6B0929D}"/>
              </a:ext>
            </a:extLst>
          </p:cNvPr>
          <p:cNvSpPr>
            <a:spLocks xmlns:a="http://schemas.openxmlformats.org/drawingml/2006/main" noGrp="1"/>
          </p:cNvSpPr>
          <p:nvPr/>
        </p:nvSpPr>
        <p:spPr>
          <a:xfrm xmlns:a="http://schemas.openxmlformats.org/drawingml/2006/main">
            <a:off x="3219450" y="1504950"/>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Seeds</a:t>
            </a:r>
          </a:p>
        </p:txBody>
      </p:sp>
      <p:sp>
        <p:nvSpPr>
          <p:cNvPr id="10" name="">
            <a:extLst xmlns:a="http://schemas.openxmlformats.org/drawingml/2006/main">
              <a:ext uri="{FF2B5EF4-FFF2-40B4-BE49-F238E27FC236}">
                <a16:creationId xmlns:a16="http://schemas.microsoft.com/office/drawing/2014/main" id="{23819C0D-1D1C-4CF4-AF06-10801976721D}"/>
              </a:ext>
            </a:extLst>
          </p:cNvPr>
          <p:cNvSpPr>
            <a:spLocks xmlns:a="http://schemas.openxmlformats.org/drawingml/2006/main" noGrp="1"/>
          </p:cNvSpPr>
          <p:nvPr/>
        </p:nvSpPr>
        <p:spPr>
          <a:xfrm xmlns:a="http://schemas.openxmlformats.org/drawingml/2006/main">
            <a:off x="4933950" y="15049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Recall</a:t>
            </a:r>
          </a:p>
        </p:txBody>
      </p:sp>
      <p:sp>
        <p:nvSpPr>
          <p:cNvPr id="11" name="">
            <a:extLst xmlns:a="http://schemas.openxmlformats.org/drawingml/2006/main">
              <a:ext uri="{FF2B5EF4-FFF2-40B4-BE49-F238E27FC236}">
                <a16:creationId xmlns:a16="http://schemas.microsoft.com/office/drawing/2014/main" id="{D1490FBD-C63D-4248-A280-725C65A7C1D4}"/>
              </a:ext>
            </a:extLst>
          </p:cNvPr>
          <p:cNvSpPr>
            <a:spLocks xmlns:a="http://schemas.openxmlformats.org/drawingml/2006/main" noGrp="1"/>
          </p:cNvSpPr>
          <p:nvPr/>
        </p:nvSpPr>
        <p:spPr>
          <a:xfrm xmlns:a="http://schemas.openxmlformats.org/drawingml/2006/main">
            <a:off x="6362700" y="15049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F1</a:t>
            </a:r>
          </a:p>
        </p:txBody>
      </p:sp>
      <p:sp>
        <p:nvSpPr>
          <p:cNvPr id="12" name="">
            <a:extLst xmlns:a="http://schemas.openxmlformats.org/drawingml/2006/main">
              <a:ext uri="{FF2B5EF4-FFF2-40B4-BE49-F238E27FC236}">
                <a16:creationId xmlns:a16="http://schemas.microsoft.com/office/drawing/2014/main" id="{1F360E59-62E9-407F-9972-24D44472E962}"/>
              </a:ext>
            </a:extLst>
          </p:cNvPr>
          <p:cNvSpPr>
            <a:spLocks xmlns:a="http://schemas.openxmlformats.org/drawingml/2006/main" noGrp="1"/>
          </p:cNvSpPr>
          <p:nvPr/>
        </p:nvSpPr>
        <p:spPr>
          <a:xfrm xmlns:a="http://schemas.openxmlformats.org/drawingml/2006/main">
            <a:off x="7791450" y="1504950"/>
            <a:ext cx="270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Interpretation</a:t>
            </a:r>
          </a:p>
        </p:txBody>
      </p:sp>
      <p:sp>
        <p:nvSpPr>
          <p:cNvPr id="13" name="">
            <a:extLst xmlns:a="http://schemas.openxmlformats.org/drawingml/2006/main">
              <a:ext uri="{FF2B5EF4-FFF2-40B4-BE49-F238E27FC236}">
                <a16:creationId xmlns:a16="http://schemas.microsoft.com/office/drawing/2014/main" id="{CF816C9E-D14F-467A-ABD7-D9B1A499A1F9}"/>
              </a:ext>
            </a:extLst>
          </p:cNvPr>
          <p:cNvSpPr>
            <a:spLocks xmlns:a="http://schemas.openxmlformats.org/drawingml/2006/main" noGrp="1"/>
          </p:cNvSpPr>
          <p:nvPr/>
        </p:nvSpPr>
        <p:spPr>
          <a:xfrm xmlns:a="http://schemas.openxmlformats.org/drawingml/2006/main">
            <a:off x="666750" y="1828800"/>
            <a:ext cx="9906000" cy="6477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656289A-E6E8-4AEF-93F4-52273BB53A03}"/>
              </a:ext>
            </a:extLst>
          </p:cNvPr>
          <p:cNvSpPr>
            <a:spLocks xmlns:a="http://schemas.openxmlformats.org/drawingml/2006/main" noGrp="1"/>
          </p:cNvSpPr>
          <p:nvPr/>
        </p:nvSpPr>
        <p:spPr>
          <a:xfrm xmlns:a="http://schemas.openxmlformats.org/drawingml/2006/main">
            <a:off x="742950" y="182880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Static coarse windows</a:t>
            </a:r>
          </a:p>
        </p:txBody>
      </p:sp>
      <p:sp>
        <p:nvSpPr>
          <p:cNvPr id="15" name="">
            <a:extLst xmlns:a="http://schemas.openxmlformats.org/drawingml/2006/main">
              <a:ext uri="{FF2B5EF4-FFF2-40B4-BE49-F238E27FC236}">
                <a16:creationId xmlns:a16="http://schemas.microsoft.com/office/drawing/2014/main" id="{13595549-46F5-4E73-AE69-464288C57B84}"/>
              </a:ext>
            </a:extLst>
          </p:cNvPr>
          <p:cNvSpPr>
            <a:spLocks xmlns:a="http://schemas.openxmlformats.org/drawingml/2006/main" noGrp="1"/>
          </p:cNvSpPr>
          <p:nvPr/>
        </p:nvSpPr>
        <p:spPr>
          <a:xfrm xmlns:a="http://schemas.openxmlformats.org/drawingml/2006/main">
            <a:off x="3219450" y="1828800"/>
            <a:ext cx="1562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a:t>
            </a:r>
          </a:p>
        </p:txBody>
      </p:sp>
      <p:sp>
        <p:nvSpPr>
          <p:cNvPr id="16" name="">
            <a:extLst xmlns:a="http://schemas.openxmlformats.org/drawingml/2006/main">
              <a:ext uri="{FF2B5EF4-FFF2-40B4-BE49-F238E27FC236}">
                <a16:creationId xmlns:a16="http://schemas.microsoft.com/office/drawing/2014/main" id="{85F23691-1A38-4BAB-94CA-F54F55F538A1}"/>
              </a:ext>
            </a:extLst>
          </p:cNvPr>
          <p:cNvSpPr>
            <a:spLocks xmlns:a="http://schemas.openxmlformats.org/drawingml/2006/main" noGrp="1"/>
          </p:cNvSpPr>
          <p:nvPr/>
        </p:nvSpPr>
        <p:spPr>
          <a:xfrm xmlns:a="http://schemas.openxmlformats.org/drawingml/2006/main">
            <a:off x="4933950" y="182880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0.000</a:t>
            </a:r>
          </a:p>
        </p:txBody>
      </p:sp>
      <p:sp>
        <p:nvSpPr>
          <p:cNvPr id="17" name="">
            <a:extLst xmlns:a="http://schemas.openxmlformats.org/drawingml/2006/main">
              <a:ext uri="{FF2B5EF4-FFF2-40B4-BE49-F238E27FC236}">
                <a16:creationId xmlns:a16="http://schemas.microsoft.com/office/drawing/2014/main" id="{6478B606-904F-424B-B0C6-2E68EBF34354}"/>
              </a:ext>
            </a:extLst>
          </p:cNvPr>
          <p:cNvSpPr>
            <a:spLocks xmlns:a="http://schemas.openxmlformats.org/drawingml/2006/main" noGrp="1"/>
          </p:cNvSpPr>
          <p:nvPr/>
        </p:nvSpPr>
        <p:spPr>
          <a:xfrm xmlns:a="http://schemas.openxmlformats.org/drawingml/2006/main">
            <a:off x="6362700" y="182880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0.000</a:t>
            </a:r>
          </a:p>
        </p:txBody>
      </p:sp>
      <p:sp>
        <p:nvSpPr>
          <p:cNvPr id="18" name="">
            <a:extLst xmlns:a="http://schemas.openxmlformats.org/drawingml/2006/main">
              <a:ext uri="{FF2B5EF4-FFF2-40B4-BE49-F238E27FC236}">
                <a16:creationId xmlns:a16="http://schemas.microsoft.com/office/drawing/2014/main" id="{5283E99D-DC51-4C71-814A-E1FDCA40E6BC}"/>
              </a:ext>
            </a:extLst>
          </p:cNvPr>
          <p:cNvSpPr>
            <a:spLocks xmlns:a="http://schemas.openxmlformats.org/drawingml/2006/main" noGrp="1"/>
          </p:cNvSpPr>
          <p:nvPr/>
        </p:nvSpPr>
        <p:spPr>
          <a:xfrm xmlns:a="http://schemas.openxmlformats.org/drawingml/2006/main">
            <a:off x="7791450" y="1828800"/>
            <a:ext cx="2705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All attack windows missed</a:t>
            </a:r>
          </a:p>
        </p:txBody>
      </p:sp>
      <p:sp>
        <p:nvSpPr>
          <p:cNvPr id="19" name="">
            <a:extLst xmlns:a="http://schemas.openxmlformats.org/drawingml/2006/main">
              <a:ext uri="{FF2B5EF4-FFF2-40B4-BE49-F238E27FC236}">
                <a16:creationId xmlns:a16="http://schemas.microsoft.com/office/drawing/2014/main" id="{6393818E-A553-485E-89BD-C22E8275F42D}"/>
              </a:ext>
            </a:extLst>
          </p:cNvPr>
          <p:cNvSpPr>
            <a:spLocks xmlns:a="http://schemas.openxmlformats.org/drawingml/2006/main" noGrp="1"/>
          </p:cNvSpPr>
          <p:nvPr/>
        </p:nvSpPr>
        <p:spPr>
          <a:xfrm xmlns:a="http://schemas.openxmlformats.org/drawingml/2006/main">
            <a:off x="666750" y="2476500"/>
            <a:ext cx="9906000" cy="647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D0EBCDA-D7BE-4AF5-85DC-F3FCDC72A8EC}"/>
              </a:ext>
            </a:extLst>
          </p:cNvPr>
          <p:cNvSpPr>
            <a:spLocks xmlns:a="http://schemas.openxmlformats.org/drawingml/2006/main" noGrp="1"/>
          </p:cNvSpPr>
          <p:nvPr/>
        </p:nvSpPr>
        <p:spPr>
          <a:xfrm xmlns:a="http://schemas.openxmlformats.org/drawingml/2006/main">
            <a:off x="742950" y="247650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Coarse adaptation</a:t>
            </a:r>
          </a:p>
        </p:txBody>
      </p:sp>
      <p:sp>
        <p:nvSpPr>
          <p:cNvPr id="21" name="">
            <a:extLst xmlns:a="http://schemas.openxmlformats.org/drawingml/2006/main">
              <a:ext uri="{FF2B5EF4-FFF2-40B4-BE49-F238E27FC236}">
                <a16:creationId xmlns:a16="http://schemas.microsoft.com/office/drawing/2014/main" id="{B7E86058-B889-40C7-AFAD-D424B30E5EB3}"/>
              </a:ext>
            </a:extLst>
          </p:cNvPr>
          <p:cNvSpPr>
            <a:spLocks xmlns:a="http://schemas.openxmlformats.org/drawingml/2006/main" noGrp="1"/>
          </p:cNvSpPr>
          <p:nvPr/>
        </p:nvSpPr>
        <p:spPr>
          <a:xfrm xmlns:a="http://schemas.openxmlformats.org/drawingml/2006/main">
            <a:off x="3219450" y="2476500"/>
            <a:ext cx="1562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3</a:t>
            </a:r>
          </a:p>
        </p:txBody>
      </p:sp>
      <p:sp>
        <p:nvSpPr>
          <p:cNvPr id="22" name="">
            <a:extLst xmlns:a="http://schemas.openxmlformats.org/drawingml/2006/main">
              <a:ext uri="{FF2B5EF4-FFF2-40B4-BE49-F238E27FC236}">
                <a16:creationId xmlns:a16="http://schemas.microsoft.com/office/drawing/2014/main" id="{C8693C57-C1C5-4D9C-825B-50EDF832A134}"/>
              </a:ext>
            </a:extLst>
          </p:cNvPr>
          <p:cNvSpPr>
            <a:spLocks xmlns:a="http://schemas.openxmlformats.org/drawingml/2006/main" noGrp="1"/>
          </p:cNvSpPr>
          <p:nvPr/>
        </p:nvSpPr>
        <p:spPr>
          <a:xfrm xmlns:a="http://schemas.openxmlformats.org/drawingml/2006/main">
            <a:off x="4933950" y="247650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0.060</a:t>
            </a:r>
          </a:p>
        </p:txBody>
      </p:sp>
      <p:sp>
        <p:nvSpPr>
          <p:cNvPr id="23" name="">
            <a:extLst xmlns:a="http://schemas.openxmlformats.org/drawingml/2006/main">
              <a:ext uri="{FF2B5EF4-FFF2-40B4-BE49-F238E27FC236}">
                <a16:creationId xmlns:a16="http://schemas.microsoft.com/office/drawing/2014/main" id="{42DFD2D6-6F2B-4426-AC76-43487055452F}"/>
              </a:ext>
            </a:extLst>
          </p:cNvPr>
          <p:cNvSpPr>
            <a:spLocks xmlns:a="http://schemas.openxmlformats.org/drawingml/2006/main" noGrp="1"/>
          </p:cNvSpPr>
          <p:nvPr/>
        </p:nvSpPr>
        <p:spPr>
          <a:xfrm xmlns:a="http://schemas.openxmlformats.org/drawingml/2006/main">
            <a:off x="6362700" y="247650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0.098</a:t>
            </a:r>
          </a:p>
        </p:txBody>
      </p:sp>
      <p:sp>
        <p:nvSpPr>
          <p:cNvPr id="24" name="">
            <a:extLst xmlns:a="http://schemas.openxmlformats.org/drawingml/2006/main">
              <a:ext uri="{FF2B5EF4-FFF2-40B4-BE49-F238E27FC236}">
                <a16:creationId xmlns:a16="http://schemas.microsoft.com/office/drawing/2014/main" id="{A0646BBE-1752-4264-AB59-DD00643FF3BD}"/>
              </a:ext>
            </a:extLst>
          </p:cNvPr>
          <p:cNvSpPr>
            <a:spLocks xmlns:a="http://schemas.openxmlformats.org/drawingml/2006/main" noGrp="1"/>
          </p:cNvSpPr>
          <p:nvPr/>
        </p:nvSpPr>
        <p:spPr>
          <a:xfrm xmlns:a="http://schemas.openxmlformats.org/drawingml/2006/main">
            <a:off x="7791450" y="2476500"/>
            <a:ext cx="2705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Retraining still lacks rank evidence</a:t>
            </a:r>
          </a:p>
        </p:txBody>
      </p:sp>
      <p:sp>
        <p:nvSpPr>
          <p:cNvPr id="25" name="">
            <a:extLst xmlns:a="http://schemas.openxmlformats.org/drawingml/2006/main">
              <a:ext uri="{FF2B5EF4-FFF2-40B4-BE49-F238E27FC236}">
                <a16:creationId xmlns:a16="http://schemas.microsoft.com/office/drawing/2014/main" id="{9536642E-4202-41ED-A4CC-53DE547D5791}"/>
              </a:ext>
            </a:extLst>
          </p:cNvPr>
          <p:cNvSpPr>
            <a:spLocks xmlns:a="http://schemas.openxmlformats.org/drawingml/2006/main" noGrp="1"/>
          </p:cNvSpPr>
          <p:nvPr/>
        </p:nvSpPr>
        <p:spPr>
          <a:xfrm xmlns:a="http://schemas.openxmlformats.org/drawingml/2006/main">
            <a:off x="666750" y="3124200"/>
            <a:ext cx="9906000" cy="6477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1AB915E-538C-4670-8819-CC907B95C9AC}"/>
              </a:ext>
            </a:extLst>
          </p:cNvPr>
          <p:cNvSpPr>
            <a:spLocks xmlns:a="http://schemas.openxmlformats.org/drawingml/2006/main" noGrp="1"/>
          </p:cNvSpPr>
          <p:nvPr/>
        </p:nvSpPr>
        <p:spPr>
          <a:xfrm xmlns:a="http://schemas.openxmlformats.org/drawingml/2006/main">
            <a:off x="742950" y="312420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Routing-aware adaptation</a:t>
            </a:r>
          </a:p>
        </p:txBody>
      </p:sp>
      <p:sp>
        <p:nvSpPr>
          <p:cNvPr id="27" name="">
            <a:extLst xmlns:a="http://schemas.openxmlformats.org/drawingml/2006/main">
              <a:ext uri="{FF2B5EF4-FFF2-40B4-BE49-F238E27FC236}">
                <a16:creationId xmlns:a16="http://schemas.microsoft.com/office/drawing/2014/main" id="{68B290BC-5A2D-495B-8B0E-EBB1C319E567}"/>
              </a:ext>
            </a:extLst>
          </p:cNvPr>
          <p:cNvSpPr>
            <a:spLocks xmlns:a="http://schemas.openxmlformats.org/drawingml/2006/main" noGrp="1"/>
          </p:cNvSpPr>
          <p:nvPr/>
        </p:nvSpPr>
        <p:spPr>
          <a:xfrm xmlns:a="http://schemas.openxmlformats.org/drawingml/2006/main">
            <a:off x="3219450" y="3124200"/>
            <a:ext cx="1562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1</a:t>
            </a:r>
          </a:p>
        </p:txBody>
      </p:sp>
      <p:sp>
        <p:nvSpPr>
          <p:cNvPr id="28" name="">
            <a:extLst xmlns:a="http://schemas.openxmlformats.org/drawingml/2006/main">
              <a:ext uri="{FF2B5EF4-FFF2-40B4-BE49-F238E27FC236}">
                <a16:creationId xmlns:a16="http://schemas.microsoft.com/office/drawing/2014/main" id="{E2C694D4-0D80-4C8B-A3CC-0D08E2005A05}"/>
              </a:ext>
            </a:extLst>
          </p:cNvPr>
          <p:cNvSpPr>
            <a:spLocks xmlns:a="http://schemas.openxmlformats.org/drawingml/2006/main" noGrp="1"/>
          </p:cNvSpPr>
          <p:nvPr/>
        </p:nvSpPr>
        <p:spPr>
          <a:xfrm xmlns:a="http://schemas.openxmlformats.org/drawingml/2006/main">
            <a:off x="4933950" y="312420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0.730</a:t>
            </a:r>
          </a:p>
        </p:txBody>
      </p:sp>
      <p:sp>
        <p:nvSpPr>
          <p:cNvPr id="29" name="">
            <a:extLst xmlns:a="http://schemas.openxmlformats.org/drawingml/2006/main">
              <a:ext uri="{FF2B5EF4-FFF2-40B4-BE49-F238E27FC236}">
                <a16:creationId xmlns:a16="http://schemas.microsoft.com/office/drawing/2014/main" id="{CD6F0357-D495-4300-8A93-CC336D0FB54A}"/>
              </a:ext>
            </a:extLst>
          </p:cNvPr>
          <p:cNvSpPr>
            <a:spLocks xmlns:a="http://schemas.openxmlformats.org/drawingml/2006/main" noGrp="1"/>
          </p:cNvSpPr>
          <p:nvPr/>
        </p:nvSpPr>
        <p:spPr>
          <a:xfrm xmlns:a="http://schemas.openxmlformats.org/drawingml/2006/main">
            <a:off x="6362700" y="312420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0.813</a:t>
            </a:r>
          </a:p>
        </p:txBody>
      </p:sp>
      <p:sp>
        <p:nvSpPr>
          <p:cNvPr id="30" name="">
            <a:extLst xmlns:a="http://schemas.openxmlformats.org/drawingml/2006/main">
              <a:ext uri="{FF2B5EF4-FFF2-40B4-BE49-F238E27FC236}">
                <a16:creationId xmlns:a16="http://schemas.microsoft.com/office/drawing/2014/main" id="{94498B5D-4C0B-40E8-AECB-739785264CFA}"/>
              </a:ext>
            </a:extLst>
          </p:cNvPr>
          <p:cNvSpPr>
            <a:spLocks xmlns:a="http://schemas.openxmlformats.org/drawingml/2006/main" noGrp="1"/>
          </p:cNvSpPr>
          <p:nvPr/>
        </p:nvSpPr>
        <p:spPr>
          <a:xfrm xmlns:a="http://schemas.openxmlformats.org/drawingml/2006/main">
            <a:off x="7791450" y="3124200"/>
            <a:ext cx="2705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Low-rank advertisement becomes learnable</a:t>
            </a:r>
          </a:p>
        </p:txBody>
      </p:sp>
      <p:sp>
        <p:nvSpPr>
          <p:cNvPr id="31" name="">
            <a:extLst xmlns:a="http://schemas.openxmlformats.org/drawingml/2006/main">
              <a:ext uri="{FF2B5EF4-FFF2-40B4-BE49-F238E27FC236}">
                <a16:creationId xmlns:a16="http://schemas.microsoft.com/office/drawing/2014/main" id="{ED87D446-F4FD-41B9-B59A-66BADED64770}"/>
              </a:ext>
            </a:extLst>
          </p:cNvPr>
          <p:cNvSpPr>
            <a:spLocks xmlns:a="http://schemas.openxmlformats.org/drawingml/2006/main" noGrp="1"/>
          </p:cNvSpPr>
          <p:nvPr/>
        </p:nvSpPr>
        <p:spPr>
          <a:xfrm xmlns:a="http://schemas.openxmlformats.org/drawingml/2006/main">
            <a:off x="666750" y="3771900"/>
            <a:ext cx="9906000" cy="647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37A523A-8EDA-4D65-BD30-0D39FE156967}"/>
              </a:ext>
            </a:extLst>
          </p:cNvPr>
          <p:cNvSpPr>
            <a:spLocks xmlns:a="http://schemas.openxmlformats.org/drawingml/2006/main" noGrp="1"/>
          </p:cNvSpPr>
          <p:nvPr/>
        </p:nvSpPr>
        <p:spPr>
          <a:xfrm xmlns:a="http://schemas.openxmlformats.org/drawingml/2006/main">
            <a:off x="742950" y="377190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Routing-aware adaptation</a:t>
            </a:r>
          </a:p>
        </p:txBody>
      </p:sp>
      <p:sp>
        <p:nvSpPr>
          <p:cNvPr id="33" name="">
            <a:extLst xmlns:a="http://schemas.openxmlformats.org/drawingml/2006/main">
              <a:ext uri="{FF2B5EF4-FFF2-40B4-BE49-F238E27FC236}">
                <a16:creationId xmlns:a16="http://schemas.microsoft.com/office/drawing/2014/main" id="{237717EB-250E-40FC-A9CC-E901FE02FEF5}"/>
              </a:ext>
            </a:extLst>
          </p:cNvPr>
          <p:cNvSpPr>
            <a:spLocks xmlns:a="http://schemas.openxmlformats.org/drawingml/2006/main" noGrp="1"/>
          </p:cNvSpPr>
          <p:nvPr/>
        </p:nvSpPr>
        <p:spPr>
          <a:xfrm xmlns:a="http://schemas.openxmlformats.org/drawingml/2006/main">
            <a:off x="3219450" y="3771900"/>
            <a:ext cx="1562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2</a:t>
            </a:r>
          </a:p>
        </p:txBody>
      </p:sp>
      <p:sp>
        <p:nvSpPr>
          <p:cNvPr id="34" name="">
            <a:extLst xmlns:a="http://schemas.openxmlformats.org/drawingml/2006/main">
              <a:ext uri="{FF2B5EF4-FFF2-40B4-BE49-F238E27FC236}">
                <a16:creationId xmlns:a16="http://schemas.microsoft.com/office/drawing/2014/main" id="{D9EE1136-F266-4178-B03F-158C4E58CA75}"/>
              </a:ext>
            </a:extLst>
          </p:cNvPr>
          <p:cNvSpPr>
            <a:spLocks xmlns:a="http://schemas.openxmlformats.org/drawingml/2006/main" noGrp="1"/>
          </p:cNvSpPr>
          <p:nvPr/>
        </p:nvSpPr>
        <p:spPr>
          <a:xfrm xmlns:a="http://schemas.openxmlformats.org/drawingml/2006/main">
            <a:off x="4933950" y="377190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0.873</a:t>
            </a:r>
          </a:p>
        </p:txBody>
      </p:sp>
      <p:sp>
        <p:nvSpPr>
          <p:cNvPr id="35" name="">
            <a:extLst xmlns:a="http://schemas.openxmlformats.org/drawingml/2006/main">
              <a:ext uri="{FF2B5EF4-FFF2-40B4-BE49-F238E27FC236}">
                <a16:creationId xmlns:a16="http://schemas.microsoft.com/office/drawing/2014/main" id="{1BE8B66C-CBB0-4578-8E2A-89745A421794}"/>
              </a:ext>
            </a:extLst>
          </p:cNvPr>
          <p:cNvSpPr>
            <a:spLocks xmlns:a="http://schemas.openxmlformats.org/drawingml/2006/main" noGrp="1"/>
          </p:cNvSpPr>
          <p:nvPr/>
        </p:nvSpPr>
        <p:spPr>
          <a:xfrm xmlns:a="http://schemas.openxmlformats.org/drawingml/2006/main">
            <a:off x="6362700" y="377190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0.909</a:t>
            </a:r>
          </a:p>
        </p:txBody>
      </p:sp>
      <p:sp>
        <p:nvSpPr>
          <p:cNvPr id="36" name="">
            <a:extLst xmlns:a="http://schemas.openxmlformats.org/drawingml/2006/main">
              <a:ext uri="{FF2B5EF4-FFF2-40B4-BE49-F238E27FC236}">
                <a16:creationId xmlns:a16="http://schemas.microsoft.com/office/drawing/2014/main" id="{9BFB2C64-0605-457C-9946-BBB537015633}"/>
              </a:ext>
            </a:extLst>
          </p:cNvPr>
          <p:cNvSpPr>
            <a:spLocks xmlns:a="http://schemas.openxmlformats.org/drawingml/2006/main" noGrp="1"/>
          </p:cNvSpPr>
          <p:nvPr/>
        </p:nvSpPr>
        <p:spPr>
          <a:xfrm xmlns:a="http://schemas.openxmlformats.org/drawingml/2006/main">
            <a:off x="7791450" y="3771900"/>
            <a:ext cx="2705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Further recovery</a:t>
            </a:r>
          </a:p>
        </p:txBody>
      </p:sp>
      <p:sp>
        <p:nvSpPr>
          <p:cNvPr id="37" name="">
            <a:extLst xmlns:a="http://schemas.openxmlformats.org/drawingml/2006/main">
              <a:ext uri="{FF2B5EF4-FFF2-40B4-BE49-F238E27FC236}">
                <a16:creationId xmlns:a16="http://schemas.microsoft.com/office/drawing/2014/main" id="{3680F999-C3AC-4B27-AA6C-E02B58F6E5FD}"/>
              </a:ext>
            </a:extLst>
          </p:cNvPr>
          <p:cNvSpPr>
            <a:spLocks xmlns:a="http://schemas.openxmlformats.org/drawingml/2006/main" noGrp="1"/>
          </p:cNvSpPr>
          <p:nvPr/>
        </p:nvSpPr>
        <p:spPr>
          <a:xfrm xmlns:a="http://schemas.openxmlformats.org/drawingml/2006/main">
            <a:off x="666750" y="4419600"/>
            <a:ext cx="9906000" cy="6477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749457F-B87A-4AE0-A5BC-DD8979E8982D}"/>
              </a:ext>
            </a:extLst>
          </p:cNvPr>
          <p:cNvSpPr>
            <a:spLocks xmlns:a="http://schemas.openxmlformats.org/drawingml/2006/main" noGrp="1"/>
          </p:cNvSpPr>
          <p:nvPr/>
        </p:nvSpPr>
        <p:spPr>
          <a:xfrm xmlns:a="http://schemas.openxmlformats.org/drawingml/2006/main">
            <a:off x="742950" y="441960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Routing-aware adaptation</a:t>
            </a:r>
          </a:p>
        </p:txBody>
      </p:sp>
      <p:sp>
        <p:nvSpPr>
          <p:cNvPr id="39" name="">
            <a:extLst xmlns:a="http://schemas.openxmlformats.org/drawingml/2006/main">
              <a:ext uri="{FF2B5EF4-FFF2-40B4-BE49-F238E27FC236}">
                <a16:creationId xmlns:a16="http://schemas.microsoft.com/office/drawing/2014/main" id="{0F624377-323F-45A3-8B17-9ABC9DBEB26E}"/>
              </a:ext>
            </a:extLst>
          </p:cNvPr>
          <p:cNvSpPr>
            <a:spLocks xmlns:a="http://schemas.openxmlformats.org/drawingml/2006/main" noGrp="1"/>
          </p:cNvSpPr>
          <p:nvPr/>
        </p:nvSpPr>
        <p:spPr>
          <a:xfrm xmlns:a="http://schemas.openxmlformats.org/drawingml/2006/main">
            <a:off x="3219450" y="4419600"/>
            <a:ext cx="1562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3</a:t>
            </a:r>
          </a:p>
        </p:txBody>
      </p:sp>
      <p:sp>
        <p:nvSpPr>
          <p:cNvPr id="40" name="">
            <a:extLst xmlns:a="http://schemas.openxmlformats.org/drawingml/2006/main">
              <a:ext uri="{FF2B5EF4-FFF2-40B4-BE49-F238E27FC236}">
                <a16:creationId xmlns:a16="http://schemas.microsoft.com/office/drawing/2014/main" id="{14BBFF41-BEDB-4A04-8026-F4457C4C07DC}"/>
              </a:ext>
            </a:extLst>
          </p:cNvPr>
          <p:cNvSpPr>
            <a:spLocks xmlns:a="http://schemas.openxmlformats.org/drawingml/2006/main" noGrp="1"/>
          </p:cNvSpPr>
          <p:nvPr/>
        </p:nvSpPr>
        <p:spPr>
          <a:xfrm xmlns:a="http://schemas.openxmlformats.org/drawingml/2006/main">
            <a:off x="4933950" y="441960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0.950</a:t>
            </a:r>
          </a:p>
        </p:txBody>
      </p:sp>
      <p:sp>
        <p:nvSpPr>
          <p:cNvPr id="41" name="">
            <a:extLst xmlns:a="http://schemas.openxmlformats.org/drawingml/2006/main">
              <a:ext uri="{FF2B5EF4-FFF2-40B4-BE49-F238E27FC236}">
                <a16:creationId xmlns:a16="http://schemas.microsoft.com/office/drawing/2014/main" id="{ECD5D4D5-8E62-4D85-8A4B-B2F22EB7D830}"/>
              </a:ext>
            </a:extLst>
          </p:cNvPr>
          <p:cNvSpPr>
            <a:spLocks xmlns:a="http://schemas.openxmlformats.org/drawingml/2006/main" noGrp="1"/>
          </p:cNvSpPr>
          <p:nvPr/>
        </p:nvSpPr>
        <p:spPr>
          <a:xfrm xmlns:a="http://schemas.openxmlformats.org/drawingml/2006/main">
            <a:off x="6362700" y="441960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0.973</a:t>
            </a:r>
          </a:p>
        </p:txBody>
      </p:sp>
      <p:sp>
        <p:nvSpPr>
          <p:cNvPr id="42" name="">
            <a:extLst xmlns:a="http://schemas.openxmlformats.org/drawingml/2006/main">
              <a:ext uri="{FF2B5EF4-FFF2-40B4-BE49-F238E27FC236}">
                <a16:creationId xmlns:a16="http://schemas.microsoft.com/office/drawing/2014/main" id="{147748CF-36A4-465F-BFFF-E3C35462C86C}"/>
              </a:ext>
            </a:extLst>
          </p:cNvPr>
          <p:cNvSpPr>
            <a:spLocks xmlns:a="http://schemas.openxmlformats.org/drawingml/2006/main" noGrp="1"/>
          </p:cNvSpPr>
          <p:nvPr/>
        </p:nvSpPr>
        <p:spPr>
          <a:xfrm xmlns:a="http://schemas.openxmlformats.org/drawingml/2006/main">
            <a:off x="7791450" y="4419600"/>
            <a:ext cx="2705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High recall with FPR 0</a:t>
            </a:r>
          </a:p>
        </p:txBody>
      </p:sp>
      <p:sp>
        <p:nvSpPr>
          <p:cNvPr id="43" name="">
            <a:extLst xmlns:a="http://schemas.openxmlformats.org/drawingml/2006/main">
              <a:ext uri="{FF2B5EF4-FFF2-40B4-BE49-F238E27FC236}">
                <a16:creationId xmlns:a16="http://schemas.microsoft.com/office/drawing/2014/main" id="{FCF36375-7814-48EF-B0BD-D5E695BB75AC}"/>
              </a:ext>
            </a:extLst>
          </p:cNvPr>
          <p:cNvSpPr>
            <a:spLocks xmlns:a="http://schemas.openxmlformats.org/drawingml/2006/main" noGrp="1"/>
          </p:cNvSpPr>
          <p:nvPr/>
        </p:nvSpPr>
        <p:spPr>
          <a:xfrm xmlns:a="http://schemas.openxmlformats.org/drawingml/2006/main">
            <a:off x="666750" y="1504950"/>
            <a:ext cx="9906000" cy="356235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44" name="">
            <a:extLst xmlns:a="http://schemas.openxmlformats.org/drawingml/2006/main">
              <a:ext uri="{FF2B5EF4-FFF2-40B4-BE49-F238E27FC236}">
                <a16:creationId xmlns:a16="http://schemas.microsoft.com/office/drawing/2014/main" id="{A1FA7F64-7101-4B78-94B0-49D7980D117F}"/>
              </a:ext>
            </a:extLst>
          </p:cNvPr>
          <p:cNvSpPr>
            <a:spLocks xmlns:a="http://schemas.openxmlformats.org/drawingml/2006/main" noGrp="1"/>
          </p:cNvSpPr>
          <p:nvPr/>
        </p:nvSpPr>
        <p:spPr>
          <a:xfrm xmlns:a="http://schemas.openxmlformats.org/drawingml/2006/main">
            <a:off x="666750" y="5219700"/>
            <a:ext cx="9906000" cy="7239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C85416AE-E857-4AD4-9169-A1159BE6D2C7}"/>
              </a:ext>
            </a:extLst>
          </p:cNvPr>
          <p:cNvSpPr>
            <a:spLocks xmlns:a="http://schemas.openxmlformats.org/drawingml/2006/main" noGrp="1"/>
          </p:cNvSpPr>
          <p:nvPr/>
        </p:nvSpPr>
        <p:spPr>
          <a:xfrm xmlns:a="http://schemas.openxmlformats.org/drawingml/2006/main">
            <a:off x="666750" y="5219700"/>
            <a:ext cx="47625" cy="72390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0E0BFD20-FBC8-418E-9433-9ABCB94DC4BB}"/>
              </a:ext>
            </a:extLst>
          </p:cNvPr>
          <p:cNvSpPr>
            <a:spLocks xmlns:a="http://schemas.openxmlformats.org/drawingml/2006/main" noGrp="1"/>
          </p:cNvSpPr>
          <p:nvPr/>
        </p:nvSpPr>
        <p:spPr>
          <a:xfrm xmlns:a="http://schemas.openxmlformats.org/drawingml/2006/main">
            <a:off x="838200" y="5305425"/>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defRPr>
            </a:pPr>
            <a:r>
              <a:rPr sz="1500" b="1">
                <a:solidFill>
                  <a:srgbClr val="111827"/>
                </a:solidFill>
              </a:rPr>
              <a:t>Failure analysis changed the method: the representation was extended before making a general adaptation claim.</a:t>
            </a:r>
          </a:p>
        </p:txBody>
      </p:sp>
    </p:spTree>
    <p:extLst>
      <p:ext uri="{BB962C8B-B14F-4D97-AF65-F5344CB8AC3E}">
        <p14:creationId xmlns:p14="http://schemas.microsoft.com/office/powerpoint/2010/main" val="185383203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8B858D00-AE2C-4FF2-B4C6-CD84801C6CA4}"/>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Whole-seed adaptation curve across nine families</a:t>
            </a:r>
          </a:p>
        </p:txBody>
      </p:sp>
      <p:sp>
        <p:nvSpPr>
          <p:cNvPr id="2" name="">
            <a:extLst xmlns:a="http://schemas.openxmlformats.org/drawingml/2006/main">
              <a:ext uri="{FF2B5EF4-FFF2-40B4-BE49-F238E27FC236}">
                <a16:creationId xmlns:a16="http://schemas.microsoft.com/office/drawing/2014/main" id="{34C61FB0-F3FE-40ED-B22D-9CA5D601ABE0}"/>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Target-family runs are added to training, while evaluation remains on unseen target seeds.</a:t>
            </a:r>
          </a:p>
        </p:txBody>
      </p:sp>
      <p:sp>
        <p:nvSpPr>
          <p:cNvPr id="3" name="">
            <a:extLst xmlns:a="http://schemas.openxmlformats.org/drawingml/2006/main">
              <a:ext uri="{FF2B5EF4-FFF2-40B4-BE49-F238E27FC236}">
                <a16:creationId xmlns:a16="http://schemas.microsoft.com/office/drawing/2014/main" id="{410977DC-AEB5-4CD9-8CFD-9978CD2E6EBB}"/>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DDA1915-9392-419D-9BD5-0AE27FF3216C}"/>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6CB5D60-211E-44B0-9A05-2C6823EE153A}"/>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Adaptation result</a:t>
            </a:r>
          </a:p>
        </p:txBody>
      </p:sp>
      <p:sp>
        <p:nvSpPr>
          <p:cNvPr id="6" name="">
            <a:extLst xmlns:a="http://schemas.openxmlformats.org/drawingml/2006/main">
              <a:ext uri="{FF2B5EF4-FFF2-40B4-BE49-F238E27FC236}">
                <a16:creationId xmlns:a16="http://schemas.microsoft.com/office/drawing/2014/main" id="{660075A7-D4D9-4CEF-91E2-C1091AD19611}"/>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13  </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1801644f8dfa43b1"/>
          <a:stretch xmlns:a="http://schemas.openxmlformats.org/drawingml/2006/main"/>
        </p:blipFill>
        <p:spPr>
          <a:xfrm xmlns:a="http://schemas.openxmlformats.org/drawingml/2006/main">
            <a:off x="666750" y="1529808"/>
            <a:ext cx="7620000" cy="427463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59BBE8E-4E04-4F4B-BC8E-51D509277BC2}"/>
              </a:ext>
            </a:extLst>
          </p:cNvPr>
          <p:cNvSpPr>
            <a:spLocks xmlns:a="http://schemas.openxmlformats.org/drawingml/2006/main" noGrp="1"/>
          </p:cNvSpPr>
          <p:nvPr/>
        </p:nvSpPr>
        <p:spPr>
          <a:xfrm xmlns:a="http://schemas.openxmlformats.org/drawingml/2006/main">
            <a:off x="8477250" y="1619250"/>
            <a:ext cx="314325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126BC7A-EE26-4160-82BF-10B7BCB2BB7E}"/>
              </a:ext>
            </a:extLst>
          </p:cNvPr>
          <p:cNvSpPr>
            <a:spLocks xmlns:a="http://schemas.openxmlformats.org/drawingml/2006/main" noGrp="1"/>
          </p:cNvSpPr>
          <p:nvPr/>
        </p:nvSpPr>
        <p:spPr>
          <a:xfrm xmlns:a="http://schemas.openxmlformats.org/drawingml/2006/main">
            <a:off x="8553450" y="1619250"/>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Seeds</a:t>
            </a:r>
          </a:p>
        </p:txBody>
      </p:sp>
      <p:sp>
        <p:nvSpPr>
          <p:cNvPr id="10" name="">
            <a:extLst xmlns:a="http://schemas.openxmlformats.org/drawingml/2006/main">
              <a:ext uri="{FF2B5EF4-FFF2-40B4-BE49-F238E27FC236}">
                <a16:creationId xmlns:a16="http://schemas.microsoft.com/office/drawing/2014/main" id="{805A344F-EF2B-4FCD-A870-D38CF587BBD9}"/>
              </a:ext>
            </a:extLst>
          </p:cNvPr>
          <p:cNvSpPr>
            <a:spLocks xmlns:a="http://schemas.openxmlformats.org/drawingml/2006/main" noGrp="1"/>
          </p:cNvSpPr>
          <p:nvPr/>
        </p:nvSpPr>
        <p:spPr>
          <a:xfrm xmlns:a="http://schemas.openxmlformats.org/drawingml/2006/main">
            <a:off x="9410700" y="161925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Recall</a:t>
            </a:r>
          </a:p>
        </p:txBody>
      </p:sp>
      <p:sp>
        <p:nvSpPr>
          <p:cNvPr id="11" name="">
            <a:extLst xmlns:a="http://schemas.openxmlformats.org/drawingml/2006/main">
              <a:ext uri="{FF2B5EF4-FFF2-40B4-BE49-F238E27FC236}">
                <a16:creationId xmlns:a16="http://schemas.microsoft.com/office/drawing/2014/main" id="{28C75366-EFFE-4C73-974D-553EA9A63456}"/>
              </a:ext>
            </a:extLst>
          </p:cNvPr>
          <p:cNvSpPr>
            <a:spLocks xmlns:a="http://schemas.openxmlformats.org/drawingml/2006/main" noGrp="1"/>
          </p:cNvSpPr>
          <p:nvPr/>
        </p:nvSpPr>
        <p:spPr>
          <a:xfrm xmlns:a="http://schemas.openxmlformats.org/drawingml/2006/main">
            <a:off x="10172700" y="161925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F1</a:t>
            </a:r>
          </a:p>
        </p:txBody>
      </p:sp>
      <p:sp>
        <p:nvSpPr>
          <p:cNvPr id="12" name="">
            <a:extLst xmlns:a="http://schemas.openxmlformats.org/drawingml/2006/main">
              <a:ext uri="{FF2B5EF4-FFF2-40B4-BE49-F238E27FC236}">
                <a16:creationId xmlns:a16="http://schemas.microsoft.com/office/drawing/2014/main" id="{640D455A-847A-4808-8463-DFA724EBA77A}"/>
              </a:ext>
            </a:extLst>
          </p:cNvPr>
          <p:cNvSpPr>
            <a:spLocks xmlns:a="http://schemas.openxmlformats.org/drawingml/2006/main" noGrp="1"/>
          </p:cNvSpPr>
          <p:nvPr/>
        </p:nvSpPr>
        <p:spPr>
          <a:xfrm xmlns:a="http://schemas.openxmlformats.org/drawingml/2006/main">
            <a:off x="10934700" y="161925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FPR</a:t>
            </a:r>
          </a:p>
        </p:txBody>
      </p:sp>
      <p:sp>
        <p:nvSpPr>
          <p:cNvPr id="13" name="">
            <a:extLst xmlns:a="http://schemas.openxmlformats.org/drawingml/2006/main">
              <a:ext uri="{FF2B5EF4-FFF2-40B4-BE49-F238E27FC236}">
                <a16:creationId xmlns:a16="http://schemas.microsoft.com/office/drawing/2014/main" id="{CAAB3D8D-FC1B-4CDC-8F82-8E2945078580}"/>
              </a:ext>
            </a:extLst>
          </p:cNvPr>
          <p:cNvSpPr>
            <a:spLocks xmlns:a="http://schemas.openxmlformats.org/drawingml/2006/main" noGrp="1"/>
          </p:cNvSpPr>
          <p:nvPr/>
        </p:nvSpPr>
        <p:spPr>
          <a:xfrm xmlns:a="http://schemas.openxmlformats.org/drawingml/2006/main">
            <a:off x="8477250" y="1943100"/>
            <a:ext cx="3143250" cy="6477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01A1268-D65B-46B1-BF3B-F40E81C84BC2}"/>
              </a:ext>
            </a:extLst>
          </p:cNvPr>
          <p:cNvSpPr>
            <a:spLocks xmlns:a="http://schemas.openxmlformats.org/drawingml/2006/main" noGrp="1"/>
          </p:cNvSpPr>
          <p:nvPr/>
        </p:nvSpPr>
        <p:spPr>
          <a:xfrm xmlns:a="http://schemas.openxmlformats.org/drawingml/2006/main">
            <a:off x="8553450" y="1943100"/>
            <a:ext cx="704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11827"/>
                </a:solidFill>
              </a:defRPr>
            </a:pPr>
            <a:r>
              <a:rPr sz="1050" b="1">
                <a:solidFill>
                  <a:srgbClr val="111827"/>
                </a:solidFill>
              </a:rPr>
              <a:t>0</a:t>
            </a:r>
          </a:p>
        </p:txBody>
      </p:sp>
      <p:sp>
        <p:nvSpPr>
          <p:cNvPr id="15" name="">
            <a:extLst xmlns:a="http://schemas.openxmlformats.org/drawingml/2006/main">
              <a:ext uri="{FF2B5EF4-FFF2-40B4-BE49-F238E27FC236}">
                <a16:creationId xmlns:a16="http://schemas.microsoft.com/office/drawing/2014/main" id="{09AE338E-DF5B-401A-8446-754F51218212}"/>
              </a:ext>
            </a:extLst>
          </p:cNvPr>
          <p:cNvSpPr>
            <a:spLocks xmlns:a="http://schemas.openxmlformats.org/drawingml/2006/main" noGrp="1"/>
          </p:cNvSpPr>
          <p:nvPr/>
        </p:nvSpPr>
        <p:spPr>
          <a:xfrm xmlns:a="http://schemas.openxmlformats.org/drawingml/2006/main">
            <a:off x="9410700" y="1943100"/>
            <a:ext cx="609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11827"/>
                </a:solidFill>
              </a:defRPr>
            </a:pPr>
            <a:r>
              <a:rPr sz="1050" b="0">
                <a:solidFill>
                  <a:srgbClr val="111827"/>
                </a:solidFill>
              </a:rPr>
              <a:t>0.233</a:t>
            </a:r>
          </a:p>
        </p:txBody>
      </p:sp>
      <p:sp>
        <p:nvSpPr>
          <p:cNvPr id="16" name="">
            <a:extLst xmlns:a="http://schemas.openxmlformats.org/drawingml/2006/main">
              <a:ext uri="{FF2B5EF4-FFF2-40B4-BE49-F238E27FC236}">
                <a16:creationId xmlns:a16="http://schemas.microsoft.com/office/drawing/2014/main" id="{2CA9048F-21CF-46F3-B022-13B533EE321B}"/>
              </a:ext>
            </a:extLst>
          </p:cNvPr>
          <p:cNvSpPr>
            <a:spLocks xmlns:a="http://schemas.openxmlformats.org/drawingml/2006/main" noGrp="1"/>
          </p:cNvSpPr>
          <p:nvPr/>
        </p:nvSpPr>
        <p:spPr>
          <a:xfrm xmlns:a="http://schemas.openxmlformats.org/drawingml/2006/main">
            <a:off x="10172700" y="1943100"/>
            <a:ext cx="609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11827"/>
                </a:solidFill>
              </a:defRPr>
            </a:pPr>
            <a:r>
              <a:rPr sz="1050" b="0">
                <a:solidFill>
                  <a:srgbClr val="111827"/>
                </a:solidFill>
              </a:rPr>
              <a:t>0.182</a:t>
            </a:r>
          </a:p>
        </p:txBody>
      </p:sp>
      <p:sp>
        <p:nvSpPr>
          <p:cNvPr id="17" name="">
            <a:extLst xmlns:a="http://schemas.openxmlformats.org/drawingml/2006/main">
              <a:ext uri="{FF2B5EF4-FFF2-40B4-BE49-F238E27FC236}">
                <a16:creationId xmlns:a16="http://schemas.microsoft.com/office/drawing/2014/main" id="{4981AD3F-FD4A-4414-9615-0D51E3FEE596}"/>
              </a:ext>
            </a:extLst>
          </p:cNvPr>
          <p:cNvSpPr>
            <a:spLocks xmlns:a="http://schemas.openxmlformats.org/drawingml/2006/main" noGrp="1"/>
          </p:cNvSpPr>
          <p:nvPr/>
        </p:nvSpPr>
        <p:spPr>
          <a:xfrm xmlns:a="http://schemas.openxmlformats.org/drawingml/2006/main">
            <a:off x="10934700" y="1943100"/>
            <a:ext cx="609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11827"/>
                </a:solidFill>
              </a:defRPr>
            </a:pPr>
            <a:r>
              <a:rPr sz="1050" b="0">
                <a:solidFill>
                  <a:srgbClr val="111827"/>
                </a:solidFill>
              </a:rPr>
              <a:t>0.112</a:t>
            </a:r>
          </a:p>
        </p:txBody>
      </p:sp>
      <p:sp>
        <p:nvSpPr>
          <p:cNvPr id="18" name="">
            <a:extLst xmlns:a="http://schemas.openxmlformats.org/drawingml/2006/main">
              <a:ext uri="{FF2B5EF4-FFF2-40B4-BE49-F238E27FC236}">
                <a16:creationId xmlns:a16="http://schemas.microsoft.com/office/drawing/2014/main" id="{C65D0543-7BED-4A2F-A502-98713C722269}"/>
              </a:ext>
            </a:extLst>
          </p:cNvPr>
          <p:cNvSpPr>
            <a:spLocks xmlns:a="http://schemas.openxmlformats.org/drawingml/2006/main" noGrp="1"/>
          </p:cNvSpPr>
          <p:nvPr/>
        </p:nvSpPr>
        <p:spPr>
          <a:xfrm xmlns:a="http://schemas.openxmlformats.org/drawingml/2006/main">
            <a:off x="8477250" y="2590800"/>
            <a:ext cx="3143250" cy="647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1E030CA-E273-4CEA-BC17-706777F948EA}"/>
              </a:ext>
            </a:extLst>
          </p:cNvPr>
          <p:cNvSpPr>
            <a:spLocks xmlns:a="http://schemas.openxmlformats.org/drawingml/2006/main" noGrp="1"/>
          </p:cNvSpPr>
          <p:nvPr/>
        </p:nvSpPr>
        <p:spPr>
          <a:xfrm xmlns:a="http://schemas.openxmlformats.org/drawingml/2006/main">
            <a:off x="8553450" y="2590800"/>
            <a:ext cx="704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11827"/>
                </a:solidFill>
              </a:defRPr>
            </a:pPr>
            <a:r>
              <a:rPr sz="1050" b="1">
                <a:solidFill>
                  <a:srgbClr val="111827"/>
                </a:solidFill>
              </a:rPr>
              <a:t>1</a:t>
            </a:r>
          </a:p>
        </p:txBody>
      </p:sp>
      <p:sp>
        <p:nvSpPr>
          <p:cNvPr id="20" name="">
            <a:extLst xmlns:a="http://schemas.openxmlformats.org/drawingml/2006/main">
              <a:ext uri="{FF2B5EF4-FFF2-40B4-BE49-F238E27FC236}">
                <a16:creationId xmlns:a16="http://schemas.microsoft.com/office/drawing/2014/main" id="{47A0A9F5-7723-4F4D-A84E-24ABA72A29D9}"/>
              </a:ext>
            </a:extLst>
          </p:cNvPr>
          <p:cNvSpPr>
            <a:spLocks xmlns:a="http://schemas.openxmlformats.org/drawingml/2006/main" noGrp="1"/>
          </p:cNvSpPr>
          <p:nvPr/>
        </p:nvSpPr>
        <p:spPr>
          <a:xfrm xmlns:a="http://schemas.openxmlformats.org/drawingml/2006/main">
            <a:off x="9410700" y="2590800"/>
            <a:ext cx="609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11827"/>
                </a:solidFill>
              </a:defRPr>
            </a:pPr>
            <a:r>
              <a:rPr sz="1050" b="0">
                <a:solidFill>
                  <a:srgbClr val="111827"/>
                </a:solidFill>
              </a:rPr>
              <a:t>0.806</a:t>
            </a:r>
          </a:p>
        </p:txBody>
      </p:sp>
      <p:sp>
        <p:nvSpPr>
          <p:cNvPr id="21" name="">
            <a:extLst xmlns:a="http://schemas.openxmlformats.org/drawingml/2006/main">
              <a:ext uri="{FF2B5EF4-FFF2-40B4-BE49-F238E27FC236}">
                <a16:creationId xmlns:a16="http://schemas.microsoft.com/office/drawing/2014/main" id="{B5FC7FDA-2FAE-4938-9422-5BCBD907D8C6}"/>
              </a:ext>
            </a:extLst>
          </p:cNvPr>
          <p:cNvSpPr>
            <a:spLocks xmlns:a="http://schemas.openxmlformats.org/drawingml/2006/main" noGrp="1"/>
          </p:cNvSpPr>
          <p:nvPr/>
        </p:nvSpPr>
        <p:spPr>
          <a:xfrm xmlns:a="http://schemas.openxmlformats.org/drawingml/2006/main">
            <a:off x="10172700" y="2590800"/>
            <a:ext cx="609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11827"/>
                </a:solidFill>
              </a:defRPr>
            </a:pPr>
            <a:r>
              <a:rPr sz="1050" b="0">
                <a:solidFill>
                  <a:srgbClr val="111827"/>
                </a:solidFill>
              </a:rPr>
              <a:t>0.826</a:t>
            </a:r>
          </a:p>
        </p:txBody>
      </p:sp>
      <p:sp>
        <p:nvSpPr>
          <p:cNvPr id="22" name="">
            <a:extLst xmlns:a="http://schemas.openxmlformats.org/drawingml/2006/main">
              <a:ext uri="{FF2B5EF4-FFF2-40B4-BE49-F238E27FC236}">
                <a16:creationId xmlns:a16="http://schemas.microsoft.com/office/drawing/2014/main" id="{504361FD-8D3C-43D9-A9FD-531B6D1C853E}"/>
              </a:ext>
            </a:extLst>
          </p:cNvPr>
          <p:cNvSpPr>
            <a:spLocks xmlns:a="http://schemas.openxmlformats.org/drawingml/2006/main" noGrp="1"/>
          </p:cNvSpPr>
          <p:nvPr/>
        </p:nvSpPr>
        <p:spPr>
          <a:xfrm xmlns:a="http://schemas.openxmlformats.org/drawingml/2006/main">
            <a:off x="10934700" y="2590800"/>
            <a:ext cx="609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11827"/>
                </a:solidFill>
              </a:defRPr>
            </a:pPr>
            <a:r>
              <a:rPr sz="1050" b="0">
                <a:solidFill>
                  <a:srgbClr val="111827"/>
                </a:solidFill>
              </a:rPr>
              <a:t>0.021</a:t>
            </a:r>
          </a:p>
        </p:txBody>
      </p:sp>
      <p:sp>
        <p:nvSpPr>
          <p:cNvPr id="23" name="">
            <a:extLst xmlns:a="http://schemas.openxmlformats.org/drawingml/2006/main">
              <a:ext uri="{FF2B5EF4-FFF2-40B4-BE49-F238E27FC236}">
                <a16:creationId xmlns:a16="http://schemas.microsoft.com/office/drawing/2014/main" id="{FE074BFD-C318-4FFB-A823-617A6373E3EE}"/>
              </a:ext>
            </a:extLst>
          </p:cNvPr>
          <p:cNvSpPr>
            <a:spLocks xmlns:a="http://schemas.openxmlformats.org/drawingml/2006/main" noGrp="1"/>
          </p:cNvSpPr>
          <p:nvPr/>
        </p:nvSpPr>
        <p:spPr>
          <a:xfrm xmlns:a="http://schemas.openxmlformats.org/drawingml/2006/main">
            <a:off x="8477250" y="3238500"/>
            <a:ext cx="3143250" cy="6477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96BC31D-2B21-43EF-B3C5-31463CBE9754}"/>
              </a:ext>
            </a:extLst>
          </p:cNvPr>
          <p:cNvSpPr>
            <a:spLocks xmlns:a="http://schemas.openxmlformats.org/drawingml/2006/main" noGrp="1"/>
          </p:cNvSpPr>
          <p:nvPr/>
        </p:nvSpPr>
        <p:spPr>
          <a:xfrm xmlns:a="http://schemas.openxmlformats.org/drawingml/2006/main">
            <a:off x="8553450" y="3238500"/>
            <a:ext cx="704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11827"/>
                </a:solidFill>
              </a:defRPr>
            </a:pPr>
            <a:r>
              <a:rPr sz="1050" b="1">
                <a:solidFill>
                  <a:srgbClr val="111827"/>
                </a:solidFill>
              </a:rPr>
              <a:t>2</a:t>
            </a:r>
          </a:p>
        </p:txBody>
      </p:sp>
      <p:sp>
        <p:nvSpPr>
          <p:cNvPr id="25" name="">
            <a:extLst xmlns:a="http://schemas.openxmlformats.org/drawingml/2006/main">
              <a:ext uri="{FF2B5EF4-FFF2-40B4-BE49-F238E27FC236}">
                <a16:creationId xmlns:a16="http://schemas.microsoft.com/office/drawing/2014/main" id="{9E384A26-A8B4-48C4-A718-4793F0364166}"/>
              </a:ext>
            </a:extLst>
          </p:cNvPr>
          <p:cNvSpPr>
            <a:spLocks xmlns:a="http://schemas.openxmlformats.org/drawingml/2006/main" noGrp="1"/>
          </p:cNvSpPr>
          <p:nvPr/>
        </p:nvSpPr>
        <p:spPr>
          <a:xfrm xmlns:a="http://schemas.openxmlformats.org/drawingml/2006/main">
            <a:off x="9410700" y="3238500"/>
            <a:ext cx="609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11827"/>
                </a:solidFill>
              </a:defRPr>
            </a:pPr>
            <a:r>
              <a:rPr sz="1050" b="0">
                <a:solidFill>
                  <a:srgbClr val="111827"/>
                </a:solidFill>
              </a:rPr>
              <a:t>0.862</a:t>
            </a:r>
          </a:p>
        </p:txBody>
      </p:sp>
      <p:sp>
        <p:nvSpPr>
          <p:cNvPr id="26" name="">
            <a:extLst xmlns:a="http://schemas.openxmlformats.org/drawingml/2006/main">
              <a:ext uri="{FF2B5EF4-FFF2-40B4-BE49-F238E27FC236}">
                <a16:creationId xmlns:a16="http://schemas.microsoft.com/office/drawing/2014/main" id="{5592F7FC-B2F0-4CA1-8A9D-985B85415B5E}"/>
              </a:ext>
            </a:extLst>
          </p:cNvPr>
          <p:cNvSpPr>
            <a:spLocks xmlns:a="http://schemas.openxmlformats.org/drawingml/2006/main" noGrp="1"/>
          </p:cNvSpPr>
          <p:nvPr/>
        </p:nvSpPr>
        <p:spPr>
          <a:xfrm xmlns:a="http://schemas.openxmlformats.org/drawingml/2006/main">
            <a:off x="10172700" y="3238500"/>
            <a:ext cx="609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11827"/>
                </a:solidFill>
              </a:defRPr>
            </a:pPr>
            <a:r>
              <a:rPr sz="1050" b="0">
                <a:solidFill>
                  <a:srgbClr val="111827"/>
                </a:solidFill>
              </a:rPr>
              <a:t>0.866</a:t>
            </a:r>
          </a:p>
        </p:txBody>
      </p:sp>
      <p:sp>
        <p:nvSpPr>
          <p:cNvPr id="27" name="">
            <a:extLst xmlns:a="http://schemas.openxmlformats.org/drawingml/2006/main">
              <a:ext uri="{FF2B5EF4-FFF2-40B4-BE49-F238E27FC236}">
                <a16:creationId xmlns:a16="http://schemas.microsoft.com/office/drawing/2014/main" id="{3A369D46-FFAC-4182-929C-9C63BFD4DC62}"/>
              </a:ext>
            </a:extLst>
          </p:cNvPr>
          <p:cNvSpPr>
            <a:spLocks xmlns:a="http://schemas.openxmlformats.org/drawingml/2006/main" noGrp="1"/>
          </p:cNvSpPr>
          <p:nvPr/>
        </p:nvSpPr>
        <p:spPr>
          <a:xfrm xmlns:a="http://schemas.openxmlformats.org/drawingml/2006/main">
            <a:off x="10934700" y="3238500"/>
            <a:ext cx="609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11827"/>
                </a:solidFill>
              </a:defRPr>
            </a:pPr>
            <a:r>
              <a:rPr sz="1050" b="0">
                <a:solidFill>
                  <a:srgbClr val="111827"/>
                </a:solidFill>
              </a:rPr>
              <a:t>0.027</a:t>
            </a:r>
          </a:p>
        </p:txBody>
      </p:sp>
      <p:sp>
        <p:nvSpPr>
          <p:cNvPr id="28" name="">
            <a:extLst xmlns:a="http://schemas.openxmlformats.org/drawingml/2006/main">
              <a:ext uri="{FF2B5EF4-FFF2-40B4-BE49-F238E27FC236}">
                <a16:creationId xmlns:a16="http://schemas.microsoft.com/office/drawing/2014/main" id="{758026A5-DAE8-4B89-88B7-6DB2B33BA392}"/>
              </a:ext>
            </a:extLst>
          </p:cNvPr>
          <p:cNvSpPr>
            <a:spLocks xmlns:a="http://schemas.openxmlformats.org/drawingml/2006/main" noGrp="1"/>
          </p:cNvSpPr>
          <p:nvPr/>
        </p:nvSpPr>
        <p:spPr>
          <a:xfrm xmlns:a="http://schemas.openxmlformats.org/drawingml/2006/main">
            <a:off x="8477250" y="3886200"/>
            <a:ext cx="3143250" cy="647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F0ADEE7-B636-4E46-A69C-D02602942EB9}"/>
              </a:ext>
            </a:extLst>
          </p:cNvPr>
          <p:cNvSpPr>
            <a:spLocks xmlns:a="http://schemas.openxmlformats.org/drawingml/2006/main" noGrp="1"/>
          </p:cNvSpPr>
          <p:nvPr/>
        </p:nvSpPr>
        <p:spPr>
          <a:xfrm xmlns:a="http://schemas.openxmlformats.org/drawingml/2006/main">
            <a:off x="8553450" y="3886200"/>
            <a:ext cx="704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11827"/>
                </a:solidFill>
              </a:defRPr>
            </a:pPr>
            <a:r>
              <a:rPr sz="1050" b="1">
                <a:solidFill>
                  <a:srgbClr val="111827"/>
                </a:solidFill>
              </a:rPr>
              <a:t>3</a:t>
            </a:r>
          </a:p>
        </p:txBody>
      </p:sp>
      <p:sp>
        <p:nvSpPr>
          <p:cNvPr id="30" name="">
            <a:extLst xmlns:a="http://schemas.openxmlformats.org/drawingml/2006/main">
              <a:ext uri="{FF2B5EF4-FFF2-40B4-BE49-F238E27FC236}">
                <a16:creationId xmlns:a16="http://schemas.microsoft.com/office/drawing/2014/main" id="{AA9A5ACC-368B-4A7A-99BF-21BF7D380A32}"/>
              </a:ext>
            </a:extLst>
          </p:cNvPr>
          <p:cNvSpPr>
            <a:spLocks xmlns:a="http://schemas.openxmlformats.org/drawingml/2006/main" noGrp="1"/>
          </p:cNvSpPr>
          <p:nvPr/>
        </p:nvSpPr>
        <p:spPr>
          <a:xfrm xmlns:a="http://schemas.openxmlformats.org/drawingml/2006/main">
            <a:off x="9410700" y="3886200"/>
            <a:ext cx="609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11827"/>
                </a:solidFill>
              </a:defRPr>
            </a:pPr>
            <a:r>
              <a:rPr sz="1050" b="0">
                <a:solidFill>
                  <a:srgbClr val="111827"/>
                </a:solidFill>
              </a:rPr>
              <a:t>0.892</a:t>
            </a:r>
          </a:p>
        </p:txBody>
      </p:sp>
      <p:sp>
        <p:nvSpPr>
          <p:cNvPr id="31" name="">
            <a:extLst xmlns:a="http://schemas.openxmlformats.org/drawingml/2006/main">
              <a:ext uri="{FF2B5EF4-FFF2-40B4-BE49-F238E27FC236}">
                <a16:creationId xmlns:a16="http://schemas.microsoft.com/office/drawing/2014/main" id="{90E3212B-2674-4F5E-8334-C04FB4B0F6E9}"/>
              </a:ext>
            </a:extLst>
          </p:cNvPr>
          <p:cNvSpPr>
            <a:spLocks xmlns:a="http://schemas.openxmlformats.org/drawingml/2006/main" noGrp="1"/>
          </p:cNvSpPr>
          <p:nvPr/>
        </p:nvSpPr>
        <p:spPr>
          <a:xfrm xmlns:a="http://schemas.openxmlformats.org/drawingml/2006/main">
            <a:off x="10172700" y="3886200"/>
            <a:ext cx="609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11827"/>
                </a:solidFill>
              </a:defRPr>
            </a:pPr>
            <a:r>
              <a:rPr sz="1050" b="0">
                <a:solidFill>
                  <a:srgbClr val="111827"/>
                </a:solidFill>
              </a:rPr>
              <a:t>0.879</a:t>
            </a:r>
          </a:p>
        </p:txBody>
      </p:sp>
      <p:sp>
        <p:nvSpPr>
          <p:cNvPr id="32" name="">
            <a:extLst xmlns:a="http://schemas.openxmlformats.org/drawingml/2006/main">
              <a:ext uri="{FF2B5EF4-FFF2-40B4-BE49-F238E27FC236}">
                <a16:creationId xmlns:a16="http://schemas.microsoft.com/office/drawing/2014/main" id="{8AC31039-AA7B-4C9F-9822-3B8ECC953C7F}"/>
              </a:ext>
            </a:extLst>
          </p:cNvPr>
          <p:cNvSpPr>
            <a:spLocks xmlns:a="http://schemas.openxmlformats.org/drawingml/2006/main" noGrp="1"/>
          </p:cNvSpPr>
          <p:nvPr/>
        </p:nvSpPr>
        <p:spPr>
          <a:xfrm xmlns:a="http://schemas.openxmlformats.org/drawingml/2006/main">
            <a:off x="10934700" y="3886200"/>
            <a:ext cx="609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11827"/>
                </a:solidFill>
              </a:defRPr>
            </a:pPr>
            <a:r>
              <a:rPr sz="1050" b="0">
                <a:solidFill>
                  <a:srgbClr val="111827"/>
                </a:solidFill>
              </a:rPr>
              <a:t>0.030</a:t>
            </a:r>
          </a:p>
        </p:txBody>
      </p:sp>
      <p:sp>
        <p:nvSpPr>
          <p:cNvPr id="33" name="">
            <a:extLst xmlns:a="http://schemas.openxmlformats.org/drawingml/2006/main">
              <a:ext uri="{FF2B5EF4-FFF2-40B4-BE49-F238E27FC236}">
                <a16:creationId xmlns:a16="http://schemas.microsoft.com/office/drawing/2014/main" id="{332C5854-BD1E-41B7-A44F-60DA2446A1EE}"/>
              </a:ext>
            </a:extLst>
          </p:cNvPr>
          <p:cNvSpPr>
            <a:spLocks xmlns:a="http://schemas.openxmlformats.org/drawingml/2006/main" noGrp="1"/>
          </p:cNvSpPr>
          <p:nvPr/>
        </p:nvSpPr>
        <p:spPr>
          <a:xfrm xmlns:a="http://schemas.openxmlformats.org/drawingml/2006/main">
            <a:off x="8477250" y="1619250"/>
            <a:ext cx="3143250" cy="291465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34" name="">
            <a:extLst xmlns:a="http://schemas.openxmlformats.org/drawingml/2006/main">
              <a:ext uri="{FF2B5EF4-FFF2-40B4-BE49-F238E27FC236}">
                <a16:creationId xmlns:a16="http://schemas.microsoft.com/office/drawing/2014/main" id="{908E66D3-6B25-4190-8BC4-21251142F587}"/>
              </a:ext>
            </a:extLst>
          </p:cNvPr>
          <p:cNvSpPr>
            <a:spLocks xmlns:a="http://schemas.openxmlformats.org/drawingml/2006/main" noGrp="1"/>
          </p:cNvSpPr>
          <p:nvPr/>
        </p:nvSpPr>
        <p:spPr>
          <a:xfrm xmlns:a="http://schemas.openxmlformats.org/drawingml/2006/main">
            <a:off x="8477250" y="4714875"/>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07C83"/>
                </a:solidFill>
              </a:defRPr>
            </a:pPr>
            <a:r>
              <a:rPr sz="1275" b="1">
                <a:solidFill>
                  <a:srgbClr val="007C83"/>
                </a:solidFill>
              </a:rPr>
              <a:t>Largest recovery occurs after the first complete target seed.</a:t>
            </a:r>
          </a:p>
        </p:txBody>
      </p:sp>
    </p:spTree>
    <p:extLst>
      <p:ext uri="{BB962C8B-B14F-4D97-AF65-F5344CB8AC3E}">
        <p14:creationId xmlns:p14="http://schemas.microsoft.com/office/powerpoint/2010/main" val="53414878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AD55A7F7-7368-4E73-AE02-205DC5BF9B8D}"/>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Adaptation is heterogeneous across attack pairs</a:t>
            </a:r>
          </a:p>
        </p:txBody>
      </p:sp>
      <p:sp>
        <p:nvSpPr>
          <p:cNvPr id="2" name="">
            <a:extLst xmlns:a="http://schemas.openxmlformats.org/drawingml/2006/main">
              <a:ext uri="{FF2B5EF4-FFF2-40B4-BE49-F238E27FC236}">
                <a16:creationId xmlns:a16="http://schemas.microsoft.com/office/drawing/2014/main" id="{FEAB1975-B120-4B9E-8B24-EED036E5840B}"/>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Mean recovery does not imply every source-target pairing improves monotonically.</a:t>
            </a:r>
          </a:p>
        </p:txBody>
      </p:sp>
      <p:sp>
        <p:nvSpPr>
          <p:cNvPr id="3" name="">
            <a:extLst xmlns:a="http://schemas.openxmlformats.org/drawingml/2006/main">
              <a:ext uri="{FF2B5EF4-FFF2-40B4-BE49-F238E27FC236}">
                <a16:creationId xmlns:a16="http://schemas.microsoft.com/office/drawing/2014/main" id="{CAF70467-96D8-469A-B8F3-6EAF2570F821}"/>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1A24330-DA80-46D3-934F-59969FE8C2C3}"/>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F08F549-B919-4FB5-B028-7FB54A39B893}"/>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Adaptation detail</a:t>
            </a:r>
          </a:p>
        </p:txBody>
      </p:sp>
      <p:sp>
        <p:nvSpPr>
          <p:cNvPr id="6" name="">
            <a:extLst xmlns:a="http://schemas.openxmlformats.org/drawingml/2006/main">
              <a:ext uri="{FF2B5EF4-FFF2-40B4-BE49-F238E27FC236}">
                <a16:creationId xmlns:a16="http://schemas.microsoft.com/office/drawing/2014/main" id="{D4345E1E-8C5B-4DB6-B5AA-53C17AB9A180}"/>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14  </a:t>
            </a:r>
          </a:p>
        </p:txBody>
      </p:sp>
      <p:sp>
        <p:nvSpPr>
          <p:cNvPr id="7" name="">
            <a:extLst xmlns:a="http://schemas.openxmlformats.org/drawingml/2006/main">
              <a:ext uri="{FF2B5EF4-FFF2-40B4-BE49-F238E27FC236}">
                <a16:creationId xmlns:a16="http://schemas.microsoft.com/office/drawing/2014/main" id="{0A956831-6F6B-4B66-A776-6042F6BFDDDE}"/>
              </a:ext>
            </a:extLst>
          </p:cNvPr>
          <p:cNvSpPr>
            <a:spLocks xmlns:a="http://schemas.openxmlformats.org/drawingml/2006/main" noGrp="1"/>
          </p:cNvSpPr>
          <p:nvPr/>
        </p:nvSpPr>
        <p:spPr>
          <a:xfrm xmlns:a="http://schemas.openxmlformats.org/drawingml/2006/main">
            <a:off x="552450" y="1466850"/>
            <a:ext cx="1009650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FAB93D4-CB76-469D-8599-9BF4806A0906}"/>
              </a:ext>
            </a:extLst>
          </p:cNvPr>
          <p:cNvSpPr>
            <a:spLocks xmlns:a="http://schemas.openxmlformats.org/drawingml/2006/main" noGrp="1"/>
          </p:cNvSpPr>
          <p:nvPr/>
        </p:nvSpPr>
        <p:spPr>
          <a:xfrm xmlns:a="http://schemas.openxmlformats.org/drawingml/2006/main">
            <a:off x="628650" y="14668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Source → target</a:t>
            </a:r>
          </a:p>
        </p:txBody>
      </p:sp>
      <p:sp>
        <p:nvSpPr>
          <p:cNvPr id="9" name="">
            <a:extLst xmlns:a="http://schemas.openxmlformats.org/drawingml/2006/main">
              <a:ext uri="{FF2B5EF4-FFF2-40B4-BE49-F238E27FC236}">
                <a16:creationId xmlns:a16="http://schemas.microsoft.com/office/drawing/2014/main" id="{3C1DABCF-2196-46C2-8AD9-3427E0C38BE4}"/>
              </a:ext>
            </a:extLst>
          </p:cNvPr>
          <p:cNvSpPr>
            <a:spLocks xmlns:a="http://schemas.openxmlformats.org/drawingml/2006/main" noGrp="1"/>
          </p:cNvSpPr>
          <p:nvPr/>
        </p:nvSpPr>
        <p:spPr>
          <a:xfrm xmlns:a="http://schemas.openxmlformats.org/drawingml/2006/main">
            <a:off x="2628900" y="146685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Static F1</a:t>
            </a:r>
          </a:p>
        </p:txBody>
      </p:sp>
      <p:sp>
        <p:nvSpPr>
          <p:cNvPr id="10" name="">
            <a:extLst xmlns:a="http://schemas.openxmlformats.org/drawingml/2006/main">
              <a:ext uri="{FF2B5EF4-FFF2-40B4-BE49-F238E27FC236}">
                <a16:creationId xmlns:a16="http://schemas.microsoft.com/office/drawing/2014/main" id="{B814AC5B-A637-4CB6-9F8D-88C1E0916406}"/>
              </a:ext>
            </a:extLst>
          </p:cNvPr>
          <p:cNvSpPr>
            <a:spLocks xmlns:a="http://schemas.openxmlformats.org/drawingml/2006/main" noGrp="1"/>
          </p:cNvSpPr>
          <p:nvPr/>
        </p:nvSpPr>
        <p:spPr>
          <a:xfrm xmlns:a="http://schemas.openxmlformats.org/drawingml/2006/main">
            <a:off x="4248150" y="1466850"/>
            <a:ext cx="1181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1 seed</a:t>
            </a:r>
          </a:p>
        </p:txBody>
      </p:sp>
      <p:sp>
        <p:nvSpPr>
          <p:cNvPr id="11" name="">
            <a:extLst xmlns:a="http://schemas.openxmlformats.org/drawingml/2006/main">
              <a:ext uri="{FF2B5EF4-FFF2-40B4-BE49-F238E27FC236}">
                <a16:creationId xmlns:a16="http://schemas.microsoft.com/office/drawing/2014/main" id="{40F28F8E-BC1A-4EB3-B1C3-8A1469A0852C}"/>
              </a:ext>
            </a:extLst>
          </p:cNvPr>
          <p:cNvSpPr>
            <a:spLocks xmlns:a="http://schemas.openxmlformats.org/drawingml/2006/main" noGrp="1"/>
          </p:cNvSpPr>
          <p:nvPr/>
        </p:nvSpPr>
        <p:spPr>
          <a:xfrm xmlns:a="http://schemas.openxmlformats.org/drawingml/2006/main">
            <a:off x="5581650" y="1466850"/>
            <a:ext cx="1181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2 seeds</a:t>
            </a:r>
          </a:p>
        </p:txBody>
      </p:sp>
      <p:sp>
        <p:nvSpPr>
          <p:cNvPr id="12" name="">
            <a:extLst xmlns:a="http://schemas.openxmlformats.org/drawingml/2006/main">
              <a:ext uri="{FF2B5EF4-FFF2-40B4-BE49-F238E27FC236}">
                <a16:creationId xmlns:a16="http://schemas.microsoft.com/office/drawing/2014/main" id="{7955F6B0-A528-487E-B726-18E0F1695B70}"/>
              </a:ext>
            </a:extLst>
          </p:cNvPr>
          <p:cNvSpPr>
            <a:spLocks xmlns:a="http://schemas.openxmlformats.org/drawingml/2006/main" noGrp="1"/>
          </p:cNvSpPr>
          <p:nvPr/>
        </p:nvSpPr>
        <p:spPr>
          <a:xfrm xmlns:a="http://schemas.openxmlformats.org/drawingml/2006/main">
            <a:off x="6915150" y="1466850"/>
            <a:ext cx="1181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3 seeds</a:t>
            </a:r>
          </a:p>
        </p:txBody>
      </p:sp>
      <p:sp>
        <p:nvSpPr>
          <p:cNvPr id="13" name="">
            <a:extLst xmlns:a="http://schemas.openxmlformats.org/drawingml/2006/main">
              <a:ext uri="{FF2B5EF4-FFF2-40B4-BE49-F238E27FC236}">
                <a16:creationId xmlns:a16="http://schemas.microsoft.com/office/drawing/2014/main" id="{A98B4004-1C8A-4792-8EE8-E37DEC306760}"/>
              </a:ext>
            </a:extLst>
          </p:cNvPr>
          <p:cNvSpPr>
            <a:spLocks xmlns:a="http://schemas.openxmlformats.org/drawingml/2006/main" noGrp="1"/>
          </p:cNvSpPr>
          <p:nvPr/>
        </p:nvSpPr>
        <p:spPr>
          <a:xfrm xmlns:a="http://schemas.openxmlformats.org/drawingml/2006/main">
            <a:off x="8248650" y="14668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Observed pattern</a:t>
            </a:r>
          </a:p>
        </p:txBody>
      </p:sp>
      <p:sp>
        <p:nvSpPr>
          <p:cNvPr id="14" name="">
            <a:extLst xmlns:a="http://schemas.openxmlformats.org/drawingml/2006/main">
              <a:ext uri="{FF2B5EF4-FFF2-40B4-BE49-F238E27FC236}">
                <a16:creationId xmlns:a16="http://schemas.microsoft.com/office/drawing/2014/main" id="{552AB9A5-EA36-4206-969C-33A5073898A1}"/>
              </a:ext>
            </a:extLst>
          </p:cNvPr>
          <p:cNvSpPr>
            <a:spLocks xmlns:a="http://schemas.openxmlformats.org/drawingml/2006/main" noGrp="1"/>
          </p:cNvSpPr>
          <p:nvPr/>
        </p:nvSpPr>
        <p:spPr>
          <a:xfrm xmlns:a="http://schemas.openxmlformats.org/drawingml/2006/main">
            <a:off x="552450" y="1790700"/>
            <a:ext cx="10096500" cy="6477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BFF7A98-D7CB-4711-AAFC-A19EFBA5D69B}"/>
              </a:ext>
            </a:extLst>
          </p:cNvPr>
          <p:cNvSpPr>
            <a:spLocks xmlns:a="http://schemas.openxmlformats.org/drawingml/2006/main" noGrp="1"/>
          </p:cNvSpPr>
          <p:nvPr/>
        </p:nvSpPr>
        <p:spPr>
          <a:xfrm xmlns:a="http://schemas.openxmlformats.org/drawingml/2006/main">
            <a:off x="628650" y="1790700"/>
            <a:ext cx="1847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Blackhole → DIS flood</a:t>
            </a:r>
          </a:p>
        </p:txBody>
      </p:sp>
      <p:sp>
        <p:nvSpPr>
          <p:cNvPr id="16" name="">
            <a:extLst xmlns:a="http://schemas.openxmlformats.org/drawingml/2006/main">
              <a:ext uri="{FF2B5EF4-FFF2-40B4-BE49-F238E27FC236}">
                <a16:creationId xmlns:a16="http://schemas.microsoft.com/office/drawing/2014/main" id="{09D45CBE-BF24-4C38-ACF1-91C4BA5FF5A3}"/>
              </a:ext>
            </a:extLst>
          </p:cNvPr>
          <p:cNvSpPr>
            <a:spLocks xmlns:a="http://schemas.openxmlformats.org/drawingml/2006/main" noGrp="1"/>
          </p:cNvSpPr>
          <p:nvPr/>
        </p:nvSpPr>
        <p:spPr>
          <a:xfrm xmlns:a="http://schemas.openxmlformats.org/drawingml/2006/main">
            <a:off x="2628900" y="17907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0.000</a:t>
            </a:r>
          </a:p>
        </p:txBody>
      </p:sp>
      <p:sp>
        <p:nvSpPr>
          <p:cNvPr id="17" name="">
            <a:extLst xmlns:a="http://schemas.openxmlformats.org/drawingml/2006/main">
              <a:ext uri="{FF2B5EF4-FFF2-40B4-BE49-F238E27FC236}">
                <a16:creationId xmlns:a16="http://schemas.microsoft.com/office/drawing/2014/main" id="{111DECDC-406D-4019-8509-7D1176F8339D}"/>
              </a:ext>
            </a:extLst>
          </p:cNvPr>
          <p:cNvSpPr>
            <a:spLocks xmlns:a="http://schemas.openxmlformats.org/drawingml/2006/main" noGrp="1"/>
          </p:cNvSpPr>
          <p:nvPr/>
        </p:nvSpPr>
        <p:spPr>
          <a:xfrm xmlns:a="http://schemas.openxmlformats.org/drawingml/2006/main">
            <a:off x="4248150" y="1790700"/>
            <a:ext cx="1181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1.000</a:t>
            </a:r>
          </a:p>
        </p:txBody>
      </p:sp>
      <p:sp>
        <p:nvSpPr>
          <p:cNvPr id="18" name="">
            <a:extLst xmlns:a="http://schemas.openxmlformats.org/drawingml/2006/main">
              <a:ext uri="{FF2B5EF4-FFF2-40B4-BE49-F238E27FC236}">
                <a16:creationId xmlns:a16="http://schemas.microsoft.com/office/drawing/2014/main" id="{F429C461-4BF4-436C-A712-055234FC760C}"/>
              </a:ext>
            </a:extLst>
          </p:cNvPr>
          <p:cNvSpPr>
            <a:spLocks xmlns:a="http://schemas.openxmlformats.org/drawingml/2006/main" noGrp="1"/>
          </p:cNvSpPr>
          <p:nvPr/>
        </p:nvSpPr>
        <p:spPr>
          <a:xfrm xmlns:a="http://schemas.openxmlformats.org/drawingml/2006/main">
            <a:off x="5581650" y="1790700"/>
            <a:ext cx="1181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1.000</a:t>
            </a:r>
          </a:p>
        </p:txBody>
      </p:sp>
      <p:sp>
        <p:nvSpPr>
          <p:cNvPr id="19" name="">
            <a:extLst xmlns:a="http://schemas.openxmlformats.org/drawingml/2006/main">
              <a:ext uri="{FF2B5EF4-FFF2-40B4-BE49-F238E27FC236}">
                <a16:creationId xmlns:a16="http://schemas.microsoft.com/office/drawing/2014/main" id="{9DA5F723-CD87-4701-A4B6-F24453929C29}"/>
              </a:ext>
            </a:extLst>
          </p:cNvPr>
          <p:cNvSpPr>
            <a:spLocks xmlns:a="http://schemas.openxmlformats.org/drawingml/2006/main" noGrp="1"/>
          </p:cNvSpPr>
          <p:nvPr/>
        </p:nvSpPr>
        <p:spPr>
          <a:xfrm xmlns:a="http://schemas.openxmlformats.org/drawingml/2006/main">
            <a:off x="6915150" y="1790700"/>
            <a:ext cx="1181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1.000</a:t>
            </a:r>
          </a:p>
        </p:txBody>
      </p:sp>
      <p:sp>
        <p:nvSpPr>
          <p:cNvPr id="20" name="">
            <a:extLst xmlns:a="http://schemas.openxmlformats.org/drawingml/2006/main">
              <a:ext uri="{FF2B5EF4-FFF2-40B4-BE49-F238E27FC236}">
                <a16:creationId xmlns:a16="http://schemas.microsoft.com/office/drawing/2014/main" id="{1B9F5820-2D69-4FB2-B5FF-3D3FAAEFEF39}"/>
              </a:ext>
            </a:extLst>
          </p:cNvPr>
          <p:cNvSpPr>
            <a:spLocks xmlns:a="http://schemas.openxmlformats.org/drawingml/2006/main" noGrp="1"/>
          </p:cNvSpPr>
          <p:nvPr/>
        </p:nvSpPr>
        <p:spPr>
          <a:xfrm xmlns:a="http://schemas.openxmlformats.org/drawingml/2006/main">
            <a:off x="8248650" y="179070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Immediate clean recovery</a:t>
            </a:r>
          </a:p>
        </p:txBody>
      </p:sp>
      <p:sp>
        <p:nvSpPr>
          <p:cNvPr id="21" name="">
            <a:extLst xmlns:a="http://schemas.openxmlformats.org/drawingml/2006/main">
              <a:ext uri="{FF2B5EF4-FFF2-40B4-BE49-F238E27FC236}">
                <a16:creationId xmlns:a16="http://schemas.microsoft.com/office/drawing/2014/main" id="{C20057A6-77A1-4E17-BEFA-215BAB8A5968}"/>
              </a:ext>
            </a:extLst>
          </p:cNvPr>
          <p:cNvSpPr>
            <a:spLocks xmlns:a="http://schemas.openxmlformats.org/drawingml/2006/main" noGrp="1"/>
          </p:cNvSpPr>
          <p:nvPr/>
        </p:nvSpPr>
        <p:spPr>
          <a:xfrm xmlns:a="http://schemas.openxmlformats.org/drawingml/2006/main">
            <a:off x="552450" y="2438400"/>
            <a:ext cx="10096500" cy="647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79C4FD6-8986-4AE4-9DE0-669BA897C394}"/>
              </a:ext>
            </a:extLst>
          </p:cNvPr>
          <p:cNvSpPr>
            <a:spLocks xmlns:a="http://schemas.openxmlformats.org/drawingml/2006/main" noGrp="1"/>
          </p:cNvSpPr>
          <p:nvPr/>
        </p:nvSpPr>
        <p:spPr>
          <a:xfrm xmlns:a="http://schemas.openxmlformats.org/drawingml/2006/main">
            <a:off x="628650" y="2438400"/>
            <a:ext cx="1847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Blackhole → sinkhole</a:t>
            </a:r>
          </a:p>
        </p:txBody>
      </p:sp>
      <p:sp>
        <p:nvSpPr>
          <p:cNvPr id="23" name="">
            <a:extLst xmlns:a="http://schemas.openxmlformats.org/drawingml/2006/main">
              <a:ext uri="{FF2B5EF4-FFF2-40B4-BE49-F238E27FC236}">
                <a16:creationId xmlns:a16="http://schemas.microsoft.com/office/drawing/2014/main" id="{A0EC2AD0-12BF-4482-884E-4FA0C6E5E914}"/>
              </a:ext>
            </a:extLst>
          </p:cNvPr>
          <p:cNvSpPr>
            <a:spLocks xmlns:a="http://schemas.openxmlformats.org/drawingml/2006/main" noGrp="1"/>
          </p:cNvSpPr>
          <p:nvPr/>
        </p:nvSpPr>
        <p:spPr>
          <a:xfrm xmlns:a="http://schemas.openxmlformats.org/drawingml/2006/main">
            <a:off x="2628900" y="2438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0.000</a:t>
            </a:r>
          </a:p>
        </p:txBody>
      </p:sp>
      <p:sp>
        <p:nvSpPr>
          <p:cNvPr id="24" name="">
            <a:extLst xmlns:a="http://schemas.openxmlformats.org/drawingml/2006/main">
              <a:ext uri="{FF2B5EF4-FFF2-40B4-BE49-F238E27FC236}">
                <a16:creationId xmlns:a16="http://schemas.microsoft.com/office/drawing/2014/main" id="{7EA90B72-9D59-4C86-BEB2-E9505EAC2D58}"/>
              </a:ext>
            </a:extLst>
          </p:cNvPr>
          <p:cNvSpPr>
            <a:spLocks xmlns:a="http://schemas.openxmlformats.org/drawingml/2006/main" noGrp="1"/>
          </p:cNvSpPr>
          <p:nvPr/>
        </p:nvSpPr>
        <p:spPr>
          <a:xfrm xmlns:a="http://schemas.openxmlformats.org/drawingml/2006/main">
            <a:off x="4248150" y="2438400"/>
            <a:ext cx="1181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0.571</a:t>
            </a:r>
          </a:p>
        </p:txBody>
      </p:sp>
      <p:sp>
        <p:nvSpPr>
          <p:cNvPr id="25" name="">
            <a:extLst xmlns:a="http://schemas.openxmlformats.org/drawingml/2006/main">
              <a:ext uri="{FF2B5EF4-FFF2-40B4-BE49-F238E27FC236}">
                <a16:creationId xmlns:a16="http://schemas.microsoft.com/office/drawing/2014/main" id="{2C06E1A6-EE8B-41E8-BFA2-02DBBD27AF2D}"/>
              </a:ext>
            </a:extLst>
          </p:cNvPr>
          <p:cNvSpPr>
            <a:spLocks xmlns:a="http://schemas.openxmlformats.org/drawingml/2006/main" noGrp="1"/>
          </p:cNvSpPr>
          <p:nvPr/>
        </p:nvSpPr>
        <p:spPr>
          <a:xfrm xmlns:a="http://schemas.openxmlformats.org/drawingml/2006/main">
            <a:off x="5581650" y="2438400"/>
            <a:ext cx="1181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0.966</a:t>
            </a:r>
          </a:p>
        </p:txBody>
      </p:sp>
      <p:sp>
        <p:nvSpPr>
          <p:cNvPr id="26" name="">
            <a:extLst xmlns:a="http://schemas.openxmlformats.org/drawingml/2006/main">
              <a:ext uri="{FF2B5EF4-FFF2-40B4-BE49-F238E27FC236}">
                <a16:creationId xmlns:a16="http://schemas.microsoft.com/office/drawing/2014/main" id="{2E25A179-FCEE-4A46-9FEF-1CD935BCBD07}"/>
              </a:ext>
            </a:extLst>
          </p:cNvPr>
          <p:cNvSpPr>
            <a:spLocks xmlns:a="http://schemas.openxmlformats.org/drawingml/2006/main" noGrp="1"/>
          </p:cNvSpPr>
          <p:nvPr/>
        </p:nvSpPr>
        <p:spPr>
          <a:xfrm xmlns:a="http://schemas.openxmlformats.org/drawingml/2006/main">
            <a:off x="6915150" y="2438400"/>
            <a:ext cx="1181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0.947</a:t>
            </a:r>
          </a:p>
        </p:txBody>
      </p:sp>
      <p:sp>
        <p:nvSpPr>
          <p:cNvPr id="27" name="">
            <a:extLst xmlns:a="http://schemas.openxmlformats.org/drawingml/2006/main">
              <a:ext uri="{FF2B5EF4-FFF2-40B4-BE49-F238E27FC236}">
                <a16:creationId xmlns:a16="http://schemas.microsoft.com/office/drawing/2014/main" id="{0787AF22-5904-4896-A431-D1E2F5DE913A}"/>
              </a:ext>
            </a:extLst>
          </p:cNvPr>
          <p:cNvSpPr>
            <a:spLocks xmlns:a="http://schemas.openxmlformats.org/drawingml/2006/main" noGrp="1"/>
          </p:cNvSpPr>
          <p:nvPr/>
        </p:nvSpPr>
        <p:spPr>
          <a:xfrm xmlns:a="http://schemas.openxmlformats.org/drawingml/2006/main">
            <a:off x="8248650" y="243840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Two seeds outperform one and three</a:t>
            </a:r>
          </a:p>
        </p:txBody>
      </p:sp>
      <p:sp>
        <p:nvSpPr>
          <p:cNvPr id="28" name="">
            <a:extLst xmlns:a="http://schemas.openxmlformats.org/drawingml/2006/main">
              <a:ext uri="{FF2B5EF4-FFF2-40B4-BE49-F238E27FC236}">
                <a16:creationId xmlns:a16="http://schemas.microsoft.com/office/drawing/2014/main" id="{51878DEE-B12B-4AFC-9060-2209F3B2083A}"/>
              </a:ext>
            </a:extLst>
          </p:cNvPr>
          <p:cNvSpPr>
            <a:spLocks xmlns:a="http://schemas.openxmlformats.org/drawingml/2006/main" noGrp="1"/>
          </p:cNvSpPr>
          <p:nvPr/>
        </p:nvSpPr>
        <p:spPr>
          <a:xfrm xmlns:a="http://schemas.openxmlformats.org/drawingml/2006/main">
            <a:off x="552450" y="3086100"/>
            <a:ext cx="10096500" cy="6477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0BDD525-DA69-4D2E-AE02-6B1366CCBD09}"/>
              </a:ext>
            </a:extLst>
          </p:cNvPr>
          <p:cNvSpPr>
            <a:spLocks xmlns:a="http://schemas.openxmlformats.org/drawingml/2006/main" noGrp="1"/>
          </p:cNvSpPr>
          <p:nvPr/>
        </p:nvSpPr>
        <p:spPr>
          <a:xfrm xmlns:a="http://schemas.openxmlformats.org/drawingml/2006/main">
            <a:off x="628650" y="3086100"/>
            <a:ext cx="1847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Blackhole → wormhole</a:t>
            </a:r>
          </a:p>
        </p:txBody>
      </p:sp>
      <p:sp>
        <p:nvSpPr>
          <p:cNvPr id="30" name="">
            <a:extLst xmlns:a="http://schemas.openxmlformats.org/drawingml/2006/main">
              <a:ext uri="{FF2B5EF4-FFF2-40B4-BE49-F238E27FC236}">
                <a16:creationId xmlns:a16="http://schemas.microsoft.com/office/drawing/2014/main" id="{CDCA0EB8-1D11-4F73-B23D-459260B268C1}"/>
              </a:ext>
            </a:extLst>
          </p:cNvPr>
          <p:cNvSpPr>
            <a:spLocks xmlns:a="http://schemas.openxmlformats.org/drawingml/2006/main" noGrp="1"/>
          </p:cNvSpPr>
          <p:nvPr/>
        </p:nvSpPr>
        <p:spPr>
          <a:xfrm xmlns:a="http://schemas.openxmlformats.org/drawingml/2006/main">
            <a:off x="2628900" y="30861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0.000</a:t>
            </a:r>
          </a:p>
        </p:txBody>
      </p:sp>
      <p:sp>
        <p:nvSpPr>
          <p:cNvPr id="31" name="">
            <a:extLst xmlns:a="http://schemas.openxmlformats.org/drawingml/2006/main">
              <a:ext uri="{FF2B5EF4-FFF2-40B4-BE49-F238E27FC236}">
                <a16:creationId xmlns:a16="http://schemas.microsoft.com/office/drawing/2014/main" id="{BFAF0AEB-15C3-411F-9677-CAAE49BD26F6}"/>
              </a:ext>
            </a:extLst>
          </p:cNvPr>
          <p:cNvSpPr>
            <a:spLocks xmlns:a="http://schemas.openxmlformats.org/drawingml/2006/main" noGrp="1"/>
          </p:cNvSpPr>
          <p:nvPr/>
        </p:nvSpPr>
        <p:spPr>
          <a:xfrm xmlns:a="http://schemas.openxmlformats.org/drawingml/2006/main">
            <a:off x="4248150" y="3086100"/>
            <a:ext cx="1181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0.778</a:t>
            </a:r>
          </a:p>
        </p:txBody>
      </p:sp>
      <p:sp>
        <p:nvSpPr>
          <p:cNvPr id="32" name="">
            <a:extLst xmlns:a="http://schemas.openxmlformats.org/drawingml/2006/main">
              <a:ext uri="{FF2B5EF4-FFF2-40B4-BE49-F238E27FC236}">
                <a16:creationId xmlns:a16="http://schemas.microsoft.com/office/drawing/2014/main" id="{4F7301DE-9C51-4865-87B9-CB4B6FFC784A}"/>
              </a:ext>
            </a:extLst>
          </p:cNvPr>
          <p:cNvSpPr>
            <a:spLocks xmlns:a="http://schemas.openxmlformats.org/drawingml/2006/main" noGrp="1"/>
          </p:cNvSpPr>
          <p:nvPr/>
        </p:nvSpPr>
        <p:spPr>
          <a:xfrm xmlns:a="http://schemas.openxmlformats.org/drawingml/2006/main">
            <a:off x="5581650" y="3086100"/>
            <a:ext cx="1181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0.692</a:t>
            </a:r>
          </a:p>
        </p:txBody>
      </p:sp>
      <p:sp>
        <p:nvSpPr>
          <p:cNvPr id="33" name="">
            <a:extLst xmlns:a="http://schemas.openxmlformats.org/drawingml/2006/main">
              <a:ext uri="{FF2B5EF4-FFF2-40B4-BE49-F238E27FC236}">
                <a16:creationId xmlns:a16="http://schemas.microsoft.com/office/drawing/2014/main" id="{39FB3230-02C8-41F8-B8A2-148E08A071D3}"/>
              </a:ext>
            </a:extLst>
          </p:cNvPr>
          <p:cNvSpPr>
            <a:spLocks xmlns:a="http://schemas.openxmlformats.org/drawingml/2006/main" noGrp="1"/>
          </p:cNvSpPr>
          <p:nvPr/>
        </p:nvSpPr>
        <p:spPr>
          <a:xfrm xmlns:a="http://schemas.openxmlformats.org/drawingml/2006/main">
            <a:off x="6915150" y="3086100"/>
            <a:ext cx="1181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0.727</a:t>
            </a:r>
          </a:p>
        </p:txBody>
      </p:sp>
      <p:sp>
        <p:nvSpPr>
          <p:cNvPr id="34" name="">
            <a:extLst xmlns:a="http://schemas.openxmlformats.org/drawingml/2006/main">
              <a:ext uri="{FF2B5EF4-FFF2-40B4-BE49-F238E27FC236}">
                <a16:creationId xmlns:a16="http://schemas.microsoft.com/office/drawing/2014/main" id="{BDF6BAB1-7173-4DE7-A69C-12448F297244}"/>
              </a:ext>
            </a:extLst>
          </p:cNvPr>
          <p:cNvSpPr>
            <a:spLocks xmlns:a="http://schemas.openxmlformats.org/drawingml/2006/main" noGrp="1"/>
          </p:cNvSpPr>
          <p:nvPr/>
        </p:nvSpPr>
        <p:spPr>
          <a:xfrm xmlns:a="http://schemas.openxmlformats.org/drawingml/2006/main">
            <a:off x="8248650" y="308610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Non-monotonic</a:t>
            </a:r>
          </a:p>
        </p:txBody>
      </p:sp>
      <p:sp>
        <p:nvSpPr>
          <p:cNvPr id="35" name="">
            <a:extLst xmlns:a="http://schemas.openxmlformats.org/drawingml/2006/main">
              <a:ext uri="{FF2B5EF4-FFF2-40B4-BE49-F238E27FC236}">
                <a16:creationId xmlns:a16="http://schemas.microsoft.com/office/drawing/2014/main" id="{7AAABFE1-83E1-432E-AC07-0ADFE8FDA331}"/>
              </a:ext>
            </a:extLst>
          </p:cNvPr>
          <p:cNvSpPr>
            <a:spLocks xmlns:a="http://schemas.openxmlformats.org/drawingml/2006/main" noGrp="1"/>
          </p:cNvSpPr>
          <p:nvPr/>
        </p:nvSpPr>
        <p:spPr>
          <a:xfrm xmlns:a="http://schemas.openxmlformats.org/drawingml/2006/main">
            <a:off x="552450" y="3733800"/>
            <a:ext cx="10096500" cy="647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F1FF4F4-9B12-46E5-A185-37716C00612F}"/>
              </a:ext>
            </a:extLst>
          </p:cNvPr>
          <p:cNvSpPr>
            <a:spLocks xmlns:a="http://schemas.openxmlformats.org/drawingml/2006/main" noGrp="1"/>
          </p:cNvSpPr>
          <p:nvPr/>
        </p:nvSpPr>
        <p:spPr>
          <a:xfrm xmlns:a="http://schemas.openxmlformats.org/drawingml/2006/main">
            <a:off x="628650" y="3733800"/>
            <a:ext cx="1847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DIO suppression → Sybil</a:t>
            </a:r>
          </a:p>
        </p:txBody>
      </p:sp>
      <p:sp>
        <p:nvSpPr>
          <p:cNvPr id="37" name="">
            <a:extLst xmlns:a="http://schemas.openxmlformats.org/drawingml/2006/main">
              <a:ext uri="{FF2B5EF4-FFF2-40B4-BE49-F238E27FC236}">
                <a16:creationId xmlns:a16="http://schemas.microsoft.com/office/drawing/2014/main" id="{27DEAB62-0F04-4385-8FAD-B0A2A9362DD3}"/>
              </a:ext>
            </a:extLst>
          </p:cNvPr>
          <p:cNvSpPr>
            <a:spLocks xmlns:a="http://schemas.openxmlformats.org/drawingml/2006/main" noGrp="1"/>
          </p:cNvSpPr>
          <p:nvPr/>
        </p:nvSpPr>
        <p:spPr>
          <a:xfrm xmlns:a="http://schemas.openxmlformats.org/drawingml/2006/main">
            <a:off x="2628900" y="37338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0.000</a:t>
            </a:r>
          </a:p>
        </p:txBody>
      </p:sp>
      <p:sp>
        <p:nvSpPr>
          <p:cNvPr id="38" name="">
            <a:extLst xmlns:a="http://schemas.openxmlformats.org/drawingml/2006/main">
              <a:ext uri="{FF2B5EF4-FFF2-40B4-BE49-F238E27FC236}">
                <a16:creationId xmlns:a16="http://schemas.microsoft.com/office/drawing/2014/main" id="{FB47DDAA-982C-4252-97D2-3C0173671E1C}"/>
              </a:ext>
            </a:extLst>
          </p:cNvPr>
          <p:cNvSpPr>
            <a:spLocks xmlns:a="http://schemas.openxmlformats.org/drawingml/2006/main" noGrp="1"/>
          </p:cNvSpPr>
          <p:nvPr/>
        </p:nvSpPr>
        <p:spPr>
          <a:xfrm xmlns:a="http://schemas.openxmlformats.org/drawingml/2006/main">
            <a:off x="4248150" y="3733800"/>
            <a:ext cx="1181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0.889</a:t>
            </a:r>
          </a:p>
        </p:txBody>
      </p:sp>
      <p:sp>
        <p:nvSpPr>
          <p:cNvPr id="39" name="">
            <a:extLst xmlns:a="http://schemas.openxmlformats.org/drawingml/2006/main">
              <a:ext uri="{FF2B5EF4-FFF2-40B4-BE49-F238E27FC236}">
                <a16:creationId xmlns:a16="http://schemas.microsoft.com/office/drawing/2014/main" id="{C83D2255-E832-4379-AF2F-E5AC54D4F8EE}"/>
              </a:ext>
            </a:extLst>
          </p:cNvPr>
          <p:cNvSpPr>
            <a:spLocks xmlns:a="http://schemas.openxmlformats.org/drawingml/2006/main" noGrp="1"/>
          </p:cNvSpPr>
          <p:nvPr/>
        </p:nvSpPr>
        <p:spPr>
          <a:xfrm xmlns:a="http://schemas.openxmlformats.org/drawingml/2006/main">
            <a:off x="5581650" y="3733800"/>
            <a:ext cx="1181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0.846</a:t>
            </a:r>
          </a:p>
        </p:txBody>
      </p:sp>
      <p:sp>
        <p:nvSpPr>
          <p:cNvPr id="40" name="">
            <a:extLst xmlns:a="http://schemas.openxmlformats.org/drawingml/2006/main">
              <a:ext uri="{FF2B5EF4-FFF2-40B4-BE49-F238E27FC236}">
                <a16:creationId xmlns:a16="http://schemas.microsoft.com/office/drawing/2014/main" id="{BD633F28-27F7-4F1F-A4BB-75B9EFED3C66}"/>
              </a:ext>
            </a:extLst>
          </p:cNvPr>
          <p:cNvSpPr>
            <a:spLocks xmlns:a="http://schemas.openxmlformats.org/drawingml/2006/main" noGrp="1"/>
          </p:cNvSpPr>
          <p:nvPr/>
        </p:nvSpPr>
        <p:spPr>
          <a:xfrm xmlns:a="http://schemas.openxmlformats.org/drawingml/2006/main">
            <a:off x="6915150" y="3733800"/>
            <a:ext cx="1181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0.750</a:t>
            </a:r>
          </a:p>
        </p:txBody>
      </p:sp>
      <p:sp>
        <p:nvSpPr>
          <p:cNvPr id="41" name="">
            <a:extLst xmlns:a="http://schemas.openxmlformats.org/drawingml/2006/main">
              <a:ext uri="{FF2B5EF4-FFF2-40B4-BE49-F238E27FC236}">
                <a16:creationId xmlns:a16="http://schemas.microsoft.com/office/drawing/2014/main" id="{09513312-2579-45F7-81B0-1F4799ECC1B3}"/>
              </a:ext>
            </a:extLst>
          </p:cNvPr>
          <p:cNvSpPr>
            <a:spLocks xmlns:a="http://schemas.openxmlformats.org/drawingml/2006/main" noGrp="1"/>
          </p:cNvSpPr>
          <p:nvPr/>
        </p:nvSpPr>
        <p:spPr>
          <a:xfrm xmlns:a="http://schemas.openxmlformats.org/drawingml/2006/main">
            <a:off x="8248650" y="373380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More target data reduces this pairing</a:t>
            </a:r>
          </a:p>
        </p:txBody>
      </p:sp>
      <p:sp>
        <p:nvSpPr>
          <p:cNvPr id="42" name="">
            <a:extLst xmlns:a="http://schemas.openxmlformats.org/drawingml/2006/main">
              <a:ext uri="{FF2B5EF4-FFF2-40B4-BE49-F238E27FC236}">
                <a16:creationId xmlns:a16="http://schemas.microsoft.com/office/drawing/2014/main" id="{B87CAD5E-54F1-4FBD-A329-1C9884E34D1B}"/>
              </a:ext>
            </a:extLst>
          </p:cNvPr>
          <p:cNvSpPr>
            <a:spLocks xmlns:a="http://schemas.openxmlformats.org/drawingml/2006/main" noGrp="1"/>
          </p:cNvSpPr>
          <p:nvPr/>
        </p:nvSpPr>
        <p:spPr>
          <a:xfrm xmlns:a="http://schemas.openxmlformats.org/drawingml/2006/main">
            <a:off x="552450" y="4381500"/>
            <a:ext cx="10096500" cy="6477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5A18EBAD-E466-4CE1-A3A0-2FEFB9D77CB4}"/>
              </a:ext>
            </a:extLst>
          </p:cNvPr>
          <p:cNvSpPr>
            <a:spLocks xmlns:a="http://schemas.openxmlformats.org/drawingml/2006/main" noGrp="1"/>
          </p:cNvSpPr>
          <p:nvPr/>
        </p:nvSpPr>
        <p:spPr>
          <a:xfrm xmlns:a="http://schemas.openxmlformats.org/drawingml/2006/main">
            <a:off x="628650" y="4381500"/>
            <a:ext cx="1847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DIS flood → DIO suppression</a:t>
            </a:r>
          </a:p>
        </p:txBody>
      </p:sp>
      <p:sp>
        <p:nvSpPr>
          <p:cNvPr id="44" name="">
            <a:extLst xmlns:a="http://schemas.openxmlformats.org/drawingml/2006/main">
              <a:ext uri="{FF2B5EF4-FFF2-40B4-BE49-F238E27FC236}">
                <a16:creationId xmlns:a16="http://schemas.microsoft.com/office/drawing/2014/main" id="{C95BF9CA-3599-4997-868F-8C6FD963D2DC}"/>
              </a:ext>
            </a:extLst>
          </p:cNvPr>
          <p:cNvSpPr>
            <a:spLocks xmlns:a="http://schemas.openxmlformats.org/drawingml/2006/main" noGrp="1"/>
          </p:cNvSpPr>
          <p:nvPr/>
        </p:nvSpPr>
        <p:spPr>
          <a:xfrm xmlns:a="http://schemas.openxmlformats.org/drawingml/2006/main">
            <a:off x="2628900" y="43815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0.000</a:t>
            </a:r>
          </a:p>
        </p:txBody>
      </p:sp>
      <p:sp>
        <p:nvSpPr>
          <p:cNvPr id="45" name="">
            <a:extLst xmlns:a="http://schemas.openxmlformats.org/drawingml/2006/main">
              <a:ext uri="{FF2B5EF4-FFF2-40B4-BE49-F238E27FC236}">
                <a16:creationId xmlns:a16="http://schemas.microsoft.com/office/drawing/2014/main" id="{5C4777AA-D781-4927-AAF6-7B679E16E6C9}"/>
              </a:ext>
            </a:extLst>
          </p:cNvPr>
          <p:cNvSpPr>
            <a:spLocks xmlns:a="http://schemas.openxmlformats.org/drawingml/2006/main" noGrp="1"/>
          </p:cNvSpPr>
          <p:nvPr/>
        </p:nvSpPr>
        <p:spPr>
          <a:xfrm xmlns:a="http://schemas.openxmlformats.org/drawingml/2006/main">
            <a:off x="4248150" y="4381500"/>
            <a:ext cx="1181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0.000</a:t>
            </a:r>
          </a:p>
        </p:txBody>
      </p:sp>
      <p:sp>
        <p:nvSpPr>
          <p:cNvPr id="46" name="">
            <a:extLst xmlns:a="http://schemas.openxmlformats.org/drawingml/2006/main">
              <a:ext uri="{FF2B5EF4-FFF2-40B4-BE49-F238E27FC236}">
                <a16:creationId xmlns:a16="http://schemas.microsoft.com/office/drawing/2014/main" id="{22655B36-6282-4B4D-96B8-A769D397EB20}"/>
              </a:ext>
            </a:extLst>
          </p:cNvPr>
          <p:cNvSpPr>
            <a:spLocks xmlns:a="http://schemas.openxmlformats.org/drawingml/2006/main" noGrp="1"/>
          </p:cNvSpPr>
          <p:nvPr/>
        </p:nvSpPr>
        <p:spPr>
          <a:xfrm xmlns:a="http://schemas.openxmlformats.org/drawingml/2006/main">
            <a:off x="5581650" y="4381500"/>
            <a:ext cx="1181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0.000</a:t>
            </a:r>
          </a:p>
        </p:txBody>
      </p:sp>
      <p:sp>
        <p:nvSpPr>
          <p:cNvPr id="47" name="">
            <a:extLst xmlns:a="http://schemas.openxmlformats.org/drawingml/2006/main">
              <a:ext uri="{FF2B5EF4-FFF2-40B4-BE49-F238E27FC236}">
                <a16:creationId xmlns:a16="http://schemas.microsoft.com/office/drawing/2014/main" id="{4FD530AF-DA7C-4873-9DD2-EF1F400E598F}"/>
              </a:ext>
            </a:extLst>
          </p:cNvPr>
          <p:cNvSpPr>
            <a:spLocks xmlns:a="http://schemas.openxmlformats.org/drawingml/2006/main" noGrp="1"/>
          </p:cNvSpPr>
          <p:nvPr/>
        </p:nvSpPr>
        <p:spPr>
          <a:xfrm xmlns:a="http://schemas.openxmlformats.org/drawingml/2006/main">
            <a:off x="6915150" y="4381500"/>
            <a:ext cx="1181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0.000</a:t>
            </a:r>
          </a:p>
        </p:txBody>
      </p:sp>
      <p:sp>
        <p:nvSpPr>
          <p:cNvPr id="48" name="">
            <a:extLst xmlns:a="http://schemas.openxmlformats.org/drawingml/2006/main">
              <a:ext uri="{FF2B5EF4-FFF2-40B4-BE49-F238E27FC236}">
                <a16:creationId xmlns:a16="http://schemas.microsoft.com/office/drawing/2014/main" id="{B75B9DE0-D1A6-4FDA-BBF7-45DEA5D5372C}"/>
              </a:ext>
            </a:extLst>
          </p:cNvPr>
          <p:cNvSpPr>
            <a:spLocks xmlns:a="http://schemas.openxmlformats.org/drawingml/2006/main" noGrp="1"/>
          </p:cNvSpPr>
          <p:nvPr/>
        </p:nvSpPr>
        <p:spPr>
          <a:xfrm xmlns:a="http://schemas.openxmlformats.org/drawingml/2006/main">
            <a:off x="8248650" y="438150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Representation remains insufficient</a:t>
            </a:r>
          </a:p>
        </p:txBody>
      </p:sp>
      <p:sp>
        <p:nvSpPr>
          <p:cNvPr id="49" name="">
            <a:extLst xmlns:a="http://schemas.openxmlformats.org/drawingml/2006/main">
              <a:ext uri="{FF2B5EF4-FFF2-40B4-BE49-F238E27FC236}">
                <a16:creationId xmlns:a16="http://schemas.microsoft.com/office/drawing/2014/main" id="{708F6B3B-9B52-4FD2-AF48-1A01D48D9464}"/>
              </a:ext>
            </a:extLst>
          </p:cNvPr>
          <p:cNvSpPr>
            <a:spLocks xmlns:a="http://schemas.openxmlformats.org/drawingml/2006/main" noGrp="1"/>
          </p:cNvSpPr>
          <p:nvPr/>
        </p:nvSpPr>
        <p:spPr>
          <a:xfrm xmlns:a="http://schemas.openxmlformats.org/drawingml/2006/main">
            <a:off x="552450" y="5029200"/>
            <a:ext cx="10096500" cy="647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5E527CC0-E077-42F1-A57C-2C6936C16220}"/>
              </a:ext>
            </a:extLst>
          </p:cNvPr>
          <p:cNvSpPr>
            <a:spLocks xmlns:a="http://schemas.openxmlformats.org/drawingml/2006/main" noGrp="1"/>
          </p:cNvSpPr>
          <p:nvPr/>
        </p:nvSpPr>
        <p:spPr>
          <a:xfrm xmlns:a="http://schemas.openxmlformats.org/drawingml/2006/main">
            <a:off x="628650" y="5029200"/>
            <a:ext cx="1847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Grayhole → blackhole</a:t>
            </a:r>
          </a:p>
        </p:txBody>
      </p:sp>
      <p:sp>
        <p:nvSpPr>
          <p:cNvPr id="51" name="">
            <a:extLst xmlns:a="http://schemas.openxmlformats.org/drawingml/2006/main">
              <a:ext uri="{FF2B5EF4-FFF2-40B4-BE49-F238E27FC236}">
                <a16:creationId xmlns:a16="http://schemas.microsoft.com/office/drawing/2014/main" id="{F37F1092-A45A-49EE-9403-A8948A9AE498}"/>
              </a:ext>
            </a:extLst>
          </p:cNvPr>
          <p:cNvSpPr>
            <a:spLocks xmlns:a="http://schemas.openxmlformats.org/drawingml/2006/main" noGrp="1"/>
          </p:cNvSpPr>
          <p:nvPr/>
        </p:nvSpPr>
        <p:spPr>
          <a:xfrm xmlns:a="http://schemas.openxmlformats.org/drawingml/2006/main">
            <a:off x="2628900" y="50292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1.000</a:t>
            </a:r>
          </a:p>
        </p:txBody>
      </p:sp>
      <p:sp>
        <p:nvSpPr>
          <p:cNvPr id="52" name="">
            <a:extLst xmlns:a="http://schemas.openxmlformats.org/drawingml/2006/main">
              <a:ext uri="{FF2B5EF4-FFF2-40B4-BE49-F238E27FC236}">
                <a16:creationId xmlns:a16="http://schemas.microsoft.com/office/drawing/2014/main" id="{10D5061E-D4B7-46D2-8A89-033BD14537CC}"/>
              </a:ext>
            </a:extLst>
          </p:cNvPr>
          <p:cNvSpPr>
            <a:spLocks xmlns:a="http://schemas.openxmlformats.org/drawingml/2006/main" noGrp="1"/>
          </p:cNvSpPr>
          <p:nvPr/>
        </p:nvSpPr>
        <p:spPr>
          <a:xfrm xmlns:a="http://schemas.openxmlformats.org/drawingml/2006/main">
            <a:off x="4248150" y="5029200"/>
            <a:ext cx="1181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1.000</a:t>
            </a:r>
          </a:p>
        </p:txBody>
      </p:sp>
      <p:sp>
        <p:nvSpPr>
          <p:cNvPr id="53" name="">
            <a:extLst xmlns:a="http://schemas.openxmlformats.org/drawingml/2006/main">
              <a:ext uri="{FF2B5EF4-FFF2-40B4-BE49-F238E27FC236}">
                <a16:creationId xmlns:a16="http://schemas.microsoft.com/office/drawing/2014/main" id="{908B7E33-DA83-4379-9E33-3A9713626FD2}"/>
              </a:ext>
            </a:extLst>
          </p:cNvPr>
          <p:cNvSpPr>
            <a:spLocks xmlns:a="http://schemas.openxmlformats.org/drawingml/2006/main" noGrp="1"/>
          </p:cNvSpPr>
          <p:nvPr/>
        </p:nvSpPr>
        <p:spPr>
          <a:xfrm xmlns:a="http://schemas.openxmlformats.org/drawingml/2006/main">
            <a:off x="5581650" y="5029200"/>
            <a:ext cx="1181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1.000</a:t>
            </a:r>
          </a:p>
        </p:txBody>
      </p:sp>
      <p:sp>
        <p:nvSpPr>
          <p:cNvPr id="54" name="">
            <a:extLst xmlns:a="http://schemas.openxmlformats.org/drawingml/2006/main">
              <a:ext uri="{FF2B5EF4-FFF2-40B4-BE49-F238E27FC236}">
                <a16:creationId xmlns:a16="http://schemas.microsoft.com/office/drawing/2014/main" id="{CE72D265-E00F-4656-A4C0-B787239B50CE}"/>
              </a:ext>
            </a:extLst>
          </p:cNvPr>
          <p:cNvSpPr>
            <a:spLocks xmlns:a="http://schemas.openxmlformats.org/drawingml/2006/main" noGrp="1"/>
          </p:cNvSpPr>
          <p:nvPr/>
        </p:nvSpPr>
        <p:spPr>
          <a:xfrm xmlns:a="http://schemas.openxmlformats.org/drawingml/2006/main">
            <a:off x="6915150" y="5029200"/>
            <a:ext cx="1181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1.000</a:t>
            </a:r>
          </a:p>
        </p:txBody>
      </p:sp>
      <p:sp>
        <p:nvSpPr>
          <p:cNvPr id="55" name="">
            <a:extLst xmlns:a="http://schemas.openxmlformats.org/drawingml/2006/main">
              <a:ext uri="{FF2B5EF4-FFF2-40B4-BE49-F238E27FC236}">
                <a16:creationId xmlns:a16="http://schemas.microsoft.com/office/drawing/2014/main" id="{E54A8C27-2D8E-4A91-A695-C50931D51D20}"/>
              </a:ext>
            </a:extLst>
          </p:cNvPr>
          <p:cNvSpPr>
            <a:spLocks xmlns:a="http://schemas.openxmlformats.org/drawingml/2006/main" noGrp="1"/>
          </p:cNvSpPr>
          <p:nvPr/>
        </p:nvSpPr>
        <p:spPr>
          <a:xfrm xmlns:a="http://schemas.openxmlformats.org/drawingml/2006/main">
            <a:off x="8248650" y="502920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Mechanism similarity transfers</a:t>
            </a:r>
          </a:p>
        </p:txBody>
      </p:sp>
      <p:sp>
        <p:nvSpPr>
          <p:cNvPr id="56" name="">
            <a:extLst xmlns:a="http://schemas.openxmlformats.org/drawingml/2006/main">
              <a:ext uri="{FF2B5EF4-FFF2-40B4-BE49-F238E27FC236}">
                <a16:creationId xmlns:a16="http://schemas.microsoft.com/office/drawing/2014/main" id="{A33215E4-D9C8-45DD-B15B-358D9C1C4431}"/>
              </a:ext>
            </a:extLst>
          </p:cNvPr>
          <p:cNvSpPr>
            <a:spLocks xmlns:a="http://schemas.openxmlformats.org/drawingml/2006/main" noGrp="1"/>
          </p:cNvSpPr>
          <p:nvPr/>
        </p:nvSpPr>
        <p:spPr>
          <a:xfrm xmlns:a="http://schemas.openxmlformats.org/drawingml/2006/main">
            <a:off x="552450" y="1466850"/>
            <a:ext cx="10096500" cy="421005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57" name="">
            <a:extLst xmlns:a="http://schemas.openxmlformats.org/drawingml/2006/main">
              <a:ext uri="{FF2B5EF4-FFF2-40B4-BE49-F238E27FC236}">
                <a16:creationId xmlns:a16="http://schemas.microsoft.com/office/drawing/2014/main" id="{63A97C89-BE10-4A4A-95FC-9128047FF825}"/>
              </a:ext>
            </a:extLst>
          </p:cNvPr>
          <p:cNvSpPr>
            <a:spLocks xmlns:a="http://schemas.openxmlformats.org/drawingml/2006/main" noGrp="1"/>
          </p:cNvSpPr>
          <p:nvPr/>
        </p:nvSpPr>
        <p:spPr>
          <a:xfrm xmlns:a="http://schemas.openxmlformats.org/drawingml/2006/main">
            <a:off x="666750" y="5695950"/>
            <a:ext cx="9906000" cy="4572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884AC65F-5993-4ADE-9D19-E49DA9ADC6F8}"/>
              </a:ext>
            </a:extLst>
          </p:cNvPr>
          <p:cNvSpPr>
            <a:spLocks xmlns:a="http://schemas.openxmlformats.org/drawingml/2006/main" noGrp="1"/>
          </p:cNvSpPr>
          <p:nvPr/>
        </p:nvSpPr>
        <p:spPr>
          <a:xfrm xmlns:a="http://schemas.openxmlformats.org/drawingml/2006/main">
            <a:off x="666750" y="5695950"/>
            <a:ext cx="47625" cy="4572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4E55CB50-43BF-45F7-8894-D085C3C55ED2}"/>
              </a:ext>
            </a:extLst>
          </p:cNvPr>
          <p:cNvSpPr>
            <a:spLocks xmlns:a="http://schemas.openxmlformats.org/drawingml/2006/main" noGrp="1"/>
          </p:cNvSpPr>
          <p:nvPr/>
        </p:nvSpPr>
        <p:spPr>
          <a:xfrm xmlns:a="http://schemas.openxmlformats.org/drawingml/2006/main">
            <a:off x="838200" y="5781675"/>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827"/>
                </a:solidFill>
              </a:defRPr>
            </a:pPr>
            <a:r>
              <a:rPr sz="1275" b="1">
                <a:solidFill>
                  <a:srgbClr val="111827"/>
                </a:solidFill>
              </a:rPr>
              <a:t>The correct claim is average recovery with unresolved pair-specific failures, not universal convergence.</a:t>
            </a:r>
          </a:p>
        </p:txBody>
      </p:sp>
    </p:spTree>
    <p:extLst>
      <p:ext uri="{BB962C8B-B14F-4D97-AF65-F5344CB8AC3E}">
        <p14:creationId xmlns:p14="http://schemas.microsoft.com/office/powerpoint/2010/main" val="143028820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F3AEC139-20CC-4310-BD14-9F597DA76621}"/>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Why Sybil is a meaningful new attack surface</a:t>
            </a:r>
          </a:p>
        </p:txBody>
      </p:sp>
      <p:sp>
        <p:nvSpPr>
          <p:cNvPr id="2" name="">
            <a:extLst xmlns:a="http://schemas.openxmlformats.org/drawingml/2006/main">
              <a:ext uri="{FF2B5EF4-FFF2-40B4-BE49-F238E27FC236}">
                <a16:creationId xmlns:a16="http://schemas.microsoft.com/office/drawing/2014/main" id="{639EA322-CE5D-4011-A83A-F3E8AF972EB9}"/>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One physical node creates multiple apparent RPL identities, changing the observable from forwarding or rank to identity consistency.</a:t>
            </a:r>
          </a:p>
        </p:txBody>
      </p:sp>
      <p:sp>
        <p:nvSpPr>
          <p:cNvPr id="3" name="">
            <a:extLst xmlns:a="http://schemas.openxmlformats.org/drawingml/2006/main">
              <a:ext uri="{FF2B5EF4-FFF2-40B4-BE49-F238E27FC236}">
                <a16:creationId xmlns:a16="http://schemas.microsoft.com/office/drawing/2014/main" id="{CDD2B69F-5D2D-41EB-AEE9-39AD9DB32126}"/>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2C3E5E3-126B-4095-B2E0-5BCE4763C3D7}"/>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512D474-0012-4A3E-B45B-A22F4DBAEF56}"/>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Sybil contribution</a:t>
            </a:r>
          </a:p>
        </p:txBody>
      </p:sp>
      <p:sp>
        <p:nvSpPr>
          <p:cNvPr id="6" name="">
            <a:extLst xmlns:a="http://schemas.openxmlformats.org/drawingml/2006/main">
              <a:ext uri="{FF2B5EF4-FFF2-40B4-BE49-F238E27FC236}">
                <a16:creationId xmlns:a16="http://schemas.microsoft.com/office/drawing/2014/main" id="{B8FD5E8C-2CA2-4AC0-9016-2D8691BCBC7F}"/>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15  </a:t>
            </a:r>
          </a:p>
        </p:txBody>
      </p:sp>
      <p:sp>
        <p:nvSpPr>
          <p:cNvPr id="7" name="">
            <a:extLst xmlns:a="http://schemas.openxmlformats.org/drawingml/2006/main">
              <a:ext uri="{FF2B5EF4-FFF2-40B4-BE49-F238E27FC236}">
                <a16:creationId xmlns:a16="http://schemas.microsoft.com/office/drawing/2014/main" id="{54A20B63-63FA-4774-92CD-A76E4987746A}"/>
              </a:ext>
            </a:extLst>
          </p:cNvPr>
          <p:cNvSpPr>
            <a:spLocks xmlns:a="http://schemas.openxmlformats.org/drawingml/2006/main" noGrp="1"/>
          </p:cNvSpPr>
          <p:nvPr/>
        </p:nvSpPr>
        <p:spPr>
          <a:xfrm xmlns:a="http://schemas.openxmlformats.org/drawingml/2006/main">
            <a:off x="552450" y="1466850"/>
            <a:ext cx="9953625"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B104909-053D-4453-8169-3757DE57CE75}"/>
              </a:ext>
            </a:extLst>
          </p:cNvPr>
          <p:cNvSpPr>
            <a:spLocks xmlns:a="http://schemas.openxmlformats.org/drawingml/2006/main" noGrp="1"/>
          </p:cNvSpPr>
          <p:nvPr/>
        </p:nvSpPr>
        <p:spPr>
          <a:xfrm xmlns:a="http://schemas.openxmlformats.org/drawingml/2006/main">
            <a:off x="628650" y="14668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Dimension</a:t>
            </a:r>
          </a:p>
        </p:txBody>
      </p:sp>
      <p:sp>
        <p:nvSpPr>
          <p:cNvPr id="9" name="">
            <a:extLst xmlns:a="http://schemas.openxmlformats.org/drawingml/2006/main">
              <a:ext uri="{FF2B5EF4-FFF2-40B4-BE49-F238E27FC236}">
                <a16:creationId xmlns:a16="http://schemas.microsoft.com/office/drawing/2014/main" id="{B83F759C-D183-4F81-A9AD-4098D5A25701}"/>
              </a:ext>
            </a:extLst>
          </p:cNvPr>
          <p:cNvSpPr>
            <a:spLocks xmlns:a="http://schemas.openxmlformats.org/drawingml/2006/main" noGrp="1"/>
          </p:cNvSpPr>
          <p:nvPr/>
        </p:nvSpPr>
        <p:spPr>
          <a:xfrm xmlns:a="http://schemas.openxmlformats.org/drawingml/2006/main">
            <a:off x="2628900" y="14668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Existing attack examples</a:t>
            </a:r>
          </a:p>
        </p:txBody>
      </p:sp>
      <p:sp>
        <p:nvSpPr>
          <p:cNvPr id="10" name="">
            <a:extLst xmlns:a="http://schemas.openxmlformats.org/drawingml/2006/main">
              <a:ext uri="{FF2B5EF4-FFF2-40B4-BE49-F238E27FC236}">
                <a16:creationId xmlns:a16="http://schemas.microsoft.com/office/drawing/2014/main" id="{CF7FDD1D-1DBA-420A-9011-E9B81026D9D4}"/>
              </a:ext>
            </a:extLst>
          </p:cNvPr>
          <p:cNvSpPr>
            <a:spLocks xmlns:a="http://schemas.openxmlformats.org/drawingml/2006/main" noGrp="1"/>
          </p:cNvSpPr>
          <p:nvPr/>
        </p:nvSpPr>
        <p:spPr>
          <a:xfrm xmlns:a="http://schemas.openxmlformats.org/drawingml/2006/main">
            <a:off x="4819650" y="1466850"/>
            <a:ext cx="2466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Sybil mechanism</a:t>
            </a:r>
          </a:p>
        </p:txBody>
      </p:sp>
      <p:sp>
        <p:nvSpPr>
          <p:cNvPr id="11" name="">
            <a:extLst xmlns:a="http://schemas.openxmlformats.org/drawingml/2006/main">
              <a:ext uri="{FF2B5EF4-FFF2-40B4-BE49-F238E27FC236}">
                <a16:creationId xmlns:a16="http://schemas.microsoft.com/office/drawing/2014/main" id="{00EE036C-934F-44B4-8F0D-EDC57A26BCD2}"/>
              </a:ext>
            </a:extLst>
          </p:cNvPr>
          <p:cNvSpPr>
            <a:spLocks xmlns:a="http://schemas.openxmlformats.org/drawingml/2006/main" noGrp="1"/>
          </p:cNvSpPr>
          <p:nvPr/>
        </p:nvSpPr>
        <p:spPr>
          <a:xfrm xmlns:a="http://schemas.openxmlformats.org/drawingml/2006/main">
            <a:off x="7439025" y="14668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Why it matters for drift</a:t>
            </a:r>
          </a:p>
        </p:txBody>
      </p:sp>
      <p:sp>
        <p:nvSpPr>
          <p:cNvPr id="12" name="">
            <a:extLst xmlns:a="http://schemas.openxmlformats.org/drawingml/2006/main">
              <a:ext uri="{FF2B5EF4-FFF2-40B4-BE49-F238E27FC236}">
                <a16:creationId xmlns:a16="http://schemas.microsoft.com/office/drawing/2014/main" id="{28FFBE96-A351-49CD-8FEC-65BB062D4319}"/>
              </a:ext>
            </a:extLst>
          </p:cNvPr>
          <p:cNvSpPr>
            <a:spLocks xmlns:a="http://schemas.openxmlformats.org/drawingml/2006/main" noGrp="1"/>
          </p:cNvSpPr>
          <p:nvPr/>
        </p:nvSpPr>
        <p:spPr>
          <a:xfrm xmlns:a="http://schemas.openxmlformats.org/drawingml/2006/main">
            <a:off x="552450" y="1790700"/>
            <a:ext cx="9953625" cy="7429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B2FDAB7-FFF0-46E8-BF3E-E4C4102BABC7}"/>
              </a:ext>
            </a:extLst>
          </p:cNvPr>
          <p:cNvSpPr>
            <a:spLocks xmlns:a="http://schemas.openxmlformats.org/drawingml/2006/main" noGrp="1"/>
          </p:cNvSpPr>
          <p:nvPr/>
        </p:nvSpPr>
        <p:spPr>
          <a:xfrm xmlns:a="http://schemas.openxmlformats.org/drawingml/2006/main">
            <a:off x="628650" y="1790700"/>
            <a:ext cx="1847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Primary surface</a:t>
            </a:r>
          </a:p>
        </p:txBody>
      </p:sp>
      <p:sp>
        <p:nvSpPr>
          <p:cNvPr id="14" name="">
            <a:extLst xmlns:a="http://schemas.openxmlformats.org/drawingml/2006/main">
              <a:ext uri="{FF2B5EF4-FFF2-40B4-BE49-F238E27FC236}">
                <a16:creationId xmlns:a16="http://schemas.microsoft.com/office/drawing/2014/main" id="{FE48D4F7-2D1F-408B-8900-D1491E93F745}"/>
              </a:ext>
            </a:extLst>
          </p:cNvPr>
          <p:cNvSpPr>
            <a:spLocks xmlns:a="http://schemas.openxmlformats.org/drawingml/2006/main" noGrp="1"/>
          </p:cNvSpPr>
          <p:nvPr/>
        </p:nvSpPr>
        <p:spPr>
          <a:xfrm xmlns:a="http://schemas.openxmlformats.org/drawingml/2006/main">
            <a:off x="2628900" y="1790700"/>
            <a:ext cx="2038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Packet forwarding; rank; control rate</a:t>
            </a:r>
          </a:p>
        </p:txBody>
      </p:sp>
      <p:sp>
        <p:nvSpPr>
          <p:cNvPr id="15" name="">
            <a:extLst xmlns:a="http://schemas.openxmlformats.org/drawingml/2006/main">
              <a:ext uri="{FF2B5EF4-FFF2-40B4-BE49-F238E27FC236}">
                <a16:creationId xmlns:a16="http://schemas.microsoft.com/office/drawing/2014/main" id="{A383B654-31FC-4518-8C93-CA7F8316210E}"/>
              </a:ext>
            </a:extLst>
          </p:cNvPr>
          <p:cNvSpPr>
            <a:spLocks xmlns:a="http://schemas.openxmlformats.org/drawingml/2006/main" noGrp="1"/>
          </p:cNvSpPr>
          <p:nvPr/>
        </p:nvSpPr>
        <p:spPr>
          <a:xfrm xmlns:a="http://schemas.openxmlformats.org/drawingml/2006/main">
            <a:off x="4819650" y="1790700"/>
            <a:ext cx="24669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IPv6 source identity in outgoing DIO messages</a:t>
            </a:r>
          </a:p>
        </p:txBody>
      </p:sp>
      <p:sp>
        <p:nvSpPr>
          <p:cNvPr id="16" name="">
            <a:extLst xmlns:a="http://schemas.openxmlformats.org/drawingml/2006/main">
              <a:ext uri="{FF2B5EF4-FFF2-40B4-BE49-F238E27FC236}">
                <a16:creationId xmlns:a16="http://schemas.microsoft.com/office/drawing/2014/main" id="{77097848-D2F6-4B1A-A5BD-345D1BF01496}"/>
              </a:ext>
            </a:extLst>
          </p:cNvPr>
          <p:cNvSpPr>
            <a:spLocks xmlns:a="http://schemas.openxmlformats.org/drawingml/2006/main" noGrp="1"/>
          </p:cNvSpPr>
          <p:nvPr/>
        </p:nvSpPr>
        <p:spPr>
          <a:xfrm xmlns:a="http://schemas.openxmlformats.org/drawingml/2006/main">
            <a:off x="7439025" y="1790700"/>
            <a:ext cx="2990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Out-of-family representation shift</a:t>
            </a:r>
          </a:p>
        </p:txBody>
      </p:sp>
      <p:sp>
        <p:nvSpPr>
          <p:cNvPr id="17" name="">
            <a:extLst xmlns:a="http://schemas.openxmlformats.org/drawingml/2006/main">
              <a:ext uri="{FF2B5EF4-FFF2-40B4-BE49-F238E27FC236}">
                <a16:creationId xmlns:a16="http://schemas.microsoft.com/office/drawing/2014/main" id="{A3652F66-8AC7-4C27-9A3A-4DB027D609E7}"/>
              </a:ext>
            </a:extLst>
          </p:cNvPr>
          <p:cNvSpPr>
            <a:spLocks xmlns:a="http://schemas.openxmlformats.org/drawingml/2006/main" noGrp="1"/>
          </p:cNvSpPr>
          <p:nvPr/>
        </p:nvSpPr>
        <p:spPr>
          <a:xfrm xmlns:a="http://schemas.openxmlformats.org/drawingml/2006/main">
            <a:off x="552450" y="2533650"/>
            <a:ext cx="9953625" cy="7429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1B1A208-692E-43DD-8865-4A4ACDC26335}"/>
              </a:ext>
            </a:extLst>
          </p:cNvPr>
          <p:cNvSpPr>
            <a:spLocks xmlns:a="http://schemas.openxmlformats.org/drawingml/2006/main" noGrp="1"/>
          </p:cNvSpPr>
          <p:nvPr/>
        </p:nvSpPr>
        <p:spPr>
          <a:xfrm xmlns:a="http://schemas.openxmlformats.org/drawingml/2006/main">
            <a:off x="628650" y="2533650"/>
            <a:ext cx="1847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Trust implication</a:t>
            </a:r>
          </a:p>
        </p:txBody>
      </p:sp>
      <p:sp>
        <p:nvSpPr>
          <p:cNvPr id="19" name="">
            <a:extLst xmlns:a="http://schemas.openxmlformats.org/drawingml/2006/main">
              <a:ext uri="{FF2B5EF4-FFF2-40B4-BE49-F238E27FC236}">
                <a16:creationId xmlns:a16="http://schemas.microsoft.com/office/drawing/2014/main" id="{14203966-EDBC-4F37-B831-1BDE9DCFDC05}"/>
              </a:ext>
            </a:extLst>
          </p:cNvPr>
          <p:cNvSpPr>
            <a:spLocks xmlns:a="http://schemas.openxmlformats.org/drawingml/2006/main" noGrp="1"/>
          </p:cNvSpPr>
          <p:nvPr/>
        </p:nvSpPr>
        <p:spPr>
          <a:xfrm xmlns:a="http://schemas.openxmlformats.org/drawingml/2006/main">
            <a:off x="2628900" y="2533650"/>
            <a:ext cx="2038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One neighbour accumulates history</a:t>
            </a:r>
          </a:p>
        </p:txBody>
      </p:sp>
      <p:sp>
        <p:nvSpPr>
          <p:cNvPr id="20" name="">
            <a:extLst xmlns:a="http://schemas.openxmlformats.org/drawingml/2006/main">
              <a:ext uri="{FF2B5EF4-FFF2-40B4-BE49-F238E27FC236}">
                <a16:creationId xmlns:a16="http://schemas.microsoft.com/office/drawing/2014/main" id="{2D903C3F-A8B9-437E-8681-594DED44226F}"/>
              </a:ext>
            </a:extLst>
          </p:cNvPr>
          <p:cNvSpPr>
            <a:spLocks xmlns:a="http://schemas.openxmlformats.org/drawingml/2006/main" noGrp="1"/>
          </p:cNvSpPr>
          <p:nvPr/>
        </p:nvSpPr>
        <p:spPr>
          <a:xfrm xmlns:a="http://schemas.openxmlformats.org/drawingml/2006/main">
            <a:off x="4819650" y="2533650"/>
            <a:ext cx="24669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Each virtual identity can appear new</a:t>
            </a:r>
          </a:p>
        </p:txBody>
      </p:sp>
      <p:sp>
        <p:nvSpPr>
          <p:cNvPr id="21" name="">
            <a:extLst xmlns:a="http://schemas.openxmlformats.org/drawingml/2006/main">
              <a:ext uri="{FF2B5EF4-FFF2-40B4-BE49-F238E27FC236}">
                <a16:creationId xmlns:a16="http://schemas.microsoft.com/office/drawing/2014/main" id="{847FE123-EBD6-408A-99B1-3FA0D365953E}"/>
              </a:ext>
            </a:extLst>
          </p:cNvPr>
          <p:cNvSpPr>
            <a:spLocks xmlns:a="http://schemas.openxmlformats.org/drawingml/2006/main" noGrp="1"/>
          </p:cNvSpPr>
          <p:nvPr/>
        </p:nvSpPr>
        <p:spPr>
          <a:xfrm xmlns:a="http://schemas.openxmlformats.org/drawingml/2006/main">
            <a:off x="7439025" y="2533650"/>
            <a:ext cx="2990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Forwarding-only trust can be reset or diluted</a:t>
            </a:r>
          </a:p>
        </p:txBody>
      </p:sp>
      <p:sp>
        <p:nvSpPr>
          <p:cNvPr id="22" name="">
            <a:extLst xmlns:a="http://schemas.openxmlformats.org/drawingml/2006/main">
              <a:ext uri="{FF2B5EF4-FFF2-40B4-BE49-F238E27FC236}">
                <a16:creationId xmlns:a16="http://schemas.microsoft.com/office/drawing/2014/main" id="{DA2F43F3-F1AC-4E4D-8253-A50505A05C54}"/>
              </a:ext>
            </a:extLst>
          </p:cNvPr>
          <p:cNvSpPr>
            <a:spLocks xmlns:a="http://schemas.openxmlformats.org/drawingml/2006/main" noGrp="1"/>
          </p:cNvSpPr>
          <p:nvPr/>
        </p:nvSpPr>
        <p:spPr>
          <a:xfrm xmlns:a="http://schemas.openxmlformats.org/drawingml/2006/main">
            <a:off x="552450" y="3276600"/>
            <a:ext cx="9953625" cy="7429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27DF9BE-1C9D-46BD-9B49-1A0264B57D84}"/>
              </a:ext>
            </a:extLst>
          </p:cNvPr>
          <p:cNvSpPr>
            <a:spLocks xmlns:a="http://schemas.openxmlformats.org/drawingml/2006/main" noGrp="1"/>
          </p:cNvSpPr>
          <p:nvPr/>
        </p:nvSpPr>
        <p:spPr>
          <a:xfrm xmlns:a="http://schemas.openxmlformats.org/drawingml/2006/main">
            <a:off x="628650" y="3276600"/>
            <a:ext cx="1847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Implementation</a:t>
            </a:r>
          </a:p>
        </p:txBody>
      </p:sp>
      <p:sp>
        <p:nvSpPr>
          <p:cNvPr id="24" name="">
            <a:extLst xmlns:a="http://schemas.openxmlformats.org/drawingml/2006/main">
              <a:ext uri="{FF2B5EF4-FFF2-40B4-BE49-F238E27FC236}">
                <a16:creationId xmlns:a16="http://schemas.microsoft.com/office/drawing/2014/main" id="{DA3BF176-B274-4DEC-B7E6-7750A072F406}"/>
              </a:ext>
            </a:extLst>
          </p:cNvPr>
          <p:cNvSpPr>
            <a:spLocks xmlns:a="http://schemas.openxmlformats.org/drawingml/2006/main" noGrp="1"/>
          </p:cNvSpPr>
          <p:nvPr/>
        </p:nvSpPr>
        <p:spPr>
          <a:xfrm xmlns:a="http://schemas.openxmlformats.org/drawingml/2006/main">
            <a:off x="2628900" y="3276600"/>
            <a:ext cx="2038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Shared flag and delayed activation</a:t>
            </a:r>
          </a:p>
        </p:txBody>
      </p:sp>
      <p:sp>
        <p:nvSpPr>
          <p:cNvPr id="25" name="">
            <a:extLst xmlns:a="http://schemas.openxmlformats.org/drawingml/2006/main">
              <a:ext uri="{FF2B5EF4-FFF2-40B4-BE49-F238E27FC236}">
                <a16:creationId xmlns:a16="http://schemas.microsoft.com/office/drawing/2014/main" id="{D925B8DF-EEAC-4E50-9DD8-C7081CF4BCB1}"/>
              </a:ext>
            </a:extLst>
          </p:cNvPr>
          <p:cNvSpPr>
            <a:spLocks xmlns:a="http://schemas.openxmlformats.org/drawingml/2006/main" noGrp="1"/>
          </p:cNvSpPr>
          <p:nvPr/>
        </p:nvSpPr>
        <p:spPr>
          <a:xfrm xmlns:a="http://schemas.openxmlformats.org/drawingml/2006/main">
            <a:off x="4819650" y="3276600"/>
            <a:ext cx="24669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Rotating virtual source identities after 240 s</a:t>
            </a:r>
          </a:p>
        </p:txBody>
      </p:sp>
      <p:sp>
        <p:nvSpPr>
          <p:cNvPr id="26" name="">
            <a:extLst xmlns:a="http://schemas.openxmlformats.org/drawingml/2006/main">
              <a:ext uri="{FF2B5EF4-FFF2-40B4-BE49-F238E27FC236}">
                <a16:creationId xmlns:a16="http://schemas.microsoft.com/office/drawing/2014/main" id="{85265169-6279-48E2-9CDB-47DB09B1BDC6}"/>
              </a:ext>
            </a:extLst>
          </p:cNvPr>
          <p:cNvSpPr>
            <a:spLocks xmlns:a="http://schemas.openxmlformats.org/drawingml/2006/main" noGrp="1"/>
          </p:cNvSpPr>
          <p:nvPr/>
        </p:nvSpPr>
        <p:spPr>
          <a:xfrm xmlns:a="http://schemas.openxmlformats.org/drawingml/2006/main">
            <a:off x="7439025" y="3276600"/>
            <a:ext cx="2990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Direct protocol marker and rate control</a:t>
            </a:r>
          </a:p>
        </p:txBody>
      </p:sp>
      <p:sp>
        <p:nvSpPr>
          <p:cNvPr id="27" name="">
            <a:extLst xmlns:a="http://schemas.openxmlformats.org/drawingml/2006/main">
              <a:ext uri="{FF2B5EF4-FFF2-40B4-BE49-F238E27FC236}">
                <a16:creationId xmlns:a16="http://schemas.microsoft.com/office/drawing/2014/main" id="{8D5EA24E-340B-478B-B8D3-E1DF4B655686}"/>
              </a:ext>
            </a:extLst>
          </p:cNvPr>
          <p:cNvSpPr>
            <a:spLocks xmlns:a="http://schemas.openxmlformats.org/drawingml/2006/main" noGrp="1"/>
          </p:cNvSpPr>
          <p:nvPr/>
        </p:nvSpPr>
        <p:spPr>
          <a:xfrm xmlns:a="http://schemas.openxmlformats.org/drawingml/2006/main">
            <a:off x="552450" y="4019550"/>
            <a:ext cx="9953625" cy="7429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CEEAE27-94D4-405A-A9D3-C15233473D30}"/>
              </a:ext>
            </a:extLst>
          </p:cNvPr>
          <p:cNvSpPr>
            <a:spLocks xmlns:a="http://schemas.openxmlformats.org/drawingml/2006/main" noGrp="1"/>
          </p:cNvSpPr>
          <p:nvPr/>
        </p:nvSpPr>
        <p:spPr>
          <a:xfrm xmlns:a="http://schemas.openxmlformats.org/drawingml/2006/main">
            <a:off x="628650" y="4019550"/>
            <a:ext cx="1847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Baseline evidence</a:t>
            </a:r>
          </a:p>
        </p:txBody>
      </p:sp>
      <p:sp>
        <p:nvSpPr>
          <p:cNvPr id="29" name="">
            <a:extLst xmlns:a="http://schemas.openxmlformats.org/drawingml/2006/main">
              <a:ext uri="{FF2B5EF4-FFF2-40B4-BE49-F238E27FC236}">
                <a16:creationId xmlns:a16="http://schemas.microsoft.com/office/drawing/2014/main" id="{07C00B7F-B6F3-4D7F-8DD6-FE20B305E36D}"/>
              </a:ext>
            </a:extLst>
          </p:cNvPr>
          <p:cNvSpPr>
            <a:spLocks xmlns:a="http://schemas.openxmlformats.org/drawingml/2006/main" noGrp="1"/>
          </p:cNvSpPr>
          <p:nvPr/>
        </p:nvSpPr>
        <p:spPr>
          <a:xfrm xmlns:a="http://schemas.openxmlformats.org/drawingml/2006/main">
            <a:off x="2628900" y="4019550"/>
            <a:ext cx="2038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Family-specific attack markers</a:t>
            </a:r>
          </a:p>
        </p:txBody>
      </p:sp>
      <p:sp>
        <p:nvSpPr>
          <p:cNvPr id="30" name="">
            <a:extLst xmlns:a="http://schemas.openxmlformats.org/drawingml/2006/main">
              <a:ext uri="{FF2B5EF4-FFF2-40B4-BE49-F238E27FC236}">
                <a16:creationId xmlns:a16="http://schemas.microsoft.com/office/drawing/2014/main" id="{C0CF7EA9-615D-4096-88E9-40A237947F50}"/>
              </a:ext>
            </a:extLst>
          </p:cNvPr>
          <p:cNvSpPr>
            <a:spLocks xmlns:a="http://schemas.openxmlformats.org/drawingml/2006/main" noGrp="1"/>
          </p:cNvSpPr>
          <p:nvPr/>
        </p:nvSpPr>
        <p:spPr>
          <a:xfrm xmlns:a="http://schemas.openxmlformats.org/drawingml/2006/main">
            <a:off x="4819650" y="4019550"/>
            <a:ext cx="24669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150-151 spoofed DIO markers per run</a:t>
            </a:r>
          </a:p>
        </p:txBody>
      </p:sp>
      <p:sp>
        <p:nvSpPr>
          <p:cNvPr id="31" name="">
            <a:extLst xmlns:a="http://schemas.openxmlformats.org/drawingml/2006/main">
              <a:ext uri="{FF2B5EF4-FFF2-40B4-BE49-F238E27FC236}">
                <a16:creationId xmlns:a16="http://schemas.microsoft.com/office/drawing/2014/main" id="{A64116BE-B6F0-42B5-8B16-B4813EAFBC42}"/>
              </a:ext>
            </a:extLst>
          </p:cNvPr>
          <p:cNvSpPr>
            <a:spLocks xmlns:a="http://schemas.openxmlformats.org/drawingml/2006/main" noGrp="1"/>
          </p:cNvSpPr>
          <p:nvPr/>
        </p:nvSpPr>
        <p:spPr>
          <a:xfrm xmlns:a="http://schemas.openxmlformats.org/drawingml/2006/main">
            <a:off x="7439025" y="4019550"/>
            <a:ext cx="2990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Five attacks positive; five controls zero</a:t>
            </a:r>
          </a:p>
        </p:txBody>
      </p:sp>
      <p:sp>
        <p:nvSpPr>
          <p:cNvPr id="32" name="">
            <a:extLst xmlns:a="http://schemas.openxmlformats.org/drawingml/2006/main">
              <a:ext uri="{FF2B5EF4-FFF2-40B4-BE49-F238E27FC236}">
                <a16:creationId xmlns:a16="http://schemas.microsoft.com/office/drawing/2014/main" id="{A38E058E-8F79-4A6E-9C73-19B62663AC6F}"/>
              </a:ext>
            </a:extLst>
          </p:cNvPr>
          <p:cNvSpPr>
            <a:spLocks xmlns:a="http://schemas.openxmlformats.org/drawingml/2006/main" noGrp="1"/>
          </p:cNvSpPr>
          <p:nvPr/>
        </p:nvSpPr>
        <p:spPr>
          <a:xfrm xmlns:a="http://schemas.openxmlformats.org/drawingml/2006/main">
            <a:off x="552450" y="4762500"/>
            <a:ext cx="9953625" cy="7429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0EEAD57-4EB7-4267-967D-D0305503978F}"/>
              </a:ext>
            </a:extLst>
          </p:cNvPr>
          <p:cNvSpPr>
            <a:spLocks xmlns:a="http://schemas.openxmlformats.org/drawingml/2006/main" noGrp="1"/>
          </p:cNvSpPr>
          <p:nvPr/>
        </p:nvSpPr>
        <p:spPr>
          <a:xfrm xmlns:a="http://schemas.openxmlformats.org/drawingml/2006/main">
            <a:off x="628650" y="4762500"/>
            <a:ext cx="1847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Novelty boundary</a:t>
            </a:r>
          </a:p>
        </p:txBody>
      </p:sp>
      <p:sp>
        <p:nvSpPr>
          <p:cNvPr id="34" name="">
            <a:extLst xmlns:a="http://schemas.openxmlformats.org/drawingml/2006/main">
              <a:ext uri="{FF2B5EF4-FFF2-40B4-BE49-F238E27FC236}">
                <a16:creationId xmlns:a16="http://schemas.microsoft.com/office/drawing/2014/main" id="{7B50671B-48BF-4B41-9B78-3862C5067363}"/>
              </a:ext>
            </a:extLst>
          </p:cNvPr>
          <p:cNvSpPr>
            <a:spLocks xmlns:a="http://schemas.openxmlformats.org/drawingml/2006/main" noGrp="1"/>
          </p:cNvSpPr>
          <p:nvPr/>
        </p:nvSpPr>
        <p:spPr>
          <a:xfrm xmlns:a="http://schemas.openxmlformats.org/drawingml/2006/main">
            <a:off x="2628900" y="4762500"/>
            <a:ext cx="2038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Known Sybil concept</a:t>
            </a:r>
          </a:p>
        </p:txBody>
      </p:sp>
      <p:sp>
        <p:nvSpPr>
          <p:cNvPr id="35" name="">
            <a:extLst xmlns:a="http://schemas.openxmlformats.org/drawingml/2006/main">
              <a:ext uri="{FF2B5EF4-FFF2-40B4-BE49-F238E27FC236}">
                <a16:creationId xmlns:a16="http://schemas.microsoft.com/office/drawing/2014/main" id="{6C614F12-6BCD-4E79-872D-0166162D10BA}"/>
              </a:ext>
            </a:extLst>
          </p:cNvPr>
          <p:cNvSpPr>
            <a:spLocks xmlns:a="http://schemas.openxmlformats.org/drawingml/2006/main" noGrp="1"/>
          </p:cNvSpPr>
          <p:nvPr/>
        </p:nvSpPr>
        <p:spPr>
          <a:xfrm xmlns:a="http://schemas.openxmlformats.org/drawingml/2006/main">
            <a:off x="4819650" y="4762500"/>
            <a:ext cx="24669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New implementation/evaluation within this project</a:t>
            </a:r>
          </a:p>
        </p:txBody>
      </p:sp>
      <p:sp>
        <p:nvSpPr>
          <p:cNvPr id="36" name="">
            <a:extLst xmlns:a="http://schemas.openxmlformats.org/drawingml/2006/main">
              <a:ext uri="{FF2B5EF4-FFF2-40B4-BE49-F238E27FC236}">
                <a16:creationId xmlns:a16="http://schemas.microsoft.com/office/drawing/2014/main" id="{1EAAFD44-F015-4D4B-A7D5-6D38E739A19E}"/>
              </a:ext>
            </a:extLst>
          </p:cNvPr>
          <p:cNvSpPr>
            <a:spLocks xmlns:a="http://schemas.openxmlformats.org/drawingml/2006/main" noGrp="1"/>
          </p:cNvSpPr>
          <p:nvPr/>
        </p:nvSpPr>
        <p:spPr>
          <a:xfrm xmlns:a="http://schemas.openxmlformats.org/drawingml/2006/main">
            <a:off x="7439025" y="4762500"/>
            <a:ext cx="2990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Not claimed as invention of Sybil itself</a:t>
            </a:r>
          </a:p>
        </p:txBody>
      </p:sp>
      <p:sp>
        <p:nvSpPr>
          <p:cNvPr id="37" name="">
            <a:extLst xmlns:a="http://schemas.openxmlformats.org/drawingml/2006/main">
              <a:ext uri="{FF2B5EF4-FFF2-40B4-BE49-F238E27FC236}">
                <a16:creationId xmlns:a16="http://schemas.microsoft.com/office/drawing/2014/main" id="{D445119E-D3BB-4025-A214-C1F388D40292}"/>
              </a:ext>
            </a:extLst>
          </p:cNvPr>
          <p:cNvSpPr>
            <a:spLocks xmlns:a="http://schemas.openxmlformats.org/drawingml/2006/main" noGrp="1"/>
          </p:cNvSpPr>
          <p:nvPr/>
        </p:nvSpPr>
        <p:spPr>
          <a:xfrm xmlns:a="http://schemas.openxmlformats.org/drawingml/2006/main">
            <a:off x="552450" y="1466850"/>
            <a:ext cx="9953625" cy="403860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38" name="">
            <a:extLst xmlns:a="http://schemas.openxmlformats.org/drawingml/2006/main">
              <a:ext uri="{FF2B5EF4-FFF2-40B4-BE49-F238E27FC236}">
                <a16:creationId xmlns:a16="http://schemas.microsoft.com/office/drawing/2014/main" id="{5B349BE1-9ADB-442C-B84E-BADDAB28183A}"/>
              </a:ext>
            </a:extLst>
          </p:cNvPr>
          <p:cNvSpPr>
            <a:spLocks xmlns:a="http://schemas.openxmlformats.org/drawingml/2006/main" noGrp="1"/>
          </p:cNvSpPr>
          <p:nvPr/>
        </p:nvSpPr>
        <p:spPr>
          <a:xfrm xmlns:a="http://schemas.openxmlformats.org/drawingml/2006/main">
            <a:off x="666750" y="5543550"/>
            <a:ext cx="9906000" cy="5334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29C9543-A4B7-4B6C-9E56-0233E9866735}"/>
              </a:ext>
            </a:extLst>
          </p:cNvPr>
          <p:cNvSpPr>
            <a:spLocks xmlns:a="http://schemas.openxmlformats.org/drawingml/2006/main" noGrp="1"/>
          </p:cNvSpPr>
          <p:nvPr/>
        </p:nvSpPr>
        <p:spPr>
          <a:xfrm xmlns:a="http://schemas.openxmlformats.org/drawingml/2006/main">
            <a:off x="666750" y="5543550"/>
            <a:ext cx="47625" cy="5334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EB332E51-8B09-4C7F-A8BE-408AFC8ED47A}"/>
              </a:ext>
            </a:extLst>
          </p:cNvPr>
          <p:cNvSpPr>
            <a:spLocks xmlns:a="http://schemas.openxmlformats.org/drawingml/2006/main" noGrp="1"/>
          </p:cNvSpPr>
          <p:nvPr/>
        </p:nvSpPr>
        <p:spPr>
          <a:xfrm xmlns:a="http://schemas.openxmlformats.org/drawingml/2006/main">
            <a:off x="838200" y="5629275"/>
            <a:ext cx="962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Contribution: a new identity-manipulation attack surface in the dissertation's controlled Cooja and adaptation framework.</a:t>
            </a:r>
          </a:p>
        </p:txBody>
      </p:sp>
    </p:spTree>
    <p:extLst>
      <p:ext uri="{BB962C8B-B14F-4D97-AF65-F5344CB8AC3E}">
        <p14:creationId xmlns:p14="http://schemas.microsoft.com/office/powerpoint/2010/main" val="85086564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EB2AA948-4965-471B-844B-B0334EC877E4}"/>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Sybil rate campaign: sensitivity beyond one attack setting</a:t>
            </a:r>
          </a:p>
        </p:txBody>
      </p:sp>
      <p:sp>
        <p:nvSpPr>
          <p:cNvPr id="2" name="">
            <a:extLst xmlns:a="http://schemas.openxmlformats.org/drawingml/2006/main">
              <a:ext uri="{FF2B5EF4-FFF2-40B4-BE49-F238E27FC236}">
                <a16:creationId xmlns:a16="http://schemas.microsoft.com/office/drawing/2014/main" id="{A884DDA8-7A36-4A29-B7A7-8D4C73AB1E7C}"/>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Five seeds were run for low rate, high rate and matched control conditions.</a:t>
            </a:r>
          </a:p>
        </p:txBody>
      </p:sp>
      <p:sp>
        <p:nvSpPr>
          <p:cNvPr id="3" name="">
            <a:extLst xmlns:a="http://schemas.openxmlformats.org/drawingml/2006/main">
              <a:ext uri="{FF2B5EF4-FFF2-40B4-BE49-F238E27FC236}">
                <a16:creationId xmlns:a16="http://schemas.microsoft.com/office/drawing/2014/main" id="{E8838E65-2941-48C5-9339-29325A12FD27}"/>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18BA238-90E8-443F-ADE3-6721A1625AF2}"/>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2FFCDA1-1D82-4D83-80D6-BFC93CD9882F}"/>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Sybil experiment</a:t>
            </a:r>
          </a:p>
        </p:txBody>
      </p:sp>
      <p:sp>
        <p:nvSpPr>
          <p:cNvPr id="6" name="">
            <a:extLst xmlns:a="http://schemas.openxmlformats.org/drawingml/2006/main">
              <a:ext uri="{FF2B5EF4-FFF2-40B4-BE49-F238E27FC236}">
                <a16:creationId xmlns:a16="http://schemas.microsoft.com/office/drawing/2014/main" id="{4F35078E-0513-4FFB-B0F2-3BB4B8E9435F}"/>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16  </a:t>
            </a:r>
          </a:p>
        </p:txBody>
      </p:sp>
      <p:sp>
        <p:nvSpPr>
          <p:cNvPr id="7" name="">
            <a:extLst xmlns:a="http://schemas.openxmlformats.org/drawingml/2006/main">
              <a:ext uri="{FF2B5EF4-FFF2-40B4-BE49-F238E27FC236}">
                <a16:creationId xmlns:a16="http://schemas.microsoft.com/office/drawing/2014/main" id="{DEBEEFDB-42B2-44FE-94C9-F50F84A9A3C1}"/>
              </a:ext>
            </a:extLst>
          </p:cNvPr>
          <p:cNvSpPr>
            <a:spLocks xmlns:a="http://schemas.openxmlformats.org/drawingml/2006/main" noGrp="1"/>
          </p:cNvSpPr>
          <p:nvPr/>
        </p:nvSpPr>
        <p:spPr>
          <a:xfrm xmlns:a="http://schemas.openxmlformats.org/drawingml/2006/main">
            <a:off x="666750" y="1485900"/>
            <a:ext cx="933450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CFD858C-BD57-4130-AF3D-3D5A49804583}"/>
              </a:ext>
            </a:extLst>
          </p:cNvPr>
          <p:cNvSpPr>
            <a:spLocks xmlns:a="http://schemas.openxmlformats.org/drawingml/2006/main" noGrp="1"/>
          </p:cNvSpPr>
          <p:nvPr/>
        </p:nvSpPr>
        <p:spPr>
          <a:xfrm xmlns:a="http://schemas.openxmlformats.org/drawingml/2006/main">
            <a:off x="742950" y="148590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Condition</a:t>
            </a:r>
          </a:p>
        </p:txBody>
      </p:sp>
      <p:sp>
        <p:nvSpPr>
          <p:cNvPr id="9" name="">
            <a:extLst xmlns:a="http://schemas.openxmlformats.org/drawingml/2006/main">
              <a:ext uri="{FF2B5EF4-FFF2-40B4-BE49-F238E27FC236}">
                <a16:creationId xmlns:a16="http://schemas.microsoft.com/office/drawing/2014/main" id="{623EF68B-0C61-4948-BD95-5E3B77C2FAEE}"/>
              </a:ext>
            </a:extLst>
          </p:cNvPr>
          <p:cNvSpPr>
            <a:spLocks xmlns:a="http://schemas.openxmlformats.org/drawingml/2006/main" noGrp="1"/>
          </p:cNvSpPr>
          <p:nvPr/>
        </p:nvSpPr>
        <p:spPr>
          <a:xfrm xmlns:a="http://schemas.openxmlformats.org/drawingml/2006/main">
            <a:off x="2743200" y="148590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Runs</a:t>
            </a:r>
          </a:p>
        </p:txBody>
      </p:sp>
      <p:sp>
        <p:nvSpPr>
          <p:cNvPr id="10" name="">
            <a:extLst xmlns:a="http://schemas.openxmlformats.org/drawingml/2006/main">
              <a:ext uri="{FF2B5EF4-FFF2-40B4-BE49-F238E27FC236}">
                <a16:creationId xmlns:a16="http://schemas.microsoft.com/office/drawing/2014/main" id="{8A225925-0310-457B-9C30-ADFF2EEE39C8}"/>
              </a:ext>
            </a:extLst>
          </p:cNvPr>
          <p:cNvSpPr>
            <a:spLocks xmlns:a="http://schemas.openxmlformats.org/drawingml/2006/main" noGrp="1"/>
          </p:cNvSpPr>
          <p:nvPr/>
        </p:nvSpPr>
        <p:spPr>
          <a:xfrm xmlns:a="http://schemas.openxmlformats.org/drawingml/2006/main">
            <a:off x="4171950" y="14859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Spoofed DIO / run</a:t>
            </a:r>
          </a:p>
        </p:txBody>
      </p:sp>
      <p:sp>
        <p:nvSpPr>
          <p:cNvPr id="11" name="">
            <a:extLst xmlns:a="http://schemas.openxmlformats.org/drawingml/2006/main">
              <a:ext uri="{FF2B5EF4-FFF2-40B4-BE49-F238E27FC236}">
                <a16:creationId xmlns:a16="http://schemas.microsoft.com/office/drawing/2014/main" id="{647B869C-AEA2-44BA-830C-FE9E863E0D8E}"/>
              </a:ext>
            </a:extLst>
          </p:cNvPr>
          <p:cNvSpPr>
            <a:spLocks xmlns:a="http://schemas.openxmlformats.org/drawingml/2006/main" noGrp="1"/>
          </p:cNvSpPr>
          <p:nvPr/>
        </p:nvSpPr>
        <p:spPr>
          <a:xfrm xmlns:a="http://schemas.openxmlformats.org/drawingml/2006/main">
            <a:off x="5791200" y="148590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Node 16 TX after 240 s</a:t>
            </a:r>
          </a:p>
        </p:txBody>
      </p:sp>
      <p:sp>
        <p:nvSpPr>
          <p:cNvPr id="12" name="">
            <a:extLst xmlns:a="http://schemas.openxmlformats.org/drawingml/2006/main">
              <a:ext uri="{FF2B5EF4-FFF2-40B4-BE49-F238E27FC236}">
                <a16:creationId xmlns:a16="http://schemas.microsoft.com/office/drawing/2014/main" id="{0D5482F7-E898-4134-BFD3-1300B3A0F45C}"/>
              </a:ext>
            </a:extLst>
          </p:cNvPr>
          <p:cNvSpPr>
            <a:spLocks xmlns:a="http://schemas.openxmlformats.org/drawingml/2006/main" noGrp="1"/>
          </p:cNvSpPr>
          <p:nvPr/>
        </p:nvSpPr>
        <p:spPr>
          <a:xfrm xmlns:a="http://schemas.openxmlformats.org/drawingml/2006/main">
            <a:off x="7600950" y="14859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Total radio TX, mean</a:t>
            </a:r>
          </a:p>
        </p:txBody>
      </p:sp>
      <p:sp>
        <p:nvSpPr>
          <p:cNvPr id="13" name="">
            <a:extLst xmlns:a="http://schemas.openxmlformats.org/drawingml/2006/main">
              <a:ext uri="{FF2B5EF4-FFF2-40B4-BE49-F238E27FC236}">
                <a16:creationId xmlns:a16="http://schemas.microsoft.com/office/drawing/2014/main" id="{3E1FB8F2-97B9-4AE0-8CE3-CC6BA5E59437}"/>
              </a:ext>
            </a:extLst>
          </p:cNvPr>
          <p:cNvSpPr>
            <a:spLocks xmlns:a="http://schemas.openxmlformats.org/drawingml/2006/main" noGrp="1"/>
          </p:cNvSpPr>
          <p:nvPr/>
        </p:nvSpPr>
        <p:spPr>
          <a:xfrm xmlns:a="http://schemas.openxmlformats.org/drawingml/2006/main">
            <a:off x="666750" y="1809750"/>
            <a:ext cx="9334500" cy="8572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85F9762-F45E-429D-940A-7250BFC695C3}"/>
              </a:ext>
            </a:extLst>
          </p:cNvPr>
          <p:cNvSpPr>
            <a:spLocks xmlns:a="http://schemas.openxmlformats.org/drawingml/2006/main" noGrp="1"/>
          </p:cNvSpPr>
          <p:nvPr/>
        </p:nvSpPr>
        <p:spPr>
          <a:xfrm xmlns:a="http://schemas.openxmlformats.org/drawingml/2006/main">
            <a:off x="742950" y="1809750"/>
            <a:ext cx="1847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827"/>
                </a:solidFill>
              </a:defRPr>
            </a:pPr>
            <a:r>
              <a:rPr sz="1275" b="1">
                <a:solidFill>
                  <a:srgbClr val="111827"/>
                </a:solidFill>
              </a:rPr>
              <a:t>Control</a:t>
            </a:r>
          </a:p>
        </p:txBody>
      </p:sp>
      <p:sp>
        <p:nvSpPr>
          <p:cNvPr id="15" name="">
            <a:extLst xmlns:a="http://schemas.openxmlformats.org/drawingml/2006/main">
              <a:ext uri="{FF2B5EF4-FFF2-40B4-BE49-F238E27FC236}">
                <a16:creationId xmlns:a16="http://schemas.microsoft.com/office/drawing/2014/main" id="{24C2AB0A-64FE-4C7D-AD2A-C6EAC9D5668D}"/>
              </a:ext>
            </a:extLst>
          </p:cNvPr>
          <p:cNvSpPr>
            <a:spLocks xmlns:a="http://schemas.openxmlformats.org/drawingml/2006/main" noGrp="1"/>
          </p:cNvSpPr>
          <p:nvPr/>
        </p:nvSpPr>
        <p:spPr>
          <a:xfrm xmlns:a="http://schemas.openxmlformats.org/drawingml/2006/main">
            <a:off x="2743200" y="1809750"/>
            <a:ext cx="1276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5</a:t>
            </a:r>
          </a:p>
        </p:txBody>
      </p:sp>
      <p:sp>
        <p:nvSpPr>
          <p:cNvPr id="16" name="">
            <a:extLst xmlns:a="http://schemas.openxmlformats.org/drawingml/2006/main">
              <a:ext uri="{FF2B5EF4-FFF2-40B4-BE49-F238E27FC236}">
                <a16:creationId xmlns:a16="http://schemas.microsoft.com/office/drawing/2014/main" id="{31D7CC03-612B-47EA-8044-36C256B58165}"/>
              </a:ext>
            </a:extLst>
          </p:cNvPr>
          <p:cNvSpPr>
            <a:spLocks xmlns:a="http://schemas.openxmlformats.org/drawingml/2006/main" noGrp="1"/>
          </p:cNvSpPr>
          <p:nvPr/>
        </p:nvSpPr>
        <p:spPr>
          <a:xfrm xmlns:a="http://schemas.openxmlformats.org/drawingml/2006/main">
            <a:off x="4171950" y="1809750"/>
            <a:ext cx="1466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0</a:t>
            </a:r>
          </a:p>
        </p:txBody>
      </p:sp>
      <p:sp>
        <p:nvSpPr>
          <p:cNvPr id="17" name="">
            <a:extLst xmlns:a="http://schemas.openxmlformats.org/drawingml/2006/main">
              <a:ext uri="{FF2B5EF4-FFF2-40B4-BE49-F238E27FC236}">
                <a16:creationId xmlns:a16="http://schemas.microsoft.com/office/drawing/2014/main" id="{BB6DF4D1-E77F-4D18-8B56-1E74F47AA6CC}"/>
              </a:ext>
            </a:extLst>
          </p:cNvPr>
          <p:cNvSpPr>
            <a:spLocks xmlns:a="http://schemas.openxmlformats.org/drawingml/2006/main" noGrp="1"/>
          </p:cNvSpPr>
          <p:nvPr/>
        </p:nvSpPr>
        <p:spPr>
          <a:xfrm xmlns:a="http://schemas.openxmlformats.org/drawingml/2006/main">
            <a:off x="5791200" y="1809750"/>
            <a:ext cx="1657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1,676-1,699</a:t>
            </a:r>
          </a:p>
        </p:txBody>
      </p:sp>
      <p:sp>
        <p:nvSpPr>
          <p:cNvPr id="18" name="">
            <a:extLst xmlns:a="http://schemas.openxmlformats.org/drawingml/2006/main">
              <a:ext uri="{FF2B5EF4-FFF2-40B4-BE49-F238E27FC236}">
                <a16:creationId xmlns:a16="http://schemas.microsoft.com/office/drawing/2014/main" id="{F9235656-F15A-4868-AB14-A0449A7B37FC}"/>
              </a:ext>
            </a:extLst>
          </p:cNvPr>
          <p:cNvSpPr>
            <a:spLocks xmlns:a="http://schemas.openxmlformats.org/drawingml/2006/main" noGrp="1"/>
          </p:cNvSpPr>
          <p:nvPr/>
        </p:nvSpPr>
        <p:spPr>
          <a:xfrm xmlns:a="http://schemas.openxmlformats.org/drawingml/2006/main">
            <a:off x="7600950" y="1809750"/>
            <a:ext cx="2324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8,984</a:t>
            </a:r>
          </a:p>
        </p:txBody>
      </p:sp>
      <p:sp>
        <p:nvSpPr>
          <p:cNvPr id="19" name="">
            <a:extLst xmlns:a="http://schemas.openxmlformats.org/drawingml/2006/main">
              <a:ext uri="{FF2B5EF4-FFF2-40B4-BE49-F238E27FC236}">
                <a16:creationId xmlns:a16="http://schemas.microsoft.com/office/drawing/2014/main" id="{930CEC81-42E1-4DCC-BB2D-7EAFF416A417}"/>
              </a:ext>
            </a:extLst>
          </p:cNvPr>
          <p:cNvSpPr>
            <a:spLocks xmlns:a="http://schemas.openxmlformats.org/drawingml/2006/main" noGrp="1"/>
          </p:cNvSpPr>
          <p:nvPr/>
        </p:nvSpPr>
        <p:spPr>
          <a:xfrm xmlns:a="http://schemas.openxmlformats.org/drawingml/2006/main">
            <a:off x="666750" y="2667000"/>
            <a:ext cx="9334500" cy="8572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1B8DF42-0706-4125-BBCB-2F264439C6A0}"/>
              </a:ext>
            </a:extLst>
          </p:cNvPr>
          <p:cNvSpPr>
            <a:spLocks xmlns:a="http://schemas.openxmlformats.org/drawingml/2006/main" noGrp="1"/>
          </p:cNvSpPr>
          <p:nvPr/>
        </p:nvSpPr>
        <p:spPr>
          <a:xfrm xmlns:a="http://schemas.openxmlformats.org/drawingml/2006/main">
            <a:off x="742950" y="2667000"/>
            <a:ext cx="1847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827"/>
                </a:solidFill>
              </a:defRPr>
            </a:pPr>
            <a:r>
              <a:rPr sz="1275" b="1">
                <a:solidFill>
                  <a:srgbClr val="111827"/>
                </a:solidFill>
              </a:rPr>
              <a:t>Low-rate Sybil</a:t>
            </a:r>
          </a:p>
        </p:txBody>
      </p:sp>
      <p:sp>
        <p:nvSpPr>
          <p:cNvPr id="21" name="">
            <a:extLst xmlns:a="http://schemas.openxmlformats.org/drawingml/2006/main">
              <a:ext uri="{FF2B5EF4-FFF2-40B4-BE49-F238E27FC236}">
                <a16:creationId xmlns:a16="http://schemas.microsoft.com/office/drawing/2014/main" id="{B215DFEB-6686-4CA2-9FD1-3D0D673B1D1E}"/>
              </a:ext>
            </a:extLst>
          </p:cNvPr>
          <p:cNvSpPr>
            <a:spLocks xmlns:a="http://schemas.openxmlformats.org/drawingml/2006/main" noGrp="1"/>
          </p:cNvSpPr>
          <p:nvPr/>
        </p:nvSpPr>
        <p:spPr>
          <a:xfrm xmlns:a="http://schemas.openxmlformats.org/drawingml/2006/main">
            <a:off x="2743200" y="2667000"/>
            <a:ext cx="1276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5</a:t>
            </a:r>
          </a:p>
        </p:txBody>
      </p:sp>
      <p:sp>
        <p:nvSpPr>
          <p:cNvPr id="22" name="">
            <a:extLst xmlns:a="http://schemas.openxmlformats.org/drawingml/2006/main">
              <a:ext uri="{FF2B5EF4-FFF2-40B4-BE49-F238E27FC236}">
                <a16:creationId xmlns:a16="http://schemas.microsoft.com/office/drawing/2014/main" id="{9F298E37-AC03-472D-A4BC-77C635755859}"/>
              </a:ext>
            </a:extLst>
          </p:cNvPr>
          <p:cNvSpPr>
            <a:spLocks xmlns:a="http://schemas.openxmlformats.org/drawingml/2006/main" noGrp="1"/>
          </p:cNvSpPr>
          <p:nvPr/>
        </p:nvSpPr>
        <p:spPr>
          <a:xfrm xmlns:a="http://schemas.openxmlformats.org/drawingml/2006/main">
            <a:off x="4171950" y="2667000"/>
            <a:ext cx="1466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29</a:t>
            </a:r>
          </a:p>
        </p:txBody>
      </p:sp>
      <p:sp>
        <p:nvSpPr>
          <p:cNvPr id="23" name="">
            <a:extLst xmlns:a="http://schemas.openxmlformats.org/drawingml/2006/main">
              <a:ext uri="{FF2B5EF4-FFF2-40B4-BE49-F238E27FC236}">
                <a16:creationId xmlns:a16="http://schemas.microsoft.com/office/drawing/2014/main" id="{F2A9932F-ABAA-47C6-B375-DDBE182C8BB3}"/>
              </a:ext>
            </a:extLst>
          </p:cNvPr>
          <p:cNvSpPr>
            <a:spLocks xmlns:a="http://schemas.openxmlformats.org/drawingml/2006/main" noGrp="1"/>
          </p:cNvSpPr>
          <p:nvPr/>
        </p:nvSpPr>
        <p:spPr>
          <a:xfrm xmlns:a="http://schemas.openxmlformats.org/drawingml/2006/main">
            <a:off x="5791200" y="2667000"/>
            <a:ext cx="1657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1,707-1,736</a:t>
            </a:r>
          </a:p>
        </p:txBody>
      </p:sp>
      <p:sp>
        <p:nvSpPr>
          <p:cNvPr id="24" name="">
            <a:extLst xmlns:a="http://schemas.openxmlformats.org/drawingml/2006/main">
              <a:ext uri="{FF2B5EF4-FFF2-40B4-BE49-F238E27FC236}">
                <a16:creationId xmlns:a16="http://schemas.microsoft.com/office/drawing/2014/main" id="{B43205EE-416D-46EC-8DDD-03E3214873A5}"/>
              </a:ext>
            </a:extLst>
          </p:cNvPr>
          <p:cNvSpPr>
            <a:spLocks xmlns:a="http://schemas.openxmlformats.org/drawingml/2006/main" noGrp="1"/>
          </p:cNvSpPr>
          <p:nvPr/>
        </p:nvSpPr>
        <p:spPr>
          <a:xfrm xmlns:a="http://schemas.openxmlformats.org/drawingml/2006/main">
            <a:off x="7600950" y="2667000"/>
            <a:ext cx="2324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9,020</a:t>
            </a:r>
          </a:p>
        </p:txBody>
      </p:sp>
      <p:sp>
        <p:nvSpPr>
          <p:cNvPr id="25" name="">
            <a:extLst xmlns:a="http://schemas.openxmlformats.org/drawingml/2006/main">
              <a:ext uri="{FF2B5EF4-FFF2-40B4-BE49-F238E27FC236}">
                <a16:creationId xmlns:a16="http://schemas.microsoft.com/office/drawing/2014/main" id="{3A50393C-C88D-48AF-B126-712073F698FC}"/>
              </a:ext>
            </a:extLst>
          </p:cNvPr>
          <p:cNvSpPr>
            <a:spLocks xmlns:a="http://schemas.openxmlformats.org/drawingml/2006/main" noGrp="1"/>
          </p:cNvSpPr>
          <p:nvPr/>
        </p:nvSpPr>
        <p:spPr>
          <a:xfrm xmlns:a="http://schemas.openxmlformats.org/drawingml/2006/main">
            <a:off x="666750" y="3524250"/>
            <a:ext cx="9334500" cy="8572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DA5E5DE-20E8-4A2F-A818-C07D1D7E6DD1}"/>
              </a:ext>
            </a:extLst>
          </p:cNvPr>
          <p:cNvSpPr>
            <a:spLocks xmlns:a="http://schemas.openxmlformats.org/drawingml/2006/main" noGrp="1"/>
          </p:cNvSpPr>
          <p:nvPr/>
        </p:nvSpPr>
        <p:spPr>
          <a:xfrm xmlns:a="http://schemas.openxmlformats.org/drawingml/2006/main">
            <a:off x="742950" y="3524250"/>
            <a:ext cx="1847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827"/>
                </a:solidFill>
              </a:defRPr>
            </a:pPr>
            <a:r>
              <a:rPr sz="1275" b="1">
                <a:solidFill>
                  <a:srgbClr val="111827"/>
                </a:solidFill>
              </a:rPr>
              <a:t>High-rate Sybil</a:t>
            </a:r>
          </a:p>
        </p:txBody>
      </p:sp>
      <p:sp>
        <p:nvSpPr>
          <p:cNvPr id="27" name="">
            <a:extLst xmlns:a="http://schemas.openxmlformats.org/drawingml/2006/main">
              <a:ext uri="{FF2B5EF4-FFF2-40B4-BE49-F238E27FC236}">
                <a16:creationId xmlns:a16="http://schemas.microsoft.com/office/drawing/2014/main" id="{2DB42048-0A84-4AFF-9BBA-A79CEF85FAD9}"/>
              </a:ext>
            </a:extLst>
          </p:cNvPr>
          <p:cNvSpPr>
            <a:spLocks xmlns:a="http://schemas.openxmlformats.org/drawingml/2006/main" noGrp="1"/>
          </p:cNvSpPr>
          <p:nvPr/>
        </p:nvSpPr>
        <p:spPr>
          <a:xfrm xmlns:a="http://schemas.openxmlformats.org/drawingml/2006/main">
            <a:off x="2743200" y="3524250"/>
            <a:ext cx="1276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5</a:t>
            </a:r>
          </a:p>
        </p:txBody>
      </p:sp>
      <p:sp>
        <p:nvSpPr>
          <p:cNvPr id="28" name="">
            <a:extLst xmlns:a="http://schemas.openxmlformats.org/drawingml/2006/main">
              <a:ext uri="{FF2B5EF4-FFF2-40B4-BE49-F238E27FC236}">
                <a16:creationId xmlns:a16="http://schemas.microsoft.com/office/drawing/2014/main" id="{7F76D4DE-0533-4AC3-AE0F-F171C6BEB492}"/>
              </a:ext>
            </a:extLst>
          </p:cNvPr>
          <p:cNvSpPr>
            <a:spLocks xmlns:a="http://schemas.openxmlformats.org/drawingml/2006/main" noGrp="1"/>
          </p:cNvSpPr>
          <p:nvPr/>
        </p:nvSpPr>
        <p:spPr>
          <a:xfrm xmlns:a="http://schemas.openxmlformats.org/drawingml/2006/main">
            <a:off x="4171950" y="3524250"/>
            <a:ext cx="1466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299</a:t>
            </a:r>
          </a:p>
        </p:txBody>
      </p:sp>
      <p:sp>
        <p:nvSpPr>
          <p:cNvPr id="29" name="">
            <a:extLst xmlns:a="http://schemas.openxmlformats.org/drawingml/2006/main">
              <a:ext uri="{FF2B5EF4-FFF2-40B4-BE49-F238E27FC236}">
                <a16:creationId xmlns:a16="http://schemas.microsoft.com/office/drawing/2014/main" id="{18F868A0-B384-43A0-92B7-74F7BED6EE8B}"/>
              </a:ext>
            </a:extLst>
          </p:cNvPr>
          <p:cNvSpPr>
            <a:spLocks xmlns:a="http://schemas.openxmlformats.org/drawingml/2006/main" noGrp="1"/>
          </p:cNvSpPr>
          <p:nvPr/>
        </p:nvSpPr>
        <p:spPr>
          <a:xfrm xmlns:a="http://schemas.openxmlformats.org/drawingml/2006/main">
            <a:off x="5791200" y="3524250"/>
            <a:ext cx="1657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1,986-1,997</a:t>
            </a:r>
          </a:p>
        </p:txBody>
      </p:sp>
      <p:sp>
        <p:nvSpPr>
          <p:cNvPr id="30" name="">
            <a:extLst xmlns:a="http://schemas.openxmlformats.org/drawingml/2006/main">
              <a:ext uri="{FF2B5EF4-FFF2-40B4-BE49-F238E27FC236}">
                <a16:creationId xmlns:a16="http://schemas.microsoft.com/office/drawing/2014/main" id="{BA6F43EF-1447-401A-9CD0-792145E6D72F}"/>
              </a:ext>
            </a:extLst>
          </p:cNvPr>
          <p:cNvSpPr>
            <a:spLocks xmlns:a="http://schemas.openxmlformats.org/drawingml/2006/main" noGrp="1"/>
          </p:cNvSpPr>
          <p:nvPr/>
        </p:nvSpPr>
        <p:spPr>
          <a:xfrm xmlns:a="http://schemas.openxmlformats.org/drawingml/2006/main">
            <a:off x="7600950" y="3524250"/>
            <a:ext cx="2324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111827"/>
                </a:solidFill>
              </a:defRPr>
            </a:pPr>
            <a:r>
              <a:rPr sz="1275" b="0">
                <a:solidFill>
                  <a:srgbClr val="111827"/>
                </a:solidFill>
              </a:rPr>
              <a:t>9,301</a:t>
            </a:r>
          </a:p>
        </p:txBody>
      </p:sp>
      <p:sp>
        <p:nvSpPr>
          <p:cNvPr id="31" name="">
            <a:extLst xmlns:a="http://schemas.openxmlformats.org/drawingml/2006/main">
              <a:ext uri="{FF2B5EF4-FFF2-40B4-BE49-F238E27FC236}">
                <a16:creationId xmlns:a16="http://schemas.microsoft.com/office/drawing/2014/main" id="{349E9A9D-1CB6-4F5F-B1D0-BAC5FC3CCE86}"/>
              </a:ext>
            </a:extLst>
          </p:cNvPr>
          <p:cNvSpPr>
            <a:spLocks xmlns:a="http://schemas.openxmlformats.org/drawingml/2006/main" noGrp="1"/>
          </p:cNvSpPr>
          <p:nvPr/>
        </p:nvSpPr>
        <p:spPr>
          <a:xfrm xmlns:a="http://schemas.openxmlformats.org/drawingml/2006/main">
            <a:off x="666750" y="1485900"/>
            <a:ext cx="9334500" cy="289560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32" name="">
            <a:extLst xmlns:a="http://schemas.openxmlformats.org/drawingml/2006/main">
              <a:ext uri="{FF2B5EF4-FFF2-40B4-BE49-F238E27FC236}">
                <a16:creationId xmlns:a16="http://schemas.microsoft.com/office/drawing/2014/main" id="{BB685165-7825-4D40-AC61-1BA6C5CACDCC}"/>
              </a:ext>
            </a:extLst>
          </p:cNvPr>
          <p:cNvSpPr>
            <a:spLocks xmlns:a="http://schemas.openxmlformats.org/drawingml/2006/main" noGrp="1"/>
          </p:cNvSpPr>
          <p:nvPr/>
        </p:nvSpPr>
        <p:spPr>
          <a:xfrm xmlns:a="http://schemas.openxmlformats.org/drawingml/2006/main">
            <a:off x="2143125" y="4705350"/>
            <a:ext cx="9525" cy="83820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2C816E0-6A60-41CB-9942-E247B33D1E89}"/>
              </a:ext>
            </a:extLst>
          </p:cNvPr>
          <p:cNvSpPr>
            <a:spLocks xmlns:a="http://schemas.openxmlformats.org/drawingml/2006/main" noGrp="1"/>
          </p:cNvSpPr>
          <p:nvPr/>
        </p:nvSpPr>
        <p:spPr>
          <a:xfrm xmlns:a="http://schemas.openxmlformats.org/drawingml/2006/main">
            <a:off x="1905000" y="559117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64748B"/>
                </a:solidFill>
              </a:defRPr>
            </a:pPr>
            <a:r>
              <a:rPr sz="825" b="0">
                <a:solidFill>
                  <a:srgbClr val="64748B"/>
                </a:solidFill>
              </a:rPr>
              <a:t>0</a:t>
            </a:r>
          </a:p>
        </p:txBody>
      </p:sp>
      <p:sp>
        <p:nvSpPr>
          <p:cNvPr id="34" name="">
            <a:extLst xmlns:a="http://schemas.openxmlformats.org/drawingml/2006/main">
              <a:ext uri="{FF2B5EF4-FFF2-40B4-BE49-F238E27FC236}">
                <a16:creationId xmlns:a16="http://schemas.microsoft.com/office/drawing/2014/main" id="{EECCB098-509A-46C3-BA46-78259FDC011D}"/>
              </a:ext>
            </a:extLst>
          </p:cNvPr>
          <p:cNvSpPr>
            <a:spLocks xmlns:a="http://schemas.openxmlformats.org/drawingml/2006/main" noGrp="1"/>
          </p:cNvSpPr>
          <p:nvPr/>
        </p:nvSpPr>
        <p:spPr>
          <a:xfrm xmlns:a="http://schemas.openxmlformats.org/drawingml/2006/main">
            <a:off x="4119563" y="4705350"/>
            <a:ext cx="9525" cy="83820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2AAA80EE-6759-4452-9075-49F7F4C38E88}"/>
              </a:ext>
            </a:extLst>
          </p:cNvPr>
          <p:cNvSpPr>
            <a:spLocks xmlns:a="http://schemas.openxmlformats.org/drawingml/2006/main" noGrp="1"/>
          </p:cNvSpPr>
          <p:nvPr/>
        </p:nvSpPr>
        <p:spPr>
          <a:xfrm xmlns:a="http://schemas.openxmlformats.org/drawingml/2006/main">
            <a:off x="3881438" y="559117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64748B"/>
                </a:solidFill>
              </a:defRPr>
            </a:pPr>
            <a:r>
              <a:rPr sz="825" b="0">
                <a:solidFill>
                  <a:srgbClr val="64748B"/>
                </a:solidFill>
              </a:rPr>
              <a:t>80</a:t>
            </a:r>
          </a:p>
        </p:txBody>
      </p:sp>
      <p:sp>
        <p:nvSpPr>
          <p:cNvPr id="36" name="">
            <a:extLst xmlns:a="http://schemas.openxmlformats.org/drawingml/2006/main">
              <a:ext uri="{FF2B5EF4-FFF2-40B4-BE49-F238E27FC236}">
                <a16:creationId xmlns:a16="http://schemas.microsoft.com/office/drawing/2014/main" id="{33AAE25B-387F-4829-8224-CCEBA3A286D7}"/>
              </a:ext>
            </a:extLst>
          </p:cNvPr>
          <p:cNvSpPr>
            <a:spLocks xmlns:a="http://schemas.openxmlformats.org/drawingml/2006/main" noGrp="1"/>
          </p:cNvSpPr>
          <p:nvPr/>
        </p:nvSpPr>
        <p:spPr>
          <a:xfrm xmlns:a="http://schemas.openxmlformats.org/drawingml/2006/main">
            <a:off x="6096000" y="4705350"/>
            <a:ext cx="9525" cy="83820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C5875F2-397A-4361-A57D-65E66744DFBE}"/>
              </a:ext>
            </a:extLst>
          </p:cNvPr>
          <p:cNvSpPr>
            <a:spLocks xmlns:a="http://schemas.openxmlformats.org/drawingml/2006/main" noGrp="1"/>
          </p:cNvSpPr>
          <p:nvPr/>
        </p:nvSpPr>
        <p:spPr>
          <a:xfrm xmlns:a="http://schemas.openxmlformats.org/drawingml/2006/main">
            <a:off x="5857875" y="559117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64748B"/>
                </a:solidFill>
              </a:defRPr>
            </a:pPr>
            <a:r>
              <a:rPr sz="825" b="0">
                <a:solidFill>
                  <a:srgbClr val="64748B"/>
                </a:solidFill>
              </a:rPr>
              <a:t>160</a:t>
            </a:r>
          </a:p>
        </p:txBody>
      </p:sp>
      <p:sp>
        <p:nvSpPr>
          <p:cNvPr id="38" name="">
            <a:extLst xmlns:a="http://schemas.openxmlformats.org/drawingml/2006/main">
              <a:ext uri="{FF2B5EF4-FFF2-40B4-BE49-F238E27FC236}">
                <a16:creationId xmlns:a16="http://schemas.microsoft.com/office/drawing/2014/main" id="{78FEF754-230B-4366-B7AB-41582CC0148F}"/>
              </a:ext>
            </a:extLst>
          </p:cNvPr>
          <p:cNvSpPr>
            <a:spLocks xmlns:a="http://schemas.openxmlformats.org/drawingml/2006/main" noGrp="1"/>
          </p:cNvSpPr>
          <p:nvPr/>
        </p:nvSpPr>
        <p:spPr>
          <a:xfrm xmlns:a="http://schemas.openxmlformats.org/drawingml/2006/main">
            <a:off x="8072438" y="4705350"/>
            <a:ext cx="9525" cy="83820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06458E23-676D-4CB5-BE93-1BB08FC36AA7}"/>
              </a:ext>
            </a:extLst>
          </p:cNvPr>
          <p:cNvSpPr>
            <a:spLocks xmlns:a="http://schemas.openxmlformats.org/drawingml/2006/main" noGrp="1"/>
          </p:cNvSpPr>
          <p:nvPr/>
        </p:nvSpPr>
        <p:spPr>
          <a:xfrm xmlns:a="http://schemas.openxmlformats.org/drawingml/2006/main">
            <a:off x="7834313" y="559117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64748B"/>
                </a:solidFill>
              </a:defRPr>
            </a:pPr>
            <a:r>
              <a:rPr sz="825" b="0">
                <a:solidFill>
                  <a:srgbClr val="64748B"/>
                </a:solidFill>
              </a:rPr>
              <a:t>240</a:t>
            </a:r>
          </a:p>
        </p:txBody>
      </p:sp>
      <p:sp>
        <p:nvSpPr>
          <p:cNvPr id="40" name="">
            <a:extLst xmlns:a="http://schemas.openxmlformats.org/drawingml/2006/main">
              <a:ext uri="{FF2B5EF4-FFF2-40B4-BE49-F238E27FC236}">
                <a16:creationId xmlns:a16="http://schemas.microsoft.com/office/drawing/2014/main" id="{66A48E50-FBB6-479F-9EAD-1CCFF3286D3A}"/>
              </a:ext>
            </a:extLst>
          </p:cNvPr>
          <p:cNvSpPr>
            <a:spLocks xmlns:a="http://schemas.openxmlformats.org/drawingml/2006/main" noGrp="1"/>
          </p:cNvSpPr>
          <p:nvPr/>
        </p:nvSpPr>
        <p:spPr>
          <a:xfrm xmlns:a="http://schemas.openxmlformats.org/drawingml/2006/main">
            <a:off x="10048875" y="4705350"/>
            <a:ext cx="9525" cy="83820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70C188F7-F18F-400D-A3E9-E4909F10275D}"/>
              </a:ext>
            </a:extLst>
          </p:cNvPr>
          <p:cNvSpPr>
            <a:spLocks xmlns:a="http://schemas.openxmlformats.org/drawingml/2006/main" noGrp="1"/>
          </p:cNvSpPr>
          <p:nvPr/>
        </p:nvSpPr>
        <p:spPr>
          <a:xfrm xmlns:a="http://schemas.openxmlformats.org/drawingml/2006/main">
            <a:off x="9810750" y="559117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64748B"/>
                </a:solidFill>
              </a:defRPr>
            </a:pPr>
            <a:r>
              <a:rPr sz="825" b="0">
                <a:solidFill>
                  <a:srgbClr val="64748B"/>
                </a:solidFill>
              </a:rPr>
              <a:t>320</a:t>
            </a:r>
          </a:p>
        </p:txBody>
      </p:sp>
      <p:sp>
        <p:nvSpPr>
          <p:cNvPr id="42" name="">
            <a:extLst xmlns:a="http://schemas.openxmlformats.org/drawingml/2006/main">
              <a:ext uri="{FF2B5EF4-FFF2-40B4-BE49-F238E27FC236}">
                <a16:creationId xmlns:a16="http://schemas.microsoft.com/office/drawing/2014/main" id="{AF6438EE-D12C-45A7-847A-B4C0B7FBAF70}"/>
              </a:ext>
            </a:extLst>
          </p:cNvPr>
          <p:cNvSpPr>
            <a:spLocks xmlns:a="http://schemas.openxmlformats.org/drawingml/2006/main" noGrp="1"/>
          </p:cNvSpPr>
          <p:nvPr/>
        </p:nvSpPr>
        <p:spPr>
          <a:xfrm xmlns:a="http://schemas.openxmlformats.org/drawingml/2006/main">
            <a:off x="952500" y="4705350"/>
            <a:ext cx="1095375" cy="279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111827"/>
                </a:solidFill>
              </a:defRPr>
            </a:pPr>
            <a:r>
              <a:rPr sz="975" b="0">
                <a:solidFill>
                  <a:srgbClr val="111827"/>
                </a:solidFill>
              </a:rPr>
              <a:t>Control</a:t>
            </a:r>
          </a:p>
        </p:txBody>
      </p:sp>
      <p:sp>
        <p:nvSpPr>
          <p:cNvPr id="43" name="">
            <a:extLst xmlns:a="http://schemas.openxmlformats.org/drawingml/2006/main">
              <a:ext uri="{FF2B5EF4-FFF2-40B4-BE49-F238E27FC236}">
                <a16:creationId xmlns:a16="http://schemas.microsoft.com/office/drawing/2014/main" id="{0C8B2CBC-E8EF-4AFC-9F77-5BE0525963D4}"/>
              </a:ext>
            </a:extLst>
          </p:cNvPr>
          <p:cNvSpPr>
            <a:spLocks xmlns:a="http://schemas.openxmlformats.org/drawingml/2006/main" noGrp="1"/>
          </p:cNvSpPr>
          <p:nvPr/>
        </p:nvSpPr>
        <p:spPr>
          <a:xfrm xmlns:a="http://schemas.openxmlformats.org/drawingml/2006/main">
            <a:off x="2143125" y="4743450"/>
            <a:ext cx="0" cy="1333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10A8620-4F77-4FFD-9AD8-C90F5509C7F1}"/>
              </a:ext>
            </a:extLst>
          </p:cNvPr>
          <p:cNvSpPr>
            <a:spLocks xmlns:a="http://schemas.openxmlformats.org/drawingml/2006/main" noGrp="1"/>
          </p:cNvSpPr>
          <p:nvPr/>
        </p:nvSpPr>
        <p:spPr>
          <a:xfrm xmlns:a="http://schemas.openxmlformats.org/drawingml/2006/main">
            <a:off x="2190750" y="47244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D4ED8"/>
                </a:solidFill>
              </a:defRPr>
            </a:pPr>
            <a:r>
              <a:rPr sz="825" b="1">
                <a:solidFill>
                  <a:srgbClr val="1D4ED8"/>
                </a:solidFill>
              </a:rPr>
              <a:t>0</a:t>
            </a:r>
          </a:p>
        </p:txBody>
      </p:sp>
      <p:sp>
        <p:nvSpPr>
          <p:cNvPr id="45" name="">
            <a:extLst xmlns:a="http://schemas.openxmlformats.org/drawingml/2006/main">
              <a:ext uri="{FF2B5EF4-FFF2-40B4-BE49-F238E27FC236}">
                <a16:creationId xmlns:a16="http://schemas.microsoft.com/office/drawing/2014/main" id="{68EBEAA5-D061-4733-B193-6CC1064997C1}"/>
              </a:ext>
            </a:extLst>
          </p:cNvPr>
          <p:cNvSpPr>
            <a:spLocks xmlns:a="http://schemas.openxmlformats.org/drawingml/2006/main" noGrp="1"/>
          </p:cNvSpPr>
          <p:nvPr/>
        </p:nvSpPr>
        <p:spPr>
          <a:xfrm xmlns:a="http://schemas.openxmlformats.org/drawingml/2006/main">
            <a:off x="952500" y="4984750"/>
            <a:ext cx="1095375" cy="279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111827"/>
                </a:solidFill>
              </a:defRPr>
            </a:pPr>
            <a:r>
              <a:rPr sz="975" b="0">
                <a:solidFill>
                  <a:srgbClr val="111827"/>
                </a:solidFill>
              </a:rPr>
              <a:t>Low rate</a:t>
            </a:r>
          </a:p>
        </p:txBody>
      </p:sp>
      <p:sp>
        <p:nvSpPr>
          <p:cNvPr id="46" name="">
            <a:extLst xmlns:a="http://schemas.openxmlformats.org/drawingml/2006/main">
              <a:ext uri="{FF2B5EF4-FFF2-40B4-BE49-F238E27FC236}">
                <a16:creationId xmlns:a16="http://schemas.microsoft.com/office/drawing/2014/main" id="{19EDECE0-E11B-4866-9C15-B639AB217649}"/>
              </a:ext>
            </a:extLst>
          </p:cNvPr>
          <p:cNvSpPr>
            <a:spLocks xmlns:a="http://schemas.openxmlformats.org/drawingml/2006/main" noGrp="1"/>
          </p:cNvSpPr>
          <p:nvPr/>
        </p:nvSpPr>
        <p:spPr>
          <a:xfrm xmlns:a="http://schemas.openxmlformats.org/drawingml/2006/main">
            <a:off x="2143125" y="5022850"/>
            <a:ext cx="716459" cy="1333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91204C41-1913-4F61-BCBD-9AC000E55C95}"/>
              </a:ext>
            </a:extLst>
          </p:cNvPr>
          <p:cNvSpPr>
            <a:spLocks xmlns:a="http://schemas.openxmlformats.org/drawingml/2006/main" noGrp="1"/>
          </p:cNvSpPr>
          <p:nvPr/>
        </p:nvSpPr>
        <p:spPr>
          <a:xfrm xmlns:a="http://schemas.openxmlformats.org/drawingml/2006/main">
            <a:off x="2907209" y="50038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D4ED8"/>
                </a:solidFill>
              </a:defRPr>
            </a:pPr>
            <a:r>
              <a:rPr sz="825" b="1">
                <a:solidFill>
                  <a:srgbClr val="1D4ED8"/>
                </a:solidFill>
              </a:rPr>
              <a:t>29</a:t>
            </a:r>
          </a:p>
        </p:txBody>
      </p:sp>
      <p:sp>
        <p:nvSpPr>
          <p:cNvPr id="48" name="">
            <a:extLst xmlns:a="http://schemas.openxmlformats.org/drawingml/2006/main">
              <a:ext uri="{FF2B5EF4-FFF2-40B4-BE49-F238E27FC236}">
                <a16:creationId xmlns:a16="http://schemas.microsoft.com/office/drawing/2014/main" id="{A9C6B237-E2C2-4436-9E7C-196CC3DB7B92}"/>
              </a:ext>
            </a:extLst>
          </p:cNvPr>
          <p:cNvSpPr>
            <a:spLocks xmlns:a="http://schemas.openxmlformats.org/drawingml/2006/main" noGrp="1"/>
          </p:cNvSpPr>
          <p:nvPr/>
        </p:nvSpPr>
        <p:spPr>
          <a:xfrm xmlns:a="http://schemas.openxmlformats.org/drawingml/2006/main">
            <a:off x="952500" y="5264150"/>
            <a:ext cx="1095375" cy="279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111827"/>
                </a:solidFill>
              </a:defRPr>
            </a:pPr>
            <a:r>
              <a:rPr sz="975" b="0">
                <a:solidFill>
                  <a:srgbClr val="111827"/>
                </a:solidFill>
              </a:rPr>
              <a:t>High rate</a:t>
            </a:r>
          </a:p>
        </p:txBody>
      </p:sp>
      <p:sp>
        <p:nvSpPr>
          <p:cNvPr id="49" name="">
            <a:extLst xmlns:a="http://schemas.openxmlformats.org/drawingml/2006/main">
              <a:ext uri="{FF2B5EF4-FFF2-40B4-BE49-F238E27FC236}">
                <a16:creationId xmlns:a16="http://schemas.microsoft.com/office/drawing/2014/main" id="{9144AD69-D2B4-4A4F-ABE2-A4600B3954C8}"/>
              </a:ext>
            </a:extLst>
          </p:cNvPr>
          <p:cNvSpPr>
            <a:spLocks xmlns:a="http://schemas.openxmlformats.org/drawingml/2006/main" noGrp="1"/>
          </p:cNvSpPr>
          <p:nvPr/>
        </p:nvSpPr>
        <p:spPr>
          <a:xfrm xmlns:a="http://schemas.openxmlformats.org/drawingml/2006/main">
            <a:off x="2143125" y="5302250"/>
            <a:ext cx="7386935" cy="1333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239113FE-5274-4DFA-8CC6-6B9B9952FF04}"/>
              </a:ext>
            </a:extLst>
          </p:cNvPr>
          <p:cNvSpPr>
            <a:spLocks xmlns:a="http://schemas.openxmlformats.org/drawingml/2006/main" noGrp="1"/>
          </p:cNvSpPr>
          <p:nvPr/>
        </p:nvSpPr>
        <p:spPr>
          <a:xfrm xmlns:a="http://schemas.openxmlformats.org/drawingml/2006/main">
            <a:off x="9577685" y="52832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D4ED8"/>
                </a:solidFill>
              </a:defRPr>
            </a:pPr>
            <a:r>
              <a:rPr sz="825" b="1">
                <a:solidFill>
                  <a:srgbClr val="1D4ED8"/>
                </a:solidFill>
              </a:rPr>
              <a:t>299</a:t>
            </a:r>
          </a:p>
        </p:txBody>
      </p:sp>
      <p:sp>
        <p:nvSpPr>
          <p:cNvPr id="51" name="">
            <a:extLst xmlns:a="http://schemas.openxmlformats.org/drawingml/2006/main">
              <a:ext uri="{FF2B5EF4-FFF2-40B4-BE49-F238E27FC236}">
                <a16:creationId xmlns:a16="http://schemas.microsoft.com/office/drawing/2014/main" id="{41CE8915-7DAB-4FBB-9629-1749E55B0862}"/>
              </a:ext>
            </a:extLst>
          </p:cNvPr>
          <p:cNvSpPr>
            <a:spLocks xmlns:a="http://schemas.openxmlformats.org/drawingml/2006/main" noGrp="1"/>
          </p:cNvSpPr>
          <p:nvPr/>
        </p:nvSpPr>
        <p:spPr>
          <a:xfrm xmlns:a="http://schemas.openxmlformats.org/drawingml/2006/main">
            <a:off x="2143125" y="4476750"/>
            <a:ext cx="114300" cy="1143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1025AF1B-40DF-405B-A25F-D817BC053DF2}"/>
              </a:ext>
            </a:extLst>
          </p:cNvPr>
          <p:cNvSpPr>
            <a:spLocks xmlns:a="http://schemas.openxmlformats.org/drawingml/2006/main" noGrp="1"/>
          </p:cNvSpPr>
          <p:nvPr/>
        </p:nvSpPr>
        <p:spPr>
          <a:xfrm xmlns:a="http://schemas.openxmlformats.org/drawingml/2006/main">
            <a:off x="2314575" y="443865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475569"/>
                </a:solidFill>
              </a:defRPr>
            </a:pPr>
            <a:r>
              <a:rPr sz="825" b="0">
                <a:solidFill>
                  <a:srgbClr val="475569"/>
                </a:solidFill>
              </a:rPr>
              <a:t>Spoofed DIO markers</a:t>
            </a:r>
          </a:p>
        </p:txBody>
      </p:sp>
      <p:sp>
        <p:nvSpPr>
          <p:cNvPr id="53" name="">
            <a:extLst xmlns:a="http://schemas.openxmlformats.org/drawingml/2006/main">
              <a:ext uri="{FF2B5EF4-FFF2-40B4-BE49-F238E27FC236}">
                <a16:creationId xmlns:a16="http://schemas.microsoft.com/office/drawing/2014/main" id="{D3354939-963A-424D-8834-9F8A38FA81FF}"/>
              </a:ext>
            </a:extLst>
          </p:cNvPr>
          <p:cNvSpPr>
            <a:spLocks xmlns:a="http://schemas.openxmlformats.org/drawingml/2006/main" noGrp="1"/>
          </p:cNvSpPr>
          <p:nvPr/>
        </p:nvSpPr>
        <p:spPr>
          <a:xfrm xmlns:a="http://schemas.openxmlformats.org/drawingml/2006/main">
            <a:off x="666750" y="5810250"/>
            <a:ext cx="9906000" cy="4191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69EA0729-8680-4B2D-B969-8636EEA1DAC9}"/>
              </a:ext>
            </a:extLst>
          </p:cNvPr>
          <p:cNvSpPr>
            <a:spLocks xmlns:a="http://schemas.openxmlformats.org/drawingml/2006/main" noGrp="1"/>
          </p:cNvSpPr>
          <p:nvPr/>
        </p:nvSpPr>
        <p:spPr>
          <a:xfrm xmlns:a="http://schemas.openxmlformats.org/drawingml/2006/main">
            <a:off x="666750" y="5810250"/>
            <a:ext cx="47625" cy="41910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EA2457DA-DB87-4AD0-97E0-AB5EF13476E3}"/>
              </a:ext>
            </a:extLst>
          </p:cNvPr>
          <p:cNvSpPr>
            <a:spLocks xmlns:a="http://schemas.openxmlformats.org/drawingml/2006/main" noGrp="1"/>
          </p:cNvSpPr>
          <p:nvPr/>
        </p:nvSpPr>
        <p:spPr>
          <a:xfrm xmlns:a="http://schemas.openxmlformats.org/drawingml/2006/main">
            <a:off x="838200" y="5895975"/>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Higher attack rate is directly observable, but it also changes radio load and may be easier to detect.</a:t>
            </a:r>
          </a:p>
        </p:txBody>
      </p:sp>
    </p:spTree>
    <p:extLst>
      <p:ext uri="{BB962C8B-B14F-4D97-AF65-F5344CB8AC3E}">
        <p14:creationId xmlns:p14="http://schemas.microsoft.com/office/powerpoint/2010/main" val="190303811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572FCD44-B523-4B64-9C9D-15FDE3AB170E}"/>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Sybil detection and adaptation evidence</a:t>
            </a:r>
          </a:p>
        </p:txBody>
      </p:sp>
      <p:sp>
        <p:nvSpPr>
          <p:cNvPr id="2" name="">
            <a:extLst xmlns:a="http://schemas.openxmlformats.org/drawingml/2006/main">
              <a:ext uri="{FF2B5EF4-FFF2-40B4-BE49-F238E27FC236}">
                <a16:creationId xmlns:a16="http://schemas.microsoft.com/office/drawing/2014/main" id="{D2B6C671-6460-491A-AF17-EC62E88357F4}"/>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Identity-specific evidence is strong; generic cross-attack transfer remains weak without target data.</a:t>
            </a:r>
          </a:p>
        </p:txBody>
      </p:sp>
      <p:sp>
        <p:nvSpPr>
          <p:cNvPr id="3" name="">
            <a:extLst xmlns:a="http://schemas.openxmlformats.org/drawingml/2006/main">
              <a:ext uri="{FF2B5EF4-FFF2-40B4-BE49-F238E27FC236}">
                <a16:creationId xmlns:a16="http://schemas.microsoft.com/office/drawing/2014/main" id="{B00D45DA-1C42-4A61-BD17-BA4279CCE454}"/>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5FCF918-3A5F-4D5F-A1D4-EA5A772F6DF5}"/>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CA698E8-B258-49C7-8059-741179C24851}"/>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Sybil result</a:t>
            </a:r>
          </a:p>
        </p:txBody>
      </p:sp>
      <p:sp>
        <p:nvSpPr>
          <p:cNvPr id="6" name="">
            <a:extLst xmlns:a="http://schemas.openxmlformats.org/drawingml/2006/main">
              <a:ext uri="{FF2B5EF4-FFF2-40B4-BE49-F238E27FC236}">
                <a16:creationId xmlns:a16="http://schemas.microsoft.com/office/drawing/2014/main" id="{CF7BC906-02FD-4309-AE4E-FF80BEF74D92}"/>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17  </a:t>
            </a:r>
          </a:p>
        </p:txBody>
      </p:sp>
      <p:sp>
        <p:nvSpPr>
          <p:cNvPr id="7" name="">
            <a:extLst xmlns:a="http://schemas.openxmlformats.org/drawingml/2006/main">
              <a:ext uri="{FF2B5EF4-FFF2-40B4-BE49-F238E27FC236}">
                <a16:creationId xmlns:a16="http://schemas.microsoft.com/office/drawing/2014/main" id="{500E28FB-05F7-460B-A921-24B84D1997A0}"/>
              </a:ext>
            </a:extLst>
          </p:cNvPr>
          <p:cNvSpPr>
            <a:spLocks xmlns:a="http://schemas.openxmlformats.org/drawingml/2006/main" noGrp="1"/>
          </p:cNvSpPr>
          <p:nvPr/>
        </p:nvSpPr>
        <p:spPr>
          <a:xfrm xmlns:a="http://schemas.openxmlformats.org/drawingml/2006/main">
            <a:off x="571500" y="1504950"/>
            <a:ext cx="981075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F909B35-E88B-4B26-9CD4-8C43B3F54597}"/>
              </a:ext>
            </a:extLst>
          </p:cNvPr>
          <p:cNvSpPr>
            <a:spLocks xmlns:a="http://schemas.openxmlformats.org/drawingml/2006/main" noGrp="1"/>
          </p:cNvSpPr>
          <p:nvPr/>
        </p:nvSpPr>
        <p:spPr>
          <a:xfrm xmlns:a="http://schemas.openxmlformats.org/drawingml/2006/main">
            <a:off x="647700" y="1504950"/>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Evaluation</a:t>
            </a:r>
          </a:p>
        </p:txBody>
      </p:sp>
      <p:sp>
        <p:nvSpPr>
          <p:cNvPr id="9" name="">
            <a:extLst xmlns:a="http://schemas.openxmlformats.org/drawingml/2006/main">
              <a:ext uri="{FF2B5EF4-FFF2-40B4-BE49-F238E27FC236}">
                <a16:creationId xmlns:a16="http://schemas.microsoft.com/office/drawing/2014/main" id="{4233EF2E-204A-4005-9A75-CAAA5D86D6C4}"/>
              </a:ext>
            </a:extLst>
          </p:cNvPr>
          <p:cNvSpPr>
            <a:spLocks xmlns:a="http://schemas.openxmlformats.org/drawingml/2006/main" noGrp="1"/>
          </p:cNvSpPr>
          <p:nvPr/>
        </p:nvSpPr>
        <p:spPr>
          <a:xfrm xmlns:a="http://schemas.openxmlformats.org/drawingml/2006/main">
            <a:off x="3219450" y="1504950"/>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Precision</a:t>
            </a:r>
          </a:p>
        </p:txBody>
      </p:sp>
      <p:sp>
        <p:nvSpPr>
          <p:cNvPr id="10" name="">
            <a:extLst xmlns:a="http://schemas.openxmlformats.org/drawingml/2006/main">
              <a:ext uri="{FF2B5EF4-FFF2-40B4-BE49-F238E27FC236}">
                <a16:creationId xmlns:a16="http://schemas.microsoft.com/office/drawing/2014/main" id="{6F7E2975-19C2-4F91-8620-37BBA31AE425}"/>
              </a:ext>
            </a:extLst>
          </p:cNvPr>
          <p:cNvSpPr>
            <a:spLocks xmlns:a="http://schemas.openxmlformats.org/drawingml/2006/main" noGrp="1"/>
          </p:cNvSpPr>
          <p:nvPr/>
        </p:nvSpPr>
        <p:spPr>
          <a:xfrm xmlns:a="http://schemas.openxmlformats.org/drawingml/2006/main">
            <a:off x="4743450" y="1504950"/>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Recall</a:t>
            </a:r>
          </a:p>
        </p:txBody>
      </p:sp>
      <p:sp>
        <p:nvSpPr>
          <p:cNvPr id="11" name="">
            <a:extLst xmlns:a="http://schemas.openxmlformats.org/drawingml/2006/main">
              <a:ext uri="{FF2B5EF4-FFF2-40B4-BE49-F238E27FC236}">
                <a16:creationId xmlns:a16="http://schemas.microsoft.com/office/drawing/2014/main" id="{91A81469-ED05-4365-9D4C-A827476D788D}"/>
              </a:ext>
            </a:extLst>
          </p:cNvPr>
          <p:cNvSpPr>
            <a:spLocks xmlns:a="http://schemas.openxmlformats.org/drawingml/2006/main" noGrp="1"/>
          </p:cNvSpPr>
          <p:nvPr/>
        </p:nvSpPr>
        <p:spPr>
          <a:xfrm xmlns:a="http://schemas.openxmlformats.org/drawingml/2006/main">
            <a:off x="6267450" y="1504950"/>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F1</a:t>
            </a:r>
          </a:p>
        </p:txBody>
      </p:sp>
      <p:sp>
        <p:nvSpPr>
          <p:cNvPr id="12" name="">
            <a:extLst xmlns:a="http://schemas.openxmlformats.org/drawingml/2006/main">
              <a:ext uri="{FF2B5EF4-FFF2-40B4-BE49-F238E27FC236}">
                <a16:creationId xmlns:a16="http://schemas.microsoft.com/office/drawing/2014/main" id="{F6436A02-E36D-44E5-B5D8-8C2E90EF11B0}"/>
              </a:ext>
            </a:extLst>
          </p:cNvPr>
          <p:cNvSpPr>
            <a:spLocks xmlns:a="http://schemas.openxmlformats.org/drawingml/2006/main" noGrp="1"/>
          </p:cNvSpPr>
          <p:nvPr/>
        </p:nvSpPr>
        <p:spPr>
          <a:xfrm xmlns:a="http://schemas.openxmlformats.org/drawingml/2006/main">
            <a:off x="7791450" y="15049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Interpretation</a:t>
            </a:r>
          </a:p>
        </p:txBody>
      </p:sp>
      <p:sp>
        <p:nvSpPr>
          <p:cNvPr id="13" name="">
            <a:extLst xmlns:a="http://schemas.openxmlformats.org/drawingml/2006/main">
              <a:ext uri="{FF2B5EF4-FFF2-40B4-BE49-F238E27FC236}">
                <a16:creationId xmlns:a16="http://schemas.microsoft.com/office/drawing/2014/main" id="{3323076A-7527-47E9-8116-DA5E8123B374}"/>
              </a:ext>
            </a:extLst>
          </p:cNvPr>
          <p:cNvSpPr>
            <a:spLocks xmlns:a="http://schemas.openxmlformats.org/drawingml/2006/main" noGrp="1"/>
          </p:cNvSpPr>
          <p:nvPr/>
        </p:nvSpPr>
        <p:spPr>
          <a:xfrm xmlns:a="http://schemas.openxmlformats.org/drawingml/2006/main">
            <a:off x="571500" y="1828800"/>
            <a:ext cx="9810750" cy="6477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E417C3B-281D-4E98-82DA-E8224872C1D3}"/>
              </a:ext>
            </a:extLst>
          </p:cNvPr>
          <p:cNvSpPr>
            <a:spLocks xmlns:a="http://schemas.openxmlformats.org/drawingml/2006/main" noGrp="1"/>
          </p:cNvSpPr>
          <p:nvPr/>
        </p:nvSpPr>
        <p:spPr>
          <a:xfrm xmlns:a="http://schemas.openxmlformats.org/drawingml/2006/main">
            <a:off x="647700" y="1828800"/>
            <a:ext cx="2419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Sybil target, static CART</a:t>
            </a:r>
          </a:p>
        </p:txBody>
      </p:sp>
      <p:sp>
        <p:nvSpPr>
          <p:cNvPr id="15" name="">
            <a:extLst xmlns:a="http://schemas.openxmlformats.org/drawingml/2006/main">
              <a:ext uri="{FF2B5EF4-FFF2-40B4-BE49-F238E27FC236}">
                <a16:creationId xmlns:a16="http://schemas.microsoft.com/office/drawing/2014/main" id="{BDFFF51C-7B0B-4CF8-852F-0C1D8BDC93B1}"/>
              </a:ext>
            </a:extLst>
          </p:cNvPr>
          <p:cNvSpPr>
            <a:spLocks xmlns:a="http://schemas.openxmlformats.org/drawingml/2006/main" noGrp="1"/>
          </p:cNvSpPr>
          <p:nvPr/>
        </p:nvSpPr>
        <p:spPr>
          <a:xfrm xmlns:a="http://schemas.openxmlformats.org/drawingml/2006/main">
            <a:off x="3219450" y="1828800"/>
            <a:ext cx="1371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0.216</a:t>
            </a:r>
          </a:p>
        </p:txBody>
      </p:sp>
      <p:sp>
        <p:nvSpPr>
          <p:cNvPr id="16" name="">
            <a:extLst xmlns:a="http://schemas.openxmlformats.org/drawingml/2006/main">
              <a:ext uri="{FF2B5EF4-FFF2-40B4-BE49-F238E27FC236}">
                <a16:creationId xmlns:a16="http://schemas.microsoft.com/office/drawing/2014/main" id="{DF243F3E-7A44-4A21-B3CC-E8D30396CC78}"/>
              </a:ext>
            </a:extLst>
          </p:cNvPr>
          <p:cNvSpPr>
            <a:spLocks xmlns:a="http://schemas.openxmlformats.org/drawingml/2006/main" noGrp="1"/>
          </p:cNvSpPr>
          <p:nvPr/>
        </p:nvSpPr>
        <p:spPr>
          <a:xfrm xmlns:a="http://schemas.openxmlformats.org/drawingml/2006/main">
            <a:off x="4743450" y="1828800"/>
            <a:ext cx="1371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0.275</a:t>
            </a:r>
          </a:p>
        </p:txBody>
      </p:sp>
      <p:sp>
        <p:nvSpPr>
          <p:cNvPr id="17" name="">
            <a:extLst xmlns:a="http://schemas.openxmlformats.org/drawingml/2006/main">
              <a:ext uri="{FF2B5EF4-FFF2-40B4-BE49-F238E27FC236}">
                <a16:creationId xmlns:a16="http://schemas.microsoft.com/office/drawing/2014/main" id="{CB9B6807-92B5-49EB-8AC5-7A35E7774788}"/>
              </a:ext>
            </a:extLst>
          </p:cNvPr>
          <p:cNvSpPr>
            <a:spLocks xmlns:a="http://schemas.openxmlformats.org/drawingml/2006/main" noGrp="1"/>
          </p:cNvSpPr>
          <p:nvPr/>
        </p:nvSpPr>
        <p:spPr>
          <a:xfrm xmlns:a="http://schemas.openxmlformats.org/drawingml/2006/main">
            <a:off x="6267450" y="1828800"/>
            <a:ext cx="1371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0.218</a:t>
            </a:r>
          </a:p>
        </p:txBody>
      </p:sp>
      <p:sp>
        <p:nvSpPr>
          <p:cNvPr id="18" name="">
            <a:extLst xmlns:a="http://schemas.openxmlformats.org/drawingml/2006/main">
              <a:ext uri="{FF2B5EF4-FFF2-40B4-BE49-F238E27FC236}">
                <a16:creationId xmlns:a16="http://schemas.microsoft.com/office/drawing/2014/main" id="{98452970-C61C-4B53-A3B8-353FCAFB85FD}"/>
              </a:ext>
            </a:extLst>
          </p:cNvPr>
          <p:cNvSpPr>
            <a:spLocks xmlns:a="http://schemas.openxmlformats.org/drawingml/2006/main" noGrp="1"/>
          </p:cNvSpPr>
          <p:nvPr/>
        </p:nvSpPr>
        <p:spPr>
          <a:xfrm xmlns:a="http://schemas.openxmlformats.org/drawingml/2006/main">
            <a:off x="7791450" y="1828800"/>
            <a:ext cx="2514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Poor cross-family transfer</a:t>
            </a:r>
          </a:p>
        </p:txBody>
      </p:sp>
      <p:sp>
        <p:nvSpPr>
          <p:cNvPr id="19" name="">
            <a:extLst xmlns:a="http://schemas.openxmlformats.org/drawingml/2006/main">
              <a:ext uri="{FF2B5EF4-FFF2-40B4-BE49-F238E27FC236}">
                <a16:creationId xmlns:a16="http://schemas.microsoft.com/office/drawing/2014/main" id="{A9B5D327-F0C4-4030-BEBD-21AC7C5BD053}"/>
              </a:ext>
            </a:extLst>
          </p:cNvPr>
          <p:cNvSpPr>
            <a:spLocks xmlns:a="http://schemas.openxmlformats.org/drawingml/2006/main" noGrp="1"/>
          </p:cNvSpPr>
          <p:nvPr/>
        </p:nvSpPr>
        <p:spPr>
          <a:xfrm xmlns:a="http://schemas.openxmlformats.org/drawingml/2006/main">
            <a:off x="571500" y="2476500"/>
            <a:ext cx="9810750" cy="647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98430A2-A3D2-4139-A417-D2C4DA8F8E43}"/>
              </a:ext>
            </a:extLst>
          </p:cNvPr>
          <p:cNvSpPr>
            <a:spLocks xmlns:a="http://schemas.openxmlformats.org/drawingml/2006/main" noGrp="1"/>
          </p:cNvSpPr>
          <p:nvPr/>
        </p:nvSpPr>
        <p:spPr>
          <a:xfrm xmlns:a="http://schemas.openxmlformats.org/drawingml/2006/main">
            <a:off x="647700" y="2476500"/>
            <a:ext cx="2419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Sybil target, 1 seed</a:t>
            </a:r>
          </a:p>
        </p:txBody>
      </p:sp>
      <p:sp>
        <p:nvSpPr>
          <p:cNvPr id="21" name="">
            <a:extLst xmlns:a="http://schemas.openxmlformats.org/drawingml/2006/main">
              <a:ext uri="{FF2B5EF4-FFF2-40B4-BE49-F238E27FC236}">
                <a16:creationId xmlns:a16="http://schemas.microsoft.com/office/drawing/2014/main" id="{EA5C47FC-C2FD-4679-A906-B402329A15F0}"/>
              </a:ext>
            </a:extLst>
          </p:cNvPr>
          <p:cNvSpPr>
            <a:spLocks xmlns:a="http://schemas.openxmlformats.org/drawingml/2006/main" noGrp="1"/>
          </p:cNvSpPr>
          <p:nvPr/>
        </p:nvSpPr>
        <p:spPr>
          <a:xfrm xmlns:a="http://schemas.openxmlformats.org/drawingml/2006/main">
            <a:off x="3219450" y="2476500"/>
            <a:ext cx="1371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1.000</a:t>
            </a:r>
          </a:p>
        </p:txBody>
      </p:sp>
      <p:sp>
        <p:nvSpPr>
          <p:cNvPr id="22" name="">
            <a:extLst xmlns:a="http://schemas.openxmlformats.org/drawingml/2006/main">
              <a:ext uri="{FF2B5EF4-FFF2-40B4-BE49-F238E27FC236}">
                <a16:creationId xmlns:a16="http://schemas.microsoft.com/office/drawing/2014/main" id="{D5B47B00-1335-4FA7-BBCC-460311E5CE30}"/>
              </a:ext>
            </a:extLst>
          </p:cNvPr>
          <p:cNvSpPr>
            <a:spLocks xmlns:a="http://schemas.openxmlformats.org/drawingml/2006/main" noGrp="1"/>
          </p:cNvSpPr>
          <p:nvPr/>
        </p:nvSpPr>
        <p:spPr>
          <a:xfrm xmlns:a="http://schemas.openxmlformats.org/drawingml/2006/main">
            <a:off x="4743450" y="2476500"/>
            <a:ext cx="1371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0.944</a:t>
            </a:r>
          </a:p>
        </p:txBody>
      </p:sp>
      <p:sp>
        <p:nvSpPr>
          <p:cNvPr id="23" name="">
            <a:extLst xmlns:a="http://schemas.openxmlformats.org/drawingml/2006/main">
              <a:ext uri="{FF2B5EF4-FFF2-40B4-BE49-F238E27FC236}">
                <a16:creationId xmlns:a16="http://schemas.microsoft.com/office/drawing/2014/main" id="{3B58D9CE-02CA-4D32-8067-DB97DA6DC024}"/>
              </a:ext>
            </a:extLst>
          </p:cNvPr>
          <p:cNvSpPr>
            <a:spLocks xmlns:a="http://schemas.openxmlformats.org/drawingml/2006/main" noGrp="1"/>
          </p:cNvSpPr>
          <p:nvPr/>
        </p:nvSpPr>
        <p:spPr>
          <a:xfrm xmlns:a="http://schemas.openxmlformats.org/drawingml/2006/main">
            <a:off x="6267450" y="2476500"/>
            <a:ext cx="1371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0.968</a:t>
            </a:r>
          </a:p>
        </p:txBody>
      </p:sp>
      <p:sp>
        <p:nvSpPr>
          <p:cNvPr id="24" name="">
            <a:extLst xmlns:a="http://schemas.openxmlformats.org/drawingml/2006/main">
              <a:ext uri="{FF2B5EF4-FFF2-40B4-BE49-F238E27FC236}">
                <a16:creationId xmlns:a16="http://schemas.microsoft.com/office/drawing/2014/main" id="{0C526C50-A519-4F6B-889A-A1202D567496}"/>
              </a:ext>
            </a:extLst>
          </p:cNvPr>
          <p:cNvSpPr>
            <a:spLocks xmlns:a="http://schemas.openxmlformats.org/drawingml/2006/main" noGrp="1"/>
          </p:cNvSpPr>
          <p:nvPr/>
        </p:nvSpPr>
        <p:spPr>
          <a:xfrm xmlns:a="http://schemas.openxmlformats.org/drawingml/2006/main">
            <a:off x="7791450" y="2476500"/>
            <a:ext cx="2514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Large held-out recovery</a:t>
            </a:r>
          </a:p>
        </p:txBody>
      </p:sp>
      <p:sp>
        <p:nvSpPr>
          <p:cNvPr id="25" name="">
            <a:extLst xmlns:a="http://schemas.openxmlformats.org/drawingml/2006/main">
              <a:ext uri="{FF2B5EF4-FFF2-40B4-BE49-F238E27FC236}">
                <a16:creationId xmlns:a16="http://schemas.microsoft.com/office/drawing/2014/main" id="{7481CA79-AA21-42DB-89F2-C038436EC100}"/>
              </a:ext>
            </a:extLst>
          </p:cNvPr>
          <p:cNvSpPr>
            <a:spLocks xmlns:a="http://schemas.openxmlformats.org/drawingml/2006/main" noGrp="1"/>
          </p:cNvSpPr>
          <p:nvPr/>
        </p:nvSpPr>
        <p:spPr>
          <a:xfrm xmlns:a="http://schemas.openxmlformats.org/drawingml/2006/main">
            <a:off x="571500" y="3124200"/>
            <a:ext cx="9810750" cy="6477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0D7B16B-978F-491A-A357-5D84A240931B}"/>
              </a:ext>
            </a:extLst>
          </p:cNvPr>
          <p:cNvSpPr>
            <a:spLocks xmlns:a="http://schemas.openxmlformats.org/drawingml/2006/main" noGrp="1"/>
          </p:cNvSpPr>
          <p:nvPr/>
        </p:nvSpPr>
        <p:spPr>
          <a:xfrm xmlns:a="http://schemas.openxmlformats.org/drawingml/2006/main">
            <a:off x="647700" y="3124200"/>
            <a:ext cx="2419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Sybil target, 3 seeds</a:t>
            </a:r>
          </a:p>
        </p:txBody>
      </p:sp>
      <p:sp>
        <p:nvSpPr>
          <p:cNvPr id="27" name="">
            <a:extLst xmlns:a="http://schemas.openxmlformats.org/drawingml/2006/main">
              <a:ext uri="{FF2B5EF4-FFF2-40B4-BE49-F238E27FC236}">
                <a16:creationId xmlns:a16="http://schemas.microsoft.com/office/drawing/2014/main" id="{330C0F2A-6C30-4CF9-B90E-5236F75DD6C7}"/>
              </a:ext>
            </a:extLst>
          </p:cNvPr>
          <p:cNvSpPr>
            <a:spLocks xmlns:a="http://schemas.openxmlformats.org/drawingml/2006/main" noGrp="1"/>
          </p:cNvSpPr>
          <p:nvPr/>
        </p:nvSpPr>
        <p:spPr>
          <a:xfrm xmlns:a="http://schemas.openxmlformats.org/drawingml/2006/main">
            <a:off x="3219450" y="3124200"/>
            <a:ext cx="1371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1.000</a:t>
            </a:r>
          </a:p>
        </p:txBody>
      </p:sp>
      <p:sp>
        <p:nvSpPr>
          <p:cNvPr id="28" name="">
            <a:extLst xmlns:a="http://schemas.openxmlformats.org/drawingml/2006/main">
              <a:ext uri="{FF2B5EF4-FFF2-40B4-BE49-F238E27FC236}">
                <a16:creationId xmlns:a16="http://schemas.microsoft.com/office/drawing/2014/main" id="{95E7B65D-2303-4556-A17E-A3F372184C4D}"/>
              </a:ext>
            </a:extLst>
          </p:cNvPr>
          <p:cNvSpPr>
            <a:spLocks xmlns:a="http://schemas.openxmlformats.org/drawingml/2006/main" noGrp="1"/>
          </p:cNvSpPr>
          <p:nvPr/>
        </p:nvSpPr>
        <p:spPr>
          <a:xfrm xmlns:a="http://schemas.openxmlformats.org/drawingml/2006/main">
            <a:off x="4743450" y="3124200"/>
            <a:ext cx="1371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0.950</a:t>
            </a:r>
          </a:p>
        </p:txBody>
      </p:sp>
      <p:sp>
        <p:nvSpPr>
          <p:cNvPr id="29" name="">
            <a:extLst xmlns:a="http://schemas.openxmlformats.org/drawingml/2006/main">
              <a:ext uri="{FF2B5EF4-FFF2-40B4-BE49-F238E27FC236}">
                <a16:creationId xmlns:a16="http://schemas.microsoft.com/office/drawing/2014/main" id="{8BCDCF8B-9D24-43FF-8906-E7DC85A4A390}"/>
              </a:ext>
            </a:extLst>
          </p:cNvPr>
          <p:cNvSpPr>
            <a:spLocks xmlns:a="http://schemas.openxmlformats.org/drawingml/2006/main" noGrp="1"/>
          </p:cNvSpPr>
          <p:nvPr/>
        </p:nvSpPr>
        <p:spPr>
          <a:xfrm xmlns:a="http://schemas.openxmlformats.org/drawingml/2006/main">
            <a:off x="6267450" y="3124200"/>
            <a:ext cx="1371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0.969</a:t>
            </a:r>
          </a:p>
        </p:txBody>
      </p:sp>
      <p:sp>
        <p:nvSpPr>
          <p:cNvPr id="30" name="">
            <a:extLst xmlns:a="http://schemas.openxmlformats.org/drawingml/2006/main">
              <a:ext uri="{FF2B5EF4-FFF2-40B4-BE49-F238E27FC236}">
                <a16:creationId xmlns:a16="http://schemas.microsoft.com/office/drawing/2014/main" id="{8886B13E-983A-4FBF-97A6-A2EFC3107231}"/>
              </a:ext>
            </a:extLst>
          </p:cNvPr>
          <p:cNvSpPr>
            <a:spLocks xmlns:a="http://schemas.openxmlformats.org/drawingml/2006/main" noGrp="1"/>
          </p:cNvSpPr>
          <p:nvPr/>
        </p:nvSpPr>
        <p:spPr>
          <a:xfrm xmlns:a="http://schemas.openxmlformats.org/drawingml/2006/main">
            <a:off x="7791450" y="3124200"/>
            <a:ext cx="2514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Stable high performance</a:t>
            </a:r>
          </a:p>
        </p:txBody>
      </p:sp>
      <p:sp>
        <p:nvSpPr>
          <p:cNvPr id="31" name="">
            <a:extLst xmlns:a="http://schemas.openxmlformats.org/drawingml/2006/main">
              <a:ext uri="{FF2B5EF4-FFF2-40B4-BE49-F238E27FC236}">
                <a16:creationId xmlns:a16="http://schemas.microsoft.com/office/drawing/2014/main" id="{DB54ABF4-CA3F-4EFD-8926-5DC75AA1672D}"/>
              </a:ext>
            </a:extLst>
          </p:cNvPr>
          <p:cNvSpPr>
            <a:spLocks xmlns:a="http://schemas.openxmlformats.org/drawingml/2006/main" noGrp="1"/>
          </p:cNvSpPr>
          <p:nvPr/>
        </p:nvSpPr>
        <p:spPr>
          <a:xfrm xmlns:a="http://schemas.openxmlformats.org/drawingml/2006/main">
            <a:off x="571500" y="3771900"/>
            <a:ext cx="9810750" cy="647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61428D8-E9B0-45D3-A319-2D72600E64F5}"/>
              </a:ext>
            </a:extLst>
          </p:cNvPr>
          <p:cNvSpPr>
            <a:spLocks xmlns:a="http://schemas.openxmlformats.org/drawingml/2006/main" noGrp="1"/>
          </p:cNvSpPr>
          <p:nvPr/>
        </p:nvSpPr>
        <p:spPr>
          <a:xfrm xmlns:a="http://schemas.openxmlformats.org/drawingml/2006/main">
            <a:off x="647700" y="3771900"/>
            <a:ext cx="2419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Identity monitor, attack</a:t>
            </a:r>
          </a:p>
        </p:txBody>
      </p:sp>
      <p:sp>
        <p:nvSpPr>
          <p:cNvPr id="33" name="">
            <a:extLst xmlns:a="http://schemas.openxmlformats.org/drawingml/2006/main">
              <a:ext uri="{FF2B5EF4-FFF2-40B4-BE49-F238E27FC236}">
                <a16:creationId xmlns:a16="http://schemas.microsoft.com/office/drawing/2014/main" id="{ACC26421-6D8C-4400-AF98-AB2832363F51}"/>
              </a:ext>
            </a:extLst>
          </p:cNvPr>
          <p:cNvSpPr>
            <a:spLocks xmlns:a="http://schemas.openxmlformats.org/drawingml/2006/main" noGrp="1"/>
          </p:cNvSpPr>
          <p:nvPr/>
        </p:nvSpPr>
        <p:spPr>
          <a:xfrm xmlns:a="http://schemas.openxmlformats.org/drawingml/2006/main">
            <a:off x="3219450" y="3771900"/>
            <a:ext cx="1371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1.000</a:t>
            </a:r>
          </a:p>
        </p:txBody>
      </p:sp>
      <p:sp>
        <p:nvSpPr>
          <p:cNvPr id="34" name="">
            <a:extLst xmlns:a="http://schemas.openxmlformats.org/drawingml/2006/main">
              <a:ext uri="{FF2B5EF4-FFF2-40B4-BE49-F238E27FC236}">
                <a16:creationId xmlns:a16="http://schemas.microsoft.com/office/drawing/2014/main" id="{311B51F5-F696-48EC-AD23-A8394AF104EB}"/>
              </a:ext>
            </a:extLst>
          </p:cNvPr>
          <p:cNvSpPr>
            <a:spLocks xmlns:a="http://schemas.openxmlformats.org/drawingml/2006/main" noGrp="1"/>
          </p:cNvSpPr>
          <p:nvPr/>
        </p:nvSpPr>
        <p:spPr>
          <a:xfrm xmlns:a="http://schemas.openxmlformats.org/drawingml/2006/main">
            <a:off x="4743450" y="3771900"/>
            <a:ext cx="1371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1.000</a:t>
            </a:r>
          </a:p>
        </p:txBody>
      </p:sp>
      <p:sp>
        <p:nvSpPr>
          <p:cNvPr id="35" name="">
            <a:extLst xmlns:a="http://schemas.openxmlformats.org/drawingml/2006/main">
              <a:ext uri="{FF2B5EF4-FFF2-40B4-BE49-F238E27FC236}">
                <a16:creationId xmlns:a16="http://schemas.microsoft.com/office/drawing/2014/main" id="{D5A4A3DE-55CE-48C3-B7EB-A0DE6F12BB2D}"/>
              </a:ext>
            </a:extLst>
          </p:cNvPr>
          <p:cNvSpPr>
            <a:spLocks xmlns:a="http://schemas.openxmlformats.org/drawingml/2006/main" noGrp="1"/>
          </p:cNvSpPr>
          <p:nvPr/>
        </p:nvSpPr>
        <p:spPr>
          <a:xfrm xmlns:a="http://schemas.openxmlformats.org/drawingml/2006/main">
            <a:off x="6267450" y="3771900"/>
            <a:ext cx="1371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1.000</a:t>
            </a:r>
          </a:p>
        </p:txBody>
      </p:sp>
      <p:sp>
        <p:nvSpPr>
          <p:cNvPr id="36" name="">
            <a:extLst xmlns:a="http://schemas.openxmlformats.org/drawingml/2006/main">
              <a:ext uri="{FF2B5EF4-FFF2-40B4-BE49-F238E27FC236}">
                <a16:creationId xmlns:a16="http://schemas.microsoft.com/office/drawing/2014/main" id="{3911A086-0B28-4ADA-95C1-5C47C203F53C}"/>
              </a:ext>
            </a:extLst>
          </p:cNvPr>
          <p:cNvSpPr>
            <a:spLocks xmlns:a="http://schemas.openxmlformats.org/drawingml/2006/main" noGrp="1"/>
          </p:cNvSpPr>
          <p:nvPr/>
        </p:nvSpPr>
        <p:spPr>
          <a:xfrm xmlns:a="http://schemas.openxmlformats.org/drawingml/2006/main">
            <a:off x="7791450" y="3771900"/>
            <a:ext cx="2514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50/50 post-activation windows alerted</a:t>
            </a:r>
          </a:p>
        </p:txBody>
      </p:sp>
      <p:sp>
        <p:nvSpPr>
          <p:cNvPr id="37" name="">
            <a:extLst xmlns:a="http://schemas.openxmlformats.org/drawingml/2006/main">
              <a:ext uri="{FF2B5EF4-FFF2-40B4-BE49-F238E27FC236}">
                <a16:creationId xmlns:a16="http://schemas.microsoft.com/office/drawing/2014/main" id="{F56D2520-0342-4109-9572-D80E673B32EE}"/>
              </a:ext>
            </a:extLst>
          </p:cNvPr>
          <p:cNvSpPr>
            <a:spLocks xmlns:a="http://schemas.openxmlformats.org/drawingml/2006/main" noGrp="1"/>
          </p:cNvSpPr>
          <p:nvPr/>
        </p:nvSpPr>
        <p:spPr>
          <a:xfrm xmlns:a="http://schemas.openxmlformats.org/drawingml/2006/main">
            <a:off x="571500" y="4419600"/>
            <a:ext cx="9810750" cy="6477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27812F25-02F5-4DE3-AAB0-B9C6EE9468FE}"/>
              </a:ext>
            </a:extLst>
          </p:cNvPr>
          <p:cNvSpPr>
            <a:spLocks xmlns:a="http://schemas.openxmlformats.org/drawingml/2006/main" noGrp="1"/>
          </p:cNvSpPr>
          <p:nvPr/>
        </p:nvSpPr>
        <p:spPr>
          <a:xfrm xmlns:a="http://schemas.openxmlformats.org/drawingml/2006/main">
            <a:off x="647700" y="4419600"/>
            <a:ext cx="2419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Identity monitor, control</a:t>
            </a:r>
          </a:p>
        </p:txBody>
      </p:sp>
      <p:sp>
        <p:nvSpPr>
          <p:cNvPr id="39" name="">
            <a:extLst xmlns:a="http://schemas.openxmlformats.org/drawingml/2006/main">
              <a:ext uri="{FF2B5EF4-FFF2-40B4-BE49-F238E27FC236}">
                <a16:creationId xmlns:a16="http://schemas.microsoft.com/office/drawing/2014/main" id="{087CD21E-8593-4A56-A004-4070FC5359B8}"/>
              </a:ext>
            </a:extLst>
          </p:cNvPr>
          <p:cNvSpPr>
            <a:spLocks xmlns:a="http://schemas.openxmlformats.org/drawingml/2006/main" noGrp="1"/>
          </p:cNvSpPr>
          <p:nvPr/>
        </p:nvSpPr>
        <p:spPr>
          <a:xfrm xmlns:a="http://schemas.openxmlformats.org/drawingml/2006/main">
            <a:off x="3219450" y="4419600"/>
            <a:ext cx="1371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n/a</a:t>
            </a:r>
          </a:p>
        </p:txBody>
      </p:sp>
      <p:sp>
        <p:nvSpPr>
          <p:cNvPr id="40" name="">
            <a:extLst xmlns:a="http://schemas.openxmlformats.org/drawingml/2006/main">
              <a:ext uri="{FF2B5EF4-FFF2-40B4-BE49-F238E27FC236}">
                <a16:creationId xmlns:a16="http://schemas.microsoft.com/office/drawing/2014/main" id="{6B5898FA-8B61-4F60-B0DD-18E2C0C6ACC8}"/>
              </a:ext>
            </a:extLst>
          </p:cNvPr>
          <p:cNvSpPr>
            <a:spLocks xmlns:a="http://schemas.openxmlformats.org/drawingml/2006/main" noGrp="1"/>
          </p:cNvSpPr>
          <p:nvPr/>
        </p:nvSpPr>
        <p:spPr>
          <a:xfrm xmlns:a="http://schemas.openxmlformats.org/drawingml/2006/main">
            <a:off x="4743450" y="4419600"/>
            <a:ext cx="1371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n/a</a:t>
            </a:r>
          </a:p>
        </p:txBody>
      </p:sp>
      <p:sp>
        <p:nvSpPr>
          <p:cNvPr id="41" name="">
            <a:extLst xmlns:a="http://schemas.openxmlformats.org/drawingml/2006/main">
              <a:ext uri="{FF2B5EF4-FFF2-40B4-BE49-F238E27FC236}">
                <a16:creationId xmlns:a16="http://schemas.microsoft.com/office/drawing/2014/main" id="{12CF00EB-A804-4AA6-BF75-89BCC71286B3}"/>
              </a:ext>
            </a:extLst>
          </p:cNvPr>
          <p:cNvSpPr>
            <a:spLocks xmlns:a="http://schemas.openxmlformats.org/drawingml/2006/main" noGrp="1"/>
          </p:cNvSpPr>
          <p:nvPr/>
        </p:nvSpPr>
        <p:spPr>
          <a:xfrm xmlns:a="http://schemas.openxmlformats.org/drawingml/2006/main">
            <a:off x="6267450" y="4419600"/>
            <a:ext cx="1371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n/a</a:t>
            </a:r>
          </a:p>
        </p:txBody>
      </p:sp>
      <p:sp>
        <p:nvSpPr>
          <p:cNvPr id="42" name="">
            <a:extLst xmlns:a="http://schemas.openxmlformats.org/drawingml/2006/main">
              <a:ext uri="{FF2B5EF4-FFF2-40B4-BE49-F238E27FC236}">
                <a16:creationId xmlns:a16="http://schemas.microsoft.com/office/drawing/2014/main" id="{38F1DA9C-2A50-46D4-9CF1-CF9355AAC6E5}"/>
              </a:ext>
            </a:extLst>
          </p:cNvPr>
          <p:cNvSpPr>
            <a:spLocks xmlns:a="http://schemas.openxmlformats.org/drawingml/2006/main" noGrp="1"/>
          </p:cNvSpPr>
          <p:nvPr/>
        </p:nvSpPr>
        <p:spPr>
          <a:xfrm xmlns:a="http://schemas.openxmlformats.org/drawingml/2006/main">
            <a:off x="7791450" y="4419600"/>
            <a:ext cx="2514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0/45 control windows alerted</a:t>
            </a:r>
          </a:p>
        </p:txBody>
      </p:sp>
      <p:sp>
        <p:nvSpPr>
          <p:cNvPr id="43" name="">
            <a:extLst xmlns:a="http://schemas.openxmlformats.org/drawingml/2006/main">
              <a:ext uri="{FF2B5EF4-FFF2-40B4-BE49-F238E27FC236}">
                <a16:creationId xmlns:a16="http://schemas.microsoft.com/office/drawing/2014/main" id="{1146933A-B9F9-41AE-8132-7CB1157AE436}"/>
              </a:ext>
            </a:extLst>
          </p:cNvPr>
          <p:cNvSpPr>
            <a:spLocks xmlns:a="http://schemas.openxmlformats.org/drawingml/2006/main" noGrp="1"/>
          </p:cNvSpPr>
          <p:nvPr/>
        </p:nvSpPr>
        <p:spPr>
          <a:xfrm xmlns:a="http://schemas.openxmlformats.org/drawingml/2006/main">
            <a:off x="571500" y="1504950"/>
            <a:ext cx="9810750" cy="356235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44" name="">
            <a:extLst xmlns:a="http://schemas.openxmlformats.org/drawingml/2006/main">
              <a:ext uri="{FF2B5EF4-FFF2-40B4-BE49-F238E27FC236}">
                <a16:creationId xmlns:a16="http://schemas.microsoft.com/office/drawing/2014/main" id="{1DB0B934-20F4-4528-A7FE-8771B0FF0874}"/>
              </a:ext>
            </a:extLst>
          </p:cNvPr>
          <p:cNvSpPr>
            <a:spLocks xmlns:a="http://schemas.openxmlformats.org/drawingml/2006/main" noGrp="1"/>
          </p:cNvSpPr>
          <p:nvPr/>
        </p:nvSpPr>
        <p:spPr>
          <a:xfrm xmlns:a="http://schemas.openxmlformats.org/drawingml/2006/main">
            <a:off x="666750" y="53149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B42318"/>
                </a:solidFill>
              </a:defRPr>
            </a:pPr>
            <a:r>
              <a:rPr sz="2700" b="1">
                <a:solidFill>
                  <a:srgbClr val="B42318"/>
                </a:solidFill>
              </a:rPr>
              <a:t>11 / 16</a:t>
            </a:r>
          </a:p>
        </p:txBody>
      </p:sp>
      <p:sp>
        <p:nvSpPr>
          <p:cNvPr id="45" name="">
            <a:extLst xmlns:a="http://schemas.openxmlformats.org/drawingml/2006/main">
              <a:ext uri="{FF2B5EF4-FFF2-40B4-BE49-F238E27FC236}">
                <a16:creationId xmlns:a16="http://schemas.microsoft.com/office/drawing/2014/main" id="{5EE8CAD8-EBE5-4166-9974-BD122F6AE7D8}"/>
              </a:ext>
            </a:extLst>
          </p:cNvPr>
          <p:cNvSpPr>
            <a:spLocks xmlns:a="http://schemas.openxmlformats.org/drawingml/2006/main" noGrp="1"/>
          </p:cNvSpPr>
          <p:nvPr/>
        </p:nvSpPr>
        <p:spPr>
          <a:xfrm xmlns:a="http://schemas.openxmlformats.org/drawingml/2006/main">
            <a:off x="666750" y="57721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475569"/>
                </a:solidFill>
              </a:defRPr>
            </a:pPr>
            <a:r>
              <a:rPr sz="1050" b="0">
                <a:solidFill>
                  <a:srgbClr val="475569"/>
                </a:solidFill>
              </a:rPr>
              <a:t>Sybil-related static pairs with zero recall</a:t>
            </a:r>
          </a:p>
        </p:txBody>
      </p:sp>
      <p:sp>
        <p:nvSpPr>
          <p:cNvPr id="46" name="">
            <a:extLst xmlns:a="http://schemas.openxmlformats.org/drawingml/2006/main">
              <a:ext uri="{FF2B5EF4-FFF2-40B4-BE49-F238E27FC236}">
                <a16:creationId xmlns:a16="http://schemas.microsoft.com/office/drawing/2014/main" id="{1F651C4A-7B0D-43CA-BCEF-3B65CB4B2279}"/>
              </a:ext>
            </a:extLst>
          </p:cNvPr>
          <p:cNvSpPr>
            <a:spLocks xmlns:a="http://schemas.openxmlformats.org/drawingml/2006/main" noGrp="1"/>
          </p:cNvSpPr>
          <p:nvPr/>
        </p:nvSpPr>
        <p:spPr>
          <a:xfrm xmlns:a="http://schemas.openxmlformats.org/drawingml/2006/main">
            <a:off x="3905250" y="5314950"/>
            <a:ext cx="266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07C83"/>
                </a:solidFill>
              </a:defRPr>
            </a:pPr>
            <a:r>
              <a:rPr sz="2700" b="1">
                <a:solidFill>
                  <a:srgbClr val="007C83"/>
                </a:solidFill>
              </a:rPr>
              <a:t>0.968</a:t>
            </a:r>
          </a:p>
        </p:txBody>
      </p:sp>
      <p:sp>
        <p:nvSpPr>
          <p:cNvPr id="47" name="">
            <a:extLst xmlns:a="http://schemas.openxmlformats.org/drawingml/2006/main">
              <a:ext uri="{FF2B5EF4-FFF2-40B4-BE49-F238E27FC236}">
                <a16:creationId xmlns:a16="http://schemas.microsoft.com/office/drawing/2014/main" id="{506BA4E4-7C7E-4161-AECA-35F2176ECB14}"/>
              </a:ext>
            </a:extLst>
          </p:cNvPr>
          <p:cNvSpPr>
            <a:spLocks xmlns:a="http://schemas.openxmlformats.org/drawingml/2006/main" noGrp="1"/>
          </p:cNvSpPr>
          <p:nvPr/>
        </p:nvSpPr>
        <p:spPr>
          <a:xfrm xmlns:a="http://schemas.openxmlformats.org/drawingml/2006/main">
            <a:off x="3905250" y="57721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475569"/>
                </a:solidFill>
              </a:defRPr>
            </a:pPr>
            <a:r>
              <a:rPr sz="1050" b="0">
                <a:solidFill>
                  <a:srgbClr val="475569"/>
                </a:solidFill>
              </a:rPr>
              <a:t>F1 after one complete Sybil seed</a:t>
            </a:r>
          </a:p>
        </p:txBody>
      </p:sp>
      <p:sp>
        <p:nvSpPr>
          <p:cNvPr id="48" name="">
            <a:extLst xmlns:a="http://schemas.openxmlformats.org/drawingml/2006/main">
              <a:ext uri="{FF2B5EF4-FFF2-40B4-BE49-F238E27FC236}">
                <a16:creationId xmlns:a16="http://schemas.microsoft.com/office/drawing/2014/main" id="{316304D8-3AC0-42E8-9AA6-426180B0EDE1}"/>
              </a:ext>
            </a:extLst>
          </p:cNvPr>
          <p:cNvSpPr>
            <a:spLocks xmlns:a="http://schemas.openxmlformats.org/drawingml/2006/main" noGrp="1"/>
          </p:cNvSpPr>
          <p:nvPr/>
        </p:nvSpPr>
        <p:spPr>
          <a:xfrm xmlns:a="http://schemas.openxmlformats.org/drawingml/2006/main">
            <a:off x="7143750" y="5314950"/>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D4ED8"/>
                </a:solidFill>
              </a:defRPr>
            </a:pPr>
            <a:r>
              <a:rPr sz="2700" b="1">
                <a:solidFill>
                  <a:srgbClr val="1D4ED8"/>
                </a:solidFill>
              </a:rPr>
              <a:t>50 / 50</a:t>
            </a:r>
          </a:p>
        </p:txBody>
      </p:sp>
      <p:sp>
        <p:nvSpPr>
          <p:cNvPr id="49" name="">
            <a:extLst xmlns:a="http://schemas.openxmlformats.org/drawingml/2006/main">
              <a:ext uri="{FF2B5EF4-FFF2-40B4-BE49-F238E27FC236}">
                <a16:creationId xmlns:a16="http://schemas.microsoft.com/office/drawing/2014/main" id="{8824EFBA-9641-4379-B77C-6FCAEE09248C}"/>
              </a:ext>
            </a:extLst>
          </p:cNvPr>
          <p:cNvSpPr>
            <a:spLocks xmlns:a="http://schemas.openxmlformats.org/drawingml/2006/main" noGrp="1"/>
          </p:cNvSpPr>
          <p:nvPr/>
        </p:nvSpPr>
        <p:spPr>
          <a:xfrm xmlns:a="http://schemas.openxmlformats.org/drawingml/2006/main">
            <a:off x="7143750" y="577215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475569"/>
                </a:solidFill>
              </a:defRPr>
            </a:pPr>
            <a:r>
              <a:rPr sz="1050" b="0">
                <a:solidFill>
                  <a:srgbClr val="475569"/>
                </a:solidFill>
              </a:rPr>
              <a:t>identity-monitor attack windows alerted</a:t>
            </a:r>
          </a:p>
        </p:txBody>
      </p:sp>
    </p:spTree>
    <p:extLst>
      <p:ext uri="{BB962C8B-B14F-4D97-AF65-F5344CB8AC3E}">
        <p14:creationId xmlns:p14="http://schemas.microsoft.com/office/powerpoint/2010/main" val="82302057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AAD930E1-819E-4ABF-89CD-8408A4D5B75A}"/>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Adaptive-controller extension: useful but not yet superior</a:t>
            </a:r>
          </a:p>
        </p:txBody>
      </p:sp>
      <p:sp>
        <p:nvSpPr>
          <p:cNvPr id="2" name="">
            <a:extLst xmlns:a="http://schemas.openxmlformats.org/drawingml/2006/main">
              <a:ext uri="{FF2B5EF4-FFF2-40B4-BE49-F238E27FC236}">
                <a16:creationId xmlns:a16="http://schemas.microsoft.com/office/drawing/2014/main" id="{CD7225C3-6CCC-412C-8413-B750405FDCC5}"/>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The isolated DQN/DDQN experiment tests policy-controlled updating on 72 held-out Sybil stream windows.</a:t>
            </a:r>
          </a:p>
        </p:txBody>
      </p:sp>
      <p:sp>
        <p:nvSpPr>
          <p:cNvPr id="3" name="">
            <a:extLst xmlns:a="http://schemas.openxmlformats.org/drawingml/2006/main">
              <a:ext uri="{FF2B5EF4-FFF2-40B4-BE49-F238E27FC236}">
                <a16:creationId xmlns:a16="http://schemas.microsoft.com/office/drawing/2014/main" id="{D79D7E54-6220-474D-BF94-EC5DDC38ABD3}"/>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13318FD-81DF-4324-8BB5-E5C1E790F347}"/>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24FACB1-D341-47F8-A710-171162CBCAC3}"/>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Adaptive IDS extension</a:t>
            </a:r>
          </a:p>
        </p:txBody>
      </p:sp>
      <p:sp>
        <p:nvSpPr>
          <p:cNvPr id="6" name="">
            <a:extLst xmlns:a="http://schemas.openxmlformats.org/drawingml/2006/main">
              <a:ext uri="{FF2B5EF4-FFF2-40B4-BE49-F238E27FC236}">
                <a16:creationId xmlns:a16="http://schemas.microsoft.com/office/drawing/2014/main" id="{8F393ABB-43B5-44CD-B4BA-E722E5E19227}"/>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18  </a:t>
            </a:r>
          </a:p>
        </p:txBody>
      </p:sp>
      <p:sp>
        <p:nvSpPr>
          <p:cNvPr id="7" name="">
            <a:extLst xmlns:a="http://schemas.openxmlformats.org/drawingml/2006/main">
              <a:ext uri="{FF2B5EF4-FFF2-40B4-BE49-F238E27FC236}">
                <a16:creationId xmlns:a16="http://schemas.microsoft.com/office/drawing/2014/main" id="{258FDFE7-897B-4FDC-9097-4B9A21A93CBD}"/>
              </a:ext>
            </a:extLst>
          </p:cNvPr>
          <p:cNvSpPr>
            <a:spLocks xmlns:a="http://schemas.openxmlformats.org/drawingml/2006/main" noGrp="1"/>
          </p:cNvSpPr>
          <p:nvPr/>
        </p:nvSpPr>
        <p:spPr>
          <a:xfrm xmlns:a="http://schemas.openxmlformats.org/drawingml/2006/main">
            <a:off x="666750" y="1504950"/>
            <a:ext cx="1028700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51756D4-861A-4E8E-9C76-6C57C7145430}"/>
              </a:ext>
            </a:extLst>
          </p:cNvPr>
          <p:cNvSpPr>
            <a:spLocks xmlns:a="http://schemas.openxmlformats.org/drawingml/2006/main" noGrp="1"/>
          </p:cNvSpPr>
          <p:nvPr/>
        </p:nvSpPr>
        <p:spPr>
          <a:xfrm xmlns:a="http://schemas.openxmlformats.org/drawingml/2006/main">
            <a:off x="742950" y="15049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Policy / algorithm</a:t>
            </a:r>
          </a:p>
        </p:txBody>
      </p:sp>
      <p:sp>
        <p:nvSpPr>
          <p:cNvPr id="9" name="">
            <a:extLst xmlns:a="http://schemas.openxmlformats.org/drawingml/2006/main">
              <a:ext uri="{FF2B5EF4-FFF2-40B4-BE49-F238E27FC236}">
                <a16:creationId xmlns:a16="http://schemas.microsoft.com/office/drawing/2014/main" id="{0188F88F-F3B6-4366-A54E-9A79B2FE721B}"/>
              </a:ext>
            </a:extLst>
          </p:cNvPr>
          <p:cNvSpPr>
            <a:spLocks xmlns:a="http://schemas.openxmlformats.org/drawingml/2006/main" noGrp="1"/>
          </p:cNvSpPr>
          <p:nvPr/>
        </p:nvSpPr>
        <p:spPr>
          <a:xfrm xmlns:a="http://schemas.openxmlformats.org/drawingml/2006/main">
            <a:off x="3219450" y="15049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Accuracy</a:t>
            </a:r>
          </a:p>
        </p:txBody>
      </p:sp>
      <p:sp>
        <p:nvSpPr>
          <p:cNvPr id="10" name="">
            <a:extLst xmlns:a="http://schemas.openxmlformats.org/drawingml/2006/main">
              <a:ext uri="{FF2B5EF4-FFF2-40B4-BE49-F238E27FC236}">
                <a16:creationId xmlns:a16="http://schemas.microsoft.com/office/drawing/2014/main" id="{97D42FAA-126C-4EF9-BF43-64E360EB61C3}"/>
              </a:ext>
            </a:extLst>
          </p:cNvPr>
          <p:cNvSpPr>
            <a:spLocks xmlns:a="http://schemas.openxmlformats.org/drawingml/2006/main" noGrp="1"/>
          </p:cNvSpPr>
          <p:nvPr/>
        </p:nvSpPr>
        <p:spPr>
          <a:xfrm xmlns:a="http://schemas.openxmlformats.org/drawingml/2006/main">
            <a:off x="4648200" y="15049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Precision</a:t>
            </a:r>
          </a:p>
        </p:txBody>
      </p:sp>
      <p:sp>
        <p:nvSpPr>
          <p:cNvPr id="11" name="">
            <a:extLst xmlns:a="http://schemas.openxmlformats.org/drawingml/2006/main">
              <a:ext uri="{FF2B5EF4-FFF2-40B4-BE49-F238E27FC236}">
                <a16:creationId xmlns:a16="http://schemas.microsoft.com/office/drawing/2014/main" id="{D6744364-7401-4C78-AA96-E907C8F6BFDB}"/>
              </a:ext>
            </a:extLst>
          </p:cNvPr>
          <p:cNvSpPr>
            <a:spLocks xmlns:a="http://schemas.openxmlformats.org/drawingml/2006/main" noGrp="1"/>
          </p:cNvSpPr>
          <p:nvPr/>
        </p:nvSpPr>
        <p:spPr>
          <a:xfrm xmlns:a="http://schemas.openxmlformats.org/drawingml/2006/main">
            <a:off x="6076950" y="15049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Recall</a:t>
            </a:r>
          </a:p>
        </p:txBody>
      </p:sp>
      <p:sp>
        <p:nvSpPr>
          <p:cNvPr id="12" name="">
            <a:extLst xmlns:a="http://schemas.openxmlformats.org/drawingml/2006/main">
              <a:ext uri="{FF2B5EF4-FFF2-40B4-BE49-F238E27FC236}">
                <a16:creationId xmlns:a16="http://schemas.microsoft.com/office/drawing/2014/main" id="{1BC4344F-50E8-4BF4-B91F-D4949A09B56D}"/>
              </a:ext>
            </a:extLst>
          </p:cNvPr>
          <p:cNvSpPr>
            <a:spLocks xmlns:a="http://schemas.openxmlformats.org/drawingml/2006/main" noGrp="1"/>
          </p:cNvSpPr>
          <p:nvPr/>
        </p:nvSpPr>
        <p:spPr>
          <a:xfrm xmlns:a="http://schemas.openxmlformats.org/drawingml/2006/main">
            <a:off x="7505700" y="15049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F1</a:t>
            </a:r>
          </a:p>
        </p:txBody>
      </p:sp>
      <p:sp>
        <p:nvSpPr>
          <p:cNvPr id="13" name="">
            <a:extLst xmlns:a="http://schemas.openxmlformats.org/drawingml/2006/main">
              <a:ext uri="{FF2B5EF4-FFF2-40B4-BE49-F238E27FC236}">
                <a16:creationId xmlns:a16="http://schemas.microsoft.com/office/drawing/2014/main" id="{4BFE555A-73E9-4084-9D8E-F0EAA979103B}"/>
              </a:ext>
            </a:extLst>
          </p:cNvPr>
          <p:cNvSpPr>
            <a:spLocks xmlns:a="http://schemas.openxmlformats.org/drawingml/2006/main" noGrp="1"/>
          </p:cNvSpPr>
          <p:nvPr/>
        </p:nvSpPr>
        <p:spPr>
          <a:xfrm xmlns:a="http://schemas.openxmlformats.org/drawingml/2006/main">
            <a:off x="8934450" y="150495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Finding</a:t>
            </a:r>
          </a:p>
        </p:txBody>
      </p:sp>
      <p:sp>
        <p:nvSpPr>
          <p:cNvPr id="14" name="">
            <a:extLst xmlns:a="http://schemas.openxmlformats.org/drawingml/2006/main">
              <a:ext uri="{FF2B5EF4-FFF2-40B4-BE49-F238E27FC236}">
                <a16:creationId xmlns:a16="http://schemas.microsoft.com/office/drawing/2014/main" id="{9A7D2230-7783-4FE7-963B-AE4C29E376D5}"/>
              </a:ext>
            </a:extLst>
          </p:cNvPr>
          <p:cNvSpPr>
            <a:spLocks xmlns:a="http://schemas.openxmlformats.org/drawingml/2006/main" noGrp="1"/>
          </p:cNvSpPr>
          <p:nvPr/>
        </p:nvSpPr>
        <p:spPr>
          <a:xfrm xmlns:a="http://schemas.openxmlformats.org/drawingml/2006/main">
            <a:off x="666750" y="1828800"/>
            <a:ext cx="10287000" cy="5715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E891382-26AD-4A52-A88C-C430F6F3D1B4}"/>
              </a:ext>
            </a:extLst>
          </p:cNvPr>
          <p:cNvSpPr>
            <a:spLocks xmlns:a="http://schemas.openxmlformats.org/drawingml/2006/main" noGrp="1"/>
          </p:cNvSpPr>
          <p:nvPr/>
        </p:nvSpPr>
        <p:spPr>
          <a:xfrm xmlns:a="http://schemas.openxmlformats.org/drawingml/2006/main">
            <a:off x="742950" y="1828800"/>
            <a:ext cx="2324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Static source / DQN</a:t>
            </a:r>
          </a:p>
        </p:txBody>
      </p:sp>
      <p:sp>
        <p:nvSpPr>
          <p:cNvPr id="16" name="">
            <a:extLst xmlns:a="http://schemas.openxmlformats.org/drawingml/2006/main">
              <a:ext uri="{FF2B5EF4-FFF2-40B4-BE49-F238E27FC236}">
                <a16:creationId xmlns:a16="http://schemas.microsoft.com/office/drawing/2014/main" id="{B5BDC2A7-FDD0-44E6-9A83-3E196E17837A}"/>
              </a:ext>
            </a:extLst>
          </p:cNvPr>
          <p:cNvSpPr>
            <a:spLocks xmlns:a="http://schemas.openxmlformats.org/drawingml/2006/main" noGrp="1"/>
          </p:cNvSpPr>
          <p:nvPr/>
        </p:nvSpPr>
        <p:spPr>
          <a:xfrm xmlns:a="http://schemas.openxmlformats.org/drawingml/2006/main">
            <a:off x="3219450" y="18288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0.722</a:t>
            </a:r>
          </a:p>
        </p:txBody>
      </p:sp>
      <p:sp>
        <p:nvSpPr>
          <p:cNvPr id="17" name="">
            <a:extLst xmlns:a="http://schemas.openxmlformats.org/drawingml/2006/main">
              <a:ext uri="{FF2B5EF4-FFF2-40B4-BE49-F238E27FC236}">
                <a16:creationId xmlns:a16="http://schemas.microsoft.com/office/drawing/2014/main" id="{0749E864-BD13-4643-9C0F-1462409471C7}"/>
              </a:ext>
            </a:extLst>
          </p:cNvPr>
          <p:cNvSpPr>
            <a:spLocks xmlns:a="http://schemas.openxmlformats.org/drawingml/2006/main" noGrp="1"/>
          </p:cNvSpPr>
          <p:nvPr/>
        </p:nvSpPr>
        <p:spPr>
          <a:xfrm xmlns:a="http://schemas.openxmlformats.org/drawingml/2006/main">
            <a:off x="4648200" y="18288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0.000</a:t>
            </a:r>
          </a:p>
        </p:txBody>
      </p:sp>
      <p:sp>
        <p:nvSpPr>
          <p:cNvPr id="18" name="">
            <a:extLst xmlns:a="http://schemas.openxmlformats.org/drawingml/2006/main">
              <a:ext uri="{FF2B5EF4-FFF2-40B4-BE49-F238E27FC236}">
                <a16:creationId xmlns:a16="http://schemas.microsoft.com/office/drawing/2014/main" id="{5CEA400D-B5BD-4058-96EB-03B05E38D1B0}"/>
              </a:ext>
            </a:extLst>
          </p:cNvPr>
          <p:cNvSpPr>
            <a:spLocks xmlns:a="http://schemas.openxmlformats.org/drawingml/2006/main" noGrp="1"/>
          </p:cNvSpPr>
          <p:nvPr/>
        </p:nvSpPr>
        <p:spPr>
          <a:xfrm xmlns:a="http://schemas.openxmlformats.org/drawingml/2006/main">
            <a:off x="6076950" y="18288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0.000</a:t>
            </a:r>
          </a:p>
        </p:txBody>
      </p:sp>
      <p:sp>
        <p:nvSpPr>
          <p:cNvPr id="19" name="">
            <a:extLst xmlns:a="http://schemas.openxmlformats.org/drawingml/2006/main">
              <a:ext uri="{FF2B5EF4-FFF2-40B4-BE49-F238E27FC236}">
                <a16:creationId xmlns:a16="http://schemas.microsoft.com/office/drawing/2014/main" id="{494C821D-F767-4CAB-9799-F11061D72FC7}"/>
              </a:ext>
            </a:extLst>
          </p:cNvPr>
          <p:cNvSpPr>
            <a:spLocks xmlns:a="http://schemas.openxmlformats.org/drawingml/2006/main" noGrp="1"/>
          </p:cNvSpPr>
          <p:nvPr/>
        </p:nvSpPr>
        <p:spPr>
          <a:xfrm xmlns:a="http://schemas.openxmlformats.org/drawingml/2006/main">
            <a:off x="7505700" y="18288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0.000</a:t>
            </a:r>
          </a:p>
        </p:txBody>
      </p:sp>
      <p:sp>
        <p:nvSpPr>
          <p:cNvPr id="20" name="">
            <a:extLst xmlns:a="http://schemas.openxmlformats.org/drawingml/2006/main">
              <a:ext uri="{FF2B5EF4-FFF2-40B4-BE49-F238E27FC236}">
                <a16:creationId xmlns:a16="http://schemas.microsoft.com/office/drawing/2014/main" id="{1E201C84-69FE-436C-888C-9D8A669659CF}"/>
              </a:ext>
            </a:extLst>
          </p:cNvPr>
          <p:cNvSpPr>
            <a:spLocks xmlns:a="http://schemas.openxmlformats.org/drawingml/2006/main" noGrp="1"/>
          </p:cNvSpPr>
          <p:nvPr/>
        </p:nvSpPr>
        <p:spPr>
          <a:xfrm xmlns:a="http://schemas.openxmlformats.org/drawingml/2006/main">
            <a:off x="8934450" y="1828800"/>
            <a:ext cx="194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All 20 attacks missed</a:t>
            </a:r>
          </a:p>
        </p:txBody>
      </p:sp>
      <p:sp>
        <p:nvSpPr>
          <p:cNvPr id="21" name="">
            <a:extLst xmlns:a="http://schemas.openxmlformats.org/drawingml/2006/main">
              <a:ext uri="{FF2B5EF4-FFF2-40B4-BE49-F238E27FC236}">
                <a16:creationId xmlns:a16="http://schemas.microsoft.com/office/drawing/2014/main" id="{4875C9FF-FE04-4564-BDA8-C868DF87DA67}"/>
              </a:ext>
            </a:extLst>
          </p:cNvPr>
          <p:cNvSpPr>
            <a:spLocks xmlns:a="http://schemas.openxmlformats.org/drawingml/2006/main" noGrp="1"/>
          </p:cNvSpPr>
          <p:nvPr/>
        </p:nvSpPr>
        <p:spPr>
          <a:xfrm xmlns:a="http://schemas.openxmlformats.org/drawingml/2006/main">
            <a:off x="666750" y="2400300"/>
            <a:ext cx="10287000" cy="571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D9F6DF1-B9A1-4404-85B4-4B8316270A4D}"/>
              </a:ext>
            </a:extLst>
          </p:cNvPr>
          <p:cNvSpPr>
            <a:spLocks xmlns:a="http://schemas.openxmlformats.org/drawingml/2006/main" noGrp="1"/>
          </p:cNvSpPr>
          <p:nvPr/>
        </p:nvSpPr>
        <p:spPr>
          <a:xfrm xmlns:a="http://schemas.openxmlformats.org/drawingml/2006/main">
            <a:off x="742950" y="2400300"/>
            <a:ext cx="2324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Always incremental / DQN</a:t>
            </a:r>
          </a:p>
        </p:txBody>
      </p:sp>
      <p:sp>
        <p:nvSpPr>
          <p:cNvPr id="23" name="">
            <a:extLst xmlns:a="http://schemas.openxmlformats.org/drawingml/2006/main">
              <a:ext uri="{FF2B5EF4-FFF2-40B4-BE49-F238E27FC236}">
                <a16:creationId xmlns:a16="http://schemas.microsoft.com/office/drawing/2014/main" id="{FC1F31E2-0085-490F-B662-A27D917233AB}"/>
              </a:ext>
            </a:extLst>
          </p:cNvPr>
          <p:cNvSpPr>
            <a:spLocks xmlns:a="http://schemas.openxmlformats.org/drawingml/2006/main" noGrp="1"/>
          </p:cNvSpPr>
          <p:nvPr/>
        </p:nvSpPr>
        <p:spPr>
          <a:xfrm xmlns:a="http://schemas.openxmlformats.org/drawingml/2006/main">
            <a:off x="3219450" y="24003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0.861</a:t>
            </a:r>
          </a:p>
        </p:txBody>
      </p:sp>
      <p:sp>
        <p:nvSpPr>
          <p:cNvPr id="24" name="">
            <a:extLst xmlns:a="http://schemas.openxmlformats.org/drawingml/2006/main">
              <a:ext uri="{FF2B5EF4-FFF2-40B4-BE49-F238E27FC236}">
                <a16:creationId xmlns:a16="http://schemas.microsoft.com/office/drawing/2014/main" id="{CB2531D0-F941-4FA9-B530-6791D6AF1141}"/>
              </a:ext>
            </a:extLst>
          </p:cNvPr>
          <p:cNvSpPr>
            <a:spLocks xmlns:a="http://schemas.openxmlformats.org/drawingml/2006/main" noGrp="1"/>
          </p:cNvSpPr>
          <p:nvPr/>
        </p:nvSpPr>
        <p:spPr>
          <a:xfrm xmlns:a="http://schemas.openxmlformats.org/drawingml/2006/main">
            <a:off x="4648200" y="24003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1.000</a:t>
            </a:r>
          </a:p>
        </p:txBody>
      </p:sp>
      <p:sp>
        <p:nvSpPr>
          <p:cNvPr id="25" name="">
            <a:extLst xmlns:a="http://schemas.openxmlformats.org/drawingml/2006/main">
              <a:ext uri="{FF2B5EF4-FFF2-40B4-BE49-F238E27FC236}">
                <a16:creationId xmlns:a16="http://schemas.microsoft.com/office/drawing/2014/main" id="{F8D49AF0-3E0F-42AE-8532-7004B6BB6C16}"/>
              </a:ext>
            </a:extLst>
          </p:cNvPr>
          <p:cNvSpPr>
            <a:spLocks xmlns:a="http://schemas.openxmlformats.org/drawingml/2006/main" noGrp="1"/>
          </p:cNvSpPr>
          <p:nvPr/>
        </p:nvSpPr>
        <p:spPr>
          <a:xfrm xmlns:a="http://schemas.openxmlformats.org/drawingml/2006/main">
            <a:off x="6076950" y="24003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0.500</a:t>
            </a:r>
          </a:p>
        </p:txBody>
      </p:sp>
      <p:sp>
        <p:nvSpPr>
          <p:cNvPr id="26" name="">
            <a:extLst xmlns:a="http://schemas.openxmlformats.org/drawingml/2006/main">
              <a:ext uri="{FF2B5EF4-FFF2-40B4-BE49-F238E27FC236}">
                <a16:creationId xmlns:a16="http://schemas.microsoft.com/office/drawing/2014/main" id="{9A00972F-6F37-430D-9803-ED83DD4F60AF}"/>
              </a:ext>
            </a:extLst>
          </p:cNvPr>
          <p:cNvSpPr>
            <a:spLocks xmlns:a="http://schemas.openxmlformats.org/drawingml/2006/main" noGrp="1"/>
          </p:cNvSpPr>
          <p:nvPr/>
        </p:nvSpPr>
        <p:spPr>
          <a:xfrm xmlns:a="http://schemas.openxmlformats.org/drawingml/2006/main">
            <a:off x="7505700" y="24003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0.667</a:t>
            </a:r>
          </a:p>
        </p:txBody>
      </p:sp>
      <p:sp>
        <p:nvSpPr>
          <p:cNvPr id="27" name="">
            <a:extLst xmlns:a="http://schemas.openxmlformats.org/drawingml/2006/main">
              <a:ext uri="{FF2B5EF4-FFF2-40B4-BE49-F238E27FC236}">
                <a16:creationId xmlns:a16="http://schemas.microsoft.com/office/drawing/2014/main" id="{35697EEF-BEAF-4514-8861-A7FD5ACFF0B4}"/>
              </a:ext>
            </a:extLst>
          </p:cNvPr>
          <p:cNvSpPr>
            <a:spLocks xmlns:a="http://schemas.openxmlformats.org/drawingml/2006/main" noGrp="1"/>
          </p:cNvSpPr>
          <p:nvPr/>
        </p:nvSpPr>
        <p:spPr>
          <a:xfrm xmlns:a="http://schemas.openxmlformats.org/drawingml/2006/main">
            <a:off x="8934450" y="2400300"/>
            <a:ext cx="194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Best DQN policy</a:t>
            </a:r>
          </a:p>
        </p:txBody>
      </p:sp>
      <p:sp>
        <p:nvSpPr>
          <p:cNvPr id="28" name="">
            <a:extLst xmlns:a="http://schemas.openxmlformats.org/drawingml/2006/main">
              <a:ext uri="{FF2B5EF4-FFF2-40B4-BE49-F238E27FC236}">
                <a16:creationId xmlns:a16="http://schemas.microsoft.com/office/drawing/2014/main" id="{9FD4BF7E-83EA-4875-9776-6C9B902FA900}"/>
              </a:ext>
            </a:extLst>
          </p:cNvPr>
          <p:cNvSpPr>
            <a:spLocks xmlns:a="http://schemas.openxmlformats.org/drawingml/2006/main" noGrp="1"/>
          </p:cNvSpPr>
          <p:nvPr/>
        </p:nvSpPr>
        <p:spPr>
          <a:xfrm xmlns:a="http://schemas.openxmlformats.org/drawingml/2006/main">
            <a:off x="666750" y="2971800"/>
            <a:ext cx="10287000" cy="5715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A1351C3-F15D-4541-911F-E07F1E068DD9}"/>
              </a:ext>
            </a:extLst>
          </p:cNvPr>
          <p:cNvSpPr>
            <a:spLocks xmlns:a="http://schemas.openxmlformats.org/drawingml/2006/main" noGrp="1"/>
          </p:cNvSpPr>
          <p:nvPr/>
        </p:nvSpPr>
        <p:spPr>
          <a:xfrm xmlns:a="http://schemas.openxmlformats.org/drawingml/2006/main">
            <a:off x="742950" y="2971800"/>
            <a:ext cx="2324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RL controller / DQN</a:t>
            </a:r>
          </a:p>
        </p:txBody>
      </p:sp>
      <p:sp>
        <p:nvSpPr>
          <p:cNvPr id="30" name="">
            <a:extLst xmlns:a="http://schemas.openxmlformats.org/drawingml/2006/main">
              <a:ext uri="{FF2B5EF4-FFF2-40B4-BE49-F238E27FC236}">
                <a16:creationId xmlns:a16="http://schemas.microsoft.com/office/drawing/2014/main" id="{336F0EF5-D42E-4451-92D1-3C4FA889139B}"/>
              </a:ext>
            </a:extLst>
          </p:cNvPr>
          <p:cNvSpPr>
            <a:spLocks xmlns:a="http://schemas.openxmlformats.org/drawingml/2006/main" noGrp="1"/>
          </p:cNvSpPr>
          <p:nvPr/>
        </p:nvSpPr>
        <p:spPr>
          <a:xfrm xmlns:a="http://schemas.openxmlformats.org/drawingml/2006/main">
            <a:off x="3219450" y="29718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0.778</a:t>
            </a:r>
          </a:p>
        </p:txBody>
      </p:sp>
      <p:sp>
        <p:nvSpPr>
          <p:cNvPr id="31" name="">
            <a:extLst xmlns:a="http://schemas.openxmlformats.org/drawingml/2006/main">
              <a:ext uri="{FF2B5EF4-FFF2-40B4-BE49-F238E27FC236}">
                <a16:creationId xmlns:a16="http://schemas.microsoft.com/office/drawing/2014/main" id="{5A27E565-AA55-4E14-8733-64481D3A100E}"/>
              </a:ext>
            </a:extLst>
          </p:cNvPr>
          <p:cNvSpPr>
            <a:spLocks xmlns:a="http://schemas.openxmlformats.org/drawingml/2006/main" noGrp="1"/>
          </p:cNvSpPr>
          <p:nvPr/>
        </p:nvSpPr>
        <p:spPr>
          <a:xfrm xmlns:a="http://schemas.openxmlformats.org/drawingml/2006/main">
            <a:off x="4648200" y="29718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1.000</a:t>
            </a:r>
          </a:p>
        </p:txBody>
      </p:sp>
      <p:sp>
        <p:nvSpPr>
          <p:cNvPr id="32" name="">
            <a:extLst xmlns:a="http://schemas.openxmlformats.org/drawingml/2006/main">
              <a:ext uri="{FF2B5EF4-FFF2-40B4-BE49-F238E27FC236}">
                <a16:creationId xmlns:a16="http://schemas.microsoft.com/office/drawing/2014/main" id="{6D260C5E-A1CE-42C2-9846-198C6F21DCEC}"/>
              </a:ext>
            </a:extLst>
          </p:cNvPr>
          <p:cNvSpPr>
            <a:spLocks xmlns:a="http://schemas.openxmlformats.org/drawingml/2006/main" noGrp="1"/>
          </p:cNvSpPr>
          <p:nvPr/>
        </p:nvSpPr>
        <p:spPr>
          <a:xfrm xmlns:a="http://schemas.openxmlformats.org/drawingml/2006/main">
            <a:off x="6076950" y="29718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0.200</a:t>
            </a:r>
          </a:p>
        </p:txBody>
      </p:sp>
      <p:sp>
        <p:nvSpPr>
          <p:cNvPr id="33" name="">
            <a:extLst xmlns:a="http://schemas.openxmlformats.org/drawingml/2006/main">
              <a:ext uri="{FF2B5EF4-FFF2-40B4-BE49-F238E27FC236}">
                <a16:creationId xmlns:a16="http://schemas.microsoft.com/office/drawing/2014/main" id="{6005CD09-EEA1-495B-B082-4C60EAB0A007}"/>
              </a:ext>
            </a:extLst>
          </p:cNvPr>
          <p:cNvSpPr>
            <a:spLocks xmlns:a="http://schemas.openxmlformats.org/drawingml/2006/main" noGrp="1"/>
          </p:cNvSpPr>
          <p:nvPr/>
        </p:nvSpPr>
        <p:spPr>
          <a:xfrm xmlns:a="http://schemas.openxmlformats.org/drawingml/2006/main">
            <a:off x="7505700" y="29718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0.333</a:t>
            </a:r>
          </a:p>
        </p:txBody>
      </p:sp>
      <p:sp>
        <p:nvSpPr>
          <p:cNvPr id="34" name="">
            <a:extLst xmlns:a="http://schemas.openxmlformats.org/drawingml/2006/main">
              <a:ext uri="{FF2B5EF4-FFF2-40B4-BE49-F238E27FC236}">
                <a16:creationId xmlns:a16="http://schemas.microsoft.com/office/drawing/2014/main" id="{93ED6644-417D-4D2A-852D-4D7814199CB2}"/>
              </a:ext>
            </a:extLst>
          </p:cNvPr>
          <p:cNvSpPr>
            <a:spLocks xmlns:a="http://schemas.openxmlformats.org/drawingml/2006/main" noGrp="1"/>
          </p:cNvSpPr>
          <p:nvPr/>
        </p:nvSpPr>
        <p:spPr>
          <a:xfrm xmlns:a="http://schemas.openxmlformats.org/drawingml/2006/main">
            <a:off x="8934450" y="2971800"/>
            <a:ext cx="194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Under-updates</a:t>
            </a:r>
          </a:p>
        </p:txBody>
      </p:sp>
      <p:sp>
        <p:nvSpPr>
          <p:cNvPr id="35" name="">
            <a:extLst xmlns:a="http://schemas.openxmlformats.org/drawingml/2006/main">
              <a:ext uri="{FF2B5EF4-FFF2-40B4-BE49-F238E27FC236}">
                <a16:creationId xmlns:a16="http://schemas.microsoft.com/office/drawing/2014/main" id="{3E284D38-6CFC-4067-8141-D5A3437871B3}"/>
              </a:ext>
            </a:extLst>
          </p:cNvPr>
          <p:cNvSpPr>
            <a:spLocks xmlns:a="http://schemas.openxmlformats.org/drawingml/2006/main" noGrp="1"/>
          </p:cNvSpPr>
          <p:nvPr/>
        </p:nvSpPr>
        <p:spPr>
          <a:xfrm xmlns:a="http://schemas.openxmlformats.org/drawingml/2006/main">
            <a:off x="666750" y="3543300"/>
            <a:ext cx="10287000" cy="571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3F3855F-B179-4756-B467-7D91C6E0B1CC}"/>
              </a:ext>
            </a:extLst>
          </p:cNvPr>
          <p:cNvSpPr>
            <a:spLocks xmlns:a="http://schemas.openxmlformats.org/drawingml/2006/main" noGrp="1"/>
          </p:cNvSpPr>
          <p:nvPr/>
        </p:nvSpPr>
        <p:spPr>
          <a:xfrm xmlns:a="http://schemas.openxmlformats.org/drawingml/2006/main">
            <a:off x="742950" y="3543300"/>
            <a:ext cx="2324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Static source / DDQN</a:t>
            </a:r>
          </a:p>
        </p:txBody>
      </p:sp>
      <p:sp>
        <p:nvSpPr>
          <p:cNvPr id="37" name="">
            <a:extLst xmlns:a="http://schemas.openxmlformats.org/drawingml/2006/main">
              <a:ext uri="{FF2B5EF4-FFF2-40B4-BE49-F238E27FC236}">
                <a16:creationId xmlns:a16="http://schemas.microsoft.com/office/drawing/2014/main" id="{27B7AC82-C6D2-43C6-A02C-C5355F09057C}"/>
              </a:ext>
            </a:extLst>
          </p:cNvPr>
          <p:cNvSpPr>
            <a:spLocks xmlns:a="http://schemas.openxmlformats.org/drawingml/2006/main" noGrp="1"/>
          </p:cNvSpPr>
          <p:nvPr/>
        </p:nvSpPr>
        <p:spPr>
          <a:xfrm xmlns:a="http://schemas.openxmlformats.org/drawingml/2006/main">
            <a:off x="3219450" y="35433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0.722</a:t>
            </a:r>
          </a:p>
        </p:txBody>
      </p:sp>
      <p:sp>
        <p:nvSpPr>
          <p:cNvPr id="38" name="">
            <a:extLst xmlns:a="http://schemas.openxmlformats.org/drawingml/2006/main">
              <a:ext uri="{FF2B5EF4-FFF2-40B4-BE49-F238E27FC236}">
                <a16:creationId xmlns:a16="http://schemas.microsoft.com/office/drawing/2014/main" id="{02FBEE3A-9711-4763-A532-6998C60AD3E7}"/>
              </a:ext>
            </a:extLst>
          </p:cNvPr>
          <p:cNvSpPr>
            <a:spLocks xmlns:a="http://schemas.openxmlformats.org/drawingml/2006/main" noGrp="1"/>
          </p:cNvSpPr>
          <p:nvPr/>
        </p:nvSpPr>
        <p:spPr>
          <a:xfrm xmlns:a="http://schemas.openxmlformats.org/drawingml/2006/main">
            <a:off x="4648200" y="35433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0.000</a:t>
            </a:r>
          </a:p>
        </p:txBody>
      </p:sp>
      <p:sp>
        <p:nvSpPr>
          <p:cNvPr id="39" name="">
            <a:extLst xmlns:a="http://schemas.openxmlformats.org/drawingml/2006/main">
              <a:ext uri="{FF2B5EF4-FFF2-40B4-BE49-F238E27FC236}">
                <a16:creationId xmlns:a16="http://schemas.microsoft.com/office/drawing/2014/main" id="{B604372F-D05A-46E1-B58E-265578128781}"/>
              </a:ext>
            </a:extLst>
          </p:cNvPr>
          <p:cNvSpPr>
            <a:spLocks xmlns:a="http://schemas.openxmlformats.org/drawingml/2006/main" noGrp="1"/>
          </p:cNvSpPr>
          <p:nvPr/>
        </p:nvSpPr>
        <p:spPr>
          <a:xfrm xmlns:a="http://schemas.openxmlformats.org/drawingml/2006/main">
            <a:off x="6076950" y="35433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0.000</a:t>
            </a:r>
          </a:p>
        </p:txBody>
      </p:sp>
      <p:sp>
        <p:nvSpPr>
          <p:cNvPr id="40" name="">
            <a:extLst xmlns:a="http://schemas.openxmlformats.org/drawingml/2006/main">
              <a:ext uri="{FF2B5EF4-FFF2-40B4-BE49-F238E27FC236}">
                <a16:creationId xmlns:a16="http://schemas.microsoft.com/office/drawing/2014/main" id="{452C6680-6386-4969-9F64-AB9FAB4C2641}"/>
              </a:ext>
            </a:extLst>
          </p:cNvPr>
          <p:cNvSpPr>
            <a:spLocks xmlns:a="http://schemas.openxmlformats.org/drawingml/2006/main" noGrp="1"/>
          </p:cNvSpPr>
          <p:nvPr/>
        </p:nvSpPr>
        <p:spPr>
          <a:xfrm xmlns:a="http://schemas.openxmlformats.org/drawingml/2006/main">
            <a:off x="7505700" y="35433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0.000</a:t>
            </a:r>
          </a:p>
        </p:txBody>
      </p:sp>
      <p:sp>
        <p:nvSpPr>
          <p:cNvPr id="41" name="">
            <a:extLst xmlns:a="http://schemas.openxmlformats.org/drawingml/2006/main">
              <a:ext uri="{FF2B5EF4-FFF2-40B4-BE49-F238E27FC236}">
                <a16:creationId xmlns:a16="http://schemas.microsoft.com/office/drawing/2014/main" id="{94C18B27-165A-4050-BA0B-4E16F821AEA4}"/>
              </a:ext>
            </a:extLst>
          </p:cNvPr>
          <p:cNvSpPr>
            <a:spLocks xmlns:a="http://schemas.openxmlformats.org/drawingml/2006/main" noGrp="1"/>
          </p:cNvSpPr>
          <p:nvPr/>
        </p:nvSpPr>
        <p:spPr>
          <a:xfrm xmlns:a="http://schemas.openxmlformats.org/drawingml/2006/main">
            <a:off x="8934450" y="3543300"/>
            <a:ext cx="194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All 20 attacks missed</a:t>
            </a:r>
          </a:p>
        </p:txBody>
      </p:sp>
      <p:sp>
        <p:nvSpPr>
          <p:cNvPr id="42" name="">
            <a:extLst xmlns:a="http://schemas.openxmlformats.org/drawingml/2006/main">
              <a:ext uri="{FF2B5EF4-FFF2-40B4-BE49-F238E27FC236}">
                <a16:creationId xmlns:a16="http://schemas.microsoft.com/office/drawing/2014/main" id="{50905A9C-8E87-47C1-95C3-3EDE97F007C4}"/>
              </a:ext>
            </a:extLst>
          </p:cNvPr>
          <p:cNvSpPr>
            <a:spLocks xmlns:a="http://schemas.openxmlformats.org/drawingml/2006/main" noGrp="1"/>
          </p:cNvSpPr>
          <p:nvPr/>
        </p:nvSpPr>
        <p:spPr>
          <a:xfrm xmlns:a="http://schemas.openxmlformats.org/drawingml/2006/main">
            <a:off x="666750" y="4114800"/>
            <a:ext cx="10287000" cy="5715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283729B-92EB-4BF9-A72B-0398AB1E7821}"/>
              </a:ext>
            </a:extLst>
          </p:cNvPr>
          <p:cNvSpPr>
            <a:spLocks xmlns:a="http://schemas.openxmlformats.org/drawingml/2006/main" noGrp="1"/>
          </p:cNvSpPr>
          <p:nvPr/>
        </p:nvSpPr>
        <p:spPr>
          <a:xfrm xmlns:a="http://schemas.openxmlformats.org/drawingml/2006/main">
            <a:off x="742950" y="4114800"/>
            <a:ext cx="2324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Always incremental / DDQN</a:t>
            </a:r>
          </a:p>
        </p:txBody>
      </p:sp>
      <p:sp>
        <p:nvSpPr>
          <p:cNvPr id="44" name="">
            <a:extLst xmlns:a="http://schemas.openxmlformats.org/drawingml/2006/main">
              <a:ext uri="{FF2B5EF4-FFF2-40B4-BE49-F238E27FC236}">
                <a16:creationId xmlns:a16="http://schemas.microsoft.com/office/drawing/2014/main" id="{E33CD99B-5C14-4FB8-A79A-D9FE93DC64D6}"/>
              </a:ext>
            </a:extLst>
          </p:cNvPr>
          <p:cNvSpPr>
            <a:spLocks xmlns:a="http://schemas.openxmlformats.org/drawingml/2006/main" noGrp="1"/>
          </p:cNvSpPr>
          <p:nvPr/>
        </p:nvSpPr>
        <p:spPr>
          <a:xfrm xmlns:a="http://schemas.openxmlformats.org/drawingml/2006/main">
            <a:off x="3219450" y="41148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0.861</a:t>
            </a:r>
          </a:p>
        </p:txBody>
      </p:sp>
      <p:sp>
        <p:nvSpPr>
          <p:cNvPr id="45" name="">
            <a:extLst xmlns:a="http://schemas.openxmlformats.org/drawingml/2006/main">
              <a:ext uri="{FF2B5EF4-FFF2-40B4-BE49-F238E27FC236}">
                <a16:creationId xmlns:a16="http://schemas.microsoft.com/office/drawing/2014/main" id="{B5345AAC-77AA-4E47-8BF3-817694045EAB}"/>
              </a:ext>
            </a:extLst>
          </p:cNvPr>
          <p:cNvSpPr>
            <a:spLocks xmlns:a="http://schemas.openxmlformats.org/drawingml/2006/main" noGrp="1"/>
          </p:cNvSpPr>
          <p:nvPr/>
        </p:nvSpPr>
        <p:spPr>
          <a:xfrm xmlns:a="http://schemas.openxmlformats.org/drawingml/2006/main">
            <a:off x="4648200" y="41148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1.000</a:t>
            </a:r>
          </a:p>
        </p:txBody>
      </p:sp>
      <p:sp>
        <p:nvSpPr>
          <p:cNvPr id="46" name="">
            <a:extLst xmlns:a="http://schemas.openxmlformats.org/drawingml/2006/main">
              <a:ext uri="{FF2B5EF4-FFF2-40B4-BE49-F238E27FC236}">
                <a16:creationId xmlns:a16="http://schemas.microsoft.com/office/drawing/2014/main" id="{56DC65F6-D1AE-408F-99D6-DC53082CCA24}"/>
              </a:ext>
            </a:extLst>
          </p:cNvPr>
          <p:cNvSpPr>
            <a:spLocks xmlns:a="http://schemas.openxmlformats.org/drawingml/2006/main" noGrp="1"/>
          </p:cNvSpPr>
          <p:nvPr/>
        </p:nvSpPr>
        <p:spPr>
          <a:xfrm xmlns:a="http://schemas.openxmlformats.org/drawingml/2006/main">
            <a:off x="6076950" y="41148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0.500</a:t>
            </a:r>
          </a:p>
        </p:txBody>
      </p:sp>
      <p:sp>
        <p:nvSpPr>
          <p:cNvPr id="47" name="">
            <a:extLst xmlns:a="http://schemas.openxmlformats.org/drawingml/2006/main">
              <a:ext uri="{FF2B5EF4-FFF2-40B4-BE49-F238E27FC236}">
                <a16:creationId xmlns:a16="http://schemas.microsoft.com/office/drawing/2014/main" id="{74375BC0-B76A-480B-8FDD-12324AFAA8AB}"/>
              </a:ext>
            </a:extLst>
          </p:cNvPr>
          <p:cNvSpPr>
            <a:spLocks xmlns:a="http://schemas.openxmlformats.org/drawingml/2006/main" noGrp="1"/>
          </p:cNvSpPr>
          <p:nvPr/>
        </p:nvSpPr>
        <p:spPr>
          <a:xfrm xmlns:a="http://schemas.openxmlformats.org/drawingml/2006/main">
            <a:off x="7505700" y="41148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0.667</a:t>
            </a:r>
          </a:p>
        </p:txBody>
      </p:sp>
      <p:sp>
        <p:nvSpPr>
          <p:cNvPr id="48" name="">
            <a:extLst xmlns:a="http://schemas.openxmlformats.org/drawingml/2006/main">
              <a:ext uri="{FF2B5EF4-FFF2-40B4-BE49-F238E27FC236}">
                <a16:creationId xmlns:a16="http://schemas.microsoft.com/office/drawing/2014/main" id="{08E4F6D8-9CE9-4EAC-ADF6-7AB9509C374D}"/>
              </a:ext>
            </a:extLst>
          </p:cNvPr>
          <p:cNvSpPr>
            <a:spLocks xmlns:a="http://schemas.openxmlformats.org/drawingml/2006/main" noGrp="1"/>
          </p:cNvSpPr>
          <p:nvPr/>
        </p:nvSpPr>
        <p:spPr>
          <a:xfrm xmlns:a="http://schemas.openxmlformats.org/drawingml/2006/main">
            <a:off x="8934450" y="4114800"/>
            <a:ext cx="194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Best DDQN policy</a:t>
            </a:r>
          </a:p>
        </p:txBody>
      </p:sp>
      <p:sp>
        <p:nvSpPr>
          <p:cNvPr id="49" name="">
            <a:extLst xmlns:a="http://schemas.openxmlformats.org/drawingml/2006/main">
              <a:ext uri="{FF2B5EF4-FFF2-40B4-BE49-F238E27FC236}">
                <a16:creationId xmlns:a16="http://schemas.microsoft.com/office/drawing/2014/main" id="{4CF6DF54-586E-4A1A-B5F3-34E145CF8782}"/>
              </a:ext>
            </a:extLst>
          </p:cNvPr>
          <p:cNvSpPr>
            <a:spLocks xmlns:a="http://schemas.openxmlformats.org/drawingml/2006/main" noGrp="1"/>
          </p:cNvSpPr>
          <p:nvPr/>
        </p:nvSpPr>
        <p:spPr>
          <a:xfrm xmlns:a="http://schemas.openxmlformats.org/drawingml/2006/main">
            <a:off x="666750" y="4686300"/>
            <a:ext cx="10287000" cy="571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02C7867-CB25-43AF-A96D-5BA6767623A8}"/>
              </a:ext>
            </a:extLst>
          </p:cNvPr>
          <p:cNvSpPr>
            <a:spLocks xmlns:a="http://schemas.openxmlformats.org/drawingml/2006/main" noGrp="1"/>
          </p:cNvSpPr>
          <p:nvPr/>
        </p:nvSpPr>
        <p:spPr>
          <a:xfrm xmlns:a="http://schemas.openxmlformats.org/drawingml/2006/main">
            <a:off x="742950" y="4686300"/>
            <a:ext cx="2324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RL controller / DDQN</a:t>
            </a:r>
          </a:p>
        </p:txBody>
      </p:sp>
      <p:sp>
        <p:nvSpPr>
          <p:cNvPr id="51" name="">
            <a:extLst xmlns:a="http://schemas.openxmlformats.org/drawingml/2006/main">
              <a:ext uri="{FF2B5EF4-FFF2-40B4-BE49-F238E27FC236}">
                <a16:creationId xmlns:a16="http://schemas.microsoft.com/office/drawing/2014/main" id="{E64E3AE8-CA75-4FEF-86DA-BB29DBF86F29}"/>
              </a:ext>
            </a:extLst>
          </p:cNvPr>
          <p:cNvSpPr>
            <a:spLocks xmlns:a="http://schemas.openxmlformats.org/drawingml/2006/main" noGrp="1"/>
          </p:cNvSpPr>
          <p:nvPr/>
        </p:nvSpPr>
        <p:spPr>
          <a:xfrm xmlns:a="http://schemas.openxmlformats.org/drawingml/2006/main">
            <a:off x="3219450" y="46863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0.833</a:t>
            </a:r>
          </a:p>
        </p:txBody>
      </p:sp>
      <p:sp>
        <p:nvSpPr>
          <p:cNvPr id="52" name="">
            <a:extLst xmlns:a="http://schemas.openxmlformats.org/drawingml/2006/main">
              <a:ext uri="{FF2B5EF4-FFF2-40B4-BE49-F238E27FC236}">
                <a16:creationId xmlns:a16="http://schemas.microsoft.com/office/drawing/2014/main" id="{1ED3498B-DC7B-4DA8-9C33-49074B15915A}"/>
              </a:ext>
            </a:extLst>
          </p:cNvPr>
          <p:cNvSpPr>
            <a:spLocks xmlns:a="http://schemas.openxmlformats.org/drawingml/2006/main" noGrp="1"/>
          </p:cNvSpPr>
          <p:nvPr/>
        </p:nvSpPr>
        <p:spPr>
          <a:xfrm xmlns:a="http://schemas.openxmlformats.org/drawingml/2006/main">
            <a:off x="4648200" y="46863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1.000</a:t>
            </a:r>
          </a:p>
        </p:txBody>
      </p:sp>
      <p:sp>
        <p:nvSpPr>
          <p:cNvPr id="53" name="">
            <a:extLst xmlns:a="http://schemas.openxmlformats.org/drawingml/2006/main">
              <a:ext uri="{FF2B5EF4-FFF2-40B4-BE49-F238E27FC236}">
                <a16:creationId xmlns:a16="http://schemas.microsoft.com/office/drawing/2014/main" id="{BEEF2367-EA7D-499E-9E1B-1D05D5FE23FE}"/>
              </a:ext>
            </a:extLst>
          </p:cNvPr>
          <p:cNvSpPr>
            <a:spLocks xmlns:a="http://schemas.openxmlformats.org/drawingml/2006/main" noGrp="1"/>
          </p:cNvSpPr>
          <p:nvPr/>
        </p:nvSpPr>
        <p:spPr>
          <a:xfrm xmlns:a="http://schemas.openxmlformats.org/drawingml/2006/main">
            <a:off x="6076950" y="46863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0.400</a:t>
            </a:r>
          </a:p>
        </p:txBody>
      </p:sp>
      <p:sp>
        <p:nvSpPr>
          <p:cNvPr id="54" name="">
            <a:extLst xmlns:a="http://schemas.openxmlformats.org/drawingml/2006/main">
              <a:ext uri="{FF2B5EF4-FFF2-40B4-BE49-F238E27FC236}">
                <a16:creationId xmlns:a16="http://schemas.microsoft.com/office/drawing/2014/main" id="{1ED4DB6A-BD4C-418D-854F-43315DBB1A06}"/>
              </a:ext>
            </a:extLst>
          </p:cNvPr>
          <p:cNvSpPr>
            <a:spLocks xmlns:a="http://schemas.openxmlformats.org/drawingml/2006/main" noGrp="1"/>
          </p:cNvSpPr>
          <p:nvPr/>
        </p:nvSpPr>
        <p:spPr>
          <a:xfrm xmlns:a="http://schemas.openxmlformats.org/drawingml/2006/main">
            <a:off x="7505700" y="46863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0.571</a:t>
            </a:r>
          </a:p>
        </p:txBody>
      </p:sp>
      <p:sp>
        <p:nvSpPr>
          <p:cNvPr id="55" name="">
            <a:extLst xmlns:a="http://schemas.openxmlformats.org/drawingml/2006/main">
              <a:ext uri="{FF2B5EF4-FFF2-40B4-BE49-F238E27FC236}">
                <a16:creationId xmlns:a16="http://schemas.microsoft.com/office/drawing/2014/main" id="{527EA217-3B36-4D8E-AB48-A4B3E59372E7}"/>
              </a:ext>
            </a:extLst>
          </p:cNvPr>
          <p:cNvSpPr>
            <a:spLocks xmlns:a="http://schemas.openxmlformats.org/drawingml/2006/main" noGrp="1"/>
          </p:cNvSpPr>
          <p:nvPr/>
        </p:nvSpPr>
        <p:spPr>
          <a:xfrm xmlns:a="http://schemas.openxmlformats.org/drawingml/2006/main">
            <a:off x="8934450" y="4686300"/>
            <a:ext cx="194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Improves on DQN controller</a:t>
            </a:r>
          </a:p>
        </p:txBody>
      </p:sp>
      <p:sp>
        <p:nvSpPr>
          <p:cNvPr id="56" name="">
            <a:extLst xmlns:a="http://schemas.openxmlformats.org/drawingml/2006/main">
              <a:ext uri="{FF2B5EF4-FFF2-40B4-BE49-F238E27FC236}">
                <a16:creationId xmlns:a16="http://schemas.microsoft.com/office/drawing/2014/main" id="{65C17705-4BC3-4D4B-ACD3-D4D48E997401}"/>
              </a:ext>
            </a:extLst>
          </p:cNvPr>
          <p:cNvSpPr>
            <a:spLocks xmlns:a="http://schemas.openxmlformats.org/drawingml/2006/main" noGrp="1"/>
          </p:cNvSpPr>
          <p:nvPr/>
        </p:nvSpPr>
        <p:spPr>
          <a:xfrm xmlns:a="http://schemas.openxmlformats.org/drawingml/2006/main">
            <a:off x="666750" y="1504950"/>
            <a:ext cx="10287000" cy="375285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57" name="">
            <a:extLst xmlns:a="http://schemas.openxmlformats.org/drawingml/2006/main">
              <a:ext uri="{FF2B5EF4-FFF2-40B4-BE49-F238E27FC236}">
                <a16:creationId xmlns:a16="http://schemas.microsoft.com/office/drawing/2014/main" id="{F0A10997-0265-4531-A20F-E2AFB36561C6}"/>
              </a:ext>
            </a:extLst>
          </p:cNvPr>
          <p:cNvSpPr>
            <a:spLocks xmlns:a="http://schemas.openxmlformats.org/drawingml/2006/main" noGrp="1"/>
          </p:cNvSpPr>
          <p:nvPr/>
        </p:nvSpPr>
        <p:spPr>
          <a:xfrm xmlns:a="http://schemas.openxmlformats.org/drawingml/2006/main">
            <a:off x="666750" y="5486400"/>
            <a:ext cx="9906000" cy="6096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4BCD8D3B-64A0-4890-A661-D232B68202F9}"/>
              </a:ext>
            </a:extLst>
          </p:cNvPr>
          <p:cNvSpPr>
            <a:spLocks xmlns:a="http://schemas.openxmlformats.org/drawingml/2006/main" noGrp="1"/>
          </p:cNvSpPr>
          <p:nvPr/>
        </p:nvSpPr>
        <p:spPr>
          <a:xfrm xmlns:a="http://schemas.openxmlformats.org/drawingml/2006/main">
            <a:off x="666750" y="5486400"/>
            <a:ext cx="47625" cy="6096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4C45DB73-8BF7-46AB-A94C-1BBF3094C1CB}"/>
              </a:ext>
            </a:extLst>
          </p:cNvPr>
          <p:cNvSpPr>
            <a:spLocks xmlns:a="http://schemas.openxmlformats.org/drawingml/2006/main" noGrp="1"/>
          </p:cNvSpPr>
          <p:nvPr/>
        </p:nvSpPr>
        <p:spPr>
          <a:xfrm xmlns:a="http://schemas.openxmlformats.org/drawingml/2006/main">
            <a:off x="838200" y="5572125"/>
            <a:ext cx="962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The learned controller does not beat always-incremental updating. This is an extension result and a limitation, not evidence of RL superiority.</a:t>
            </a:r>
          </a:p>
        </p:txBody>
      </p:sp>
    </p:spTree>
    <p:extLst>
      <p:ext uri="{BB962C8B-B14F-4D97-AF65-F5344CB8AC3E}">
        <p14:creationId xmlns:p14="http://schemas.microsoft.com/office/powerpoint/2010/main" val="97122840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ABDDF7B-5597-49CC-B6BD-9F98EEE39903}"/>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Online drift detection: trigger timing matters</a:t>
            </a:r>
          </a:p>
        </p:txBody>
      </p:sp>
      <p:sp>
        <p:nvSpPr>
          <p:cNvPr id="2" name="">
            <a:extLst xmlns:a="http://schemas.openxmlformats.org/drawingml/2006/main">
              <a:ext uri="{FF2B5EF4-FFF2-40B4-BE49-F238E27FC236}">
                <a16:creationId xmlns:a16="http://schemas.microsoft.com/office/drawing/2014/main" id="{A76E911E-DD4F-49AB-A3FC-D19B2499CF78}"/>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Mechanism-aware CUSUM reacts earlier than delayed classifier-error monitoring.</a:t>
            </a:r>
          </a:p>
        </p:txBody>
      </p:sp>
      <p:sp>
        <p:nvSpPr>
          <p:cNvPr id="3" name="">
            <a:extLst xmlns:a="http://schemas.openxmlformats.org/drawingml/2006/main">
              <a:ext uri="{FF2B5EF4-FFF2-40B4-BE49-F238E27FC236}">
                <a16:creationId xmlns:a16="http://schemas.microsoft.com/office/drawing/2014/main" id="{03F94736-5F83-416B-B711-E7BDFB8B2D5B}"/>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CC122DD-65FF-4B7E-8D80-196726E47F9B}"/>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2947E28-8E10-4A95-8CF8-75957F0353A5}"/>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Online response</a:t>
            </a:r>
          </a:p>
        </p:txBody>
      </p:sp>
      <p:sp>
        <p:nvSpPr>
          <p:cNvPr id="6" name="">
            <a:extLst xmlns:a="http://schemas.openxmlformats.org/drawingml/2006/main">
              <a:ext uri="{FF2B5EF4-FFF2-40B4-BE49-F238E27FC236}">
                <a16:creationId xmlns:a16="http://schemas.microsoft.com/office/drawing/2014/main" id="{E2EDB5A1-7CB7-4C20-AA63-D9210C65723A}"/>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19  </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387ddb278df84712"/>
          <a:stretch xmlns:a="http://schemas.openxmlformats.org/drawingml/2006/main"/>
        </p:blipFill>
        <p:spPr>
          <a:xfrm xmlns:a="http://schemas.openxmlformats.org/drawingml/2006/main">
            <a:off x="619125" y="1595438"/>
            <a:ext cx="7810500" cy="4191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8E042C6-3D55-4EB9-A64B-E53A47405716}"/>
              </a:ext>
            </a:extLst>
          </p:cNvPr>
          <p:cNvSpPr>
            <a:spLocks xmlns:a="http://schemas.openxmlformats.org/drawingml/2006/main" noGrp="1"/>
          </p:cNvSpPr>
          <p:nvPr/>
        </p:nvSpPr>
        <p:spPr>
          <a:xfrm xmlns:a="http://schemas.openxmlformats.org/drawingml/2006/main">
            <a:off x="8715375" y="1676400"/>
            <a:ext cx="2524125"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014F0F0-3A0A-4D87-BA8E-C30680E4AE66}"/>
              </a:ext>
            </a:extLst>
          </p:cNvPr>
          <p:cNvSpPr>
            <a:spLocks xmlns:a="http://schemas.openxmlformats.org/drawingml/2006/main" noGrp="1"/>
          </p:cNvSpPr>
          <p:nvPr/>
        </p:nvSpPr>
        <p:spPr>
          <a:xfrm xmlns:a="http://schemas.openxmlformats.org/drawingml/2006/main">
            <a:off x="8791575" y="1676400"/>
            <a:ext cx="1228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Detector</a:t>
            </a:r>
          </a:p>
        </p:txBody>
      </p:sp>
      <p:sp>
        <p:nvSpPr>
          <p:cNvPr id="10" name="">
            <a:extLst xmlns:a="http://schemas.openxmlformats.org/drawingml/2006/main">
              <a:ext uri="{FF2B5EF4-FFF2-40B4-BE49-F238E27FC236}">
                <a16:creationId xmlns:a16="http://schemas.microsoft.com/office/drawing/2014/main" id="{96397FF3-FD65-4087-839A-A7800C8C359D}"/>
              </a:ext>
            </a:extLst>
          </p:cNvPr>
          <p:cNvSpPr>
            <a:spLocks xmlns:a="http://schemas.openxmlformats.org/drawingml/2006/main" noGrp="1"/>
          </p:cNvSpPr>
          <p:nvPr/>
        </p:nvSpPr>
        <p:spPr>
          <a:xfrm xmlns:a="http://schemas.openxmlformats.org/drawingml/2006/main">
            <a:off x="10172700" y="16764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Result</a:t>
            </a:r>
          </a:p>
        </p:txBody>
      </p:sp>
      <p:sp>
        <p:nvSpPr>
          <p:cNvPr id="11" name="">
            <a:extLst xmlns:a="http://schemas.openxmlformats.org/drawingml/2006/main">
              <a:ext uri="{FF2B5EF4-FFF2-40B4-BE49-F238E27FC236}">
                <a16:creationId xmlns:a16="http://schemas.microsoft.com/office/drawing/2014/main" id="{05F47D2E-4081-4DFE-974D-492996C5F92A}"/>
              </a:ext>
            </a:extLst>
          </p:cNvPr>
          <p:cNvSpPr>
            <a:spLocks xmlns:a="http://schemas.openxmlformats.org/drawingml/2006/main" noGrp="1"/>
          </p:cNvSpPr>
          <p:nvPr/>
        </p:nvSpPr>
        <p:spPr>
          <a:xfrm xmlns:a="http://schemas.openxmlformats.org/drawingml/2006/main">
            <a:off x="8715375" y="2000250"/>
            <a:ext cx="2524125" cy="5143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00F44F2-1360-4058-B6FC-5305E3858283}"/>
              </a:ext>
            </a:extLst>
          </p:cNvPr>
          <p:cNvSpPr>
            <a:spLocks xmlns:a="http://schemas.openxmlformats.org/drawingml/2006/main" noGrp="1"/>
          </p:cNvSpPr>
          <p:nvPr/>
        </p:nvSpPr>
        <p:spPr>
          <a:xfrm xmlns:a="http://schemas.openxmlformats.org/drawingml/2006/main">
            <a:off x="8791575" y="2000250"/>
            <a:ext cx="12287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CUSUM attack</a:t>
            </a:r>
          </a:p>
        </p:txBody>
      </p:sp>
      <p:sp>
        <p:nvSpPr>
          <p:cNvPr id="13" name="">
            <a:extLst xmlns:a="http://schemas.openxmlformats.org/drawingml/2006/main">
              <a:ext uri="{FF2B5EF4-FFF2-40B4-BE49-F238E27FC236}">
                <a16:creationId xmlns:a16="http://schemas.microsoft.com/office/drawing/2014/main" id="{D428576E-C56A-46E9-AE66-CFB0E6CE1BE6}"/>
              </a:ext>
            </a:extLst>
          </p:cNvPr>
          <p:cNvSpPr>
            <a:spLocks xmlns:a="http://schemas.openxmlformats.org/drawingml/2006/main" noGrp="1"/>
          </p:cNvSpPr>
          <p:nvPr/>
        </p:nvSpPr>
        <p:spPr>
          <a:xfrm xmlns:a="http://schemas.openxmlformats.org/drawingml/2006/main">
            <a:off x="10172700" y="2000250"/>
            <a:ext cx="990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5 / 5</a:t>
            </a:r>
          </a:p>
        </p:txBody>
      </p:sp>
      <p:sp>
        <p:nvSpPr>
          <p:cNvPr id="14" name="">
            <a:extLst xmlns:a="http://schemas.openxmlformats.org/drawingml/2006/main">
              <a:ext uri="{FF2B5EF4-FFF2-40B4-BE49-F238E27FC236}">
                <a16:creationId xmlns:a16="http://schemas.microsoft.com/office/drawing/2014/main" id="{6670C0CC-7B79-464F-8507-139C1416C67D}"/>
              </a:ext>
            </a:extLst>
          </p:cNvPr>
          <p:cNvSpPr>
            <a:spLocks xmlns:a="http://schemas.openxmlformats.org/drawingml/2006/main" noGrp="1"/>
          </p:cNvSpPr>
          <p:nvPr/>
        </p:nvSpPr>
        <p:spPr>
          <a:xfrm xmlns:a="http://schemas.openxmlformats.org/drawingml/2006/main">
            <a:off x="8715375" y="2514600"/>
            <a:ext cx="2524125" cy="514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57710FA-5F33-4896-8B6D-275106A06246}"/>
              </a:ext>
            </a:extLst>
          </p:cNvPr>
          <p:cNvSpPr>
            <a:spLocks xmlns:a="http://schemas.openxmlformats.org/drawingml/2006/main" noGrp="1"/>
          </p:cNvSpPr>
          <p:nvPr/>
        </p:nvSpPr>
        <p:spPr>
          <a:xfrm xmlns:a="http://schemas.openxmlformats.org/drawingml/2006/main">
            <a:off x="8791575" y="2514600"/>
            <a:ext cx="12287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CUSUM control</a:t>
            </a:r>
          </a:p>
        </p:txBody>
      </p:sp>
      <p:sp>
        <p:nvSpPr>
          <p:cNvPr id="16" name="">
            <a:extLst xmlns:a="http://schemas.openxmlformats.org/drawingml/2006/main">
              <a:ext uri="{FF2B5EF4-FFF2-40B4-BE49-F238E27FC236}">
                <a16:creationId xmlns:a16="http://schemas.microsoft.com/office/drawing/2014/main" id="{25E04B6A-E798-4DE0-B86F-18A23F3E7B7C}"/>
              </a:ext>
            </a:extLst>
          </p:cNvPr>
          <p:cNvSpPr>
            <a:spLocks xmlns:a="http://schemas.openxmlformats.org/drawingml/2006/main" noGrp="1"/>
          </p:cNvSpPr>
          <p:nvPr/>
        </p:nvSpPr>
        <p:spPr>
          <a:xfrm xmlns:a="http://schemas.openxmlformats.org/drawingml/2006/main">
            <a:off x="10172700" y="2514600"/>
            <a:ext cx="990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 / 5 alerts</a:t>
            </a:r>
          </a:p>
        </p:txBody>
      </p:sp>
      <p:sp>
        <p:nvSpPr>
          <p:cNvPr id="17" name="">
            <a:extLst xmlns:a="http://schemas.openxmlformats.org/drawingml/2006/main">
              <a:ext uri="{FF2B5EF4-FFF2-40B4-BE49-F238E27FC236}">
                <a16:creationId xmlns:a16="http://schemas.microsoft.com/office/drawing/2014/main" id="{8487842A-D840-4A5F-BC9E-4D563A035272}"/>
              </a:ext>
            </a:extLst>
          </p:cNvPr>
          <p:cNvSpPr>
            <a:spLocks xmlns:a="http://schemas.openxmlformats.org/drawingml/2006/main" noGrp="1"/>
          </p:cNvSpPr>
          <p:nvPr/>
        </p:nvSpPr>
        <p:spPr>
          <a:xfrm xmlns:a="http://schemas.openxmlformats.org/drawingml/2006/main">
            <a:off x="8715375" y="3028950"/>
            <a:ext cx="2524125" cy="5143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AB67AEE-327E-4FE4-B7BB-68A11FD9FDCF}"/>
              </a:ext>
            </a:extLst>
          </p:cNvPr>
          <p:cNvSpPr>
            <a:spLocks xmlns:a="http://schemas.openxmlformats.org/drawingml/2006/main" noGrp="1"/>
          </p:cNvSpPr>
          <p:nvPr/>
        </p:nvSpPr>
        <p:spPr>
          <a:xfrm xmlns:a="http://schemas.openxmlformats.org/drawingml/2006/main">
            <a:off x="8791575" y="3028950"/>
            <a:ext cx="12287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CUSUM delay</a:t>
            </a:r>
          </a:p>
        </p:txBody>
      </p:sp>
      <p:sp>
        <p:nvSpPr>
          <p:cNvPr id="19" name="">
            <a:extLst xmlns:a="http://schemas.openxmlformats.org/drawingml/2006/main">
              <a:ext uri="{FF2B5EF4-FFF2-40B4-BE49-F238E27FC236}">
                <a16:creationId xmlns:a16="http://schemas.microsoft.com/office/drawing/2014/main" id="{049028FB-7DCE-4624-9FC7-288175A1358F}"/>
              </a:ext>
            </a:extLst>
          </p:cNvPr>
          <p:cNvSpPr>
            <a:spLocks xmlns:a="http://schemas.openxmlformats.org/drawingml/2006/main" noGrp="1"/>
          </p:cNvSpPr>
          <p:nvPr/>
        </p:nvSpPr>
        <p:spPr>
          <a:xfrm xmlns:a="http://schemas.openxmlformats.org/drawingml/2006/main">
            <a:off x="10172700" y="3028950"/>
            <a:ext cx="990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 s window</a:t>
            </a:r>
          </a:p>
        </p:txBody>
      </p:sp>
      <p:sp>
        <p:nvSpPr>
          <p:cNvPr id="20" name="">
            <a:extLst xmlns:a="http://schemas.openxmlformats.org/drawingml/2006/main">
              <a:ext uri="{FF2B5EF4-FFF2-40B4-BE49-F238E27FC236}">
                <a16:creationId xmlns:a16="http://schemas.microsoft.com/office/drawing/2014/main" id="{35C99DC3-3C1D-4A8A-8D2E-F861B4289FC8}"/>
              </a:ext>
            </a:extLst>
          </p:cNvPr>
          <p:cNvSpPr>
            <a:spLocks xmlns:a="http://schemas.openxmlformats.org/drawingml/2006/main" noGrp="1"/>
          </p:cNvSpPr>
          <p:nvPr/>
        </p:nvSpPr>
        <p:spPr>
          <a:xfrm xmlns:a="http://schemas.openxmlformats.org/drawingml/2006/main">
            <a:off x="8715375" y="3543300"/>
            <a:ext cx="2524125" cy="514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7D4C5FF-5B0B-4AC3-97A7-BDC8986F0BCA}"/>
              </a:ext>
            </a:extLst>
          </p:cNvPr>
          <p:cNvSpPr>
            <a:spLocks xmlns:a="http://schemas.openxmlformats.org/drawingml/2006/main" noGrp="1"/>
          </p:cNvSpPr>
          <p:nvPr/>
        </p:nvSpPr>
        <p:spPr>
          <a:xfrm xmlns:a="http://schemas.openxmlformats.org/drawingml/2006/main">
            <a:off x="8791575" y="3543300"/>
            <a:ext cx="12287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DDM attack</a:t>
            </a:r>
          </a:p>
        </p:txBody>
      </p:sp>
      <p:sp>
        <p:nvSpPr>
          <p:cNvPr id="22" name="">
            <a:extLst xmlns:a="http://schemas.openxmlformats.org/drawingml/2006/main">
              <a:ext uri="{FF2B5EF4-FFF2-40B4-BE49-F238E27FC236}">
                <a16:creationId xmlns:a16="http://schemas.microsoft.com/office/drawing/2014/main" id="{864B2F81-1AE7-474C-9534-53ABBDD0E4B8}"/>
              </a:ext>
            </a:extLst>
          </p:cNvPr>
          <p:cNvSpPr>
            <a:spLocks xmlns:a="http://schemas.openxmlformats.org/drawingml/2006/main" noGrp="1"/>
          </p:cNvSpPr>
          <p:nvPr/>
        </p:nvSpPr>
        <p:spPr>
          <a:xfrm xmlns:a="http://schemas.openxmlformats.org/drawingml/2006/main">
            <a:off x="10172700" y="3543300"/>
            <a:ext cx="990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5 / 5</a:t>
            </a:r>
          </a:p>
        </p:txBody>
      </p:sp>
      <p:sp>
        <p:nvSpPr>
          <p:cNvPr id="23" name="">
            <a:extLst xmlns:a="http://schemas.openxmlformats.org/drawingml/2006/main">
              <a:ext uri="{FF2B5EF4-FFF2-40B4-BE49-F238E27FC236}">
                <a16:creationId xmlns:a16="http://schemas.microsoft.com/office/drawing/2014/main" id="{EE812DEF-E3C2-4923-B4E9-3BAACF3DE423}"/>
              </a:ext>
            </a:extLst>
          </p:cNvPr>
          <p:cNvSpPr>
            <a:spLocks xmlns:a="http://schemas.openxmlformats.org/drawingml/2006/main" noGrp="1"/>
          </p:cNvSpPr>
          <p:nvPr/>
        </p:nvSpPr>
        <p:spPr>
          <a:xfrm xmlns:a="http://schemas.openxmlformats.org/drawingml/2006/main">
            <a:off x="8715375" y="4057650"/>
            <a:ext cx="2524125" cy="5143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1644607-59FB-447F-B2E5-3206F09754A2}"/>
              </a:ext>
            </a:extLst>
          </p:cNvPr>
          <p:cNvSpPr>
            <a:spLocks xmlns:a="http://schemas.openxmlformats.org/drawingml/2006/main" noGrp="1"/>
          </p:cNvSpPr>
          <p:nvPr/>
        </p:nvSpPr>
        <p:spPr>
          <a:xfrm xmlns:a="http://schemas.openxmlformats.org/drawingml/2006/main">
            <a:off x="8791575" y="4057650"/>
            <a:ext cx="12287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DDM control</a:t>
            </a:r>
          </a:p>
        </p:txBody>
      </p:sp>
      <p:sp>
        <p:nvSpPr>
          <p:cNvPr id="25" name="">
            <a:extLst xmlns:a="http://schemas.openxmlformats.org/drawingml/2006/main">
              <a:ext uri="{FF2B5EF4-FFF2-40B4-BE49-F238E27FC236}">
                <a16:creationId xmlns:a16="http://schemas.microsoft.com/office/drawing/2014/main" id="{4487B603-2DD6-4163-8081-26A7CB742AB7}"/>
              </a:ext>
            </a:extLst>
          </p:cNvPr>
          <p:cNvSpPr>
            <a:spLocks xmlns:a="http://schemas.openxmlformats.org/drawingml/2006/main" noGrp="1"/>
          </p:cNvSpPr>
          <p:nvPr/>
        </p:nvSpPr>
        <p:spPr>
          <a:xfrm xmlns:a="http://schemas.openxmlformats.org/drawingml/2006/main">
            <a:off x="10172700" y="4057650"/>
            <a:ext cx="990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 / 5 alerts</a:t>
            </a:r>
          </a:p>
        </p:txBody>
      </p:sp>
      <p:sp>
        <p:nvSpPr>
          <p:cNvPr id="26" name="">
            <a:extLst xmlns:a="http://schemas.openxmlformats.org/drawingml/2006/main">
              <a:ext uri="{FF2B5EF4-FFF2-40B4-BE49-F238E27FC236}">
                <a16:creationId xmlns:a16="http://schemas.microsoft.com/office/drawing/2014/main" id="{02757DA1-0100-4794-B847-D1C8CCE0EE8C}"/>
              </a:ext>
            </a:extLst>
          </p:cNvPr>
          <p:cNvSpPr>
            <a:spLocks xmlns:a="http://schemas.openxmlformats.org/drawingml/2006/main" noGrp="1"/>
          </p:cNvSpPr>
          <p:nvPr/>
        </p:nvSpPr>
        <p:spPr>
          <a:xfrm xmlns:a="http://schemas.openxmlformats.org/drawingml/2006/main">
            <a:off x="8715375" y="4572000"/>
            <a:ext cx="2524125" cy="514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41BBC0B-FA39-4937-9043-716EC16181E4}"/>
              </a:ext>
            </a:extLst>
          </p:cNvPr>
          <p:cNvSpPr>
            <a:spLocks xmlns:a="http://schemas.openxmlformats.org/drawingml/2006/main" noGrp="1"/>
          </p:cNvSpPr>
          <p:nvPr/>
        </p:nvSpPr>
        <p:spPr>
          <a:xfrm xmlns:a="http://schemas.openxmlformats.org/drawingml/2006/main">
            <a:off x="8791575" y="4572000"/>
            <a:ext cx="12287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DDM delay</a:t>
            </a:r>
          </a:p>
        </p:txBody>
      </p:sp>
      <p:sp>
        <p:nvSpPr>
          <p:cNvPr id="28" name="">
            <a:extLst xmlns:a="http://schemas.openxmlformats.org/drawingml/2006/main">
              <a:ext uri="{FF2B5EF4-FFF2-40B4-BE49-F238E27FC236}">
                <a16:creationId xmlns:a16="http://schemas.microsoft.com/office/drawing/2014/main" id="{AE272A0B-A6D4-47FE-92F2-19F69ED8879B}"/>
              </a:ext>
            </a:extLst>
          </p:cNvPr>
          <p:cNvSpPr>
            <a:spLocks xmlns:a="http://schemas.openxmlformats.org/drawingml/2006/main" noGrp="1"/>
          </p:cNvSpPr>
          <p:nvPr/>
        </p:nvSpPr>
        <p:spPr>
          <a:xfrm xmlns:a="http://schemas.openxmlformats.org/drawingml/2006/main">
            <a:off x="10172700" y="4572000"/>
            <a:ext cx="990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60 s</a:t>
            </a:r>
          </a:p>
        </p:txBody>
      </p:sp>
      <p:sp>
        <p:nvSpPr>
          <p:cNvPr id="29" name="">
            <a:extLst xmlns:a="http://schemas.openxmlformats.org/drawingml/2006/main">
              <a:ext uri="{FF2B5EF4-FFF2-40B4-BE49-F238E27FC236}">
                <a16:creationId xmlns:a16="http://schemas.microsoft.com/office/drawing/2014/main" id="{EE264ABA-0317-489F-860D-5B38E6B67159}"/>
              </a:ext>
            </a:extLst>
          </p:cNvPr>
          <p:cNvSpPr>
            <a:spLocks xmlns:a="http://schemas.openxmlformats.org/drawingml/2006/main" noGrp="1"/>
          </p:cNvSpPr>
          <p:nvPr/>
        </p:nvSpPr>
        <p:spPr>
          <a:xfrm xmlns:a="http://schemas.openxmlformats.org/drawingml/2006/main">
            <a:off x="8715375" y="1676400"/>
            <a:ext cx="2524125" cy="340995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30" name="">
            <a:extLst xmlns:a="http://schemas.openxmlformats.org/drawingml/2006/main">
              <a:ext uri="{FF2B5EF4-FFF2-40B4-BE49-F238E27FC236}">
                <a16:creationId xmlns:a16="http://schemas.microsoft.com/office/drawing/2014/main" id="{490A6DED-B054-415F-AD7C-17926AF31E8E}"/>
              </a:ext>
            </a:extLst>
          </p:cNvPr>
          <p:cNvSpPr>
            <a:spLocks xmlns:a="http://schemas.openxmlformats.org/drawingml/2006/main" noGrp="1"/>
          </p:cNvSpPr>
          <p:nvPr/>
        </p:nvSpPr>
        <p:spPr>
          <a:xfrm xmlns:a="http://schemas.openxmlformats.org/drawingml/2006/main">
            <a:off x="8715375" y="5095875"/>
            <a:ext cx="2524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B45309"/>
                </a:solidFill>
              </a:defRPr>
            </a:pPr>
            <a:r>
              <a:rPr sz="1200" b="1">
                <a:solidFill>
                  <a:srgbClr val="B45309"/>
                </a:solidFill>
              </a:rPr>
              <a:t>Five-seed controlled result</a:t>
            </a:r>
          </a:p>
        </p:txBody>
      </p:sp>
    </p:spTree>
    <p:extLst>
      <p:ext uri="{BB962C8B-B14F-4D97-AF65-F5344CB8AC3E}">
        <p14:creationId xmlns:p14="http://schemas.microsoft.com/office/powerpoint/2010/main" val="91689100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CCEC9AF-4EA7-42BF-9922-07914EA9DF78}"/>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Robustness under attacker relocation and lossy radio</a:t>
            </a:r>
          </a:p>
        </p:txBody>
      </p:sp>
      <p:sp>
        <p:nvSpPr>
          <p:cNvPr id="2" name="">
            <a:extLst xmlns:a="http://schemas.openxmlformats.org/drawingml/2006/main">
              <a:ext uri="{FF2B5EF4-FFF2-40B4-BE49-F238E27FC236}">
                <a16:creationId xmlns:a16="http://schemas.microsoft.com/office/drawing/2014/main" id="{87C7F5B3-A9DA-4015-B2ED-4ECEB575DE6A}"/>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Sixty additional runs test whether adaptation depends on the baseline position and radio model.</a:t>
            </a:r>
          </a:p>
        </p:txBody>
      </p:sp>
      <p:sp>
        <p:nvSpPr>
          <p:cNvPr id="3" name="">
            <a:extLst xmlns:a="http://schemas.openxmlformats.org/drawingml/2006/main">
              <a:ext uri="{FF2B5EF4-FFF2-40B4-BE49-F238E27FC236}">
                <a16:creationId xmlns:a16="http://schemas.microsoft.com/office/drawing/2014/main" id="{224FF800-9E55-4A86-B1CC-4A86D6277110}"/>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B54FDEB-6BA8-4438-ABE2-FEDE21C688A6}"/>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ED15677-5182-4FF8-A629-12FB0A64DBD2}"/>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Robustness</a:t>
            </a:r>
          </a:p>
        </p:txBody>
      </p:sp>
      <p:sp>
        <p:nvSpPr>
          <p:cNvPr id="6" name="">
            <a:extLst xmlns:a="http://schemas.openxmlformats.org/drawingml/2006/main">
              <a:ext uri="{FF2B5EF4-FFF2-40B4-BE49-F238E27FC236}">
                <a16:creationId xmlns:a16="http://schemas.microsoft.com/office/drawing/2014/main" id="{89458F48-63C1-4C08-999A-41585E98FC78}"/>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20  </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a6394a620c3746ca"/>
          <a:stretch xmlns:a="http://schemas.openxmlformats.org/drawingml/2006/main"/>
        </p:blipFill>
        <p:spPr>
          <a:xfrm xmlns:a="http://schemas.openxmlformats.org/drawingml/2006/main">
            <a:off x="571500" y="1494960"/>
            <a:ext cx="8096250" cy="4344329"/>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2F4FE73-EB50-4813-B601-A65E0ADEC314}"/>
              </a:ext>
            </a:extLst>
          </p:cNvPr>
          <p:cNvSpPr>
            <a:spLocks xmlns:a="http://schemas.openxmlformats.org/drawingml/2006/main" noGrp="1"/>
          </p:cNvSpPr>
          <p:nvPr/>
        </p:nvSpPr>
        <p:spPr>
          <a:xfrm xmlns:a="http://schemas.openxmlformats.org/drawingml/2006/main">
            <a:off x="8905875" y="1666875"/>
            <a:ext cx="2524125"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A346B13-A321-43B9-B577-A0FAF8D8C652}"/>
              </a:ext>
            </a:extLst>
          </p:cNvPr>
          <p:cNvSpPr>
            <a:spLocks xmlns:a="http://schemas.openxmlformats.org/drawingml/2006/main" noGrp="1"/>
          </p:cNvSpPr>
          <p:nvPr/>
        </p:nvSpPr>
        <p:spPr>
          <a:xfrm xmlns:a="http://schemas.openxmlformats.org/drawingml/2006/main">
            <a:off x="8982075" y="1666875"/>
            <a:ext cx="1228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Condition</a:t>
            </a:r>
          </a:p>
        </p:txBody>
      </p:sp>
      <p:sp>
        <p:nvSpPr>
          <p:cNvPr id="10" name="">
            <a:extLst xmlns:a="http://schemas.openxmlformats.org/drawingml/2006/main">
              <a:ext uri="{FF2B5EF4-FFF2-40B4-BE49-F238E27FC236}">
                <a16:creationId xmlns:a16="http://schemas.microsoft.com/office/drawing/2014/main" id="{35A39C97-0DE8-4117-8047-9154C257EB5F}"/>
              </a:ext>
            </a:extLst>
          </p:cNvPr>
          <p:cNvSpPr>
            <a:spLocks xmlns:a="http://schemas.openxmlformats.org/drawingml/2006/main" noGrp="1"/>
          </p:cNvSpPr>
          <p:nvPr/>
        </p:nvSpPr>
        <p:spPr>
          <a:xfrm xmlns:a="http://schemas.openxmlformats.org/drawingml/2006/main">
            <a:off x="10363200" y="1666875"/>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3-seed F1</a:t>
            </a:r>
          </a:p>
        </p:txBody>
      </p:sp>
      <p:sp>
        <p:nvSpPr>
          <p:cNvPr id="11" name="">
            <a:extLst xmlns:a="http://schemas.openxmlformats.org/drawingml/2006/main">
              <a:ext uri="{FF2B5EF4-FFF2-40B4-BE49-F238E27FC236}">
                <a16:creationId xmlns:a16="http://schemas.microsoft.com/office/drawing/2014/main" id="{7C5C23BC-D6FB-4D19-94FF-A153EB2DC2DE}"/>
              </a:ext>
            </a:extLst>
          </p:cNvPr>
          <p:cNvSpPr>
            <a:spLocks xmlns:a="http://schemas.openxmlformats.org/drawingml/2006/main" noGrp="1"/>
          </p:cNvSpPr>
          <p:nvPr/>
        </p:nvSpPr>
        <p:spPr>
          <a:xfrm xmlns:a="http://schemas.openxmlformats.org/drawingml/2006/main">
            <a:off x="8905875" y="1990725"/>
            <a:ext cx="2524125" cy="542925"/>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F1443EB-2583-470D-8793-7DFEF222233E}"/>
              </a:ext>
            </a:extLst>
          </p:cNvPr>
          <p:cNvSpPr>
            <a:spLocks xmlns:a="http://schemas.openxmlformats.org/drawingml/2006/main" noGrp="1"/>
          </p:cNvSpPr>
          <p:nvPr/>
        </p:nvSpPr>
        <p:spPr>
          <a:xfrm xmlns:a="http://schemas.openxmlformats.org/drawingml/2006/main">
            <a:off x="8982075" y="1990725"/>
            <a:ext cx="12287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BH relocated</a:t>
            </a:r>
          </a:p>
        </p:txBody>
      </p:sp>
      <p:sp>
        <p:nvSpPr>
          <p:cNvPr id="13" name="">
            <a:extLst xmlns:a="http://schemas.openxmlformats.org/drawingml/2006/main">
              <a:ext uri="{FF2B5EF4-FFF2-40B4-BE49-F238E27FC236}">
                <a16:creationId xmlns:a16="http://schemas.microsoft.com/office/drawing/2014/main" id="{2532D761-2C17-44A3-87BB-5C6A83378288}"/>
              </a:ext>
            </a:extLst>
          </p:cNvPr>
          <p:cNvSpPr>
            <a:spLocks xmlns:a="http://schemas.openxmlformats.org/drawingml/2006/main" noGrp="1"/>
          </p:cNvSpPr>
          <p:nvPr/>
        </p:nvSpPr>
        <p:spPr>
          <a:xfrm xmlns:a="http://schemas.openxmlformats.org/drawingml/2006/main">
            <a:off x="10363200" y="1990725"/>
            <a:ext cx="990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1.000</a:t>
            </a:r>
          </a:p>
        </p:txBody>
      </p:sp>
      <p:sp>
        <p:nvSpPr>
          <p:cNvPr id="14" name="">
            <a:extLst xmlns:a="http://schemas.openxmlformats.org/drawingml/2006/main">
              <a:ext uri="{FF2B5EF4-FFF2-40B4-BE49-F238E27FC236}">
                <a16:creationId xmlns:a16="http://schemas.microsoft.com/office/drawing/2014/main" id="{986FA2CA-6F6B-4F11-BEB1-69CDE7DFBC2F}"/>
              </a:ext>
            </a:extLst>
          </p:cNvPr>
          <p:cNvSpPr>
            <a:spLocks xmlns:a="http://schemas.openxmlformats.org/drawingml/2006/main" noGrp="1"/>
          </p:cNvSpPr>
          <p:nvPr/>
        </p:nvSpPr>
        <p:spPr>
          <a:xfrm xmlns:a="http://schemas.openxmlformats.org/drawingml/2006/main">
            <a:off x="8905875" y="2533650"/>
            <a:ext cx="2524125" cy="5429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A745A75-6A3B-471A-B089-4F49A7C9CE8B}"/>
              </a:ext>
            </a:extLst>
          </p:cNvPr>
          <p:cNvSpPr>
            <a:spLocks xmlns:a="http://schemas.openxmlformats.org/drawingml/2006/main" noGrp="1"/>
          </p:cNvSpPr>
          <p:nvPr/>
        </p:nvSpPr>
        <p:spPr>
          <a:xfrm xmlns:a="http://schemas.openxmlformats.org/drawingml/2006/main">
            <a:off x="8982075" y="2533650"/>
            <a:ext cx="12287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SH relocated</a:t>
            </a:r>
          </a:p>
        </p:txBody>
      </p:sp>
      <p:sp>
        <p:nvSpPr>
          <p:cNvPr id="16" name="">
            <a:extLst xmlns:a="http://schemas.openxmlformats.org/drawingml/2006/main">
              <a:ext uri="{FF2B5EF4-FFF2-40B4-BE49-F238E27FC236}">
                <a16:creationId xmlns:a16="http://schemas.microsoft.com/office/drawing/2014/main" id="{D58B73ED-9701-45A2-BE00-6C4F2D106C7A}"/>
              </a:ext>
            </a:extLst>
          </p:cNvPr>
          <p:cNvSpPr>
            <a:spLocks xmlns:a="http://schemas.openxmlformats.org/drawingml/2006/main" noGrp="1"/>
          </p:cNvSpPr>
          <p:nvPr/>
        </p:nvSpPr>
        <p:spPr>
          <a:xfrm xmlns:a="http://schemas.openxmlformats.org/drawingml/2006/main">
            <a:off x="10363200" y="2533650"/>
            <a:ext cx="990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1.000</a:t>
            </a:r>
          </a:p>
        </p:txBody>
      </p:sp>
      <p:sp>
        <p:nvSpPr>
          <p:cNvPr id="17" name="">
            <a:extLst xmlns:a="http://schemas.openxmlformats.org/drawingml/2006/main">
              <a:ext uri="{FF2B5EF4-FFF2-40B4-BE49-F238E27FC236}">
                <a16:creationId xmlns:a16="http://schemas.microsoft.com/office/drawing/2014/main" id="{C5A59BB4-0C2A-4D68-B096-171AC3ACFE76}"/>
              </a:ext>
            </a:extLst>
          </p:cNvPr>
          <p:cNvSpPr>
            <a:spLocks xmlns:a="http://schemas.openxmlformats.org/drawingml/2006/main" noGrp="1"/>
          </p:cNvSpPr>
          <p:nvPr/>
        </p:nvSpPr>
        <p:spPr>
          <a:xfrm xmlns:a="http://schemas.openxmlformats.org/drawingml/2006/main">
            <a:off x="8905875" y="3076575"/>
            <a:ext cx="2524125" cy="542925"/>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45535E6-445C-487D-9016-BB6ED62E6087}"/>
              </a:ext>
            </a:extLst>
          </p:cNvPr>
          <p:cNvSpPr>
            <a:spLocks xmlns:a="http://schemas.openxmlformats.org/drawingml/2006/main" noGrp="1"/>
          </p:cNvSpPr>
          <p:nvPr/>
        </p:nvSpPr>
        <p:spPr>
          <a:xfrm xmlns:a="http://schemas.openxmlformats.org/drawingml/2006/main">
            <a:off x="8982075" y="3076575"/>
            <a:ext cx="12287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Sybil relocated</a:t>
            </a:r>
          </a:p>
        </p:txBody>
      </p:sp>
      <p:sp>
        <p:nvSpPr>
          <p:cNvPr id="19" name="">
            <a:extLst xmlns:a="http://schemas.openxmlformats.org/drawingml/2006/main">
              <a:ext uri="{FF2B5EF4-FFF2-40B4-BE49-F238E27FC236}">
                <a16:creationId xmlns:a16="http://schemas.microsoft.com/office/drawing/2014/main" id="{05F807EA-4A57-4A58-AE02-9587B30EEB3D}"/>
              </a:ext>
            </a:extLst>
          </p:cNvPr>
          <p:cNvSpPr>
            <a:spLocks xmlns:a="http://schemas.openxmlformats.org/drawingml/2006/main" noGrp="1"/>
          </p:cNvSpPr>
          <p:nvPr/>
        </p:nvSpPr>
        <p:spPr>
          <a:xfrm xmlns:a="http://schemas.openxmlformats.org/drawingml/2006/main">
            <a:off x="10363200" y="3076575"/>
            <a:ext cx="990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0.995</a:t>
            </a:r>
          </a:p>
        </p:txBody>
      </p:sp>
      <p:sp>
        <p:nvSpPr>
          <p:cNvPr id="20" name="">
            <a:extLst xmlns:a="http://schemas.openxmlformats.org/drawingml/2006/main">
              <a:ext uri="{FF2B5EF4-FFF2-40B4-BE49-F238E27FC236}">
                <a16:creationId xmlns:a16="http://schemas.microsoft.com/office/drawing/2014/main" id="{F8AB8050-3D83-4C08-83E9-1F08A76C8302}"/>
              </a:ext>
            </a:extLst>
          </p:cNvPr>
          <p:cNvSpPr>
            <a:spLocks xmlns:a="http://schemas.openxmlformats.org/drawingml/2006/main" noGrp="1"/>
          </p:cNvSpPr>
          <p:nvPr/>
        </p:nvSpPr>
        <p:spPr>
          <a:xfrm xmlns:a="http://schemas.openxmlformats.org/drawingml/2006/main">
            <a:off x="8905875" y="3619500"/>
            <a:ext cx="2524125" cy="5429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47D9792-F939-4A32-BE01-DCFC95261D63}"/>
              </a:ext>
            </a:extLst>
          </p:cNvPr>
          <p:cNvSpPr>
            <a:spLocks xmlns:a="http://schemas.openxmlformats.org/drawingml/2006/main" noGrp="1"/>
          </p:cNvSpPr>
          <p:nvPr/>
        </p:nvSpPr>
        <p:spPr>
          <a:xfrm xmlns:a="http://schemas.openxmlformats.org/drawingml/2006/main">
            <a:off x="8982075" y="3619500"/>
            <a:ext cx="12287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BH lossy</a:t>
            </a:r>
          </a:p>
        </p:txBody>
      </p:sp>
      <p:sp>
        <p:nvSpPr>
          <p:cNvPr id="22" name="">
            <a:extLst xmlns:a="http://schemas.openxmlformats.org/drawingml/2006/main">
              <a:ext uri="{FF2B5EF4-FFF2-40B4-BE49-F238E27FC236}">
                <a16:creationId xmlns:a16="http://schemas.microsoft.com/office/drawing/2014/main" id="{A81ACB96-EE66-4E7A-863D-A8F8F2DF39E7}"/>
              </a:ext>
            </a:extLst>
          </p:cNvPr>
          <p:cNvSpPr>
            <a:spLocks xmlns:a="http://schemas.openxmlformats.org/drawingml/2006/main" noGrp="1"/>
          </p:cNvSpPr>
          <p:nvPr/>
        </p:nvSpPr>
        <p:spPr>
          <a:xfrm xmlns:a="http://schemas.openxmlformats.org/drawingml/2006/main">
            <a:off x="10363200" y="3619500"/>
            <a:ext cx="990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1.000</a:t>
            </a:r>
          </a:p>
        </p:txBody>
      </p:sp>
      <p:sp>
        <p:nvSpPr>
          <p:cNvPr id="23" name="">
            <a:extLst xmlns:a="http://schemas.openxmlformats.org/drawingml/2006/main">
              <a:ext uri="{FF2B5EF4-FFF2-40B4-BE49-F238E27FC236}">
                <a16:creationId xmlns:a16="http://schemas.microsoft.com/office/drawing/2014/main" id="{58DDAC55-D0F2-4317-9AAA-A213CBE20FF6}"/>
              </a:ext>
            </a:extLst>
          </p:cNvPr>
          <p:cNvSpPr>
            <a:spLocks xmlns:a="http://schemas.openxmlformats.org/drawingml/2006/main" noGrp="1"/>
          </p:cNvSpPr>
          <p:nvPr/>
        </p:nvSpPr>
        <p:spPr>
          <a:xfrm xmlns:a="http://schemas.openxmlformats.org/drawingml/2006/main">
            <a:off x="8905875" y="4162425"/>
            <a:ext cx="2524125" cy="542925"/>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DF70B31-C5A9-43C9-A441-7F1EEAA212A6}"/>
              </a:ext>
            </a:extLst>
          </p:cNvPr>
          <p:cNvSpPr>
            <a:spLocks xmlns:a="http://schemas.openxmlformats.org/drawingml/2006/main" noGrp="1"/>
          </p:cNvSpPr>
          <p:nvPr/>
        </p:nvSpPr>
        <p:spPr>
          <a:xfrm xmlns:a="http://schemas.openxmlformats.org/drawingml/2006/main">
            <a:off x="8982075" y="4162425"/>
            <a:ext cx="12287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SH lossy</a:t>
            </a:r>
          </a:p>
        </p:txBody>
      </p:sp>
      <p:sp>
        <p:nvSpPr>
          <p:cNvPr id="25" name="">
            <a:extLst xmlns:a="http://schemas.openxmlformats.org/drawingml/2006/main">
              <a:ext uri="{FF2B5EF4-FFF2-40B4-BE49-F238E27FC236}">
                <a16:creationId xmlns:a16="http://schemas.microsoft.com/office/drawing/2014/main" id="{DE96AF12-4BCB-4758-8999-6DD31CAF7D1B}"/>
              </a:ext>
            </a:extLst>
          </p:cNvPr>
          <p:cNvSpPr>
            <a:spLocks xmlns:a="http://schemas.openxmlformats.org/drawingml/2006/main" noGrp="1"/>
          </p:cNvSpPr>
          <p:nvPr/>
        </p:nvSpPr>
        <p:spPr>
          <a:xfrm xmlns:a="http://schemas.openxmlformats.org/drawingml/2006/main">
            <a:off x="10363200" y="4162425"/>
            <a:ext cx="990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1.000</a:t>
            </a:r>
          </a:p>
        </p:txBody>
      </p:sp>
      <p:sp>
        <p:nvSpPr>
          <p:cNvPr id="26" name="">
            <a:extLst xmlns:a="http://schemas.openxmlformats.org/drawingml/2006/main">
              <a:ext uri="{FF2B5EF4-FFF2-40B4-BE49-F238E27FC236}">
                <a16:creationId xmlns:a16="http://schemas.microsoft.com/office/drawing/2014/main" id="{C76095AE-0274-4D05-9493-D02095632995}"/>
              </a:ext>
            </a:extLst>
          </p:cNvPr>
          <p:cNvSpPr>
            <a:spLocks xmlns:a="http://schemas.openxmlformats.org/drawingml/2006/main" noGrp="1"/>
          </p:cNvSpPr>
          <p:nvPr/>
        </p:nvSpPr>
        <p:spPr>
          <a:xfrm xmlns:a="http://schemas.openxmlformats.org/drawingml/2006/main">
            <a:off x="8905875" y="4705350"/>
            <a:ext cx="2524125" cy="5429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6133A07-DDE5-4A9C-B5FD-0F28FFB78C22}"/>
              </a:ext>
            </a:extLst>
          </p:cNvPr>
          <p:cNvSpPr>
            <a:spLocks xmlns:a="http://schemas.openxmlformats.org/drawingml/2006/main" noGrp="1"/>
          </p:cNvSpPr>
          <p:nvPr/>
        </p:nvSpPr>
        <p:spPr>
          <a:xfrm xmlns:a="http://schemas.openxmlformats.org/drawingml/2006/main">
            <a:off x="8982075" y="4705350"/>
            <a:ext cx="12287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Sybil lossy</a:t>
            </a:r>
          </a:p>
        </p:txBody>
      </p:sp>
      <p:sp>
        <p:nvSpPr>
          <p:cNvPr id="28" name="">
            <a:extLst xmlns:a="http://schemas.openxmlformats.org/drawingml/2006/main">
              <a:ext uri="{FF2B5EF4-FFF2-40B4-BE49-F238E27FC236}">
                <a16:creationId xmlns:a16="http://schemas.microsoft.com/office/drawing/2014/main" id="{D3F85552-503D-43C1-BBDB-0FD0412E1277}"/>
              </a:ext>
            </a:extLst>
          </p:cNvPr>
          <p:cNvSpPr>
            <a:spLocks xmlns:a="http://schemas.openxmlformats.org/drawingml/2006/main" noGrp="1"/>
          </p:cNvSpPr>
          <p:nvPr/>
        </p:nvSpPr>
        <p:spPr>
          <a:xfrm xmlns:a="http://schemas.openxmlformats.org/drawingml/2006/main">
            <a:off x="10363200" y="4705350"/>
            <a:ext cx="990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0.937</a:t>
            </a:r>
          </a:p>
        </p:txBody>
      </p:sp>
      <p:sp>
        <p:nvSpPr>
          <p:cNvPr id="29" name="">
            <a:extLst xmlns:a="http://schemas.openxmlformats.org/drawingml/2006/main">
              <a:ext uri="{FF2B5EF4-FFF2-40B4-BE49-F238E27FC236}">
                <a16:creationId xmlns:a16="http://schemas.microsoft.com/office/drawing/2014/main" id="{E1A33D5E-A1F2-4436-861D-2DEB2BFB1EC3}"/>
              </a:ext>
            </a:extLst>
          </p:cNvPr>
          <p:cNvSpPr>
            <a:spLocks xmlns:a="http://schemas.openxmlformats.org/drawingml/2006/main" noGrp="1"/>
          </p:cNvSpPr>
          <p:nvPr/>
        </p:nvSpPr>
        <p:spPr>
          <a:xfrm xmlns:a="http://schemas.openxmlformats.org/drawingml/2006/main">
            <a:off x="8905875" y="1666875"/>
            <a:ext cx="2524125" cy="358140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30" name="">
            <a:extLst xmlns:a="http://schemas.openxmlformats.org/drawingml/2006/main">
              <a:ext uri="{FF2B5EF4-FFF2-40B4-BE49-F238E27FC236}">
                <a16:creationId xmlns:a16="http://schemas.microsoft.com/office/drawing/2014/main" id="{51CF300A-5E19-4356-844D-C1F7C8035E8C}"/>
              </a:ext>
            </a:extLst>
          </p:cNvPr>
          <p:cNvSpPr>
            <a:spLocks xmlns:a="http://schemas.openxmlformats.org/drawingml/2006/main" noGrp="1"/>
          </p:cNvSpPr>
          <p:nvPr/>
        </p:nvSpPr>
        <p:spPr>
          <a:xfrm xmlns:a="http://schemas.openxmlformats.org/drawingml/2006/main">
            <a:off x="8905875" y="5238750"/>
            <a:ext cx="2524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B42318"/>
                </a:solidFill>
              </a:defRPr>
            </a:pPr>
            <a:r>
              <a:rPr sz="1200" b="1">
                <a:solidFill>
                  <a:srgbClr val="B42318"/>
                </a:solidFill>
              </a:rPr>
              <a:t>Lossy Sybil FPR = 0.046</a:t>
            </a:r>
          </a:p>
        </p:txBody>
      </p:sp>
    </p:spTree>
    <p:extLst>
      <p:ext uri="{BB962C8B-B14F-4D97-AF65-F5344CB8AC3E}">
        <p14:creationId xmlns:p14="http://schemas.microsoft.com/office/powerpoint/2010/main" val="35426846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2CA2727A-DDFE-4D37-9810-99EC2CB1D4C8}"/>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Trust features and active defence produced negative results</a:t>
            </a:r>
          </a:p>
        </p:txBody>
      </p:sp>
      <p:sp>
        <p:nvSpPr>
          <p:cNvPr id="2" name="">
            <a:extLst xmlns:a="http://schemas.openxmlformats.org/drawingml/2006/main">
              <a:ext uri="{FF2B5EF4-FFF2-40B4-BE49-F238E27FC236}">
                <a16:creationId xmlns:a16="http://schemas.microsoft.com/office/drawing/2014/main" id="{51F2B42F-091B-49F5-9331-814B3F7C1729}"/>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Interpretability improved, but predictive metrics and network operation did not.</a:t>
            </a:r>
          </a:p>
        </p:txBody>
      </p:sp>
      <p:sp>
        <p:nvSpPr>
          <p:cNvPr id="3" name="">
            <a:extLst xmlns:a="http://schemas.openxmlformats.org/drawingml/2006/main">
              <a:ext uri="{FF2B5EF4-FFF2-40B4-BE49-F238E27FC236}">
                <a16:creationId xmlns:a16="http://schemas.microsoft.com/office/drawing/2014/main" id="{D0B67C26-C0C0-4B15-8A88-A599B4FAD691}"/>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C8FCFD4-B0C9-4641-9014-6135A0EE46C0}"/>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ED56028-CF5E-42B5-BA7F-B8FB1365CFBB}"/>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Trust and defence</a:t>
            </a:r>
          </a:p>
        </p:txBody>
      </p:sp>
      <p:sp>
        <p:nvSpPr>
          <p:cNvPr id="6" name="">
            <a:extLst xmlns:a="http://schemas.openxmlformats.org/drawingml/2006/main">
              <a:ext uri="{FF2B5EF4-FFF2-40B4-BE49-F238E27FC236}">
                <a16:creationId xmlns:a16="http://schemas.microsoft.com/office/drawing/2014/main" id="{FEDCE937-DB43-4B61-8031-EA4B0C9DCCFD}"/>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21  </a:t>
            </a:r>
          </a:p>
        </p:txBody>
      </p:sp>
      <p:sp>
        <p:nvSpPr>
          <p:cNvPr id="7" name="">
            <a:extLst xmlns:a="http://schemas.openxmlformats.org/drawingml/2006/main">
              <a:ext uri="{FF2B5EF4-FFF2-40B4-BE49-F238E27FC236}">
                <a16:creationId xmlns:a16="http://schemas.microsoft.com/office/drawing/2014/main" id="{2A358FE5-7C95-453C-8583-758B41689A5D}"/>
              </a:ext>
            </a:extLst>
          </p:cNvPr>
          <p:cNvSpPr>
            <a:spLocks xmlns:a="http://schemas.openxmlformats.org/drawingml/2006/main" noGrp="1"/>
          </p:cNvSpPr>
          <p:nvPr/>
        </p:nvSpPr>
        <p:spPr>
          <a:xfrm xmlns:a="http://schemas.openxmlformats.org/drawingml/2006/main">
            <a:off x="523875" y="1504950"/>
            <a:ext cx="685800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785C298-82E3-46FC-9247-C52B0585FA54}"/>
              </a:ext>
            </a:extLst>
          </p:cNvPr>
          <p:cNvSpPr>
            <a:spLocks xmlns:a="http://schemas.openxmlformats.org/drawingml/2006/main" noGrp="1"/>
          </p:cNvSpPr>
          <p:nvPr/>
        </p:nvSpPr>
        <p:spPr>
          <a:xfrm xmlns:a="http://schemas.openxmlformats.org/drawingml/2006/main">
            <a:off x="600075" y="1504950"/>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Trust-layer evaluation</a:t>
            </a:r>
          </a:p>
        </p:txBody>
      </p:sp>
      <p:sp>
        <p:nvSpPr>
          <p:cNvPr id="9" name="">
            <a:extLst xmlns:a="http://schemas.openxmlformats.org/drawingml/2006/main">
              <a:ext uri="{FF2B5EF4-FFF2-40B4-BE49-F238E27FC236}">
                <a16:creationId xmlns:a16="http://schemas.microsoft.com/office/drawing/2014/main" id="{28448B51-B588-4D83-A199-D1CAC7BF7F06}"/>
              </a:ext>
            </a:extLst>
          </p:cNvPr>
          <p:cNvSpPr>
            <a:spLocks xmlns:a="http://schemas.openxmlformats.org/drawingml/2006/main" noGrp="1"/>
          </p:cNvSpPr>
          <p:nvPr/>
        </p:nvSpPr>
        <p:spPr>
          <a:xfrm xmlns:a="http://schemas.openxmlformats.org/drawingml/2006/main">
            <a:off x="3171825" y="15049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Baseline F1</a:t>
            </a:r>
          </a:p>
        </p:txBody>
      </p:sp>
      <p:sp>
        <p:nvSpPr>
          <p:cNvPr id="10" name="">
            <a:extLst xmlns:a="http://schemas.openxmlformats.org/drawingml/2006/main">
              <a:ext uri="{FF2B5EF4-FFF2-40B4-BE49-F238E27FC236}">
                <a16:creationId xmlns:a16="http://schemas.microsoft.com/office/drawing/2014/main" id="{37591BF0-8464-4F82-B1ED-BA9CC5C4975D}"/>
              </a:ext>
            </a:extLst>
          </p:cNvPr>
          <p:cNvSpPr>
            <a:spLocks xmlns:a="http://schemas.openxmlformats.org/drawingml/2006/main" noGrp="1"/>
          </p:cNvSpPr>
          <p:nvPr/>
        </p:nvSpPr>
        <p:spPr>
          <a:xfrm xmlns:a="http://schemas.openxmlformats.org/drawingml/2006/main">
            <a:off x="4600575" y="15049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Trust F1</a:t>
            </a:r>
          </a:p>
        </p:txBody>
      </p:sp>
      <p:sp>
        <p:nvSpPr>
          <p:cNvPr id="11" name="">
            <a:extLst xmlns:a="http://schemas.openxmlformats.org/drawingml/2006/main">
              <a:ext uri="{FF2B5EF4-FFF2-40B4-BE49-F238E27FC236}">
                <a16:creationId xmlns:a16="http://schemas.microsoft.com/office/drawing/2014/main" id="{92723C46-9470-45CF-91CD-EA78317242EF}"/>
              </a:ext>
            </a:extLst>
          </p:cNvPr>
          <p:cNvSpPr>
            <a:spLocks xmlns:a="http://schemas.openxmlformats.org/drawingml/2006/main" noGrp="1"/>
          </p:cNvSpPr>
          <p:nvPr/>
        </p:nvSpPr>
        <p:spPr>
          <a:xfrm xmlns:a="http://schemas.openxmlformats.org/drawingml/2006/main">
            <a:off x="6029325" y="15049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Change</a:t>
            </a:r>
          </a:p>
        </p:txBody>
      </p:sp>
      <p:sp>
        <p:nvSpPr>
          <p:cNvPr id="12" name="">
            <a:extLst xmlns:a="http://schemas.openxmlformats.org/drawingml/2006/main">
              <a:ext uri="{FF2B5EF4-FFF2-40B4-BE49-F238E27FC236}">
                <a16:creationId xmlns:a16="http://schemas.microsoft.com/office/drawing/2014/main" id="{986A6CAD-4629-403B-B8E5-91409519BFF9}"/>
              </a:ext>
            </a:extLst>
          </p:cNvPr>
          <p:cNvSpPr>
            <a:spLocks xmlns:a="http://schemas.openxmlformats.org/drawingml/2006/main" noGrp="1"/>
          </p:cNvSpPr>
          <p:nvPr/>
        </p:nvSpPr>
        <p:spPr>
          <a:xfrm xmlns:a="http://schemas.openxmlformats.org/drawingml/2006/main">
            <a:off x="523875" y="1828800"/>
            <a:ext cx="6858000" cy="5524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3A763DE-34A2-4962-A2DB-4D024F8F3ABA}"/>
              </a:ext>
            </a:extLst>
          </p:cNvPr>
          <p:cNvSpPr>
            <a:spLocks xmlns:a="http://schemas.openxmlformats.org/drawingml/2006/main" noGrp="1"/>
          </p:cNvSpPr>
          <p:nvPr/>
        </p:nvSpPr>
        <p:spPr>
          <a:xfrm xmlns:a="http://schemas.openxmlformats.org/drawingml/2006/main">
            <a:off x="600075" y="1828800"/>
            <a:ext cx="2419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Static cross-attack</a:t>
            </a:r>
          </a:p>
        </p:txBody>
      </p:sp>
      <p:sp>
        <p:nvSpPr>
          <p:cNvPr id="14" name="">
            <a:extLst xmlns:a="http://schemas.openxmlformats.org/drawingml/2006/main">
              <a:ext uri="{FF2B5EF4-FFF2-40B4-BE49-F238E27FC236}">
                <a16:creationId xmlns:a16="http://schemas.microsoft.com/office/drawing/2014/main" id="{640355BA-8C6A-42D9-96E2-D1A571CD8EEA}"/>
              </a:ext>
            </a:extLst>
          </p:cNvPr>
          <p:cNvSpPr>
            <a:spLocks xmlns:a="http://schemas.openxmlformats.org/drawingml/2006/main" noGrp="1"/>
          </p:cNvSpPr>
          <p:nvPr/>
        </p:nvSpPr>
        <p:spPr>
          <a:xfrm xmlns:a="http://schemas.openxmlformats.org/drawingml/2006/main">
            <a:off x="3171825" y="18288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0.1822</a:t>
            </a:r>
          </a:p>
        </p:txBody>
      </p:sp>
      <p:sp>
        <p:nvSpPr>
          <p:cNvPr id="15" name="">
            <a:extLst xmlns:a="http://schemas.openxmlformats.org/drawingml/2006/main">
              <a:ext uri="{FF2B5EF4-FFF2-40B4-BE49-F238E27FC236}">
                <a16:creationId xmlns:a16="http://schemas.microsoft.com/office/drawing/2014/main" id="{4B33182C-F925-4E00-945D-1B7996B3FC67}"/>
              </a:ext>
            </a:extLst>
          </p:cNvPr>
          <p:cNvSpPr>
            <a:spLocks xmlns:a="http://schemas.openxmlformats.org/drawingml/2006/main" noGrp="1"/>
          </p:cNvSpPr>
          <p:nvPr/>
        </p:nvSpPr>
        <p:spPr>
          <a:xfrm xmlns:a="http://schemas.openxmlformats.org/drawingml/2006/main">
            <a:off x="4600575" y="18288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0.1822</a:t>
            </a:r>
          </a:p>
        </p:txBody>
      </p:sp>
      <p:sp>
        <p:nvSpPr>
          <p:cNvPr id="16" name="">
            <a:extLst xmlns:a="http://schemas.openxmlformats.org/drawingml/2006/main">
              <a:ext uri="{FF2B5EF4-FFF2-40B4-BE49-F238E27FC236}">
                <a16:creationId xmlns:a16="http://schemas.microsoft.com/office/drawing/2014/main" id="{9EA8C0FB-00C3-44D4-8023-9FB1D7DF3A29}"/>
              </a:ext>
            </a:extLst>
          </p:cNvPr>
          <p:cNvSpPr>
            <a:spLocks xmlns:a="http://schemas.openxmlformats.org/drawingml/2006/main" noGrp="1"/>
          </p:cNvSpPr>
          <p:nvPr/>
        </p:nvSpPr>
        <p:spPr>
          <a:xfrm xmlns:a="http://schemas.openxmlformats.org/drawingml/2006/main">
            <a:off x="6029325" y="18288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0.0000</a:t>
            </a:r>
          </a:p>
        </p:txBody>
      </p:sp>
      <p:sp>
        <p:nvSpPr>
          <p:cNvPr id="17" name="">
            <a:extLst xmlns:a="http://schemas.openxmlformats.org/drawingml/2006/main">
              <a:ext uri="{FF2B5EF4-FFF2-40B4-BE49-F238E27FC236}">
                <a16:creationId xmlns:a16="http://schemas.microsoft.com/office/drawing/2014/main" id="{4A6B3278-D122-49FD-A08B-1194EA081C53}"/>
              </a:ext>
            </a:extLst>
          </p:cNvPr>
          <p:cNvSpPr>
            <a:spLocks xmlns:a="http://schemas.openxmlformats.org/drawingml/2006/main" noGrp="1"/>
          </p:cNvSpPr>
          <p:nvPr/>
        </p:nvSpPr>
        <p:spPr>
          <a:xfrm xmlns:a="http://schemas.openxmlformats.org/drawingml/2006/main">
            <a:off x="523875" y="2381250"/>
            <a:ext cx="6858000" cy="552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7526F70-C783-4875-9529-4476CCE98586}"/>
              </a:ext>
            </a:extLst>
          </p:cNvPr>
          <p:cNvSpPr>
            <a:spLocks xmlns:a="http://schemas.openxmlformats.org/drawingml/2006/main" noGrp="1"/>
          </p:cNvSpPr>
          <p:nvPr/>
        </p:nvSpPr>
        <p:spPr>
          <a:xfrm xmlns:a="http://schemas.openxmlformats.org/drawingml/2006/main">
            <a:off x="600075" y="2381250"/>
            <a:ext cx="2419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1-seed adaptation</a:t>
            </a:r>
          </a:p>
        </p:txBody>
      </p:sp>
      <p:sp>
        <p:nvSpPr>
          <p:cNvPr id="19" name="">
            <a:extLst xmlns:a="http://schemas.openxmlformats.org/drawingml/2006/main">
              <a:ext uri="{FF2B5EF4-FFF2-40B4-BE49-F238E27FC236}">
                <a16:creationId xmlns:a16="http://schemas.microsoft.com/office/drawing/2014/main" id="{69F5CF7D-997C-4727-8B2B-61E44023E2DB}"/>
              </a:ext>
            </a:extLst>
          </p:cNvPr>
          <p:cNvSpPr>
            <a:spLocks xmlns:a="http://schemas.openxmlformats.org/drawingml/2006/main" noGrp="1"/>
          </p:cNvSpPr>
          <p:nvPr/>
        </p:nvSpPr>
        <p:spPr>
          <a:xfrm xmlns:a="http://schemas.openxmlformats.org/drawingml/2006/main">
            <a:off x="3171825" y="238125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0.8258</a:t>
            </a:r>
          </a:p>
        </p:txBody>
      </p:sp>
      <p:sp>
        <p:nvSpPr>
          <p:cNvPr id="20" name="">
            <a:extLst xmlns:a="http://schemas.openxmlformats.org/drawingml/2006/main">
              <a:ext uri="{FF2B5EF4-FFF2-40B4-BE49-F238E27FC236}">
                <a16:creationId xmlns:a16="http://schemas.microsoft.com/office/drawing/2014/main" id="{8BB4A68E-27B8-4BE4-A595-AFE909857953}"/>
              </a:ext>
            </a:extLst>
          </p:cNvPr>
          <p:cNvSpPr>
            <a:spLocks xmlns:a="http://schemas.openxmlformats.org/drawingml/2006/main" noGrp="1"/>
          </p:cNvSpPr>
          <p:nvPr/>
        </p:nvSpPr>
        <p:spPr>
          <a:xfrm xmlns:a="http://schemas.openxmlformats.org/drawingml/2006/main">
            <a:off x="4600575" y="238125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0.8258</a:t>
            </a:r>
          </a:p>
        </p:txBody>
      </p:sp>
      <p:sp>
        <p:nvSpPr>
          <p:cNvPr id="21" name="">
            <a:extLst xmlns:a="http://schemas.openxmlformats.org/drawingml/2006/main">
              <a:ext uri="{FF2B5EF4-FFF2-40B4-BE49-F238E27FC236}">
                <a16:creationId xmlns:a16="http://schemas.microsoft.com/office/drawing/2014/main" id="{82B7292D-42B1-466E-B6C0-9121EBF94F09}"/>
              </a:ext>
            </a:extLst>
          </p:cNvPr>
          <p:cNvSpPr>
            <a:spLocks xmlns:a="http://schemas.openxmlformats.org/drawingml/2006/main" noGrp="1"/>
          </p:cNvSpPr>
          <p:nvPr/>
        </p:nvSpPr>
        <p:spPr>
          <a:xfrm xmlns:a="http://schemas.openxmlformats.org/drawingml/2006/main">
            <a:off x="6029325" y="238125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0.0000</a:t>
            </a:r>
          </a:p>
        </p:txBody>
      </p:sp>
      <p:sp>
        <p:nvSpPr>
          <p:cNvPr id="22" name="">
            <a:extLst xmlns:a="http://schemas.openxmlformats.org/drawingml/2006/main">
              <a:ext uri="{FF2B5EF4-FFF2-40B4-BE49-F238E27FC236}">
                <a16:creationId xmlns:a16="http://schemas.microsoft.com/office/drawing/2014/main" id="{D656FC3A-78FA-437C-AAE0-5ADB07868DAE}"/>
              </a:ext>
            </a:extLst>
          </p:cNvPr>
          <p:cNvSpPr>
            <a:spLocks xmlns:a="http://schemas.openxmlformats.org/drawingml/2006/main" noGrp="1"/>
          </p:cNvSpPr>
          <p:nvPr/>
        </p:nvSpPr>
        <p:spPr>
          <a:xfrm xmlns:a="http://schemas.openxmlformats.org/drawingml/2006/main">
            <a:off x="523875" y="2933700"/>
            <a:ext cx="6858000" cy="5524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A5AC603-144E-4A91-A917-BC9878A21A1E}"/>
              </a:ext>
            </a:extLst>
          </p:cNvPr>
          <p:cNvSpPr>
            <a:spLocks xmlns:a="http://schemas.openxmlformats.org/drawingml/2006/main" noGrp="1"/>
          </p:cNvSpPr>
          <p:nvPr/>
        </p:nvSpPr>
        <p:spPr>
          <a:xfrm xmlns:a="http://schemas.openxmlformats.org/drawingml/2006/main">
            <a:off x="600075" y="2933700"/>
            <a:ext cx="2419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2-seed adaptation</a:t>
            </a:r>
          </a:p>
        </p:txBody>
      </p:sp>
      <p:sp>
        <p:nvSpPr>
          <p:cNvPr id="24" name="">
            <a:extLst xmlns:a="http://schemas.openxmlformats.org/drawingml/2006/main">
              <a:ext uri="{FF2B5EF4-FFF2-40B4-BE49-F238E27FC236}">
                <a16:creationId xmlns:a16="http://schemas.microsoft.com/office/drawing/2014/main" id="{A9C8A828-372C-4DC5-AAA1-ADD5DA5EE26B}"/>
              </a:ext>
            </a:extLst>
          </p:cNvPr>
          <p:cNvSpPr>
            <a:spLocks xmlns:a="http://schemas.openxmlformats.org/drawingml/2006/main" noGrp="1"/>
          </p:cNvSpPr>
          <p:nvPr/>
        </p:nvSpPr>
        <p:spPr>
          <a:xfrm xmlns:a="http://schemas.openxmlformats.org/drawingml/2006/main">
            <a:off x="3171825" y="29337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0.8664</a:t>
            </a:r>
          </a:p>
        </p:txBody>
      </p:sp>
      <p:sp>
        <p:nvSpPr>
          <p:cNvPr id="25" name="">
            <a:extLst xmlns:a="http://schemas.openxmlformats.org/drawingml/2006/main">
              <a:ext uri="{FF2B5EF4-FFF2-40B4-BE49-F238E27FC236}">
                <a16:creationId xmlns:a16="http://schemas.microsoft.com/office/drawing/2014/main" id="{B20B60B4-BA7A-436D-9ED3-50ABCCBC2117}"/>
              </a:ext>
            </a:extLst>
          </p:cNvPr>
          <p:cNvSpPr>
            <a:spLocks xmlns:a="http://schemas.openxmlformats.org/drawingml/2006/main" noGrp="1"/>
          </p:cNvSpPr>
          <p:nvPr/>
        </p:nvSpPr>
        <p:spPr>
          <a:xfrm xmlns:a="http://schemas.openxmlformats.org/drawingml/2006/main">
            <a:off x="4600575" y="29337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0.8664</a:t>
            </a:r>
          </a:p>
        </p:txBody>
      </p:sp>
      <p:sp>
        <p:nvSpPr>
          <p:cNvPr id="26" name="">
            <a:extLst xmlns:a="http://schemas.openxmlformats.org/drawingml/2006/main">
              <a:ext uri="{FF2B5EF4-FFF2-40B4-BE49-F238E27FC236}">
                <a16:creationId xmlns:a16="http://schemas.microsoft.com/office/drawing/2014/main" id="{4192087A-E598-46BE-AFF6-94B54CFA3BC0}"/>
              </a:ext>
            </a:extLst>
          </p:cNvPr>
          <p:cNvSpPr>
            <a:spLocks xmlns:a="http://schemas.openxmlformats.org/drawingml/2006/main" noGrp="1"/>
          </p:cNvSpPr>
          <p:nvPr/>
        </p:nvSpPr>
        <p:spPr>
          <a:xfrm xmlns:a="http://schemas.openxmlformats.org/drawingml/2006/main">
            <a:off x="6029325" y="29337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0.0000</a:t>
            </a:r>
          </a:p>
        </p:txBody>
      </p:sp>
      <p:sp>
        <p:nvSpPr>
          <p:cNvPr id="27" name="">
            <a:extLst xmlns:a="http://schemas.openxmlformats.org/drawingml/2006/main">
              <a:ext uri="{FF2B5EF4-FFF2-40B4-BE49-F238E27FC236}">
                <a16:creationId xmlns:a16="http://schemas.microsoft.com/office/drawing/2014/main" id="{A45A38E2-8E76-4B93-BEB2-373676A8D459}"/>
              </a:ext>
            </a:extLst>
          </p:cNvPr>
          <p:cNvSpPr>
            <a:spLocks xmlns:a="http://schemas.openxmlformats.org/drawingml/2006/main" noGrp="1"/>
          </p:cNvSpPr>
          <p:nvPr/>
        </p:nvSpPr>
        <p:spPr>
          <a:xfrm xmlns:a="http://schemas.openxmlformats.org/drawingml/2006/main">
            <a:off x="523875" y="3486150"/>
            <a:ext cx="6858000" cy="552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55CC631-96CF-4310-BE1B-1EA560B8891B}"/>
              </a:ext>
            </a:extLst>
          </p:cNvPr>
          <p:cNvSpPr>
            <a:spLocks xmlns:a="http://schemas.openxmlformats.org/drawingml/2006/main" noGrp="1"/>
          </p:cNvSpPr>
          <p:nvPr/>
        </p:nvSpPr>
        <p:spPr>
          <a:xfrm xmlns:a="http://schemas.openxmlformats.org/drawingml/2006/main">
            <a:off x="600075" y="3486150"/>
            <a:ext cx="2419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3-seed adaptation</a:t>
            </a:r>
          </a:p>
        </p:txBody>
      </p:sp>
      <p:sp>
        <p:nvSpPr>
          <p:cNvPr id="29" name="">
            <a:extLst xmlns:a="http://schemas.openxmlformats.org/drawingml/2006/main">
              <a:ext uri="{FF2B5EF4-FFF2-40B4-BE49-F238E27FC236}">
                <a16:creationId xmlns:a16="http://schemas.microsoft.com/office/drawing/2014/main" id="{70B2282B-C7FF-4AA3-B97E-6B6824F2978B}"/>
              </a:ext>
            </a:extLst>
          </p:cNvPr>
          <p:cNvSpPr>
            <a:spLocks xmlns:a="http://schemas.openxmlformats.org/drawingml/2006/main" noGrp="1"/>
          </p:cNvSpPr>
          <p:nvPr/>
        </p:nvSpPr>
        <p:spPr>
          <a:xfrm xmlns:a="http://schemas.openxmlformats.org/drawingml/2006/main">
            <a:off x="3171825" y="348615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0.8792</a:t>
            </a:r>
          </a:p>
        </p:txBody>
      </p:sp>
      <p:sp>
        <p:nvSpPr>
          <p:cNvPr id="30" name="">
            <a:extLst xmlns:a="http://schemas.openxmlformats.org/drawingml/2006/main">
              <a:ext uri="{FF2B5EF4-FFF2-40B4-BE49-F238E27FC236}">
                <a16:creationId xmlns:a16="http://schemas.microsoft.com/office/drawing/2014/main" id="{2FFF3263-782D-4668-8E3F-053E3462247D}"/>
              </a:ext>
            </a:extLst>
          </p:cNvPr>
          <p:cNvSpPr>
            <a:spLocks xmlns:a="http://schemas.openxmlformats.org/drawingml/2006/main" noGrp="1"/>
          </p:cNvSpPr>
          <p:nvPr/>
        </p:nvSpPr>
        <p:spPr>
          <a:xfrm xmlns:a="http://schemas.openxmlformats.org/drawingml/2006/main">
            <a:off x="4600575" y="348615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0.8792</a:t>
            </a:r>
          </a:p>
        </p:txBody>
      </p:sp>
      <p:sp>
        <p:nvSpPr>
          <p:cNvPr id="31" name="">
            <a:extLst xmlns:a="http://schemas.openxmlformats.org/drawingml/2006/main">
              <a:ext uri="{FF2B5EF4-FFF2-40B4-BE49-F238E27FC236}">
                <a16:creationId xmlns:a16="http://schemas.microsoft.com/office/drawing/2014/main" id="{E830885C-2844-401B-B873-3A9E70F1019C}"/>
              </a:ext>
            </a:extLst>
          </p:cNvPr>
          <p:cNvSpPr>
            <a:spLocks xmlns:a="http://schemas.openxmlformats.org/drawingml/2006/main" noGrp="1"/>
          </p:cNvSpPr>
          <p:nvPr/>
        </p:nvSpPr>
        <p:spPr>
          <a:xfrm xmlns:a="http://schemas.openxmlformats.org/drawingml/2006/main">
            <a:off x="6029325" y="348615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0.0000</a:t>
            </a:r>
          </a:p>
        </p:txBody>
      </p:sp>
      <p:sp>
        <p:nvSpPr>
          <p:cNvPr id="32" name="">
            <a:extLst xmlns:a="http://schemas.openxmlformats.org/drawingml/2006/main">
              <a:ext uri="{FF2B5EF4-FFF2-40B4-BE49-F238E27FC236}">
                <a16:creationId xmlns:a16="http://schemas.microsoft.com/office/drawing/2014/main" id="{EF56A90A-6633-4401-BD05-C1DE0E0AC6ED}"/>
              </a:ext>
            </a:extLst>
          </p:cNvPr>
          <p:cNvSpPr>
            <a:spLocks xmlns:a="http://schemas.openxmlformats.org/drawingml/2006/main" noGrp="1"/>
          </p:cNvSpPr>
          <p:nvPr/>
        </p:nvSpPr>
        <p:spPr>
          <a:xfrm xmlns:a="http://schemas.openxmlformats.org/drawingml/2006/main">
            <a:off x="523875" y="1504950"/>
            <a:ext cx="6858000" cy="253365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5A2B5B3C-045C-436A-8C28-EEA1F0E8C27C}"/>
              </a:ext>
            </a:extLst>
          </p:cNvPr>
          <p:cNvSpPr>
            <a:spLocks xmlns:a="http://schemas.openxmlformats.org/drawingml/2006/main" noGrp="1"/>
          </p:cNvSpPr>
          <p:nvPr/>
        </p:nvSpPr>
        <p:spPr>
          <a:xfrm xmlns:a="http://schemas.openxmlformats.org/drawingml/2006/main">
            <a:off x="6953250" y="1504950"/>
            <a:ext cx="485775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D390407D-3B6F-473B-9728-6ED49EFCF82E}"/>
              </a:ext>
            </a:extLst>
          </p:cNvPr>
          <p:cNvSpPr>
            <a:spLocks xmlns:a="http://schemas.openxmlformats.org/drawingml/2006/main" noGrp="1"/>
          </p:cNvSpPr>
          <p:nvPr/>
        </p:nvSpPr>
        <p:spPr>
          <a:xfrm xmlns:a="http://schemas.openxmlformats.org/drawingml/2006/main">
            <a:off x="7029450" y="15049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Sinkhole condition</a:t>
            </a:r>
          </a:p>
        </p:txBody>
      </p:sp>
      <p:sp>
        <p:nvSpPr>
          <p:cNvPr id="35" name="">
            <a:extLst xmlns:a="http://schemas.openxmlformats.org/drawingml/2006/main">
              <a:ext uri="{FF2B5EF4-FFF2-40B4-BE49-F238E27FC236}">
                <a16:creationId xmlns:a16="http://schemas.microsoft.com/office/drawing/2014/main" id="{EA311B9E-A0D5-4F34-8A4A-F5FDFC78B109}"/>
              </a:ext>
            </a:extLst>
          </p:cNvPr>
          <p:cNvSpPr>
            <a:spLocks xmlns:a="http://schemas.openxmlformats.org/drawingml/2006/main" noGrp="1"/>
          </p:cNvSpPr>
          <p:nvPr/>
        </p:nvSpPr>
        <p:spPr>
          <a:xfrm xmlns:a="http://schemas.openxmlformats.org/drawingml/2006/main">
            <a:off x="9029700" y="15049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App responses</a:t>
            </a:r>
          </a:p>
        </p:txBody>
      </p:sp>
      <p:sp>
        <p:nvSpPr>
          <p:cNvPr id="36" name="">
            <a:extLst xmlns:a="http://schemas.openxmlformats.org/drawingml/2006/main">
              <a:ext uri="{FF2B5EF4-FFF2-40B4-BE49-F238E27FC236}">
                <a16:creationId xmlns:a16="http://schemas.microsoft.com/office/drawing/2014/main" id="{2B30B32E-D297-4E91-988C-F9212CCB4C41}"/>
              </a:ext>
            </a:extLst>
          </p:cNvPr>
          <p:cNvSpPr>
            <a:spLocks xmlns:a="http://schemas.openxmlformats.org/drawingml/2006/main" noGrp="1"/>
          </p:cNvSpPr>
          <p:nvPr/>
        </p:nvSpPr>
        <p:spPr>
          <a:xfrm xmlns:a="http://schemas.openxmlformats.org/drawingml/2006/main">
            <a:off x="10458450" y="15049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Radio TX</a:t>
            </a:r>
          </a:p>
        </p:txBody>
      </p:sp>
      <p:sp>
        <p:nvSpPr>
          <p:cNvPr id="37" name="">
            <a:extLst xmlns:a="http://schemas.openxmlformats.org/drawingml/2006/main">
              <a:ext uri="{FF2B5EF4-FFF2-40B4-BE49-F238E27FC236}">
                <a16:creationId xmlns:a16="http://schemas.microsoft.com/office/drawing/2014/main" id="{1E7475E1-A554-427F-BC21-6B055D85F96F}"/>
              </a:ext>
            </a:extLst>
          </p:cNvPr>
          <p:cNvSpPr>
            <a:spLocks xmlns:a="http://schemas.openxmlformats.org/drawingml/2006/main" noGrp="1"/>
          </p:cNvSpPr>
          <p:nvPr/>
        </p:nvSpPr>
        <p:spPr>
          <a:xfrm xmlns:a="http://schemas.openxmlformats.org/drawingml/2006/main">
            <a:off x="6953250" y="1828800"/>
            <a:ext cx="4857750" cy="5524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10554756-F35E-4F1B-B445-C6B5650AC88E}"/>
              </a:ext>
            </a:extLst>
          </p:cNvPr>
          <p:cNvSpPr>
            <a:spLocks xmlns:a="http://schemas.openxmlformats.org/drawingml/2006/main" noGrp="1"/>
          </p:cNvSpPr>
          <p:nvPr/>
        </p:nvSpPr>
        <p:spPr>
          <a:xfrm xmlns:a="http://schemas.openxmlformats.org/drawingml/2006/main">
            <a:off x="7029450" y="1828800"/>
            <a:ext cx="1847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Control</a:t>
            </a:r>
          </a:p>
        </p:txBody>
      </p:sp>
      <p:sp>
        <p:nvSpPr>
          <p:cNvPr id="39" name="">
            <a:extLst xmlns:a="http://schemas.openxmlformats.org/drawingml/2006/main">
              <a:ext uri="{FF2B5EF4-FFF2-40B4-BE49-F238E27FC236}">
                <a16:creationId xmlns:a16="http://schemas.microsoft.com/office/drawing/2014/main" id="{07D49265-EF73-4D5E-B82C-C02D3F024107}"/>
              </a:ext>
            </a:extLst>
          </p:cNvPr>
          <p:cNvSpPr>
            <a:spLocks xmlns:a="http://schemas.openxmlformats.org/drawingml/2006/main" noGrp="1"/>
          </p:cNvSpPr>
          <p:nvPr/>
        </p:nvSpPr>
        <p:spPr>
          <a:xfrm xmlns:a="http://schemas.openxmlformats.org/drawingml/2006/main">
            <a:off x="9029700" y="18288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417.4</a:t>
            </a:r>
          </a:p>
        </p:txBody>
      </p:sp>
      <p:sp>
        <p:nvSpPr>
          <p:cNvPr id="40" name="">
            <a:extLst xmlns:a="http://schemas.openxmlformats.org/drawingml/2006/main">
              <a:ext uri="{FF2B5EF4-FFF2-40B4-BE49-F238E27FC236}">
                <a16:creationId xmlns:a16="http://schemas.microsoft.com/office/drawing/2014/main" id="{E90BEA05-E2FD-4D63-954D-FADF5BE36A26}"/>
              </a:ext>
            </a:extLst>
          </p:cNvPr>
          <p:cNvSpPr>
            <a:spLocks xmlns:a="http://schemas.openxmlformats.org/drawingml/2006/main" noGrp="1"/>
          </p:cNvSpPr>
          <p:nvPr/>
        </p:nvSpPr>
        <p:spPr>
          <a:xfrm xmlns:a="http://schemas.openxmlformats.org/drawingml/2006/main">
            <a:off x="10458450" y="18288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5,217</a:t>
            </a:r>
          </a:p>
        </p:txBody>
      </p:sp>
      <p:sp>
        <p:nvSpPr>
          <p:cNvPr id="41" name="">
            <a:extLst xmlns:a="http://schemas.openxmlformats.org/drawingml/2006/main">
              <a:ext uri="{FF2B5EF4-FFF2-40B4-BE49-F238E27FC236}">
                <a16:creationId xmlns:a16="http://schemas.microsoft.com/office/drawing/2014/main" id="{CF40B3C2-40D9-484F-9065-2B6245117B69}"/>
              </a:ext>
            </a:extLst>
          </p:cNvPr>
          <p:cNvSpPr>
            <a:spLocks xmlns:a="http://schemas.openxmlformats.org/drawingml/2006/main" noGrp="1"/>
          </p:cNvSpPr>
          <p:nvPr/>
        </p:nvSpPr>
        <p:spPr>
          <a:xfrm xmlns:a="http://schemas.openxmlformats.org/drawingml/2006/main">
            <a:off x="6953250" y="2381250"/>
            <a:ext cx="4857750" cy="552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7B082E3-DA2A-41CF-BBFC-3FDC2A78901D}"/>
              </a:ext>
            </a:extLst>
          </p:cNvPr>
          <p:cNvSpPr>
            <a:spLocks xmlns:a="http://schemas.openxmlformats.org/drawingml/2006/main" noGrp="1"/>
          </p:cNvSpPr>
          <p:nvPr/>
        </p:nvSpPr>
        <p:spPr>
          <a:xfrm xmlns:a="http://schemas.openxmlformats.org/drawingml/2006/main">
            <a:off x="7029450" y="2381250"/>
            <a:ext cx="1847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Attack</a:t>
            </a:r>
          </a:p>
        </p:txBody>
      </p:sp>
      <p:sp>
        <p:nvSpPr>
          <p:cNvPr id="43" name="">
            <a:extLst xmlns:a="http://schemas.openxmlformats.org/drawingml/2006/main">
              <a:ext uri="{FF2B5EF4-FFF2-40B4-BE49-F238E27FC236}">
                <a16:creationId xmlns:a16="http://schemas.microsoft.com/office/drawing/2014/main" id="{8AC1AFD7-6ADF-4F6F-A13F-CB71D6A0DF80}"/>
              </a:ext>
            </a:extLst>
          </p:cNvPr>
          <p:cNvSpPr>
            <a:spLocks xmlns:a="http://schemas.openxmlformats.org/drawingml/2006/main" noGrp="1"/>
          </p:cNvSpPr>
          <p:nvPr/>
        </p:nvSpPr>
        <p:spPr>
          <a:xfrm xmlns:a="http://schemas.openxmlformats.org/drawingml/2006/main">
            <a:off x="9029700" y="238125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416.6</a:t>
            </a:r>
          </a:p>
        </p:txBody>
      </p:sp>
      <p:sp>
        <p:nvSpPr>
          <p:cNvPr id="44" name="">
            <a:extLst xmlns:a="http://schemas.openxmlformats.org/drawingml/2006/main">
              <a:ext uri="{FF2B5EF4-FFF2-40B4-BE49-F238E27FC236}">
                <a16:creationId xmlns:a16="http://schemas.microsoft.com/office/drawing/2014/main" id="{D72BDF91-9686-4648-B1A3-ACDAEA0E214D}"/>
              </a:ext>
            </a:extLst>
          </p:cNvPr>
          <p:cNvSpPr>
            <a:spLocks xmlns:a="http://schemas.openxmlformats.org/drawingml/2006/main" noGrp="1"/>
          </p:cNvSpPr>
          <p:nvPr/>
        </p:nvSpPr>
        <p:spPr>
          <a:xfrm xmlns:a="http://schemas.openxmlformats.org/drawingml/2006/main">
            <a:off x="10458450" y="238125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5,243</a:t>
            </a:r>
          </a:p>
        </p:txBody>
      </p:sp>
      <p:sp>
        <p:nvSpPr>
          <p:cNvPr id="45" name="">
            <a:extLst xmlns:a="http://schemas.openxmlformats.org/drawingml/2006/main">
              <a:ext uri="{FF2B5EF4-FFF2-40B4-BE49-F238E27FC236}">
                <a16:creationId xmlns:a16="http://schemas.microsoft.com/office/drawing/2014/main" id="{FDD6EFBD-7E9D-4BD0-9AD2-7A564D3F76D6}"/>
              </a:ext>
            </a:extLst>
          </p:cNvPr>
          <p:cNvSpPr>
            <a:spLocks xmlns:a="http://schemas.openxmlformats.org/drawingml/2006/main" noGrp="1"/>
          </p:cNvSpPr>
          <p:nvPr/>
        </p:nvSpPr>
        <p:spPr>
          <a:xfrm xmlns:a="http://schemas.openxmlformats.org/drawingml/2006/main">
            <a:off x="6953250" y="2933700"/>
            <a:ext cx="4857750" cy="5524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CD6A14BD-F01D-4D1B-9127-11DBC2C940B2}"/>
              </a:ext>
            </a:extLst>
          </p:cNvPr>
          <p:cNvSpPr>
            <a:spLocks xmlns:a="http://schemas.openxmlformats.org/drawingml/2006/main" noGrp="1"/>
          </p:cNvSpPr>
          <p:nvPr/>
        </p:nvSpPr>
        <p:spPr>
          <a:xfrm xmlns:a="http://schemas.openxmlformats.org/drawingml/2006/main">
            <a:off x="7029450" y="2933700"/>
            <a:ext cx="1847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Rank-parent defence</a:t>
            </a:r>
          </a:p>
        </p:txBody>
      </p:sp>
      <p:sp>
        <p:nvSpPr>
          <p:cNvPr id="47" name="">
            <a:extLst xmlns:a="http://schemas.openxmlformats.org/drawingml/2006/main">
              <a:ext uri="{FF2B5EF4-FFF2-40B4-BE49-F238E27FC236}">
                <a16:creationId xmlns:a16="http://schemas.microsoft.com/office/drawing/2014/main" id="{1FAC6107-8203-4719-B583-2CB212EDF3CE}"/>
              </a:ext>
            </a:extLst>
          </p:cNvPr>
          <p:cNvSpPr>
            <a:spLocks xmlns:a="http://schemas.openxmlformats.org/drawingml/2006/main" noGrp="1"/>
          </p:cNvSpPr>
          <p:nvPr/>
        </p:nvSpPr>
        <p:spPr>
          <a:xfrm xmlns:a="http://schemas.openxmlformats.org/drawingml/2006/main">
            <a:off x="9029700" y="29337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87.4</a:t>
            </a:r>
          </a:p>
        </p:txBody>
      </p:sp>
      <p:sp>
        <p:nvSpPr>
          <p:cNvPr id="48" name="">
            <a:extLst xmlns:a="http://schemas.openxmlformats.org/drawingml/2006/main">
              <a:ext uri="{FF2B5EF4-FFF2-40B4-BE49-F238E27FC236}">
                <a16:creationId xmlns:a16="http://schemas.microsoft.com/office/drawing/2014/main" id="{BB1F04A6-0639-41E8-86FB-F24C58AF5EBB}"/>
              </a:ext>
            </a:extLst>
          </p:cNvPr>
          <p:cNvSpPr>
            <a:spLocks xmlns:a="http://schemas.openxmlformats.org/drawingml/2006/main" noGrp="1"/>
          </p:cNvSpPr>
          <p:nvPr/>
        </p:nvSpPr>
        <p:spPr>
          <a:xfrm xmlns:a="http://schemas.openxmlformats.org/drawingml/2006/main">
            <a:off x="10458450" y="293370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35,020</a:t>
            </a:r>
          </a:p>
        </p:txBody>
      </p:sp>
      <p:sp>
        <p:nvSpPr>
          <p:cNvPr id="49" name="">
            <a:extLst xmlns:a="http://schemas.openxmlformats.org/drawingml/2006/main">
              <a:ext uri="{FF2B5EF4-FFF2-40B4-BE49-F238E27FC236}">
                <a16:creationId xmlns:a16="http://schemas.microsoft.com/office/drawing/2014/main" id="{2A30B09C-3BFD-4BE1-9EC0-826CD5B3CE71}"/>
              </a:ext>
            </a:extLst>
          </p:cNvPr>
          <p:cNvSpPr>
            <a:spLocks xmlns:a="http://schemas.openxmlformats.org/drawingml/2006/main" noGrp="1"/>
          </p:cNvSpPr>
          <p:nvPr/>
        </p:nvSpPr>
        <p:spPr>
          <a:xfrm xmlns:a="http://schemas.openxmlformats.org/drawingml/2006/main">
            <a:off x="6953250" y="1504950"/>
            <a:ext cx="4857750" cy="198120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50" name="">
            <a:extLst xmlns:a="http://schemas.openxmlformats.org/drawingml/2006/main">
              <a:ext uri="{FF2B5EF4-FFF2-40B4-BE49-F238E27FC236}">
                <a16:creationId xmlns:a16="http://schemas.microsoft.com/office/drawing/2014/main" id="{077AB90D-E7CB-47CA-8715-B3554C5DA648}"/>
              </a:ext>
            </a:extLst>
          </p:cNvPr>
          <p:cNvSpPr>
            <a:spLocks xmlns:a="http://schemas.openxmlformats.org/drawingml/2006/main" noGrp="1"/>
          </p:cNvSpPr>
          <p:nvPr/>
        </p:nvSpPr>
        <p:spPr>
          <a:xfrm xmlns:a="http://schemas.openxmlformats.org/drawingml/2006/main">
            <a:off x="523875" y="4400550"/>
            <a:ext cx="5905500" cy="5905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4572D68B-EB31-46F0-8835-F4D506213EB2}"/>
              </a:ext>
            </a:extLst>
          </p:cNvPr>
          <p:cNvSpPr>
            <a:spLocks xmlns:a="http://schemas.openxmlformats.org/drawingml/2006/main" noGrp="1"/>
          </p:cNvSpPr>
          <p:nvPr/>
        </p:nvSpPr>
        <p:spPr>
          <a:xfrm xmlns:a="http://schemas.openxmlformats.org/drawingml/2006/main">
            <a:off x="523875" y="4400550"/>
            <a:ext cx="47625" cy="59055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0015E0E7-909C-469D-AB63-497C54B5A6F5}"/>
              </a:ext>
            </a:extLst>
          </p:cNvPr>
          <p:cNvSpPr>
            <a:spLocks xmlns:a="http://schemas.openxmlformats.org/drawingml/2006/main" noGrp="1"/>
          </p:cNvSpPr>
          <p:nvPr/>
        </p:nvSpPr>
        <p:spPr>
          <a:xfrm xmlns:a="http://schemas.openxmlformats.org/drawingml/2006/main">
            <a:off x="695325" y="4486275"/>
            <a:ext cx="561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Trust: diagnostic evidence only; no predictive gain.</a:t>
            </a:r>
          </a:p>
        </p:txBody>
      </p:sp>
      <p:sp>
        <p:nvSpPr>
          <p:cNvPr id="53" name="">
            <a:extLst xmlns:a="http://schemas.openxmlformats.org/drawingml/2006/main">
              <a:ext uri="{FF2B5EF4-FFF2-40B4-BE49-F238E27FC236}">
                <a16:creationId xmlns:a16="http://schemas.microsoft.com/office/drawing/2014/main" id="{BD898403-9AB3-4087-956B-39E7B903FEE7}"/>
              </a:ext>
            </a:extLst>
          </p:cNvPr>
          <p:cNvSpPr>
            <a:spLocks xmlns:a="http://schemas.openxmlformats.org/drawingml/2006/main" noGrp="1"/>
          </p:cNvSpPr>
          <p:nvPr/>
        </p:nvSpPr>
        <p:spPr>
          <a:xfrm xmlns:a="http://schemas.openxmlformats.org/drawingml/2006/main">
            <a:off x="6953250" y="4400550"/>
            <a:ext cx="4714875" cy="7810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79CBFA68-2E3D-4BFF-9471-E8AC627B4226}"/>
              </a:ext>
            </a:extLst>
          </p:cNvPr>
          <p:cNvSpPr>
            <a:spLocks xmlns:a="http://schemas.openxmlformats.org/drawingml/2006/main" noGrp="1"/>
          </p:cNvSpPr>
          <p:nvPr/>
        </p:nvSpPr>
        <p:spPr>
          <a:xfrm xmlns:a="http://schemas.openxmlformats.org/drawingml/2006/main">
            <a:off x="6953250" y="4400550"/>
            <a:ext cx="47625" cy="78105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F821F96E-0D4A-41CF-92A7-4FEA88B5AB9D}"/>
              </a:ext>
            </a:extLst>
          </p:cNvPr>
          <p:cNvSpPr>
            <a:spLocks xmlns:a="http://schemas.openxmlformats.org/drawingml/2006/main" noGrp="1"/>
          </p:cNvSpPr>
          <p:nvPr/>
        </p:nvSpPr>
        <p:spPr>
          <a:xfrm xmlns:a="http://schemas.openxmlformats.org/drawingml/2006/main">
            <a:off x="7124700" y="4486275"/>
            <a:ext cx="4429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Defence: −79.1% responses, +571.2% radio TX, 681.8 parent switches.</a:t>
            </a:r>
          </a:p>
        </p:txBody>
      </p:sp>
      <p:sp>
        <p:nvSpPr>
          <p:cNvPr id="56" name="">
            <a:extLst xmlns:a="http://schemas.openxmlformats.org/drawingml/2006/main">
              <a:ext uri="{FF2B5EF4-FFF2-40B4-BE49-F238E27FC236}">
                <a16:creationId xmlns:a16="http://schemas.microsoft.com/office/drawing/2014/main" id="{6B5DE303-5F40-4263-A8A0-1E31325DB418}"/>
              </a:ext>
            </a:extLst>
          </p:cNvPr>
          <p:cNvSpPr>
            <a:spLocks xmlns:a="http://schemas.openxmlformats.org/drawingml/2006/main" noGrp="1"/>
          </p:cNvSpPr>
          <p:nvPr/>
        </p:nvSpPr>
        <p:spPr>
          <a:xfrm xmlns:a="http://schemas.openxmlformats.org/drawingml/2006/main">
            <a:off x="666750" y="55626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827"/>
                </a:solidFill>
              </a:defRPr>
            </a:pPr>
            <a:r>
              <a:rPr sz="1350" b="1">
                <a:solidFill>
                  <a:srgbClr val="111827"/>
                </a:solidFill>
              </a:rPr>
              <a:t>Lesson: detection confidence, hysteresis and route-stability constraints are required before routing intervention.</a:t>
            </a:r>
          </a:p>
        </p:txBody>
      </p:sp>
    </p:spTree>
    <p:extLst>
      <p:ext uri="{BB962C8B-B14F-4D97-AF65-F5344CB8AC3E}">
        <p14:creationId xmlns:p14="http://schemas.microsoft.com/office/powerpoint/2010/main" val="152733540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9BB0AC5F-FDE7-411A-A683-0E454467C84F}"/>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External Gope data shows the same transfer failure</a:t>
            </a:r>
          </a:p>
        </p:txBody>
      </p:sp>
      <p:sp>
        <p:nvSpPr>
          <p:cNvPr id="2" name="">
            <a:extLst xmlns:a="http://schemas.openxmlformats.org/drawingml/2006/main">
              <a:ext uri="{FF2B5EF4-FFF2-40B4-BE49-F238E27FC236}">
                <a16:creationId xmlns:a16="http://schemas.microsoft.com/office/drawing/2014/main" id="{E869939B-3608-46A0-8E45-AF0C2420A89F}"/>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The supplied data provides a preliminary comparison, but its row-level structure limits equivalence.</a:t>
            </a:r>
          </a:p>
        </p:txBody>
      </p:sp>
      <p:sp>
        <p:nvSpPr>
          <p:cNvPr id="3" name="">
            <a:extLst xmlns:a="http://schemas.openxmlformats.org/drawingml/2006/main">
              <a:ext uri="{FF2B5EF4-FFF2-40B4-BE49-F238E27FC236}">
                <a16:creationId xmlns:a16="http://schemas.microsoft.com/office/drawing/2014/main" id="{6D1BB10A-7901-4DA3-8322-CF3C5AD749FE}"/>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EFED092-0ACC-4ADB-A24C-F76B24C0E256}"/>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3921AB1-17CA-4C67-9502-CADCEA819894}"/>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External validation</a:t>
            </a:r>
          </a:p>
        </p:txBody>
      </p:sp>
      <p:sp>
        <p:nvSpPr>
          <p:cNvPr id="6" name="">
            <a:extLst xmlns:a="http://schemas.openxmlformats.org/drawingml/2006/main">
              <a:ext uri="{FF2B5EF4-FFF2-40B4-BE49-F238E27FC236}">
                <a16:creationId xmlns:a16="http://schemas.microsoft.com/office/drawing/2014/main" id="{EFEB802B-E1EE-489C-A0EE-A2DF3E76EC69}"/>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22  </a:t>
            </a:r>
          </a:p>
        </p:txBody>
      </p:sp>
      <p:sp>
        <p:nvSpPr>
          <p:cNvPr id="7" name="">
            <a:extLst xmlns:a="http://schemas.openxmlformats.org/drawingml/2006/main">
              <a:ext uri="{FF2B5EF4-FFF2-40B4-BE49-F238E27FC236}">
                <a16:creationId xmlns:a16="http://schemas.microsoft.com/office/drawing/2014/main" id="{88701CC3-978F-4CFD-A556-6D6401F3ED91}"/>
              </a:ext>
            </a:extLst>
          </p:cNvPr>
          <p:cNvSpPr>
            <a:spLocks xmlns:a="http://schemas.openxmlformats.org/drawingml/2006/main" noGrp="1"/>
          </p:cNvSpPr>
          <p:nvPr/>
        </p:nvSpPr>
        <p:spPr>
          <a:xfrm xmlns:a="http://schemas.openxmlformats.org/drawingml/2006/main">
            <a:off x="523875" y="1504950"/>
            <a:ext cx="1095375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8B483DC-B3C5-4176-8A3D-5B4AFDC4EFF3}"/>
              </a:ext>
            </a:extLst>
          </p:cNvPr>
          <p:cNvSpPr>
            <a:spLocks xmlns:a="http://schemas.openxmlformats.org/drawingml/2006/main" noGrp="1"/>
          </p:cNvSpPr>
          <p:nvPr/>
        </p:nvSpPr>
        <p:spPr>
          <a:xfrm xmlns:a="http://schemas.openxmlformats.org/drawingml/2006/main">
            <a:off x="600075" y="1504950"/>
            <a:ext cx="270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Experiment</a:t>
            </a:r>
          </a:p>
        </p:txBody>
      </p:sp>
      <p:sp>
        <p:nvSpPr>
          <p:cNvPr id="9" name="">
            <a:extLst xmlns:a="http://schemas.openxmlformats.org/drawingml/2006/main">
              <a:ext uri="{FF2B5EF4-FFF2-40B4-BE49-F238E27FC236}">
                <a16:creationId xmlns:a16="http://schemas.microsoft.com/office/drawing/2014/main" id="{0E2EF80A-5570-4BAA-A476-71D275BBA11E}"/>
              </a:ext>
            </a:extLst>
          </p:cNvPr>
          <p:cNvSpPr>
            <a:spLocks xmlns:a="http://schemas.openxmlformats.org/drawingml/2006/main" noGrp="1"/>
          </p:cNvSpPr>
          <p:nvPr/>
        </p:nvSpPr>
        <p:spPr>
          <a:xfrm xmlns:a="http://schemas.openxmlformats.org/drawingml/2006/main">
            <a:off x="3457575" y="15049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Accuracy</a:t>
            </a:r>
          </a:p>
        </p:txBody>
      </p:sp>
      <p:sp>
        <p:nvSpPr>
          <p:cNvPr id="10" name="">
            <a:extLst xmlns:a="http://schemas.openxmlformats.org/drawingml/2006/main">
              <a:ext uri="{FF2B5EF4-FFF2-40B4-BE49-F238E27FC236}">
                <a16:creationId xmlns:a16="http://schemas.microsoft.com/office/drawing/2014/main" id="{E40AABAC-41B2-4B7F-B4C9-51C90A55330F}"/>
              </a:ext>
            </a:extLst>
          </p:cNvPr>
          <p:cNvSpPr>
            <a:spLocks xmlns:a="http://schemas.openxmlformats.org/drawingml/2006/main" noGrp="1"/>
          </p:cNvSpPr>
          <p:nvPr/>
        </p:nvSpPr>
        <p:spPr>
          <a:xfrm xmlns:a="http://schemas.openxmlformats.org/drawingml/2006/main">
            <a:off x="4886325" y="15049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Precision</a:t>
            </a:r>
          </a:p>
        </p:txBody>
      </p:sp>
      <p:sp>
        <p:nvSpPr>
          <p:cNvPr id="11" name="">
            <a:extLst xmlns:a="http://schemas.openxmlformats.org/drawingml/2006/main">
              <a:ext uri="{FF2B5EF4-FFF2-40B4-BE49-F238E27FC236}">
                <a16:creationId xmlns:a16="http://schemas.microsoft.com/office/drawing/2014/main" id="{4B567E7B-9819-4626-90A7-9AF3A60C2EB5}"/>
              </a:ext>
            </a:extLst>
          </p:cNvPr>
          <p:cNvSpPr>
            <a:spLocks xmlns:a="http://schemas.openxmlformats.org/drawingml/2006/main" noGrp="1"/>
          </p:cNvSpPr>
          <p:nvPr/>
        </p:nvSpPr>
        <p:spPr>
          <a:xfrm xmlns:a="http://schemas.openxmlformats.org/drawingml/2006/main">
            <a:off x="6315075" y="15049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Recall</a:t>
            </a:r>
          </a:p>
        </p:txBody>
      </p:sp>
      <p:sp>
        <p:nvSpPr>
          <p:cNvPr id="12" name="">
            <a:extLst xmlns:a="http://schemas.openxmlformats.org/drawingml/2006/main">
              <a:ext uri="{FF2B5EF4-FFF2-40B4-BE49-F238E27FC236}">
                <a16:creationId xmlns:a16="http://schemas.microsoft.com/office/drawing/2014/main" id="{0AD08E28-7CF5-47FA-A989-7DA973FB465E}"/>
              </a:ext>
            </a:extLst>
          </p:cNvPr>
          <p:cNvSpPr>
            <a:spLocks xmlns:a="http://schemas.openxmlformats.org/drawingml/2006/main" noGrp="1"/>
          </p:cNvSpPr>
          <p:nvPr/>
        </p:nvSpPr>
        <p:spPr>
          <a:xfrm xmlns:a="http://schemas.openxmlformats.org/drawingml/2006/main">
            <a:off x="7743825" y="15049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F1</a:t>
            </a:r>
          </a:p>
        </p:txBody>
      </p:sp>
      <p:sp>
        <p:nvSpPr>
          <p:cNvPr id="13" name="">
            <a:extLst xmlns:a="http://schemas.openxmlformats.org/drawingml/2006/main">
              <a:ext uri="{FF2B5EF4-FFF2-40B4-BE49-F238E27FC236}">
                <a16:creationId xmlns:a16="http://schemas.microsoft.com/office/drawing/2014/main" id="{71B97077-CF21-4981-8BAF-B35D55855124}"/>
              </a:ext>
            </a:extLst>
          </p:cNvPr>
          <p:cNvSpPr>
            <a:spLocks xmlns:a="http://schemas.openxmlformats.org/drawingml/2006/main" noGrp="1"/>
          </p:cNvSpPr>
          <p:nvPr/>
        </p:nvSpPr>
        <p:spPr>
          <a:xfrm xmlns:a="http://schemas.openxmlformats.org/drawingml/2006/main">
            <a:off x="9172575" y="1504950"/>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Validity note</a:t>
            </a:r>
          </a:p>
        </p:txBody>
      </p:sp>
      <p:sp>
        <p:nvSpPr>
          <p:cNvPr id="14" name="">
            <a:extLst xmlns:a="http://schemas.openxmlformats.org/drawingml/2006/main">
              <a:ext uri="{FF2B5EF4-FFF2-40B4-BE49-F238E27FC236}">
                <a16:creationId xmlns:a16="http://schemas.microsoft.com/office/drawing/2014/main" id="{2AA4165C-1CCC-4792-A42D-DEBC3C56FCF4}"/>
              </a:ext>
            </a:extLst>
          </p:cNvPr>
          <p:cNvSpPr>
            <a:spLocks xmlns:a="http://schemas.openxmlformats.org/drawingml/2006/main" noGrp="1"/>
          </p:cNvSpPr>
          <p:nvPr/>
        </p:nvSpPr>
        <p:spPr>
          <a:xfrm xmlns:a="http://schemas.openxmlformats.org/drawingml/2006/main">
            <a:off x="523875" y="1828800"/>
            <a:ext cx="10953750" cy="9334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7590586-6D85-4F01-9E82-27753E7E88CE}"/>
              </a:ext>
            </a:extLst>
          </p:cNvPr>
          <p:cNvSpPr>
            <a:spLocks xmlns:a="http://schemas.openxmlformats.org/drawingml/2006/main" noGrp="1"/>
          </p:cNvSpPr>
          <p:nvPr/>
        </p:nvSpPr>
        <p:spPr>
          <a:xfrm xmlns:a="http://schemas.openxmlformats.org/drawingml/2006/main">
            <a:off x="600075" y="1828800"/>
            <a:ext cx="27051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All labelled attacks, routing Gaussian</a:t>
            </a:r>
          </a:p>
        </p:txBody>
      </p:sp>
      <p:sp>
        <p:nvSpPr>
          <p:cNvPr id="16" name="">
            <a:extLst xmlns:a="http://schemas.openxmlformats.org/drawingml/2006/main">
              <a:ext uri="{FF2B5EF4-FFF2-40B4-BE49-F238E27FC236}">
                <a16:creationId xmlns:a16="http://schemas.microsoft.com/office/drawing/2014/main" id="{B4B08EF4-E4EA-47B0-BA45-B02CA2478601}"/>
              </a:ext>
            </a:extLst>
          </p:cNvPr>
          <p:cNvSpPr>
            <a:spLocks xmlns:a="http://schemas.openxmlformats.org/drawingml/2006/main" noGrp="1"/>
          </p:cNvSpPr>
          <p:nvPr/>
        </p:nvSpPr>
        <p:spPr>
          <a:xfrm xmlns:a="http://schemas.openxmlformats.org/drawingml/2006/main">
            <a:off x="3457575" y="1828800"/>
            <a:ext cx="12763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0.622</a:t>
            </a:r>
          </a:p>
        </p:txBody>
      </p:sp>
      <p:sp>
        <p:nvSpPr>
          <p:cNvPr id="17" name="">
            <a:extLst xmlns:a="http://schemas.openxmlformats.org/drawingml/2006/main">
              <a:ext uri="{FF2B5EF4-FFF2-40B4-BE49-F238E27FC236}">
                <a16:creationId xmlns:a16="http://schemas.microsoft.com/office/drawing/2014/main" id="{74CD01FF-8CBC-40B5-BAE6-8DEBB71E25AE}"/>
              </a:ext>
            </a:extLst>
          </p:cNvPr>
          <p:cNvSpPr>
            <a:spLocks xmlns:a="http://schemas.openxmlformats.org/drawingml/2006/main" noGrp="1"/>
          </p:cNvSpPr>
          <p:nvPr/>
        </p:nvSpPr>
        <p:spPr>
          <a:xfrm xmlns:a="http://schemas.openxmlformats.org/drawingml/2006/main">
            <a:off x="4886325" y="1828800"/>
            <a:ext cx="12763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0.864</a:t>
            </a:r>
          </a:p>
        </p:txBody>
      </p:sp>
      <p:sp>
        <p:nvSpPr>
          <p:cNvPr id="18" name="">
            <a:extLst xmlns:a="http://schemas.openxmlformats.org/drawingml/2006/main">
              <a:ext uri="{FF2B5EF4-FFF2-40B4-BE49-F238E27FC236}">
                <a16:creationId xmlns:a16="http://schemas.microsoft.com/office/drawing/2014/main" id="{53700531-AD56-4131-A1D2-F8CB7C4F6BCC}"/>
              </a:ext>
            </a:extLst>
          </p:cNvPr>
          <p:cNvSpPr>
            <a:spLocks xmlns:a="http://schemas.openxmlformats.org/drawingml/2006/main" noGrp="1"/>
          </p:cNvSpPr>
          <p:nvPr/>
        </p:nvSpPr>
        <p:spPr>
          <a:xfrm xmlns:a="http://schemas.openxmlformats.org/drawingml/2006/main">
            <a:off x="6315075" y="1828800"/>
            <a:ext cx="12763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0.266</a:t>
            </a:r>
          </a:p>
        </p:txBody>
      </p:sp>
      <p:sp>
        <p:nvSpPr>
          <p:cNvPr id="19" name="">
            <a:extLst xmlns:a="http://schemas.openxmlformats.org/drawingml/2006/main">
              <a:ext uri="{FF2B5EF4-FFF2-40B4-BE49-F238E27FC236}">
                <a16:creationId xmlns:a16="http://schemas.microsoft.com/office/drawing/2014/main" id="{98C3C671-7053-4097-964A-C41F473DDCA0}"/>
              </a:ext>
            </a:extLst>
          </p:cNvPr>
          <p:cNvSpPr>
            <a:spLocks xmlns:a="http://schemas.openxmlformats.org/drawingml/2006/main" noGrp="1"/>
          </p:cNvSpPr>
          <p:nvPr/>
        </p:nvSpPr>
        <p:spPr>
          <a:xfrm xmlns:a="http://schemas.openxmlformats.org/drawingml/2006/main">
            <a:off x="7743825" y="1828800"/>
            <a:ext cx="12763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0.407</a:t>
            </a:r>
          </a:p>
        </p:txBody>
      </p:sp>
      <p:sp>
        <p:nvSpPr>
          <p:cNvPr id="20" name="">
            <a:extLst xmlns:a="http://schemas.openxmlformats.org/drawingml/2006/main">
              <a:ext uri="{FF2B5EF4-FFF2-40B4-BE49-F238E27FC236}">
                <a16:creationId xmlns:a16="http://schemas.microsoft.com/office/drawing/2014/main" id="{67C4C10D-EA12-4E7C-A511-8A815B90497C}"/>
              </a:ext>
            </a:extLst>
          </p:cNvPr>
          <p:cNvSpPr>
            <a:spLocks xmlns:a="http://schemas.openxmlformats.org/drawingml/2006/main" noGrp="1"/>
          </p:cNvSpPr>
          <p:nvPr/>
        </p:nvSpPr>
        <p:spPr>
          <a:xfrm xmlns:a="http://schemas.openxmlformats.org/drawingml/2006/main">
            <a:off x="9172575" y="1828800"/>
            <a:ext cx="22288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Random row holdout; high precision, low recall</a:t>
            </a:r>
          </a:p>
        </p:txBody>
      </p:sp>
      <p:sp>
        <p:nvSpPr>
          <p:cNvPr id="21" name="">
            <a:extLst xmlns:a="http://schemas.openxmlformats.org/drawingml/2006/main">
              <a:ext uri="{FF2B5EF4-FFF2-40B4-BE49-F238E27FC236}">
                <a16:creationId xmlns:a16="http://schemas.microsoft.com/office/drawing/2014/main" id="{5A0FE5AB-1472-43E3-BA39-44007DA90954}"/>
              </a:ext>
            </a:extLst>
          </p:cNvPr>
          <p:cNvSpPr>
            <a:spLocks xmlns:a="http://schemas.openxmlformats.org/drawingml/2006/main" noGrp="1"/>
          </p:cNvSpPr>
          <p:nvPr/>
        </p:nvSpPr>
        <p:spPr>
          <a:xfrm xmlns:a="http://schemas.openxmlformats.org/drawingml/2006/main">
            <a:off x="523875" y="2762250"/>
            <a:ext cx="10953750" cy="933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EBA4EAA-AD6E-4DF7-9A65-D8EB4199FD9D}"/>
              </a:ext>
            </a:extLst>
          </p:cNvPr>
          <p:cNvSpPr>
            <a:spLocks xmlns:a="http://schemas.openxmlformats.org/drawingml/2006/main" noGrp="1"/>
          </p:cNvSpPr>
          <p:nvPr/>
        </p:nvSpPr>
        <p:spPr>
          <a:xfrm xmlns:a="http://schemas.openxmlformats.org/drawingml/2006/main">
            <a:off x="600075" y="2762250"/>
            <a:ext cx="27051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Blackhole → sinkhole transfer</a:t>
            </a:r>
          </a:p>
        </p:txBody>
      </p:sp>
      <p:sp>
        <p:nvSpPr>
          <p:cNvPr id="23" name="">
            <a:extLst xmlns:a="http://schemas.openxmlformats.org/drawingml/2006/main">
              <a:ext uri="{FF2B5EF4-FFF2-40B4-BE49-F238E27FC236}">
                <a16:creationId xmlns:a16="http://schemas.microsoft.com/office/drawing/2014/main" id="{0C2A3571-3C4F-4E41-9059-64C1C1D818EA}"/>
              </a:ext>
            </a:extLst>
          </p:cNvPr>
          <p:cNvSpPr>
            <a:spLocks xmlns:a="http://schemas.openxmlformats.org/drawingml/2006/main" noGrp="1"/>
          </p:cNvSpPr>
          <p:nvPr/>
        </p:nvSpPr>
        <p:spPr>
          <a:xfrm xmlns:a="http://schemas.openxmlformats.org/drawingml/2006/main">
            <a:off x="3457575" y="2762250"/>
            <a:ext cx="12763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0.508</a:t>
            </a:r>
          </a:p>
        </p:txBody>
      </p:sp>
      <p:sp>
        <p:nvSpPr>
          <p:cNvPr id="24" name="">
            <a:extLst xmlns:a="http://schemas.openxmlformats.org/drawingml/2006/main">
              <a:ext uri="{FF2B5EF4-FFF2-40B4-BE49-F238E27FC236}">
                <a16:creationId xmlns:a16="http://schemas.microsoft.com/office/drawing/2014/main" id="{0176B2A7-7736-416B-99E4-5BFF83DC1794}"/>
              </a:ext>
            </a:extLst>
          </p:cNvPr>
          <p:cNvSpPr>
            <a:spLocks xmlns:a="http://schemas.openxmlformats.org/drawingml/2006/main" noGrp="1"/>
          </p:cNvSpPr>
          <p:nvPr/>
        </p:nvSpPr>
        <p:spPr>
          <a:xfrm xmlns:a="http://schemas.openxmlformats.org/drawingml/2006/main">
            <a:off x="4886325" y="2762250"/>
            <a:ext cx="12763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0.607</a:t>
            </a:r>
          </a:p>
        </p:txBody>
      </p:sp>
      <p:sp>
        <p:nvSpPr>
          <p:cNvPr id="25" name="">
            <a:extLst xmlns:a="http://schemas.openxmlformats.org/drawingml/2006/main">
              <a:ext uri="{FF2B5EF4-FFF2-40B4-BE49-F238E27FC236}">
                <a16:creationId xmlns:a16="http://schemas.microsoft.com/office/drawing/2014/main" id="{E4820896-92D3-44CB-9707-DE4F91DB5314}"/>
              </a:ext>
            </a:extLst>
          </p:cNvPr>
          <p:cNvSpPr>
            <a:spLocks xmlns:a="http://schemas.openxmlformats.org/drawingml/2006/main" noGrp="1"/>
          </p:cNvSpPr>
          <p:nvPr/>
        </p:nvSpPr>
        <p:spPr>
          <a:xfrm xmlns:a="http://schemas.openxmlformats.org/drawingml/2006/main">
            <a:off x="6315075" y="2762250"/>
            <a:ext cx="12763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0.047</a:t>
            </a:r>
          </a:p>
        </p:txBody>
      </p:sp>
      <p:sp>
        <p:nvSpPr>
          <p:cNvPr id="26" name="">
            <a:extLst xmlns:a="http://schemas.openxmlformats.org/drawingml/2006/main">
              <a:ext uri="{FF2B5EF4-FFF2-40B4-BE49-F238E27FC236}">
                <a16:creationId xmlns:a16="http://schemas.microsoft.com/office/drawing/2014/main" id="{26BAB001-9DA4-41C9-8590-EF533D518B72}"/>
              </a:ext>
            </a:extLst>
          </p:cNvPr>
          <p:cNvSpPr>
            <a:spLocks xmlns:a="http://schemas.openxmlformats.org/drawingml/2006/main" noGrp="1"/>
          </p:cNvSpPr>
          <p:nvPr/>
        </p:nvSpPr>
        <p:spPr>
          <a:xfrm xmlns:a="http://schemas.openxmlformats.org/drawingml/2006/main">
            <a:off x="7743825" y="2762250"/>
            <a:ext cx="12763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0.088</a:t>
            </a:r>
          </a:p>
        </p:txBody>
      </p:sp>
      <p:sp>
        <p:nvSpPr>
          <p:cNvPr id="27" name="">
            <a:extLst xmlns:a="http://schemas.openxmlformats.org/drawingml/2006/main">
              <a:ext uri="{FF2B5EF4-FFF2-40B4-BE49-F238E27FC236}">
                <a16:creationId xmlns:a16="http://schemas.microsoft.com/office/drawing/2014/main" id="{1EFCF7D5-AB01-4695-8A7B-C8B8A2B43B00}"/>
              </a:ext>
            </a:extLst>
          </p:cNvPr>
          <p:cNvSpPr>
            <a:spLocks xmlns:a="http://schemas.openxmlformats.org/drawingml/2006/main" noGrp="1"/>
          </p:cNvSpPr>
          <p:nvPr/>
        </p:nvSpPr>
        <p:spPr>
          <a:xfrm xmlns:a="http://schemas.openxmlformats.org/drawingml/2006/main">
            <a:off x="9172575" y="2762250"/>
            <a:ext cx="22288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Attack files separated; weak cross-attack transfer</a:t>
            </a:r>
          </a:p>
        </p:txBody>
      </p:sp>
      <p:sp>
        <p:nvSpPr>
          <p:cNvPr id="28" name="">
            <a:extLst xmlns:a="http://schemas.openxmlformats.org/drawingml/2006/main">
              <a:ext uri="{FF2B5EF4-FFF2-40B4-BE49-F238E27FC236}">
                <a16:creationId xmlns:a16="http://schemas.microsoft.com/office/drawing/2014/main" id="{AD08139F-E1BA-4D4B-955E-40AAD66DB75B}"/>
              </a:ext>
            </a:extLst>
          </p:cNvPr>
          <p:cNvSpPr>
            <a:spLocks xmlns:a="http://schemas.openxmlformats.org/drawingml/2006/main" noGrp="1"/>
          </p:cNvSpPr>
          <p:nvPr/>
        </p:nvSpPr>
        <p:spPr>
          <a:xfrm xmlns:a="http://schemas.openxmlformats.org/drawingml/2006/main">
            <a:off x="523875" y="1504950"/>
            <a:ext cx="10953750" cy="219075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29998F50-CF50-4C5B-9110-2F9659F30B99}"/>
              </a:ext>
            </a:extLst>
          </p:cNvPr>
          <p:cNvSpPr>
            <a:spLocks xmlns:a="http://schemas.openxmlformats.org/drawingml/2006/main" noGrp="1"/>
          </p:cNvSpPr>
          <p:nvPr/>
        </p:nvSpPr>
        <p:spPr>
          <a:xfrm xmlns:a="http://schemas.openxmlformats.org/drawingml/2006/main">
            <a:off x="2047875" y="4229100"/>
            <a:ext cx="9525" cy="102870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6EC06EA-D14E-4F0B-901D-EBD8C64E7173}"/>
              </a:ext>
            </a:extLst>
          </p:cNvPr>
          <p:cNvSpPr>
            <a:spLocks xmlns:a="http://schemas.openxmlformats.org/drawingml/2006/main" noGrp="1"/>
          </p:cNvSpPr>
          <p:nvPr/>
        </p:nvSpPr>
        <p:spPr>
          <a:xfrm xmlns:a="http://schemas.openxmlformats.org/drawingml/2006/main">
            <a:off x="1809750" y="53054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64748B"/>
                </a:solidFill>
              </a:defRPr>
            </a:pPr>
            <a:r>
              <a:rPr sz="825" b="0">
                <a:solidFill>
                  <a:srgbClr val="64748B"/>
                </a:solidFill>
              </a:rPr>
              <a:t>0.00</a:t>
            </a:r>
          </a:p>
        </p:txBody>
      </p:sp>
      <p:sp>
        <p:nvSpPr>
          <p:cNvPr id="31" name="">
            <a:extLst xmlns:a="http://schemas.openxmlformats.org/drawingml/2006/main">
              <a:ext uri="{FF2B5EF4-FFF2-40B4-BE49-F238E27FC236}">
                <a16:creationId xmlns:a16="http://schemas.microsoft.com/office/drawing/2014/main" id="{74485E13-E02A-4403-A2A8-6CAB33DF6D83}"/>
              </a:ext>
            </a:extLst>
          </p:cNvPr>
          <p:cNvSpPr>
            <a:spLocks xmlns:a="http://schemas.openxmlformats.org/drawingml/2006/main" noGrp="1"/>
          </p:cNvSpPr>
          <p:nvPr/>
        </p:nvSpPr>
        <p:spPr>
          <a:xfrm xmlns:a="http://schemas.openxmlformats.org/drawingml/2006/main">
            <a:off x="4071938" y="4229100"/>
            <a:ext cx="9525" cy="102870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53EF04C-5BED-42F7-87CE-D6435CC824E3}"/>
              </a:ext>
            </a:extLst>
          </p:cNvPr>
          <p:cNvSpPr>
            <a:spLocks xmlns:a="http://schemas.openxmlformats.org/drawingml/2006/main" noGrp="1"/>
          </p:cNvSpPr>
          <p:nvPr/>
        </p:nvSpPr>
        <p:spPr>
          <a:xfrm xmlns:a="http://schemas.openxmlformats.org/drawingml/2006/main">
            <a:off x="3833813" y="53054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64748B"/>
                </a:solidFill>
              </a:defRPr>
            </a:pPr>
            <a:r>
              <a:rPr sz="825" b="0">
                <a:solidFill>
                  <a:srgbClr val="64748B"/>
                </a:solidFill>
              </a:rPr>
              <a:t>0.03</a:t>
            </a:r>
          </a:p>
        </p:txBody>
      </p:sp>
      <p:sp>
        <p:nvSpPr>
          <p:cNvPr id="33" name="">
            <a:extLst xmlns:a="http://schemas.openxmlformats.org/drawingml/2006/main">
              <a:ext uri="{FF2B5EF4-FFF2-40B4-BE49-F238E27FC236}">
                <a16:creationId xmlns:a16="http://schemas.microsoft.com/office/drawing/2014/main" id="{BB7938D9-9BCF-4FC1-AC67-CCA7E0F29BA3}"/>
              </a:ext>
            </a:extLst>
          </p:cNvPr>
          <p:cNvSpPr>
            <a:spLocks xmlns:a="http://schemas.openxmlformats.org/drawingml/2006/main" noGrp="1"/>
          </p:cNvSpPr>
          <p:nvPr/>
        </p:nvSpPr>
        <p:spPr>
          <a:xfrm xmlns:a="http://schemas.openxmlformats.org/drawingml/2006/main">
            <a:off x="6096000" y="4229100"/>
            <a:ext cx="9525" cy="102870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E7AF9D62-6E89-4E16-887D-C2D988D44952}"/>
              </a:ext>
            </a:extLst>
          </p:cNvPr>
          <p:cNvSpPr>
            <a:spLocks xmlns:a="http://schemas.openxmlformats.org/drawingml/2006/main" noGrp="1"/>
          </p:cNvSpPr>
          <p:nvPr/>
        </p:nvSpPr>
        <p:spPr>
          <a:xfrm xmlns:a="http://schemas.openxmlformats.org/drawingml/2006/main">
            <a:off x="5857875" y="53054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64748B"/>
                </a:solidFill>
              </a:defRPr>
            </a:pPr>
            <a:r>
              <a:rPr sz="825" b="0">
                <a:solidFill>
                  <a:srgbClr val="64748B"/>
                </a:solidFill>
              </a:rPr>
              <a:t>0.06</a:t>
            </a:r>
          </a:p>
        </p:txBody>
      </p:sp>
      <p:sp>
        <p:nvSpPr>
          <p:cNvPr id="35" name="">
            <a:extLst xmlns:a="http://schemas.openxmlformats.org/drawingml/2006/main">
              <a:ext uri="{FF2B5EF4-FFF2-40B4-BE49-F238E27FC236}">
                <a16:creationId xmlns:a16="http://schemas.microsoft.com/office/drawing/2014/main" id="{89ED43E1-ADF2-41A9-8DDF-43797D972C11}"/>
              </a:ext>
            </a:extLst>
          </p:cNvPr>
          <p:cNvSpPr>
            <a:spLocks xmlns:a="http://schemas.openxmlformats.org/drawingml/2006/main" noGrp="1"/>
          </p:cNvSpPr>
          <p:nvPr/>
        </p:nvSpPr>
        <p:spPr>
          <a:xfrm xmlns:a="http://schemas.openxmlformats.org/drawingml/2006/main">
            <a:off x="8120063" y="4229100"/>
            <a:ext cx="9525" cy="102870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EBD5B2B-C2F8-45CD-AFEF-5565EEEC7123}"/>
              </a:ext>
            </a:extLst>
          </p:cNvPr>
          <p:cNvSpPr>
            <a:spLocks xmlns:a="http://schemas.openxmlformats.org/drawingml/2006/main" noGrp="1"/>
          </p:cNvSpPr>
          <p:nvPr/>
        </p:nvSpPr>
        <p:spPr>
          <a:xfrm xmlns:a="http://schemas.openxmlformats.org/drawingml/2006/main">
            <a:off x="7881938" y="53054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64748B"/>
                </a:solidFill>
              </a:defRPr>
            </a:pPr>
            <a:r>
              <a:rPr sz="825" b="0">
                <a:solidFill>
                  <a:srgbClr val="64748B"/>
                </a:solidFill>
              </a:rPr>
              <a:t>0.09</a:t>
            </a:r>
          </a:p>
        </p:txBody>
      </p:sp>
      <p:sp>
        <p:nvSpPr>
          <p:cNvPr id="37" name="">
            <a:extLst xmlns:a="http://schemas.openxmlformats.org/drawingml/2006/main">
              <a:ext uri="{FF2B5EF4-FFF2-40B4-BE49-F238E27FC236}">
                <a16:creationId xmlns:a16="http://schemas.microsoft.com/office/drawing/2014/main" id="{990AF67F-7966-416D-9F8B-6B76DB5D715A}"/>
              </a:ext>
            </a:extLst>
          </p:cNvPr>
          <p:cNvSpPr>
            <a:spLocks xmlns:a="http://schemas.openxmlformats.org/drawingml/2006/main" noGrp="1"/>
          </p:cNvSpPr>
          <p:nvPr/>
        </p:nvSpPr>
        <p:spPr>
          <a:xfrm xmlns:a="http://schemas.openxmlformats.org/drawingml/2006/main">
            <a:off x="10144125" y="4229100"/>
            <a:ext cx="9525" cy="102870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2BF4027-B52E-418C-AE6B-E08099A0E93C}"/>
              </a:ext>
            </a:extLst>
          </p:cNvPr>
          <p:cNvSpPr>
            <a:spLocks xmlns:a="http://schemas.openxmlformats.org/drawingml/2006/main" noGrp="1"/>
          </p:cNvSpPr>
          <p:nvPr/>
        </p:nvSpPr>
        <p:spPr>
          <a:xfrm xmlns:a="http://schemas.openxmlformats.org/drawingml/2006/main">
            <a:off x="9906000" y="5305425"/>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64748B"/>
                </a:solidFill>
              </a:defRPr>
            </a:pPr>
            <a:r>
              <a:rPr sz="825" b="0">
                <a:solidFill>
                  <a:srgbClr val="64748B"/>
                </a:solidFill>
              </a:rPr>
              <a:t>0.12</a:t>
            </a:r>
          </a:p>
        </p:txBody>
      </p:sp>
      <p:sp>
        <p:nvSpPr>
          <p:cNvPr id="39" name="">
            <a:extLst xmlns:a="http://schemas.openxmlformats.org/drawingml/2006/main">
              <a:ext uri="{FF2B5EF4-FFF2-40B4-BE49-F238E27FC236}">
                <a16:creationId xmlns:a16="http://schemas.microsoft.com/office/drawing/2014/main" id="{73547ED8-EAF3-4898-9F98-38346BEF3502}"/>
              </a:ext>
            </a:extLst>
          </p:cNvPr>
          <p:cNvSpPr>
            <a:spLocks xmlns:a="http://schemas.openxmlformats.org/drawingml/2006/main" noGrp="1"/>
          </p:cNvSpPr>
          <p:nvPr/>
        </p:nvSpPr>
        <p:spPr>
          <a:xfrm xmlns:a="http://schemas.openxmlformats.org/drawingml/2006/main">
            <a:off x="857250" y="4229100"/>
            <a:ext cx="1095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111827"/>
                </a:solidFill>
              </a:defRPr>
            </a:pPr>
            <a:r>
              <a:rPr sz="975" b="0">
                <a:solidFill>
                  <a:srgbClr val="111827"/>
                </a:solidFill>
              </a:rPr>
              <a:t>Cooja CART BH→SH</a:t>
            </a:r>
          </a:p>
        </p:txBody>
      </p:sp>
      <p:sp>
        <p:nvSpPr>
          <p:cNvPr id="40" name="">
            <a:extLst xmlns:a="http://schemas.openxmlformats.org/drawingml/2006/main">
              <a:ext uri="{FF2B5EF4-FFF2-40B4-BE49-F238E27FC236}">
                <a16:creationId xmlns:a16="http://schemas.microsoft.com/office/drawing/2014/main" id="{EDEBED8A-97EE-4E40-8B75-19C7E34065C8}"/>
              </a:ext>
            </a:extLst>
          </p:cNvPr>
          <p:cNvSpPr>
            <a:spLocks xmlns:a="http://schemas.openxmlformats.org/drawingml/2006/main" noGrp="1"/>
          </p:cNvSpPr>
          <p:nvPr/>
        </p:nvSpPr>
        <p:spPr>
          <a:xfrm xmlns:a="http://schemas.openxmlformats.org/drawingml/2006/main">
            <a:off x="2047875" y="4267200"/>
            <a:ext cx="0" cy="13335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AD9F47BA-DD63-4722-842D-F958976AEF94}"/>
              </a:ext>
            </a:extLst>
          </p:cNvPr>
          <p:cNvSpPr>
            <a:spLocks xmlns:a="http://schemas.openxmlformats.org/drawingml/2006/main" noGrp="1"/>
          </p:cNvSpPr>
          <p:nvPr/>
        </p:nvSpPr>
        <p:spPr>
          <a:xfrm xmlns:a="http://schemas.openxmlformats.org/drawingml/2006/main">
            <a:off x="2095500" y="42481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B42318"/>
                </a:solidFill>
              </a:defRPr>
            </a:pPr>
            <a:r>
              <a:rPr sz="825" b="1">
                <a:solidFill>
                  <a:srgbClr val="B42318"/>
                </a:solidFill>
              </a:rPr>
              <a:t>0.00</a:t>
            </a:r>
          </a:p>
        </p:txBody>
      </p:sp>
      <p:sp>
        <p:nvSpPr>
          <p:cNvPr id="42" name="">
            <a:extLst xmlns:a="http://schemas.openxmlformats.org/drawingml/2006/main">
              <a:ext uri="{FF2B5EF4-FFF2-40B4-BE49-F238E27FC236}">
                <a16:creationId xmlns:a16="http://schemas.microsoft.com/office/drawing/2014/main" id="{96FB5062-5C8A-4909-8448-052E96B9F606}"/>
              </a:ext>
            </a:extLst>
          </p:cNvPr>
          <p:cNvSpPr>
            <a:spLocks xmlns:a="http://schemas.openxmlformats.org/drawingml/2006/main" noGrp="1"/>
          </p:cNvSpPr>
          <p:nvPr/>
        </p:nvSpPr>
        <p:spPr>
          <a:xfrm xmlns:a="http://schemas.openxmlformats.org/drawingml/2006/main">
            <a:off x="2047875" y="4429125"/>
            <a:ext cx="0" cy="13335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FA60C977-5CBD-4531-B45B-AF5019CD48D6}"/>
              </a:ext>
            </a:extLst>
          </p:cNvPr>
          <p:cNvSpPr>
            <a:spLocks xmlns:a="http://schemas.openxmlformats.org/drawingml/2006/main" noGrp="1"/>
          </p:cNvSpPr>
          <p:nvPr/>
        </p:nvSpPr>
        <p:spPr>
          <a:xfrm xmlns:a="http://schemas.openxmlformats.org/drawingml/2006/main">
            <a:off x="2095500" y="441007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007C83"/>
                </a:solidFill>
              </a:defRPr>
            </a:pPr>
            <a:r>
              <a:rPr sz="825" b="1">
                <a:solidFill>
                  <a:srgbClr val="007C83"/>
                </a:solidFill>
              </a:rPr>
              <a:t>0.00</a:t>
            </a:r>
          </a:p>
        </p:txBody>
      </p:sp>
      <p:sp>
        <p:nvSpPr>
          <p:cNvPr id="44" name="">
            <a:extLst xmlns:a="http://schemas.openxmlformats.org/drawingml/2006/main">
              <a:ext uri="{FF2B5EF4-FFF2-40B4-BE49-F238E27FC236}">
                <a16:creationId xmlns:a16="http://schemas.microsoft.com/office/drawing/2014/main" id="{0F35BE3A-933B-48AA-B391-AAB4DF0FA6FD}"/>
              </a:ext>
            </a:extLst>
          </p:cNvPr>
          <p:cNvSpPr>
            <a:spLocks xmlns:a="http://schemas.openxmlformats.org/drawingml/2006/main" noGrp="1"/>
          </p:cNvSpPr>
          <p:nvPr/>
        </p:nvSpPr>
        <p:spPr>
          <a:xfrm xmlns:a="http://schemas.openxmlformats.org/drawingml/2006/main">
            <a:off x="857250" y="4743450"/>
            <a:ext cx="1095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111827"/>
                </a:solidFill>
              </a:defRPr>
            </a:pPr>
            <a:r>
              <a:rPr sz="975" b="0">
                <a:solidFill>
                  <a:srgbClr val="111827"/>
                </a:solidFill>
              </a:rPr>
              <a:t>Gope Gaussian BH→SH</a:t>
            </a:r>
          </a:p>
        </p:txBody>
      </p:sp>
      <p:sp>
        <p:nvSpPr>
          <p:cNvPr id="45" name="">
            <a:extLst xmlns:a="http://schemas.openxmlformats.org/drawingml/2006/main">
              <a:ext uri="{FF2B5EF4-FFF2-40B4-BE49-F238E27FC236}">
                <a16:creationId xmlns:a16="http://schemas.microsoft.com/office/drawing/2014/main" id="{41A9D577-0B2C-41AA-BA14-DEF1BD3E33F3}"/>
              </a:ext>
            </a:extLst>
          </p:cNvPr>
          <p:cNvSpPr>
            <a:spLocks xmlns:a="http://schemas.openxmlformats.org/drawingml/2006/main" noGrp="1"/>
          </p:cNvSpPr>
          <p:nvPr/>
        </p:nvSpPr>
        <p:spPr>
          <a:xfrm xmlns:a="http://schemas.openxmlformats.org/drawingml/2006/main">
            <a:off x="2047875" y="4781550"/>
            <a:ext cx="3184525" cy="13335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1AD9985A-2C6F-43D4-867C-8222BCDEB250}"/>
              </a:ext>
            </a:extLst>
          </p:cNvPr>
          <p:cNvSpPr>
            <a:spLocks xmlns:a="http://schemas.openxmlformats.org/drawingml/2006/main" noGrp="1"/>
          </p:cNvSpPr>
          <p:nvPr/>
        </p:nvSpPr>
        <p:spPr>
          <a:xfrm xmlns:a="http://schemas.openxmlformats.org/drawingml/2006/main">
            <a:off x="5280025" y="47625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B42318"/>
                </a:solidFill>
              </a:defRPr>
            </a:pPr>
            <a:r>
              <a:rPr sz="825" b="1">
                <a:solidFill>
                  <a:srgbClr val="B42318"/>
                </a:solidFill>
              </a:rPr>
              <a:t>0.05</a:t>
            </a:r>
          </a:p>
        </p:txBody>
      </p:sp>
      <p:sp>
        <p:nvSpPr>
          <p:cNvPr id="47" name="">
            <a:extLst xmlns:a="http://schemas.openxmlformats.org/drawingml/2006/main">
              <a:ext uri="{FF2B5EF4-FFF2-40B4-BE49-F238E27FC236}">
                <a16:creationId xmlns:a16="http://schemas.microsoft.com/office/drawing/2014/main" id="{B1F14734-C6F4-4DFD-9302-D81D979721C9}"/>
              </a:ext>
            </a:extLst>
          </p:cNvPr>
          <p:cNvSpPr>
            <a:spLocks xmlns:a="http://schemas.openxmlformats.org/drawingml/2006/main" noGrp="1"/>
          </p:cNvSpPr>
          <p:nvPr/>
        </p:nvSpPr>
        <p:spPr>
          <a:xfrm xmlns:a="http://schemas.openxmlformats.org/drawingml/2006/main">
            <a:off x="2047875" y="4943475"/>
            <a:ext cx="5910263" cy="13335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84B843D6-0AA0-4354-BAE0-E193B0BBB8F5}"/>
              </a:ext>
            </a:extLst>
          </p:cNvPr>
          <p:cNvSpPr>
            <a:spLocks xmlns:a="http://schemas.openxmlformats.org/drawingml/2006/main" noGrp="1"/>
          </p:cNvSpPr>
          <p:nvPr/>
        </p:nvSpPr>
        <p:spPr>
          <a:xfrm xmlns:a="http://schemas.openxmlformats.org/drawingml/2006/main">
            <a:off x="8005763" y="4924425"/>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007C83"/>
                </a:solidFill>
              </a:defRPr>
            </a:pPr>
            <a:r>
              <a:rPr sz="825" b="1">
                <a:solidFill>
                  <a:srgbClr val="007C83"/>
                </a:solidFill>
              </a:rPr>
              <a:t>0.09</a:t>
            </a:r>
          </a:p>
        </p:txBody>
      </p:sp>
      <p:sp>
        <p:nvSpPr>
          <p:cNvPr id="49" name="">
            <a:extLst xmlns:a="http://schemas.openxmlformats.org/drawingml/2006/main">
              <a:ext uri="{FF2B5EF4-FFF2-40B4-BE49-F238E27FC236}">
                <a16:creationId xmlns:a16="http://schemas.microsoft.com/office/drawing/2014/main" id="{6B491B1E-24FF-4764-B9D9-DC5D561CDC12}"/>
              </a:ext>
            </a:extLst>
          </p:cNvPr>
          <p:cNvSpPr>
            <a:spLocks xmlns:a="http://schemas.openxmlformats.org/drawingml/2006/main" noGrp="1"/>
          </p:cNvSpPr>
          <p:nvPr/>
        </p:nvSpPr>
        <p:spPr>
          <a:xfrm xmlns:a="http://schemas.openxmlformats.org/drawingml/2006/main">
            <a:off x="2047875" y="4000500"/>
            <a:ext cx="114300" cy="1143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25693ECC-6879-4D95-8D6E-A83F69D7AEA5}"/>
              </a:ext>
            </a:extLst>
          </p:cNvPr>
          <p:cNvSpPr>
            <a:spLocks xmlns:a="http://schemas.openxmlformats.org/drawingml/2006/main" noGrp="1"/>
          </p:cNvSpPr>
          <p:nvPr/>
        </p:nvSpPr>
        <p:spPr>
          <a:xfrm xmlns:a="http://schemas.openxmlformats.org/drawingml/2006/main">
            <a:off x="2219325" y="396240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475569"/>
                </a:solidFill>
              </a:defRPr>
            </a:pPr>
            <a:r>
              <a:rPr sz="825" b="0">
                <a:solidFill>
                  <a:srgbClr val="475569"/>
                </a:solidFill>
              </a:rPr>
              <a:t>Recall</a:t>
            </a:r>
          </a:p>
        </p:txBody>
      </p:sp>
      <p:sp>
        <p:nvSpPr>
          <p:cNvPr id="51" name="">
            <a:extLst xmlns:a="http://schemas.openxmlformats.org/drawingml/2006/main">
              <a:ext uri="{FF2B5EF4-FFF2-40B4-BE49-F238E27FC236}">
                <a16:creationId xmlns:a16="http://schemas.microsoft.com/office/drawing/2014/main" id="{489EE9C7-C0A7-4166-A88B-B6F3CD24EDED}"/>
              </a:ext>
            </a:extLst>
          </p:cNvPr>
          <p:cNvSpPr>
            <a:spLocks xmlns:a="http://schemas.openxmlformats.org/drawingml/2006/main" noGrp="1"/>
          </p:cNvSpPr>
          <p:nvPr/>
        </p:nvSpPr>
        <p:spPr>
          <a:xfrm xmlns:a="http://schemas.openxmlformats.org/drawingml/2006/main">
            <a:off x="3571875" y="4000500"/>
            <a:ext cx="114300" cy="11430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077CA5B8-AAE6-4ADC-9117-CA69517F77AE}"/>
              </a:ext>
            </a:extLst>
          </p:cNvPr>
          <p:cNvSpPr>
            <a:spLocks xmlns:a="http://schemas.openxmlformats.org/drawingml/2006/main" noGrp="1"/>
          </p:cNvSpPr>
          <p:nvPr/>
        </p:nvSpPr>
        <p:spPr>
          <a:xfrm xmlns:a="http://schemas.openxmlformats.org/drawingml/2006/main">
            <a:off x="3743325" y="396240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475569"/>
                </a:solidFill>
              </a:defRPr>
            </a:pPr>
            <a:r>
              <a:rPr sz="825" b="0">
                <a:solidFill>
                  <a:srgbClr val="475569"/>
                </a:solidFill>
              </a:rPr>
              <a:t>F1</a:t>
            </a:r>
          </a:p>
        </p:txBody>
      </p:sp>
      <p:sp>
        <p:nvSpPr>
          <p:cNvPr id="53" name="">
            <a:extLst xmlns:a="http://schemas.openxmlformats.org/drawingml/2006/main">
              <a:ext uri="{FF2B5EF4-FFF2-40B4-BE49-F238E27FC236}">
                <a16:creationId xmlns:a16="http://schemas.microsoft.com/office/drawing/2014/main" id="{2BDB2236-017C-4848-90EB-9FEB64A9F1C2}"/>
              </a:ext>
            </a:extLst>
          </p:cNvPr>
          <p:cNvSpPr>
            <a:spLocks xmlns:a="http://schemas.openxmlformats.org/drawingml/2006/main" noGrp="1"/>
          </p:cNvSpPr>
          <p:nvPr/>
        </p:nvSpPr>
        <p:spPr>
          <a:xfrm xmlns:a="http://schemas.openxmlformats.org/drawingml/2006/main">
            <a:off x="666750" y="5715000"/>
            <a:ext cx="9906000" cy="4572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20134B33-36F6-437E-80D5-527E9BE25B6A}"/>
              </a:ext>
            </a:extLst>
          </p:cNvPr>
          <p:cNvSpPr>
            <a:spLocks xmlns:a="http://schemas.openxmlformats.org/drawingml/2006/main" noGrp="1"/>
          </p:cNvSpPr>
          <p:nvPr/>
        </p:nvSpPr>
        <p:spPr>
          <a:xfrm xmlns:a="http://schemas.openxmlformats.org/drawingml/2006/main">
            <a:off x="666750" y="5715000"/>
            <a:ext cx="47625" cy="45720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43E0ADBB-ACD1-4BC7-8719-85D4729DBECA}"/>
              </a:ext>
            </a:extLst>
          </p:cNvPr>
          <p:cNvSpPr>
            <a:spLocks xmlns:a="http://schemas.openxmlformats.org/drawingml/2006/main" noGrp="1"/>
          </p:cNvSpPr>
          <p:nvPr/>
        </p:nvSpPr>
        <p:spPr>
          <a:xfrm xmlns:a="http://schemas.openxmlformats.org/drawingml/2006/main">
            <a:off x="838200" y="5800725"/>
            <a:ext cx="962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827"/>
                </a:solidFill>
              </a:defRPr>
            </a:pPr>
            <a:r>
              <a:rPr sz="1275" b="1">
                <a:solidFill>
                  <a:srgbClr val="111827"/>
                </a:solidFill>
              </a:rPr>
              <a:t>Comparable direction, not directly comparable magnitude: simulator, features, labels and split units differ.</a:t>
            </a:r>
          </a:p>
        </p:txBody>
      </p:sp>
    </p:spTree>
    <p:extLst>
      <p:ext uri="{BB962C8B-B14F-4D97-AF65-F5344CB8AC3E}">
        <p14:creationId xmlns:p14="http://schemas.microsoft.com/office/powerpoint/2010/main" val="67434900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70379AC-BA91-4DF2-8D13-ECCD0CCA7C65}"/>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What failed, and how the work improved</a:t>
            </a:r>
          </a:p>
        </p:txBody>
      </p:sp>
      <p:sp>
        <p:nvSpPr>
          <p:cNvPr id="2" name="">
            <a:extLst xmlns:a="http://schemas.openxmlformats.org/drawingml/2006/main">
              <a:ext uri="{FF2B5EF4-FFF2-40B4-BE49-F238E27FC236}">
                <a16:creationId xmlns:a16="http://schemas.microsoft.com/office/drawing/2014/main" id="{480DCB6E-85B5-4200-BFFE-DBDB45CF7E05}"/>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The dissertation records methodological corrections instead of hiding unsuccessful experiments.</a:t>
            </a:r>
          </a:p>
        </p:txBody>
      </p:sp>
      <p:sp>
        <p:nvSpPr>
          <p:cNvPr id="3" name="">
            <a:extLst xmlns:a="http://schemas.openxmlformats.org/drawingml/2006/main">
              <a:ext uri="{FF2B5EF4-FFF2-40B4-BE49-F238E27FC236}">
                <a16:creationId xmlns:a16="http://schemas.microsoft.com/office/drawing/2014/main" id="{1C9CEDEC-D4B6-4366-AB94-6B9F2B8DAC5A}"/>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F545A6F-A3AC-42AA-BE9E-FD24DEA07A14}"/>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825839D-3699-4011-AA78-322EAF185249}"/>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Critical reflection</a:t>
            </a:r>
          </a:p>
        </p:txBody>
      </p:sp>
      <p:sp>
        <p:nvSpPr>
          <p:cNvPr id="6" name="">
            <a:extLst xmlns:a="http://schemas.openxmlformats.org/drawingml/2006/main">
              <a:ext uri="{FF2B5EF4-FFF2-40B4-BE49-F238E27FC236}">
                <a16:creationId xmlns:a16="http://schemas.microsoft.com/office/drawing/2014/main" id="{58226232-09A2-4998-AD3B-68F906522FF6}"/>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23  </a:t>
            </a:r>
          </a:p>
        </p:txBody>
      </p:sp>
      <p:sp>
        <p:nvSpPr>
          <p:cNvPr id="7" name="">
            <a:extLst xmlns:a="http://schemas.openxmlformats.org/drawingml/2006/main">
              <a:ext uri="{FF2B5EF4-FFF2-40B4-BE49-F238E27FC236}">
                <a16:creationId xmlns:a16="http://schemas.microsoft.com/office/drawing/2014/main" id="{853818B4-7CC4-41A5-8EE4-D06F7ACAFBC5}"/>
              </a:ext>
            </a:extLst>
          </p:cNvPr>
          <p:cNvSpPr>
            <a:spLocks xmlns:a="http://schemas.openxmlformats.org/drawingml/2006/main" noGrp="1"/>
          </p:cNvSpPr>
          <p:nvPr/>
        </p:nvSpPr>
        <p:spPr>
          <a:xfrm xmlns:a="http://schemas.openxmlformats.org/drawingml/2006/main">
            <a:off x="571500" y="1466850"/>
            <a:ext cx="1114425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2F34706-E4C6-4B65-9C68-FC8096C4319D}"/>
              </a:ext>
            </a:extLst>
          </p:cNvPr>
          <p:cNvSpPr>
            <a:spLocks xmlns:a="http://schemas.openxmlformats.org/drawingml/2006/main" noGrp="1"/>
          </p:cNvSpPr>
          <p:nvPr/>
        </p:nvSpPr>
        <p:spPr>
          <a:xfrm xmlns:a="http://schemas.openxmlformats.org/drawingml/2006/main">
            <a:off x="647700" y="1466850"/>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Failure</a:t>
            </a:r>
          </a:p>
        </p:txBody>
      </p:sp>
      <p:sp>
        <p:nvSpPr>
          <p:cNvPr id="9" name="">
            <a:extLst xmlns:a="http://schemas.openxmlformats.org/drawingml/2006/main">
              <a:ext uri="{FF2B5EF4-FFF2-40B4-BE49-F238E27FC236}">
                <a16:creationId xmlns:a16="http://schemas.microsoft.com/office/drawing/2014/main" id="{430AC61B-98E6-44BE-8C6A-A7F90EB9CC78}"/>
              </a:ext>
            </a:extLst>
          </p:cNvPr>
          <p:cNvSpPr>
            <a:spLocks xmlns:a="http://schemas.openxmlformats.org/drawingml/2006/main" noGrp="1"/>
          </p:cNvSpPr>
          <p:nvPr/>
        </p:nvSpPr>
        <p:spPr>
          <a:xfrm xmlns:a="http://schemas.openxmlformats.org/drawingml/2006/main">
            <a:off x="3028950" y="1466850"/>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Diagnosis</a:t>
            </a:r>
          </a:p>
        </p:txBody>
      </p:sp>
      <p:sp>
        <p:nvSpPr>
          <p:cNvPr id="10" name="">
            <a:extLst xmlns:a="http://schemas.openxmlformats.org/drawingml/2006/main">
              <a:ext uri="{FF2B5EF4-FFF2-40B4-BE49-F238E27FC236}">
                <a16:creationId xmlns:a16="http://schemas.microsoft.com/office/drawing/2014/main" id="{DF67D16B-05EF-4836-96E9-52B0CC3B89FD}"/>
              </a:ext>
            </a:extLst>
          </p:cNvPr>
          <p:cNvSpPr>
            <a:spLocks xmlns:a="http://schemas.openxmlformats.org/drawingml/2006/main" noGrp="1"/>
          </p:cNvSpPr>
          <p:nvPr/>
        </p:nvSpPr>
        <p:spPr>
          <a:xfrm xmlns:a="http://schemas.openxmlformats.org/drawingml/2006/main">
            <a:off x="5981700" y="1466850"/>
            <a:ext cx="3181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Correction made</a:t>
            </a:r>
          </a:p>
        </p:txBody>
      </p:sp>
      <p:sp>
        <p:nvSpPr>
          <p:cNvPr id="11" name="">
            <a:extLst xmlns:a="http://schemas.openxmlformats.org/drawingml/2006/main">
              <a:ext uri="{FF2B5EF4-FFF2-40B4-BE49-F238E27FC236}">
                <a16:creationId xmlns:a16="http://schemas.microsoft.com/office/drawing/2014/main" id="{36BD226A-2CFD-4568-AD99-3113BE55768D}"/>
              </a:ext>
            </a:extLst>
          </p:cNvPr>
          <p:cNvSpPr>
            <a:spLocks xmlns:a="http://schemas.openxmlformats.org/drawingml/2006/main" noGrp="1"/>
          </p:cNvSpPr>
          <p:nvPr/>
        </p:nvSpPr>
        <p:spPr>
          <a:xfrm xmlns:a="http://schemas.openxmlformats.org/drawingml/2006/main">
            <a:off x="9315450" y="14668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Residual limitation</a:t>
            </a:r>
          </a:p>
        </p:txBody>
      </p:sp>
      <p:sp>
        <p:nvSpPr>
          <p:cNvPr id="12" name="">
            <a:extLst xmlns:a="http://schemas.openxmlformats.org/drawingml/2006/main">
              <a:ext uri="{FF2B5EF4-FFF2-40B4-BE49-F238E27FC236}">
                <a16:creationId xmlns:a16="http://schemas.microsoft.com/office/drawing/2014/main" id="{ECA78606-80F4-4927-B73D-CAD482AF4C48}"/>
              </a:ext>
            </a:extLst>
          </p:cNvPr>
          <p:cNvSpPr>
            <a:spLocks xmlns:a="http://schemas.openxmlformats.org/drawingml/2006/main" noGrp="1"/>
          </p:cNvSpPr>
          <p:nvPr/>
        </p:nvSpPr>
        <p:spPr>
          <a:xfrm xmlns:a="http://schemas.openxmlformats.org/drawingml/2006/main">
            <a:off x="571500" y="1790700"/>
            <a:ext cx="11144250" cy="8001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9160F45-A7BC-47D6-91FB-D9DB75348A03}"/>
              </a:ext>
            </a:extLst>
          </p:cNvPr>
          <p:cNvSpPr>
            <a:spLocks xmlns:a="http://schemas.openxmlformats.org/drawingml/2006/main" noGrp="1"/>
          </p:cNvSpPr>
          <p:nvPr/>
        </p:nvSpPr>
        <p:spPr>
          <a:xfrm xmlns:a="http://schemas.openxmlformats.org/drawingml/2006/main">
            <a:off x="647700" y="1790700"/>
            <a:ext cx="22288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BH → sinkhole adaptation failed</a:t>
            </a:r>
          </a:p>
        </p:txBody>
      </p:sp>
      <p:sp>
        <p:nvSpPr>
          <p:cNvPr id="14" name="">
            <a:extLst xmlns:a="http://schemas.openxmlformats.org/drawingml/2006/main">
              <a:ext uri="{FF2B5EF4-FFF2-40B4-BE49-F238E27FC236}">
                <a16:creationId xmlns:a16="http://schemas.microsoft.com/office/drawing/2014/main" id="{88B65957-C041-4FA5-93FA-A63F6F5DA4F2}"/>
              </a:ext>
            </a:extLst>
          </p:cNvPr>
          <p:cNvSpPr>
            <a:spLocks xmlns:a="http://schemas.openxmlformats.org/drawingml/2006/main" noGrp="1"/>
          </p:cNvSpPr>
          <p:nvPr/>
        </p:nvSpPr>
        <p:spPr>
          <a:xfrm xmlns:a="http://schemas.openxmlformats.org/drawingml/2006/main">
            <a:off x="3028950" y="1790700"/>
            <a:ext cx="2800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Coarse traffic features did not expose rank manipulation</a:t>
            </a:r>
          </a:p>
        </p:txBody>
      </p:sp>
      <p:sp>
        <p:nvSpPr>
          <p:cNvPr id="15" name="">
            <a:extLst xmlns:a="http://schemas.openxmlformats.org/drawingml/2006/main">
              <a:ext uri="{FF2B5EF4-FFF2-40B4-BE49-F238E27FC236}">
                <a16:creationId xmlns:a16="http://schemas.microsoft.com/office/drawing/2014/main" id="{2415C927-E1B5-4FBD-A69D-40F61CEA8568}"/>
              </a:ext>
            </a:extLst>
          </p:cNvPr>
          <p:cNvSpPr>
            <a:spLocks xmlns:a="http://schemas.openxmlformats.org/drawingml/2006/main" noGrp="1"/>
          </p:cNvSpPr>
          <p:nvPr/>
        </p:nvSpPr>
        <p:spPr>
          <a:xfrm xmlns:a="http://schemas.openxmlformats.org/drawingml/2006/main">
            <a:off x="5981700" y="1790700"/>
            <a:ext cx="3181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Added rank, parent and routing-state features</a:t>
            </a:r>
          </a:p>
        </p:txBody>
      </p:sp>
      <p:sp>
        <p:nvSpPr>
          <p:cNvPr id="16" name="">
            <a:extLst xmlns:a="http://schemas.openxmlformats.org/drawingml/2006/main">
              <a:ext uri="{FF2B5EF4-FFF2-40B4-BE49-F238E27FC236}">
                <a16:creationId xmlns:a16="http://schemas.microsoft.com/office/drawing/2014/main" id="{B35C3D31-A48E-471F-AE4E-62B3B3FBFC9A}"/>
              </a:ext>
            </a:extLst>
          </p:cNvPr>
          <p:cNvSpPr>
            <a:spLocks xmlns:a="http://schemas.openxmlformats.org/drawingml/2006/main" noGrp="1"/>
          </p:cNvSpPr>
          <p:nvPr/>
        </p:nvSpPr>
        <p:spPr>
          <a:xfrm xmlns:a="http://schemas.openxmlformats.org/drawingml/2006/main">
            <a:off x="9315450" y="1790700"/>
            <a:ext cx="2324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Some family pairs still fail</a:t>
            </a:r>
          </a:p>
        </p:txBody>
      </p:sp>
      <p:sp>
        <p:nvSpPr>
          <p:cNvPr id="17" name="">
            <a:extLst xmlns:a="http://schemas.openxmlformats.org/drawingml/2006/main">
              <a:ext uri="{FF2B5EF4-FFF2-40B4-BE49-F238E27FC236}">
                <a16:creationId xmlns:a16="http://schemas.microsoft.com/office/drawing/2014/main" id="{5B908D7D-40F4-40E2-919F-3805EFAE5054}"/>
              </a:ext>
            </a:extLst>
          </p:cNvPr>
          <p:cNvSpPr>
            <a:spLocks xmlns:a="http://schemas.openxmlformats.org/drawingml/2006/main" noGrp="1"/>
          </p:cNvSpPr>
          <p:nvPr/>
        </p:nvSpPr>
        <p:spPr>
          <a:xfrm xmlns:a="http://schemas.openxmlformats.org/drawingml/2006/main">
            <a:off x="571500" y="2590800"/>
            <a:ext cx="11144250" cy="8001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9554914-461E-4EFB-968D-5ABA04C657F9}"/>
              </a:ext>
            </a:extLst>
          </p:cNvPr>
          <p:cNvSpPr>
            <a:spLocks xmlns:a="http://schemas.openxmlformats.org/drawingml/2006/main" noGrp="1"/>
          </p:cNvSpPr>
          <p:nvPr/>
        </p:nvSpPr>
        <p:spPr>
          <a:xfrm xmlns:a="http://schemas.openxmlformats.org/drawingml/2006/main">
            <a:off x="647700" y="2590800"/>
            <a:ext cx="22288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Random-row evaluation risk</a:t>
            </a:r>
          </a:p>
        </p:txBody>
      </p:sp>
      <p:sp>
        <p:nvSpPr>
          <p:cNvPr id="19" name="">
            <a:extLst xmlns:a="http://schemas.openxmlformats.org/drawingml/2006/main">
              <a:ext uri="{FF2B5EF4-FFF2-40B4-BE49-F238E27FC236}">
                <a16:creationId xmlns:a16="http://schemas.microsoft.com/office/drawing/2014/main" id="{246AEA85-1F0D-4ED3-858B-C9D35D86FFFB}"/>
              </a:ext>
            </a:extLst>
          </p:cNvPr>
          <p:cNvSpPr>
            <a:spLocks xmlns:a="http://schemas.openxmlformats.org/drawingml/2006/main" noGrp="1"/>
          </p:cNvSpPr>
          <p:nvPr/>
        </p:nvSpPr>
        <p:spPr>
          <a:xfrm xmlns:a="http://schemas.openxmlformats.org/drawingml/2006/main">
            <a:off x="3028950" y="2590800"/>
            <a:ext cx="2800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Windows from one run can leak across splits</a:t>
            </a:r>
          </a:p>
        </p:txBody>
      </p:sp>
      <p:sp>
        <p:nvSpPr>
          <p:cNvPr id="20" name="">
            <a:extLst xmlns:a="http://schemas.openxmlformats.org/drawingml/2006/main">
              <a:ext uri="{FF2B5EF4-FFF2-40B4-BE49-F238E27FC236}">
                <a16:creationId xmlns:a16="http://schemas.microsoft.com/office/drawing/2014/main" id="{00097CBE-B0DB-475D-8E02-36C040AAB796}"/>
              </a:ext>
            </a:extLst>
          </p:cNvPr>
          <p:cNvSpPr>
            <a:spLocks xmlns:a="http://schemas.openxmlformats.org/drawingml/2006/main" noGrp="1"/>
          </p:cNvSpPr>
          <p:nvPr/>
        </p:nvSpPr>
        <p:spPr>
          <a:xfrm xmlns:a="http://schemas.openxmlformats.org/drawingml/2006/main">
            <a:off x="5981700" y="2590800"/>
            <a:ext cx="3181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Grouped all evaluation by complete seed/run</a:t>
            </a:r>
          </a:p>
        </p:txBody>
      </p:sp>
      <p:sp>
        <p:nvSpPr>
          <p:cNvPr id="21" name="">
            <a:extLst xmlns:a="http://schemas.openxmlformats.org/drawingml/2006/main">
              <a:ext uri="{FF2B5EF4-FFF2-40B4-BE49-F238E27FC236}">
                <a16:creationId xmlns:a16="http://schemas.microsoft.com/office/drawing/2014/main" id="{4268E6B9-8100-4887-A907-C255C4719979}"/>
              </a:ext>
            </a:extLst>
          </p:cNvPr>
          <p:cNvSpPr>
            <a:spLocks xmlns:a="http://schemas.openxmlformats.org/drawingml/2006/main" noGrp="1"/>
          </p:cNvSpPr>
          <p:nvPr/>
        </p:nvSpPr>
        <p:spPr>
          <a:xfrm xmlns:a="http://schemas.openxmlformats.org/drawingml/2006/main">
            <a:off x="9315450" y="2590800"/>
            <a:ext cx="2324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Only five baseline seeds</a:t>
            </a:r>
          </a:p>
        </p:txBody>
      </p:sp>
      <p:sp>
        <p:nvSpPr>
          <p:cNvPr id="22" name="">
            <a:extLst xmlns:a="http://schemas.openxmlformats.org/drawingml/2006/main">
              <a:ext uri="{FF2B5EF4-FFF2-40B4-BE49-F238E27FC236}">
                <a16:creationId xmlns:a16="http://schemas.microsoft.com/office/drawing/2014/main" id="{D585C8AC-448A-4E7A-88CE-61A1957BE5EE}"/>
              </a:ext>
            </a:extLst>
          </p:cNvPr>
          <p:cNvSpPr>
            <a:spLocks xmlns:a="http://schemas.openxmlformats.org/drawingml/2006/main" noGrp="1"/>
          </p:cNvSpPr>
          <p:nvPr/>
        </p:nvSpPr>
        <p:spPr>
          <a:xfrm xmlns:a="http://schemas.openxmlformats.org/drawingml/2006/main">
            <a:off x="571500" y="3390900"/>
            <a:ext cx="11144250" cy="8001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FFAAEAB-785C-4881-A6A2-046B4CD15FC2}"/>
              </a:ext>
            </a:extLst>
          </p:cNvPr>
          <p:cNvSpPr>
            <a:spLocks xmlns:a="http://schemas.openxmlformats.org/drawingml/2006/main" noGrp="1"/>
          </p:cNvSpPr>
          <p:nvPr/>
        </p:nvSpPr>
        <p:spPr>
          <a:xfrm xmlns:a="http://schemas.openxmlformats.org/drawingml/2006/main">
            <a:off x="647700" y="3390900"/>
            <a:ext cx="22288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Trust added no F1 gain</a:t>
            </a:r>
          </a:p>
        </p:txBody>
      </p:sp>
      <p:sp>
        <p:nvSpPr>
          <p:cNvPr id="24" name="">
            <a:extLst xmlns:a="http://schemas.openxmlformats.org/drawingml/2006/main">
              <a:ext uri="{FF2B5EF4-FFF2-40B4-BE49-F238E27FC236}">
                <a16:creationId xmlns:a16="http://schemas.microsoft.com/office/drawing/2014/main" id="{7AD0205A-393A-447F-B3C1-846755610057}"/>
              </a:ext>
            </a:extLst>
          </p:cNvPr>
          <p:cNvSpPr>
            <a:spLocks xmlns:a="http://schemas.openxmlformats.org/drawingml/2006/main" noGrp="1"/>
          </p:cNvSpPr>
          <p:nvPr/>
        </p:nvSpPr>
        <p:spPr>
          <a:xfrm xmlns:a="http://schemas.openxmlformats.org/drawingml/2006/main">
            <a:off x="3028950" y="3390900"/>
            <a:ext cx="2800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Signals duplicated existing routing evidence</a:t>
            </a:r>
          </a:p>
        </p:txBody>
      </p:sp>
      <p:sp>
        <p:nvSpPr>
          <p:cNvPr id="25" name="">
            <a:extLst xmlns:a="http://schemas.openxmlformats.org/drawingml/2006/main">
              <a:ext uri="{FF2B5EF4-FFF2-40B4-BE49-F238E27FC236}">
                <a16:creationId xmlns:a16="http://schemas.microsoft.com/office/drawing/2014/main" id="{EDAA1360-AD2C-4D5E-9CE1-FB0C7CE1EEBC}"/>
              </a:ext>
            </a:extLst>
          </p:cNvPr>
          <p:cNvSpPr>
            <a:spLocks xmlns:a="http://schemas.openxmlformats.org/drawingml/2006/main" noGrp="1"/>
          </p:cNvSpPr>
          <p:nvPr/>
        </p:nvSpPr>
        <p:spPr>
          <a:xfrm xmlns:a="http://schemas.openxmlformats.org/drawingml/2006/main">
            <a:off x="5981700" y="3390900"/>
            <a:ext cx="3181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Reframed trust as an explanation layer</a:t>
            </a:r>
          </a:p>
        </p:txBody>
      </p:sp>
      <p:sp>
        <p:nvSpPr>
          <p:cNvPr id="26" name="">
            <a:extLst xmlns:a="http://schemas.openxmlformats.org/drawingml/2006/main">
              <a:ext uri="{FF2B5EF4-FFF2-40B4-BE49-F238E27FC236}">
                <a16:creationId xmlns:a16="http://schemas.microsoft.com/office/drawing/2014/main" id="{C76B23D8-12EF-4475-A591-C79B99FCE50C}"/>
              </a:ext>
            </a:extLst>
          </p:cNvPr>
          <p:cNvSpPr>
            <a:spLocks xmlns:a="http://schemas.openxmlformats.org/drawingml/2006/main" noGrp="1"/>
          </p:cNvSpPr>
          <p:nvPr/>
        </p:nvSpPr>
        <p:spPr>
          <a:xfrm xmlns:a="http://schemas.openxmlformats.org/drawingml/2006/main">
            <a:off x="9315450" y="3390900"/>
            <a:ext cx="2324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No stable trust-based prevention</a:t>
            </a:r>
          </a:p>
        </p:txBody>
      </p:sp>
      <p:sp>
        <p:nvSpPr>
          <p:cNvPr id="27" name="">
            <a:extLst xmlns:a="http://schemas.openxmlformats.org/drawingml/2006/main">
              <a:ext uri="{FF2B5EF4-FFF2-40B4-BE49-F238E27FC236}">
                <a16:creationId xmlns:a16="http://schemas.microsoft.com/office/drawing/2014/main" id="{F56F3D7C-EF90-47A8-B77D-C745C9C6DDA0}"/>
              </a:ext>
            </a:extLst>
          </p:cNvPr>
          <p:cNvSpPr>
            <a:spLocks xmlns:a="http://schemas.openxmlformats.org/drawingml/2006/main" noGrp="1"/>
          </p:cNvSpPr>
          <p:nvPr/>
        </p:nvSpPr>
        <p:spPr>
          <a:xfrm xmlns:a="http://schemas.openxmlformats.org/drawingml/2006/main">
            <a:off x="571500" y="4191000"/>
            <a:ext cx="11144250" cy="8001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7C6931B-5676-4700-BD37-2832E9D680CC}"/>
              </a:ext>
            </a:extLst>
          </p:cNvPr>
          <p:cNvSpPr>
            <a:spLocks xmlns:a="http://schemas.openxmlformats.org/drawingml/2006/main" noGrp="1"/>
          </p:cNvSpPr>
          <p:nvPr/>
        </p:nvSpPr>
        <p:spPr>
          <a:xfrm xmlns:a="http://schemas.openxmlformats.org/drawingml/2006/main">
            <a:off x="647700" y="4191000"/>
            <a:ext cx="22288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Sinkhole defence caused churn</a:t>
            </a:r>
          </a:p>
        </p:txBody>
      </p:sp>
      <p:sp>
        <p:nvSpPr>
          <p:cNvPr id="29" name="">
            <a:extLst xmlns:a="http://schemas.openxmlformats.org/drawingml/2006/main">
              <a:ext uri="{FF2B5EF4-FFF2-40B4-BE49-F238E27FC236}">
                <a16:creationId xmlns:a16="http://schemas.microsoft.com/office/drawing/2014/main" id="{11820200-EA00-47D9-993E-39F83F9A2BE1}"/>
              </a:ext>
            </a:extLst>
          </p:cNvPr>
          <p:cNvSpPr>
            <a:spLocks xmlns:a="http://schemas.openxmlformats.org/drawingml/2006/main" noGrp="1"/>
          </p:cNvSpPr>
          <p:nvPr/>
        </p:nvSpPr>
        <p:spPr>
          <a:xfrm xmlns:a="http://schemas.openxmlformats.org/drawingml/2006/main">
            <a:off x="3028950" y="4191000"/>
            <a:ext cx="2800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Hard rejection lacked stability controls</a:t>
            </a:r>
          </a:p>
        </p:txBody>
      </p:sp>
      <p:sp>
        <p:nvSpPr>
          <p:cNvPr id="30" name="">
            <a:extLst xmlns:a="http://schemas.openxmlformats.org/drawingml/2006/main">
              <a:ext uri="{FF2B5EF4-FFF2-40B4-BE49-F238E27FC236}">
                <a16:creationId xmlns:a16="http://schemas.microsoft.com/office/drawing/2014/main" id="{F215670E-B846-4CBB-9AE7-47323E8FFBBB}"/>
              </a:ext>
            </a:extLst>
          </p:cNvPr>
          <p:cNvSpPr>
            <a:spLocks xmlns:a="http://schemas.openxmlformats.org/drawingml/2006/main" noGrp="1"/>
          </p:cNvSpPr>
          <p:nvPr/>
        </p:nvSpPr>
        <p:spPr>
          <a:xfrm xmlns:a="http://schemas.openxmlformats.org/drawingml/2006/main">
            <a:off x="5981700" y="4191000"/>
            <a:ext cx="3181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Reported operational cost and derived design requirements</a:t>
            </a:r>
          </a:p>
        </p:txBody>
      </p:sp>
      <p:sp>
        <p:nvSpPr>
          <p:cNvPr id="31" name="">
            <a:extLst xmlns:a="http://schemas.openxmlformats.org/drawingml/2006/main">
              <a:ext uri="{FF2B5EF4-FFF2-40B4-BE49-F238E27FC236}">
                <a16:creationId xmlns:a16="http://schemas.microsoft.com/office/drawing/2014/main" id="{5A1EE02C-A4DB-407B-A67E-12C51261D8D4}"/>
              </a:ext>
            </a:extLst>
          </p:cNvPr>
          <p:cNvSpPr>
            <a:spLocks xmlns:a="http://schemas.openxmlformats.org/drawingml/2006/main" noGrp="1"/>
          </p:cNvSpPr>
          <p:nvPr/>
        </p:nvSpPr>
        <p:spPr>
          <a:xfrm xmlns:a="http://schemas.openxmlformats.org/drawingml/2006/main">
            <a:off x="9315450" y="4191000"/>
            <a:ext cx="2324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No successful defence campaign yet</a:t>
            </a:r>
          </a:p>
        </p:txBody>
      </p:sp>
      <p:sp>
        <p:nvSpPr>
          <p:cNvPr id="32" name="">
            <a:extLst xmlns:a="http://schemas.openxmlformats.org/drawingml/2006/main">
              <a:ext uri="{FF2B5EF4-FFF2-40B4-BE49-F238E27FC236}">
                <a16:creationId xmlns:a16="http://schemas.microsoft.com/office/drawing/2014/main" id="{27A5DE55-C34F-44D5-841F-763F5A12E850}"/>
              </a:ext>
            </a:extLst>
          </p:cNvPr>
          <p:cNvSpPr>
            <a:spLocks xmlns:a="http://schemas.openxmlformats.org/drawingml/2006/main" noGrp="1"/>
          </p:cNvSpPr>
          <p:nvPr/>
        </p:nvSpPr>
        <p:spPr>
          <a:xfrm xmlns:a="http://schemas.openxmlformats.org/drawingml/2006/main">
            <a:off x="571500" y="4991100"/>
            <a:ext cx="11144250" cy="80010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9DA38AE-F6FD-40ED-A695-5039F68A98DD}"/>
              </a:ext>
            </a:extLst>
          </p:cNvPr>
          <p:cNvSpPr>
            <a:spLocks xmlns:a="http://schemas.openxmlformats.org/drawingml/2006/main" noGrp="1"/>
          </p:cNvSpPr>
          <p:nvPr/>
        </p:nvSpPr>
        <p:spPr>
          <a:xfrm xmlns:a="http://schemas.openxmlformats.org/drawingml/2006/main">
            <a:off x="647700" y="4991100"/>
            <a:ext cx="22288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11827"/>
                </a:solidFill>
              </a:defRPr>
            </a:pPr>
            <a:r>
              <a:rPr sz="1125" b="1">
                <a:solidFill>
                  <a:srgbClr val="111827"/>
                </a:solidFill>
              </a:rPr>
              <a:t>RL controller underperformed</a:t>
            </a:r>
          </a:p>
        </p:txBody>
      </p:sp>
      <p:sp>
        <p:nvSpPr>
          <p:cNvPr id="34" name="">
            <a:extLst xmlns:a="http://schemas.openxmlformats.org/drawingml/2006/main">
              <a:ext uri="{FF2B5EF4-FFF2-40B4-BE49-F238E27FC236}">
                <a16:creationId xmlns:a16="http://schemas.microsoft.com/office/drawing/2014/main" id="{0C48ADA4-D117-4F0B-8228-B96BA96D92E4}"/>
              </a:ext>
            </a:extLst>
          </p:cNvPr>
          <p:cNvSpPr>
            <a:spLocks xmlns:a="http://schemas.openxmlformats.org/drawingml/2006/main" noGrp="1"/>
          </p:cNvSpPr>
          <p:nvPr/>
        </p:nvSpPr>
        <p:spPr>
          <a:xfrm xmlns:a="http://schemas.openxmlformats.org/drawingml/2006/main">
            <a:off x="3028950" y="4991100"/>
            <a:ext cx="2800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Small stream and weak reward/action policy</a:t>
            </a:r>
          </a:p>
        </p:txBody>
      </p:sp>
      <p:sp>
        <p:nvSpPr>
          <p:cNvPr id="35" name="">
            <a:extLst xmlns:a="http://schemas.openxmlformats.org/drawingml/2006/main">
              <a:ext uri="{FF2B5EF4-FFF2-40B4-BE49-F238E27FC236}">
                <a16:creationId xmlns:a16="http://schemas.microsoft.com/office/drawing/2014/main" id="{98493013-9BDF-437D-8317-22037BC347E6}"/>
              </a:ext>
            </a:extLst>
          </p:cNvPr>
          <p:cNvSpPr>
            <a:spLocks xmlns:a="http://schemas.openxmlformats.org/drawingml/2006/main" noGrp="1"/>
          </p:cNvSpPr>
          <p:nvPr/>
        </p:nvSpPr>
        <p:spPr>
          <a:xfrm xmlns:a="http://schemas.openxmlformats.org/drawingml/2006/main">
            <a:off x="5981700" y="4991100"/>
            <a:ext cx="3181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Compared against always-incremental baseline</a:t>
            </a:r>
          </a:p>
        </p:txBody>
      </p:sp>
      <p:sp>
        <p:nvSpPr>
          <p:cNvPr id="36" name="">
            <a:extLst xmlns:a="http://schemas.openxmlformats.org/drawingml/2006/main">
              <a:ext uri="{FF2B5EF4-FFF2-40B4-BE49-F238E27FC236}">
                <a16:creationId xmlns:a16="http://schemas.microsoft.com/office/drawing/2014/main" id="{B773C39A-E3CB-44D7-97D9-06227B9ACE50}"/>
              </a:ext>
            </a:extLst>
          </p:cNvPr>
          <p:cNvSpPr>
            <a:spLocks xmlns:a="http://schemas.openxmlformats.org/drawingml/2006/main" noGrp="1"/>
          </p:cNvSpPr>
          <p:nvPr/>
        </p:nvSpPr>
        <p:spPr>
          <a:xfrm xmlns:a="http://schemas.openxmlformats.org/drawingml/2006/main">
            <a:off x="9315450" y="4991100"/>
            <a:ext cx="2324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11827"/>
                </a:solidFill>
              </a:defRPr>
            </a:pPr>
            <a:r>
              <a:rPr sz="1125" b="0">
                <a:solidFill>
                  <a:srgbClr val="111827"/>
                </a:solidFill>
              </a:rPr>
              <a:t>No demonstrated RL superiority</a:t>
            </a:r>
          </a:p>
        </p:txBody>
      </p:sp>
      <p:sp>
        <p:nvSpPr>
          <p:cNvPr id="37" name="">
            <a:extLst xmlns:a="http://schemas.openxmlformats.org/drawingml/2006/main">
              <a:ext uri="{FF2B5EF4-FFF2-40B4-BE49-F238E27FC236}">
                <a16:creationId xmlns:a16="http://schemas.microsoft.com/office/drawing/2014/main" id="{1222E08A-9676-4D33-8263-7766B7897B95}"/>
              </a:ext>
            </a:extLst>
          </p:cNvPr>
          <p:cNvSpPr>
            <a:spLocks xmlns:a="http://schemas.openxmlformats.org/drawingml/2006/main" noGrp="1"/>
          </p:cNvSpPr>
          <p:nvPr/>
        </p:nvSpPr>
        <p:spPr>
          <a:xfrm xmlns:a="http://schemas.openxmlformats.org/drawingml/2006/main">
            <a:off x="571500" y="1466850"/>
            <a:ext cx="11144250" cy="432435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14631704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17D99A6B-CB3E-4D0B-8FC8-26B146BAE33F}"/>
              </a:ext>
            </a:extLst>
          </p:cNvPr>
          <p:cNvSpPr>
            <a:spLocks xmlns:a="http://schemas.openxmlformats.org/drawingml/2006/main" noGrp="1"/>
          </p:cNvSpPr>
          <p:nvPr/>
        </p:nvSpPr>
        <p:spPr>
          <a:xfrm xmlns:a="http://schemas.openxmlformats.org/drawingml/2006/main">
            <a:off x="571500" y="323850"/>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111827"/>
                </a:solidFill>
              </a:defRPr>
            </a:pPr>
            <a:r>
              <a:rPr sz="2550" b="1">
                <a:solidFill>
                  <a:srgbClr val="111827"/>
                </a:solidFill>
              </a:rPr>
              <a:t>  Live demonstration and recorded fallback</a:t>
            </a:r>
          </a:p>
        </p:txBody>
      </p:sp>
      <p:sp>
        <p:nvSpPr>
          <p:cNvPr id="2" name="">
            <a:extLst xmlns:a="http://schemas.openxmlformats.org/drawingml/2006/main">
              <a:ext uri="{FF2B5EF4-FFF2-40B4-BE49-F238E27FC236}">
                <a16:creationId xmlns:a16="http://schemas.microsoft.com/office/drawing/2014/main" id="{16F7C6E9-BF51-4EF9-9777-5AD184AD3B9A}"/>
              </a:ext>
            </a:extLst>
          </p:cNvPr>
          <p:cNvSpPr>
            <a:spLocks xmlns:a="http://schemas.openxmlformats.org/drawingml/2006/main" noGrp="1"/>
          </p:cNvSpPr>
          <p:nvPr/>
        </p:nvSpPr>
        <p:spPr>
          <a:xfrm xmlns:a="http://schemas.openxmlformats.org/drawingml/2006/main">
            <a:off x="571500" y="781050"/>
            <a:ext cx="1076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475569"/>
                </a:solidFill>
              </a:defRPr>
            </a:pPr>
            <a:r>
              <a:rPr sz="1200" b="0">
                <a:solidFill>
                  <a:srgbClr val="475569"/>
                </a:solidFill>
              </a:rPr>
              <a:t>  The defence presentation should demonstrate evidence, not wait for long simulations.</a:t>
            </a:r>
          </a:p>
        </p:txBody>
      </p:sp>
      <p:sp>
        <p:nvSpPr>
          <p:cNvPr id="3" name="">
            <a:extLst xmlns:a="http://schemas.openxmlformats.org/drawingml/2006/main">
              <a:ext uri="{FF2B5EF4-FFF2-40B4-BE49-F238E27FC236}">
                <a16:creationId xmlns:a16="http://schemas.microsoft.com/office/drawing/2014/main" id="{8660F147-EDA0-4629-B64D-F7C28CD88382}"/>
              </a:ext>
            </a:extLst>
          </p:cNvPr>
          <p:cNvSpPr>
            <a:spLocks xmlns:a="http://schemas.openxmlformats.org/drawingml/2006/main" noGrp="1"/>
          </p:cNvSpPr>
          <p:nvPr/>
        </p:nvSpPr>
        <p:spPr>
          <a:xfrm xmlns:a="http://schemas.openxmlformats.org/drawingml/2006/main">
            <a:off x="571500" y="1190625"/>
            <a:ext cx="106680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4BA43D6-CCA9-4655-B474-E00991C7BCE5}"/>
              </a:ext>
            </a:extLst>
          </p:cNvPr>
          <p:cNvSpPr>
            <a:spLocks xmlns:a="http://schemas.openxmlformats.org/drawingml/2006/main" noGrp="1"/>
          </p:cNvSpPr>
          <p:nvPr/>
        </p:nvSpPr>
        <p:spPr>
          <a:xfrm xmlns:a="http://schemas.openxmlformats.org/drawingml/2006/main">
            <a:off x="571500" y="1181100"/>
            <a:ext cx="685800" cy="28575"/>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1852D0D-A9B3-42C4-BAC3-B0FB618358FA}"/>
              </a:ext>
            </a:extLst>
          </p:cNvPr>
          <p:cNvSpPr>
            <a:spLocks xmlns:a="http://schemas.openxmlformats.org/drawingml/2006/main" noGrp="1"/>
          </p:cNvSpPr>
          <p:nvPr/>
        </p:nvSpPr>
        <p:spPr>
          <a:xfrm xmlns:a="http://schemas.openxmlformats.org/drawingml/2006/main">
            <a:off x="571500" y="6543675"/>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0">
                <a:solidFill>
                  <a:srgbClr val="64748B"/>
                </a:solidFill>
              </a:defRPr>
            </a:pPr>
            <a:r>
              <a:rPr sz="750" b="0">
                <a:solidFill>
                  <a:srgbClr val="64748B"/>
                </a:solidFill>
              </a:rPr>
              <a:t>Demonstration</a:t>
            </a:r>
          </a:p>
        </p:txBody>
      </p:sp>
      <p:sp>
        <p:nvSpPr>
          <p:cNvPr id="6" name="">
            <a:extLst xmlns:a="http://schemas.openxmlformats.org/drawingml/2006/main">
              <a:ext uri="{FF2B5EF4-FFF2-40B4-BE49-F238E27FC236}">
                <a16:creationId xmlns:a16="http://schemas.microsoft.com/office/drawing/2014/main" id="{93C25FC2-853A-4407-BB0D-54310A6175FC}"/>
              </a:ext>
            </a:extLst>
          </p:cNvPr>
          <p:cNvSpPr>
            <a:spLocks xmlns:a="http://schemas.openxmlformats.org/drawingml/2006/main" noGrp="1"/>
          </p:cNvSpPr>
          <p:nvPr/>
        </p:nvSpPr>
        <p:spPr>
          <a:xfrm xmlns:a="http://schemas.openxmlformats.org/drawingml/2006/main">
            <a:off x="10858500" y="6543675"/>
            <a:ext cx="571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64748B"/>
                </a:solidFill>
              </a:defRPr>
            </a:pPr>
            <a:r>
              <a:rPr sz="750" b="1">
                <a:solidFill>
                  <a:srgbClr val="64748B"/>
                </a:solidFill>
              </a:rPr>
              <a:t>24  </a:t>
            </a:r>
          </a:p>
        </p:txBody>
      </p:sp>
      <p:sp>
        <p:nvSpPr>
          <p:cNvPr id="7" name="">
            <a:extLst xmlns:a="http://schemas.openxmlformats.org/drawingml/2006/main">
              <a:ext uri="{FF2B5EF4-FFF2-40B4-BE49-F238E27FC236}">
                <a16:creationId xmlns:a16="http://schemas.microsoft.com/office/drawing/2014/main" id="{70F523BE-8262-4606-9179-950277B35E32}"/>
              </a:ext>
            </a:extLst>
          </p:cNvPr>
          <p:cNvSpPr>
            <a:spLocks xmlns:a="http://schemas.openxmlformats.org/drawingml/2006/main" noGrp="1"/>
          </p:cNvSpPr>
          <p:nvPr/>
        </p:nvSpPr>
        <p:spPr>
          <a:xfrm xmlns:a="http://schemas.openxmlformats.org/drawingml/2006/main">
            <a:off x="571500" y="1466850"/>
            <a:ext cx="1047750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8D94BA4-A238-4A5F-9157-ED23116AEDFA}"/>
              </a:ext>
            </a:extLst>
          </p:cNvPr>
          <p:cNvSpPr>
            <a:spLocks xmlns:a="http://schemas.openxmlformats.org/drawingml/2006/main" noGrp="1"/>
          </p:cNvSpPr>
          <p:nvPr/>
        </p:nvSpPr>
        <p:spPr>
          <a:xfrm xmlns:a="http://schemas.openxmlformats.org/drawingml/2006/main">
            <a:off x="647700" y="14668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Segment</a:t>
            </a:r>
          </a:p>
        </p:txBody>
      </p:sp>
      <p:sp>
        <p:nvSpPr>
          <p:cNvPr id="9" name="">
            <a:extLst xmlns:a="http://schemas.openxmlformats.org/drawingml/2006/main">
              <a:ext uri="{FF2B5EF4-FFF2-40B4-BE49-F238E27FC236}">
                <a16:creationId xmlns:a16="http://schemas.microsoft.com/office/drawing/2014/main" id="{E03CC51D-E2C1-4341-8E64-764D5CBE3BC4}"/>
              </a:ext>
            </a:extLst>
          </p:cNvPr>
          <p:cNvSpPr>
            <a:spLocks xmlns:a="http://schemas.openxmlformats.org/drawingml/2006/main" noGrp="1"/>
          </p:cNvSpPr>
          <p:nvPr/>
        </p:nvSpPr>
        <p:spPr>
          <a:xfrm xmlns:a="http://schemas.openxmlformats.org/drawingml/2006/main">
            <a:off x="2457450" y="1466850"/>
            <a:ext cx="1085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Time</a:t>
            </a:r>
          </a:p>
        </p:txBody>
      </p:sp>
      <p:sp>
        <p:nvSpPr>
          <p:cNvPr id="10" name="">
            <a:extLst xmlns:a="http://schemas.openxmlformats.org/drawingml/2006/main">
              <a:ext uri="{FF2B5EF4-FFF2-40B4-BE49-F238E27FC236}">
                <a16:creationId xmlns:a16="http://schemas.microsoft.com/office/drawing/2014/main" id="{CA05D290-B24A-4F97-860C-DAE0D9119D73}"/>
              </a:ext>
            </a:extLst>
          </p:cNvPr>
          <p:cNvSpPr>
            <a:spLocks xmlns:a="http://schemas.openxmlformats.org/drawingml/2006/main" noGrp="1"/>
          </p:cNvSpPr>
          <p:nvPr/>
        </p:nvSpPr>
        <p:spPr>
          <a:xfrm xmlns:a="http://schemas.openxmlformats.org/drawingml/2006/main">
            <a:off x="3695700" y="1466850"/>
            <a:ext cx="432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Live action</a:t>
            </a:r>
          </a:p>
        </p:txBody>
      </p:sp>
      <p:sp>
        <p:nvSpPr>
          <p:cNvPr id="11" name="">
            <a:extLst xmlns:a="http://schemas.openxmlformats.org/drawingml/2006/main">
              <a:ext uri="{FF2B5EF4-FFF2-40B4-BE49-F238E27FC236}">
                <a16:creationId xmlns:a16="http://schemas.microsoft.com/office/drawing/2014/main" id="{A56BE11E-A74C-4C79-90C2-75F96C5E8F36}"/>
              </a:ext>
            </a:extLst>
          </p:cNvPr>
          <p:cNvSpPr>
            <a:spLocks xmlns:a="http://schemas.openxmlformats.org/drawingml/2006/main" noGrp="1"/>
          </p:cNvSpPr>
          <p:nvPr/>
        </p:nvSpPr>
        <p:spPr>
          <a:xfrm xmlns:a="http://schemas.openxmlformats.org/drawingml/2006/main">
            <a:off x="8172450" y="1466850"/>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Fallback</a:t>
            </a:r>
          </a:p>
        </p:txBody>
      </p:sp>
      <p:sp>
        <p:nvSpPr>
          <p:cNvPr id="12" name="">
            <a:extLst xmlns:a="http://schemas.openxmlformats.org/drawingml/2006/main">
              <a:ext uri="{FF2B5EF4-FFF2-40B4-BE49-F238E27FC236}">
                <a16:creationId xmlns:a16="http://schemas.microsoft.com/office/drawing/2014/main" id="{12885104-7A87-48C6-9FC6-5199DDC9852B}"/>
              </a:ext>
            </a:extLst>
          </p:cNvPr>
          <p:cNvSpPr>
            <a:spLocks xmlns:a="http://schemas.openxmlformats.org/drawingml/2006/main" noGrp="1"/>
          </p:cNvSpPr>
          <p:nvPr/>
        </p:nvSpPr>
        <p:spPr>
          <a:xfrm xmlns:a="http://schemas.openxmlformats.org/drawingml/2006/main">
            <a:off x="571500" y="1790700"/>
            <a:ext cx="10477500" cy="8191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FA31EBA-CDA8-496F-955F-48B241400F24}"/>
              </a:ext>
            </a:extLst>
          </p:cNvPr>
          <p:cNvSpPr>
            <a:spLocks xmlns:a="http://schemas.openxmlformats.org/drawingml/2006/main" noGrp="1"/>
          </p:cNvSpPr>
          <p:nvPr/>
        </p:nvSpPr>
        <p:spPr>
          <a:xfrm xmlns:a="http://schemas.openxmlformats.org/drawingml/2006/main">
            <a:off x="647700" y="1790700"/>
            <a:ext cx="1657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Cooja Sybil</a:t>
            </a:r>
          </a:p>
        </p:txBody>
      </p:sp>
      <p:sp>
        <p:nvSpPr>
          <p:cNvPr id="14" name="">
            <a:extLst xmlns:a="http://schemas.openxmlformats.org/drawingml/2006/main">
              <a:ext uri="{FF2B5EF4-FFF2-40B4-BE49-F238E27FC236}">
                <a16:creationId xmlns:a16="http://schemas.microsoft.com/office/drawing/2014/main" id="{F8BBD8ED-4DB0-4784-AAA7-D61A891BCB73}"/>
              </a:ext>
            </a:extLst>
          </p:cNvPr>
          <p:cNvSpPr>
            <a:spLocks xmlns:a="http://schemas.openxmlformats.org/drawingml/2006/main" noGrp="1"/>
          </p:cNvSpPr>
          <p:nvPr/>
        </p:nvSpPr>
        <p:spPr>
          <a:xfrm xmlns:a="http://schemas.openxmlformats.org/drawingml/2006/main">
            <a:off x="2457450" y="1790700"/>
            <a:ext cx="1085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4-5 min</a:t>
            </a:r>
          </a:p>
        </p:txBody>
      </p:sp>
      <p:sp>
        <p:nvSpPr>
          <p:cNvPr id="15" name="">
            <a:extLst xmlns:a="http://schemas.openxmlformats.org/drawingml/2006/main">
              <a:ext uri="{FF2B5EF4-FFF2-40B4-BE49-F238E27FC236}">
                <a16:creationId xmlns:a16="http://schemas.microsoft.com/office/drawing/2014/main" id="{E1965291-E61C-43FE-A4AD-0B7B29360C80}"/>
              </a:ext>
            </a:extLst>
          </p:cNvPr>
          <p:cNvSpPr>
            <a:spLocks xmlns:a="http://schemas.openxmlformats.org/drawingml/2006/main" noGrp="1"/>
          </p:cNvSpPr>
          <p:nvPr/>
        </p:nvSpPr>
        <p:spPr>
          <a:xfrm xmlns:a="http://schemas.openxmlformats.org/drawingml/2006/main">
            <a:off x="3695700" y="1790700"/>
            <a:ext cx="4324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Open validated configuration; accelerate to 240 s; show identity markers and topology</a:t>
            </a:r>
          </a:p>
        </p:txBody>
      </p:sp>
      <p:sp>
        <p:nvSpPr>
          <p:cNvPr id="16" name="">
            <a:extLst xmlns:a="http://schemas.openxmlformats.org/drawingml/2006/main">
              <a:ext uri="{FF2B5EF4-FFF2-40B4-BE49-F238E27FC236}">
                <a16:creationId xmlns:a16="http://schemas.microsoft.com/office/drawing/2014/main" id="{F435860D-1A29-4948-9509-7F7D5BD44269}"/>
              </a:ext>
            </a:extLst>
          </p:cNvPr>
          <p:cNvSpPr>
            <a:spLocks xmlns:a="http://schemas.openxmlformats.org/drawingml/2006/main" noGrp="1"/>
          </p:cNvSpPr>
          <p:nvPr/>
        </p:nvSpPr>
        <p:spPr>
          <a:xfrm xmlns:a="http://schemas.openxmlformats.org/drawingml/2006/main">
            <a:off x="8172450" y="1790700"/>
            <a:ext cx="280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60-90 s recorded Sybil clip</a:t>
            </a:r>
          </a:p>
        </p:txBody>
      </p:sp>
      <p:sp>
        <p:nvSpPr>
          <p:cNvPr id="17" name="">
            <a:extLst xmlns:a="http://schemas.openxmlformats.org/drawingml/2006/main">
              <a:ext uri="{FF2B5EF4-FFF2-40B4-BE49-F238E27FC236}">
                <a16:creationId xmlns:a16="http://schemas.microsoft.com/office/drawing/2014/main" id="{AA26B752-CA8A-4975-8163-846D41B913DA}"/>
              </a:ext>
            </a:extLst>
          </p:cNvPr>
          <p:cNvSpPr>
            <a:spLocks xmlns:a="http://schemas.openxmlformats.org/drawingml/2006/main" noGrp="1"/>
          </p:cNvSpPr>
          <p:nvPr/>
        </p:nvSpPr>
        <p:spPr>
          <a:xfrm xmlns:a="http://schemas.openxmlformats.org/drawingml/2006/main">
            <a:off x="571500" y="2609850"/>
            <a:ext cx="10477500" cy="8191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B54083B-9046-4EC2-90D7-94AEA968E4A9}"/>
              </a:ext>
            </a:extLst>
          </p:cNvPr>
          <p:cNvSpPr>
            <a:spLocks xmlns:a="http://schemas.openxmlformats.org/drawingml/2006/main" noGrp="1"/>
          </p:cNvSpPr>
          <p:nvPr/>
        </p:nvSpPr>
        <p:spPr>
          <a:xfrm xmlns:a="http://schemas.openxmlformats.org/drawingml/2006/main">
            <a:off x="647700" y="2609850"/>
            <a:ext cx="1657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Evidence files</a:t>
            </a:r>
          </a:p>
        </p:txBody>
      </p:sp>
      <p:sp>
        <p:nvSpPr>
          <p:cNvPr id="19" name="">
            <a:extLst xmlns:a="http://schemas.openxmlformats.org/drawingml/2006/main">
              <a:ext uri="{FF2B5EF4-FFF2-40B4-BE49-F238E27FC236}">
                <a16:creationId xmlns:a16="http://schemas.microsoft.com/office/drawing/2014/main" id="{7710708F-7F96-4DCD-B57B-4C06E6126D56}"/>
              </a:ext>
            </a:extLst>
          </p:cNvPr>
          <p:cNvSpPr>
            <a:spLocks xmlns:a="http://schemas.openxmlformats.org/drawingml/2006/main" noGrp="1"/>
          </p:cNvSpPr>
          <p:nvPr/>
        </p:nvSpPr>
        <p:spPr>
          <a:xfrm xmlns:a="http://schemas.openxmlformats.org/drawingml/2006/main">
            <a:off x="2457450" y="2609850"/>
            <a:ext cx="1085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1 min</a:t>
            </a:r>
          </a:p>
        </p:txBody>
      </p:sp>
      <p:sp>
        <p:nvSpPr>
          <p:cNvPr id="20" name="">
            <a:extLst xmlns:a="http://schemas.openxmlformats.org/drawingml/2006/main">
              <a:ext uri="{FF2B5EF4-FFF2-40B4-BE49-F238E27FC236}">
                <a16:creationId xmlns:a16="http://schemas.microsoft.com/office/drawing/2014/main" id="{CA3C0B18-D436-4C84-87DB-925755A32AE4}"/>
              </a:ext>
            </a:extLst>
          </p:cNvPr>
          <p:cNvSpPr>
            <a:spLocks xmlns:a="http://schemas.openxmlformats.org/drawingml/2006/main" noGrp="1"/>
          </p:cNvSpPr>
          <p:nvPr/>
        </p:nvSpPr>
        <p:spPr>
          <a:xfrm xmlns:a="http://schemas.openxmlformats.org/drawingml/2006/main">
            <a:off x="3695700" y="2609850"/>
            <a:ext cx="4324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Open validation summary and one COOJA.testlog</a:t>
            </a:r>
          </a:p>
        </p:txBody>
      </p:sp>
      <p:sp>
        <p:nvSpPr>
          <p:cNvPr id="21" name="">
            <a:extLst xmlns:a="http://schemas.openxmlformats.org/drawingml/2006/main">
              <a:ext uri="{FF2B5EF4-FFF2-40B4-BE49-F238E27FC236}">
                <a16:creationId xmlns:a16="http://schemas.microsoft.com/office/drawing/2014/main" id="{552274BA-E9BF-468D-A6FB-6D757DC05C90}"/>
              </a:ext>
            </a:extLst>
          </p:cNvPr>
          <p:cNvSpPr>
            <a:spLocks xmlns:a="http://schemas.openxmlformats.org/drawingml/2006/main" noGrp="1"/>
          </p:cNvSpPr>
          <p:nvPr/>
        </p:nvSpPr>
        <p:spPr>
          <a:xfrm xmlns:a="http://schemas.openxmlformats.org/drawingml/2006/main">
            <a:off x="8172450" y="2609850"/>
            <a:ext cx="280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Static screenshots/log extract</a:t>
            </a:r>
          </a:p>
        </p:txBody>
      </p:sp>
      <p:sp>
        <p:nvSpPr>
          <p:cNvPr id="22" name="">
            <a:extLst xmlns:a="http://schemas.openxmlformats.org/drawingml/2006/main">
              <a:ext uri="{FF2B5EF4-FFF2-40B4-BE49-F238E27FC236}">
                <a16:creationId xmlns:a16="http://schemas.microsoft.com/office/drawing/2014/main" id="{1D5D5F5E-9F2A-4ABC-AC4C-F40689EECA3E}"/>
              </a:ext>
            </a:extLst>
          </p:cNvPr>
          <p:cNvSpPr>
            <a:spLocks xmlns:a="http://schemas.openxmlformats.org/drawingml/2006/main" noGrp="1"/>
          </p:cNvSpPr>
          <p:nvPr/>
        </p:nvSpPr>
        <p:spPr>
          <a:xfrm xmlns:a="http://schemas.openxmlformats.org/drawingml/2006/main">
            <a:off x="571500" y="3429000"/>
            <a:ext cx="10477500" cy="8191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BB32AC0-21F5-4815-A99F-0BC5EB6420CD}"/>
              </a:ext>
            </a:extLst>
          </p:cNvPr>
          <p:cNvSpPr>
            <a:spLocks xmlns:a="http://schemas.openxmlformats.org/drawingml/2006/main" noGrp="1"/>
          </p:cNvSpPr>
          <p:nvPr/>
        </p:nvSpPr>
        <p:spPr>
          <a:xfrm xmlns:a="http://schemas.openxmlformats.org/drawingml/2006/main">
            <a:off x="647700" y="3429000"/>
            <a:ext cx="1657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Local adaptive pipeline</a:t>
            </a:r>
          </a:p>
        </p:txBody>
      </p:sp>
      <p:sp>
        <p:nvSpPr>
          <p:cNvPr id="24" name="">
            <a:extLst xmlns:a="http://schemas.openxmlformats.org/drawingml/2006/main">
              <a:ext uri="{FF2B5EF4-FFF2-40B4-BE49-F238E27FC236}">
                <a16:creationId xmlns:a16="http://schemas.microsoft.com/office/drawing/2014/main" id="{E5FB9DA9-7EC0-4764-BF76-0E77F6A3E657}"/>
              </a:ext>
            </a:extLst>
          </p:cNvPr>
          <p:cNvSpPr>
            <a:spLocks xmlns:a="http://schemas.openxmlformats.org/drawingml/2006/main" noGrp="1"/>
          </p:cNvSpPr>
          <p:nvPr/>
        </p:nvSpPr>
        <p:spPr>
          <a:xfrm xmlns:a="http://schemas.openxmlformats.org/drawingml/2006/main">
            <a:off x="2457450" y="3429000"/>
            <a:ext cx="1085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2 min</a:t>
            </a:r>
          </a:p>
        </p:txBody>
      </p:sp>
      <p:sp>
        <p:nvSpPr>
          <p:cNvPr id="25" name="">
            <a:extLst xmlns:a="http://schemas.openxmlformats.org/drawingml/2006/main">
              <a:ext uri="{FF2B5EF4-FFF2-40B4-BE49-F238E27FC236}">
                <a16:creationId xmlns:a16="http://schemas.microsoft.com/office/drawing/2014/main" id="{79462FC8-D77B-4846-ACDD-D04166AF87C1}"/>
              </a:ext>
            </a:extLst>
          </p:cNvPr>
          <p:cNvSpPr>
            <a:spLocks xmlns:a="http://schemas.openxmlformats.org/drawingml/2006/main" noGrp="1"/>
          </p:cNvSpPr>
          <p:nvPr/>
        </p:nvSpPr>
        <p:spPr>
          <a:xfrm xmlns:a="http://schemas.openxmlformats.org/drawingml/2006/main">
            <a:off x="3695700" y="3429000"/>
            <a:ext cx="4324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Run deterministic evidence package and scoring; optionally show held-out RL table</a:t>
            </a:r>
          </a:p>
        </p:txBody>
      </p:sp>
      <p:sp>
        <p:nvSpPr>
          <p:cNvPr id="26" name="">
            <a:extLst xmlns:a="http://schemas.openxmlformats.org/drawingml/2006/main">
              <a:ext uri="{FF2B5EF4-FFF2-40B4-BE49-F238E27FC236}">
                <a16:creationId xmlns:a16="http://schemas.microsoft.com/office/drawing/2014/main" id="{FF0620BB-8EC7-4077-B7E3-ABDDA933F7A7}"/>
              </a:ext>
            </a:extLst>
          </p:cNvPr>
          <p:cNvSpPr>
            <a:spLocks xmlns:a="http://schemas.openxmlformats.org/drawingml/2006/main" noGrp="1"/>
          </p:cNvSpPr>
          <p:nvPr/>
        </p:nvSpPr>
        <p:spPr>
          <a:xfrm xmlns:a="http://schemas.openxmlformats.org/drawingml/2006/main">
            <a:off x="8172450" y="3429000"/>
            <a:ext cx="280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Prepared terminal output</a:t>
            </a:r>
          </a:p>
        </p:txBody>
      </p:sp>
      <p:sp>
        <p:nvSpPr>
          <p:cNvPr id="27" name="">
            <a:extLst xmlns:a="http://schemas.openxmlformats.org/drawingml/2006/main">
              <a:ext uri="{FF2B5EF4-FFF2-40B4-BE49-F238E27FC236}">
                <a16:creationId xmlns:a16="http://schemas.microsoft.com/office/drawing/2014/main" id="{03A608ED-D33A-48DE-BBFC-6040E72D36A7}"/>
              </a:ext>
            </a:extLst>
          </p:cNvPr>
          <p:cNvSpPr>
            <a:spLocks xmlns:a="http://schemas.openxmlformats.org/drawingml/2006/main" noGrp="1"/>
          </p:cNvSpPr>
          <p:nvPr/>
        </p:nvSpPr>
        <p:spPr>
          <a:xfrm xmlns:a="http://schemas.openxmlformats.org/drawingml/2006/main">
            <a:off x="571500" y="4248150"/>
            <a:ext cx="10477500" cy="8191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C4CB461-F95C-4CD2-837C-D2E0F5AC4F47}"/>
              </a:ext>
            </a:extLst>
          </p:cNvPr>
          <p:cNvSpPr>
            <a:spLocks xmlns:a="http://schemas.openxmlformats.org/drawingml/2006/main" noGrp="1"/>
          </p:cNvSpPr>
          <p:nvPr/>
        </p:nvSpPr>
        <p:spPr>
          <a:xfrm xmlns:a="http://schemas.openxmlformats.org/drawingml/2006/main">
            <a:off x="647700" y="4248150"/>
            <a:ext cx="1657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Transition</a:t>
            </a:r>
          </a:p>
        </p:txBody>
      </p:sp>
      <p:sp>
        <p:nvSpPr>
          <p:cNvPr id="29" name="">
            <a:extLst xmlns:a="http://schemas.openxmlformats.org/drawingml/2006/main">
              <a:ext uri="{FF2B5EF4-FFF2-40B4-BE49-F238E27FC236}">
                <a16:creationId xmlns:a16="http://schemas.microsoft.com/office/drawing/2014/main" id="{4CEA9ECE-EEB3-49B9-B470-0FDB533EC7A3}"/>
              </a:ext>
            </a:extLst>
          </p:cNvPr>
          <p:cNvSpPr>
            <a:spLocks xmlns:a="http://schemas.openxmlformats.org/drawingml/2006/main" noGrp="1"/>
          </p:cNvSpPr>
          <p:nvPr/>
        </p:nvSpPr>
        <p:spPr>
          <a:xfrm xmlns:a="http://schemas.openxmlformats.org/drawingml/2006/main">
            <a:off x="2457450" y="4248150"/>
            <a:ext cx="10858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30 s</a:t>
            </a:r>
          </a:p>
        </p:txBody>
      </p:sp>
      <p:sp>
        <p:nvSpPr>
          <p:cNvPr id="30" name="">
            <a:extLst xmlns:a="http://schemas.openxmlformats.org/drawingml/2006/main">
              <a:ext uri="{FF2B5EF4-FFF2-40B4-BE49-F238E27FC236}">
                <a16:creationId xmlns:a16="http://schemas.microsoft.com/office/drawing/2014/main" id="{A7C9FA9F-587F-4361-98AB-B657473618C4}"/>
              </a:ext>
            </a:extLst>
          </p:cNvPr>
          <p:cNvSpPr>
            <a:spLocks xmlns:a="http://schemas.openxmlformats.org/drawingml/2006/main" noGrp="1"/>
          </p:cNvSpPr>
          <p:nvPr/>
        </p:nvSpPr>
        <p:spPr>
          <a:xfrm xmlns:a="http://schemas.openxmlformats.org/drawingml/2006/main">
            <a:off x="3695700" y="4248150"/>
            <a:ext cx="4324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Return to conclusion slide</a:t>
            </a:r>
          </a:p>
        </p:txBody>
      </p:sp>
      <p:sp>
        <p:nvSpPr>
          <p:cNvPr id="31" name="">
            <a:extLst xmlns:a="http://schemas.openxmlformats.org/drawingml/2006/main">
              <a:ext uri="{FF2B5EF4-FFF2-40B4-BE49-F238E27FC236}">
                <a16:creationId xmlns:a16="http://schemas.microsoft.com/office/drawing/2014/main" id="{9A8C8F58-F894-4EE6-9BE3-325328C8F45F}"/>
              </a:ext>
            </a:extLst>
          </p:cNvPr>
          <p:cNvSpPr>
            <a:spLocks xmlns:a="http://schemas.openxmlformats.org/drawingml/2006/main" noGrp="1"/>
          </p:cNvSpPr>
          <p:nvPr/>
        </p:nvSpPr>
        <p:spPr>
          <a:xfrm xmlns:a="http://schemas.openxmlformats.org/drawingml/2006/main">
            <a:off x="8172450" y="4248150"/>
            <a:ext cx="28003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None</a:t>
            </a:r>
          </a:p>
        </p:txBody>
      </p:sp>
      <p:sp>
        <p:nvSpPr>
          <p:cNvPr id="32" name="">
            <a:extLst xmlns:a="http://schemas.openxmlformats.org/drawingml/2006/main">
              <a:ext uri="{FF2B5EF4-FFF2-40B4-BE49-F238E27FC236}">
                <a16:creationId xmlns:a16="http://schemas.microsoft.com/office/drawing/2014/main" id="{1A89159D-8D82-4AC3-814B-23AC2E631073}"/>
              </a:ext>
            </a:extLst>
          </p:cNvPr>
          <p:cNvSpPr>
            <a:spLocks xmlns:a="http://schemas.openxmlformats.org/drawingml/2006/main" noGrp="1"/>
          </p:cNvSpPr>
          <p:nvPr/>
        </p:nvSpPr>
        <p:spPr>
          <a:xfrm xmlns:a="http://schemas.openxmlformats.org/drawingml/2006/main">
            <a:off x="571500" y="1466850"/>
            <a:ext cx="10477500" cy="360045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B17CEE1E-0B98-4280-A85D-03D1514D84FB}"/>
              </a:ext>
            </a:extLst>
          </p:cNvPr>
          <p:cNvSpPr>
            <a:spLocks xmlns:a="http://schemas.openxmlformats.org/drawingml/2006/main" noGrp="1"/>
          </p:cNvSpPr>
          <p:nvPr/>
        </p:nvSpPr>
        <p:spPr>
          <a:xfrm xmlns:a="http://schemas.openxmlformats.org/drawingml/2006/main">
            <a:off x="666750" y="5219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07C83"/>
                </a:solidFill>
              </a:defRPr>
            </a:pPr>
            <a:r>
              <a:rPr sz="1350" b="1">
                <a:solidFill>
                  <a:srgbClr val="007C83"/>
                </a:solidFill>
              </a:rPr>
              <a:t>Record four clips before the defence</a:t>
            </a:r>
          </a:p>
        </p:txBody>
      </p:sp>
      <p:sp>
        <p:nvSpPr>
          <p:cNvPr id="34" name="">
            <a:extLst xmlns:a="http://schemas.openxmlformats.org/drawingml/2006/main">
              <a:ext uri="{FF2B5EF4-FFF2-40B4-BE49-F238E27FC236}">
                <a16:creationId xmlns:a16="http://schemas.microsoft.com/office/drawing/2014/main" id="{795AB258-45A1-4B08-9CF5-7DD25AFD7757}"/>
              </a:ext>
            </a:extLst>
          </p:cNvPr>
          <p:cNvSpPr>
            <a:spLocks xmlns:a="http://schemas.openxmlformats.org/drawingml/2006/main" noGrp="1"/>
          </p:cNvSpPr>
          <p:nvPr/>
        </p:nvSpPr>
        <p:spPr>
          <a:xfrm xmlns:a="http://schemas.openxmlformats.org/drawingml/2006/main">
            <a:off x="4191000" y="52197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defRPr>
            </a:pPr>
            <a:r>
              <a:rPr sz="1350" b="1">
                <a:solidFill>
                  <a:srgbClr val="111827"/>
                </a:solidFill>
              </a:rPr>
              <a:t>Control • blackhole • sinkhole • Sybil</a:t>
            </a:r>
          </a:p>
        </p:txBody>
      </p:sp>
      <p:sp>
        <p:nvSpPr>
          <p:cNvPr id="35" name="">
            <a:extLst xmlns:a="http://schemas.openxmlformats.org/drawingml/2006/main">
              <a:ext uri="{FF2B5EF4-FFF2-40B4-BE49-F238E27FC236}">
                <a16:creationId xmlns:a16="http://schemas.microsoft.com/office/drawing/2014/main" id="{988F3816-490C-4672-8907-8078DEB6EB0D}"/>
              </a:ext>
            </a:extLst>
          </p:cNvPr>
          <p:cNvSpPr>
            <a:spLocks xmlns:a="http://schemas.openxmlformats.org/drawingml/2006/main" noGrp="1"/>
          </p:cNvSpPr>
          <p:nvPr/>
        </p:nvSpPr>
        <p:spPr>
          <a:xfrm xmlns:a="http://schemas.openxmlformats.org/drawingml/2006/main">
            <a:off x="666750" y="56197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475569"/>
                </a:solidFill>
              </a:defRPr>
            </a:pPr>
            <a:r>
              <a:rPr sz="1275" b="0">
                <a:solidFill>
                  <a:srgbClr val="475569"/>
                </a:solidFill>
              </a:rPr>
              <a:t>45-90 seconds each; prepare 5-6 minutes total, show only the relevant 2-3 minutes if live Cooja fails.</a:t>
            </a:r>
          </a:p>
        </p:txBody>
      </p:sp>
    </p:spTree>
    <p:extLst>
      <p:ext uri="{BB962C8B-B14F-4D97-AF65-F5344CB8AC3E}">
        <p14:creationId xmlns:p14="http://schemas.microsoft.com/office/powerpoint/2010/main" val="1780721812"/>
      </p:ext>
    </p:extLst>
  </p:cSld>
</p:sld>
</file>

<file path=ppt/slides/slide25.xml><?xml version="1.0" encoding="utf-8"?>
<p:sld xmlns:p="http://schemas.openxmlformats.org/presentationml/2006/main">
  <p:cSld>
    <p:bg>
      <p:bgPr>
        <a:solidFill xmlns:a="http://schemas.openxmlformats.org/drawingml/2006/main">
          <a:srgbClr val="0F2239"/>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652A2E3-1F2A-4659-9850-152D4005ED54}"/>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FAFF1D2-919D-4411-8032-0CFB3A29E175}"/>
              </a:ext>
            </a:extLst>
          </p:cNvPr>
          <p:cNvSpPr>
            <a:spLocks xmlns:a="http://schemas.openxmlformats.org/drawingml/2006/main" noGrp="1"/>
          </p:cNvSpPr>
          <p:nvPr/>
        </p:nvSpPr>
        <p:spPr>
          <a:xfrm xmlns:a="http://schemas.openxmlformats.org/drawingml/2006/main">
            <a:off x="666750" y="6286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DD3D6"/>
                </a:solidFill>
              </a:defRPr>
            </a:pPr>
            <a:r>
              <a:rPr sz="1050" b="1">
                <a:solidFill>
                  <a:srgbClr val="7DD3D6"/>
                </a:solidFill>
              </a:rPr>
              <a:t>CONCLUSIONS</a:t>
            </a:r>
          </a:p>
        </p:txBody>
      </p:sp>
      <p:sp>
        <p:nvSpPr>
          <p:cNvPr id="3" name="">
            <a:extLst xmlns:a="http://schemas.openxmlformats.org/drawingml/2006/main">
              <a:ext uri="{FF2B5EF4-FFF2-40B4-BE49-F238E27FC236}">
                <a16:creationId xmlns:a16="http://schemas.microsoft.com/office/drawing/2014/main" id="{ACA67284-E1F3-452D-AE3C-800ECD0F42E2}"/>
              </a:ext>
            </a:extLst>
          </p:cNvPr>
          <p:cNvSpPr>
            <a:spLocks xmlns:a="http://schemas.openxmlformats.org/drawingml/2006/main" noGrp="1"/>
          </p:cNvSpPr>
          <p:nvPr/>
        </p:nvSpPr>
        <p:spPr>
          <a:xfrm xmlns:a="http://schemas.openxmlformats.org/drawingml/2006/main">
            <a:off x="666750" y="1028700"/>
            <a:ext cx="914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FFFFFF"/>
                </a:solidFill>
              </a:defRPr>
            </a:pPr>
            <a:r>
              <a:rPr sz="2925" b="1">
                <a:solidFill>
                  <a:srgbClr val="FFFFFF"/>
                </a:solidFill>
              </a:rPr>
              <a:t>What the evidence supports</a:t>
            </a:r>
          </a:p>
        </p:txBody>
      </p:sp>
      <p:sp>
        <p:nvSpPr>
          <p:cNvPr id="4" name="">
            <a:extLst xmlns:a="http://schemas.openxmlformats.org/drawingml/2006/main">
              <a:ext uri="{FF2B5EF4-FFF2-40B4-BE49-F238E27FC236}">
                <a16:creationId xmlns:a16="http://schemas.microsoft.com/office/drawing/2014/main" id="{4DCD881D-4F1B-40DF-B1C6-8F047FB5F9F8}"/>
              </a:ext>
            </a:extLst>
          </p:cNvPr>
          <p:cNvSpPr>
            <a:spLocks xmlns:a="http://schemas.openxmlformats.org/drawingml/2006/main" noGrp="1"/>
          </p:cNvSpPr>
          <p:nvPr/>
        </p:nvSpPr>
        <p:spPr>
          <a:xfrm xmlns:a="http://schemas.openxmlformats.org/drawingml/2006/main">
            <a:off x="666750" y="1885950"/>
            <a:ext cx="10096500" cy="323850"/>
          </a:xfrm>
          <a:prstGeom xmlns:a="http://schemas.openxmlformats.org/drawingml/2006/main" prst="rect">
            <a:avLst/>
          </a:prstGeom>
          <a:solidFill xmlns:a="http://schemas.openxmlformats.org/drawingml/2006/main">
            <a:srgbClr val="0F223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10BBABB-3222-4D85-A473-542A33021BB8}"/>
              </a:ext>
            </a:extLst>
          </p:cNvPr>
          <p:cNvSpPr>
            <a:spLocks xmlns:a="http://schemas.openxmlformats.org/drawingml/2006/main" noGrp="1"/>
          </p:cNvSpPr>
          <p:nvPr/>
        </p:nvSpPr>
        <p:spPr>
          <a:xfrm xmlns:a="http://schemas.openxmlformats.org/drawingml/2006/main">
            <a:off x="742950" y="1885950"/>
            <a:ext cx="1752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Evidence</a:t>
            </a:r>
          </a:p>
        </p:txBody>
      </p:sp>
      <p:sp>
        <p:nvSpPr>
          <p:cNvPr id="6" name="">
            <a:extLst xmlns:a="http://schemas.openxmlformats.org/drawingml/2006/main">
              <a:ext uri="{FF2B5EF4-FFF2-40B4-BE49-F238E27FC236}">
                <a16:creationId xmlns:a16="http://schemas.microsoft.com/office/drawing/2014/main" id="{653896FC-EF25-45A7-95F5-527EA187E513}"/>
              </a:ext>
            </a:extLst>
          </p:cNvPr>
          <p:cNvSpPr>
            <a:spLocks xmlns:a="http://schemas.openxmlformats.org/drawingml/2006/main" noGrp="1"/>
          </p:cNvSpPr>
          <p:nvPr/>
        </p:nvSpPr>
        <p:spPr>
          <a:xfrm xmlns:a="http://schemas.openxmlformats.org/drawingml/2006/main">
            <a:off x="2647950" y="1885950"/>
            <a:ext cx="803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Defensible conclusion</a:t>
            </a:r>
          </a:p>
        </p:txBody>
      </p:sp>
      <p:sp>
        <p:nvSpPr>
          <p:cNvPr id="7" name="">
            <a:extLst xmlns:a="http://schemas.openxmlformats.org/drawingml/2006/main">
              <a:ext uri="{FF2B5EF4-FFF2-40B4-BE49-F238E27FC236}">
                <a16:creationId xmlns:a16="http://schemas.microsoft.com/office/drawing/2014/main" id="{672F569A-4EB1-47C9-AB74-61D4255B00C6}"/>
              </a:ext>
            </a:extLst>
          </p:cNvPr>
          <p:cNvSpPr>
            <a:spLocks xmlns:a="http://schemas.openxmlformats.org/drawingml/2006/main" noGrp="1"/>
          </p:cNvSpPr>
          <p:nvPr/>
        </p:nvSpPr>
        <p:spPr>
          <a:xfrm xmlns:a="http://schemas.openxmlformats.org/drawingml/2006/main">
            <a:off x="666750" y="2209800"/>
            <a:ext cx="10096500" cy="5905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7A2CB2D-5D3F-42D6-B6B8-E0A58FE146D5}"/>
              </a:ext>
            </a:extLst>
          </p:cNvPr>
          <p:cNvSpPr>
            <a:spLocks xmlns:a="http://schemas.openxmlformats.org/drawingml/2006/main" noGrp="1"/>
          </p:cNvSpPr>
          <p:nvPr/>
        </p:nvSpPr>
        <p:spPr>
          <a:xfrm xmlns:a="http://schemas.openxmlformats.org/drawingml/2006/main">
            <a:off x="742950" y="220980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Static transfer</a:t>
            </a:r>
          </a:p>
        </p:txBody>
      </p:sp>
      <p:sp>
        <p:nvSpPr>
          <p:cNvPr id="9" name="">
            <a:extLst xmlns:a="http://schemas.openxmlformats.org/drawingml/2006/main">
              <a:ext uri="{FF2B5EF4-FFF2-40B4-BE49-F238E27FC236}">
                <a16:creationId xmlns:a16="http://schemas.microsoft.com/office/drawing/2014/main" id="{919349E8-6EE8-4B36-AF0D-FA631F2CAE92}"/>
              </a:ext>
            </a:extLst>
          </p:cNvPr>
          <p:cNvSpPr>
            <a:spLocks xmlns:a="http://schemas.openxmlformats.org/drawingml/2006/main" noGrp="1"/>
          </p:cNvSpPr>
          <p:nvPr/>
        </p:nvSpPr>
        <p:spPr>
          <a:xfrm xmlns:a="http://schemas.openxmlformats.org/drawingml/2006/main">
            <a:off x="2647950" y="2209800"/>
            <a:ext cx="8039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RPL IDS performance is brittle under controlled cross-attack distribution change.</a:t>
            </a:r>
          </a:p>
        </p:txBody>
      </p:sp>
      <p:sp>
        <p:nvSpPr>
          <p:cNvPr id="10" name="">
            <a:extLst xmlns:a="http://schemas.openxmlformats.org/drawingml/2006/main">
              <a:ext uri="{FF2B5EF4-FFF2-40B4-BE49-F238E27FC236}">
                <a16:creationId xmlns:a16="http://schemas.microsoft.com/office/drawing/2014/main" id="{1B9C5BA3-DC5C-476E-963D-7E12D4398F2C}"/>
              </a:ext>
            </a:extLst>
          </p:cNvPr>
          <p:cNvSpPr>
            <a:spLocks xmlns:a="http://schemas.openxmlformats.org/drawingml/2006/main" noGrp="1"/>
          </p:cNvSpPr>
          <p:nvPr/>
        </p:nvSpPr>
        <p:spPr>
          <a:xfrm xmlns:a="http://schemas.openxmlformats.org/drawingml/2006/main">
            <a:off x="666750" y="2800350"/>
            <a:ext cx="10096500" cy="5905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087A30B-E30F-4859-A029-5E2E167DBAF8}"/>
              </a:ext>
            </a:extLst>
          </p:cNvPr>
          <p:cNvSpPr>
            <a:spLocks xmlns:a="http://schemas.openxmlformats.org/drawingml/2006/main" noGrp="1"/>
          </p:cNvSpPr>
          <p:nvPr/>
        </p:nvSpPr>
        <p:spPr>
          <a:xfrm xmlns:a="http://schemas.openxmlformats.org/drawingml/2006/main">
            <a:off x="742950" y="280035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Adaptation</a:t>
            </a:r>
          </a:p>
        </p:txBody>
      </p:sp>
      <p:sp>
        <p:nvSpPr>
          <p:cNvPr id="12" name="">
            <a:extLst xmlns:a="http://schemas.openxmlformats.org/drawingml/2006/main">
              <a:ext uri="{FF2B5EF4-FFF2-40B4-BE49-F238E27FC236}">
                <a16:creationId xmlns:a16="http://schemas.microsoft.com/office/drawing/2014/main" id="{16296292-D96C-4856-81AF-17BBB2DF10B1}"/>
              </a:ext>
            </a:extLst>
          </p:cNvPr>
          <p:cNvSpPr>
            <a:spLocks xmlns:a="http://schemas.openxmlformats.org/drawingml/2006/main" noGrp="1"/>
          </p:cNvSpPr>
          <p:nvPr/>
        </p:nvSpPr>
        <p:spPr>
          <a:xfrm xmlns:a="http://schemas.openxmlformats.org/drawingml/2006/main">
            <a:off x="2647950" y="2800350"/>
            <a:ext cx="8039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One complete target seed produces the largest average recovery, but pair-specific failures remain.</a:t>
            </a:r>
          </a:p>
        </p:txBody>
      </p:sp>
      <p:sp>
        <p:nvSpPr>
          <p:cNvPr id="13" name="">
            <a:extLst xmlns:a="http://schemas.openxmlformats.org/drawingml/2006/main">
              <a:ext uri="{FF2B5EF4-FFF2-40B4-BE49-F238E27FC236}">
                <a16:creationId xmlns:a16="http://schemas.microsoft.com/office/drawing/2014/main" id="{8D37B4BD-56AC-4BB3-8B15-42BF3204D07D}"/>
              </a:ext>
            </a:extLst>
          </p:cNvPr>
          <p:cNvSpPr>
            <a:spLocks xmlns:a="http://schemas.openxmlformats.org/drawingml/2006/main" noGrp="1"/>
          </p:cNvSpPr>
          <p:nvPr/>
        </p:nvSpPr>
        <p:spPr>
          <a:xfrm xmlns:a="http://schemas.openxmlformats.org/drawingml/2006/main">
            <a:off x="666750" y="3390900"/>
            <a:ext cx="10096500" cy="5905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1221CCD-E777-430B-A17C-AF32BD22751A}"/>
              </a:ext>
            </a:extLst>
          </p:cNvPr>
          <p:cNvSpPr>
            <a:spLocks xmlns:a="http://schemas.openxmlformats.org/drawingml/2006/main" noGrp="1"/>
          </p:cNvSpPr>
          <p:nvPr/>
        </p:nvSpPr>
        <p:spPr>
          <a:xfrm xmlns:a="http://schemas.openxmlformats.org/drawingml/2006/main">
            <a:off x="742950" y="339090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Representation</a:t>
            </a:r>
          </a:p>
        </p:txBody>
      </p:sp>
      <p:sp>
        <p:nvSpPr>
          <p:cNvPr id="15" name="">
            <a:extLst xmlns:a="http://schemas.openxmlformats.org/drawingml/2006/main">
              <a:ext uri="{FF2B5EF4-FFF2-40B4-BE49-F238E27FC236}">
                <a16:creationId xmlns:a16="http://schemas.microsoft.com/office/drawing/2014/main" id="{6B3C026F-7FEA-4CAA-BF31-F4CB62A18F3F}"/>
              </a:ext>
            </a:extLst>
          </p:cNvPr>
          <p:cNvSpPr>
            <a:spLocks xmlns:a="http://schemas.openxmlformats.org/drawingml/2006/main" noGrp="1"/>
          </p:cNvSpPr>
          <p:nvPr/>
        </p:nvSpPr>
        <p:spPr>
          <a:xfrm xmlns:a="http://schemas.openxmlformats.org/drawingml/2006/main">
            <a:off x="2647950" y="3390900"/>
            <a:ext cx="8039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Mechanism-aware rank, parent, control and identity features determine whether adaptation can work.</a:t>
            </a:r>
          </a:p>
        </p:txBody>
      </p:sp>
      <p:sp>
        <p:nvSpPr>
          <p:cNvPr id="16" name="">
            <a:extLst xmlns:a="http://schemas.openxmlformats.org/drawingml/2006/main">
              <a:ext uri="{FF2B5EF4-FFF2-40B4-BE49-F238E27FC236}">
                <a16:creationId xmlns:a16="http://schemas.microsoft.com/office/drawing/2014/main" id="{BDFFE000-AAFC-4454-ABF3-46EC30EA3E1A}"/>
              </a:ext>
            </a:extLst>
          </p:cNvPr>
          <p:cNvSpPr>
            <a:spLocks xmlns:a="http://schemas.openxmlformats.org/drawingml/2006/main" noGrp="1"/>
          </p:cNvSpPr>
          <p:nvPr/>
        </p:nvSpPr>
        <p:spPr>
          <a:xfrm xmlns:a="http://schemas.openxmlformats.org/drawingml/2006/main">
            <a:off x="666750" y="3981450"/>
            <a:ext cx="10096500" cy="5905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6FBC70E-7D31-4096-9045-24A3F2F1AED9}"/>
              </a:ext>
            </a:extLst>
          </p:cNvPr>
          <p:cNvSpPr>
            <a:spLocks xmlns:a="http://schemas.openxmlformats.org/drawingml/2006/main" noGrp="1"/>
          </p:cNvSpPr>
          <p:nvPr/>
        </p:nvSpPr>
        <p:spPr>
          <a:xfrm xmlns:a="http://schemas.openxmlformats.org/drawingml/2006/main">
            <a:off x="742950" y="398145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Sybil</a:t>
            </a:r>
          </a:p>
        </p:txBody>
      </p:sp>
      <p:sp>
        <p:nvSpPr>
          <p:cNvPr id="18" name="">
            <a:extLst xmlns:a="http://schemas.openxmlformats.org/drawingml/2006/main">
              <a:ext uri="{FF2B5EF4-FFF2-40B4-BE49-F238E27FC236}">
                <a16:creationId xmlns:a16="http://schemas.microsoft.com/office/drawing/2014/main" id="{A0B79656-8196-4FC8-9F91-D41C33425348}"/>
              </a:ext>
            </a:extLst>
          </p:cNvPr>
          <p:cNvSpPr>
            <a:spLocks xmlns:a="http://schemas.openxmlformats.org/drawingml/2006/main" noGrp="1"/>
          </p:cNvSpPr>
          <p:nvPr/>
        </p:nvSpPr>
        <p:spPr>
          <a:xfrm xmlns:a="http://schemas.openxmlformats.org/drawingml/2006/main">
            <a:off x="2647950" y="3981450"/>
            <a:ext cx="8039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Identity manipulation is a distinct new surface in this framework and is strongly learnable after limited adaptation.</a:t>
            </a:r>
          </a:p>
        </p:txBody>
      </p:sp>
      <p:sp>
        <p:nvSpPr>
          <p:cNvPr id="19" name="">
            <a:extLst xmlns:a="http://schemas.openxmlformats.org/drawingml/2006/main">
              <a:ext uri="{FF2B5EF4-FFF2-40B4-BE49-F238E27FC236}">
                <a16:creationId xmlns:a16="http://schemas.microsoft.com/office/drawing/2014/main" id="{0A48F259-6B3A-41B2-8E70-C6C0FB5D42CD}"/>
              </a:ext>
            </a:extLst>
          </p:cNvPr>
          <p:cNvSpPr>
            <a:spLocks xmlns:a="http://schemas.openxmlformats.org/drawingml/2006/main" noGrp="1"/>
          </p:cNvSpPr>
          <p:nvPr/>
        </p:nvSpPr>
        <p:spPr>
          <a:xfrm xmlns:a="http://schemas.openxmlformats.org/drawingml/2006/main">
            <a:off x="666750" y="4572000"/>
            <a:ext cx="10096500" cy="590550"/>
          </a:xfrm>
          <a:prstGeom xmlns:a="http://schemas.openxmlformats.org/drawingml/2006/main" prst="rect">
            <a:avLst/>
          </a:prstGeom>
          <a:solidFill xmlns:a="http://schemas.openxmlformats.org/drawingml/2006/main">
            <a:srgbClr val="F1F5F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9E5F071-DFFD-4B3A-A969-7605B9B32E71}"/>
              </a:ext>
            </a:extLst>
          </p:cNvPr>
          <p:cNvSpPr>
            <a:spLocks xmlns:a="http://schemas.openxmlformats.org/drawingml/2006/main" noGrp="1"/>
          </p:cNvSpPr>
          <p:nvPr/>
        </p:nvSpPr>
        <p:spPr>
          <a:xfrm xmlns:a="http://schemas.openxmlformats.org/drawingml/2006/main">
            <a:off x="742950" y="457200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Online and RL</a:t>
            </a:r>
          </a:p>
        </p:txBody>
      </p:sp>
      <p:sp>
        <p:nvSpPr>
          <p:cNvPr id="21" name="">
            <a:extLst xmlns:a="http://schemas.openxmlformats.org/drawingml/2006/main">
              <a:ext uri="{FF2B5EF4-FFF2-40B4-BE49-F238E27FC236}">
                <a16:creationId xmlns:a16="http://schemas.microsoft.com/office/drawing/2014/main" id="{BB611A3F-A5AA-44E6-9162-DFCE0C14A83F}"/>
              </a:ext>
            </a:extLst>
          </p:cNvPr>
          <p:cNvSpPr>
            <a:spLocks xmlns:a="http://schemas.openxmlformats.org/drawingml/2006/main" noGrp="1"/>
          </p:cNvSpPr>
          <p:nvPr/>
        </p:nvSpPr>
        <p:spPr>
          <a:xfrm xmlns:a="http://schemas.openxmlformats.org/drawingml/2006/main">
            <a:off x="2647950" y="4572000"/>
            <a:ext cx="8039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Change detection and adaptive controllers are feasible, but the current RL controller does not outperform simple incremental updating.</a:t>
            </a:r>
          </a:p>
        </p:txBody>
      </p:sp>
      <p:sp>
        <p:nvSpPr>
          <p:cNvPr id="22" name="">
            <a:extLst xmlns:a="http://schemas.openxmlformats.org/drawingml/2006/main">
              <a:ext uri="{FF2B5EF4-FFF2-40B4-BE49-F238E27FC236}">
                <a16:creationId xmlns:a16="http://schemas.microsoft.com/office/drawing/2014/main" id="{CA395BB7-AD8C-48DC-B8DD-FF22BAA12EA2}"/>
              </a:ext>
            </a:extLst>
          </p:cNvPr>
          <p:cNvSpPr>
            <a:spLocks xmlns:a="http://schemas.openxmlformats.org/drawingml/2006/main" noGrp="1"/>
          </p:cNvSpPr>
          <p:nvPr/>
        </p:nvSpPr>
        <p:spPr>
          <a:xfrm xmlns:a="http://schemas.openxmlformats.org/drawingml/2006/main">
            <a:off x="666750" y="5162550"/>
            <a:ext cx="10096500" cy="5905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5560C5E-91EE-484F-9887-8F4F944F8DE7}"/>
              </a:ext>
            </a:extLst>
          </p:cNvPr>
          <p:cNvSpPr>
            <a:spLocks xmlns:a="http://schemas.openxmlformats.org/drawingml/2006/main" noGrp="1"/>
          </p:cNvSpPr>
          <p:nvPr/>
        </p:nvSpPr>
        <p:spPr>
          <a:xfrm xmlns:a="http://schemas.openxmlformats.org/drawingml/2006/main">
            <a:off x="742950" y="516255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111827"/>
                </a:solidFill>
              </a:defRPr>
            </a:pPr>
            <a:r>
              <a:rPr sz="1200" b="1">
                <a:solidFill>
                  <a:srgbClr val="111827"/>
                </a:solidFill>
              </a:rPr>
              <a:t>Operational limits</a:t>
            </a:r>
          </a:p>
        </p:txBody>
      </p:sp>
      <p:sp>
        <p:nvSpPr>
          <p:cNvPr id="24" name="">
            <a:extLst xmlns:a="http://schemas.openxmlformats.org/drawingml/2006/main">
              <a:ext uri="{FF2B5EF4-FFF2-40B4-BE49-F238E27FC236}">
                <a16:creationId xmlns:a16="http://schemas.microsoft.com/office/drawing/2014/main" id="{CBEAC1DD-AF73-4369-8848-149AE5F58D64}"/>
              </a:ext>
            </a:extLst>
          </p:cNvPr>
          <p:cNvSpPr>
            <a:spLocks xmlns:a="http://schemas.openxmlformats.org/drawingml/2006/main" noGrp="1"/>
          </p:cNvSpPr>
          <p:nvPr/>
        </p:nvSpPr>
        <p:spPr>
          <a:xfrm xmlns:a="http://schemas.openxmlformats.org/drawingml/2006/main">
            <a:off x="2647950" y="5162550"/>
            <a:ext cx="8039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11827"/>
                </a:solidFill>
              </a:defRPr>
            </a:pPr>
            <a:r>
              <a:rPr sz="1200" b="0">
                <a:solidFill>
                  <a:srgbClr val="111827"/>
                </a:solidFill>
              </a:rPr>
              <a:t>Trust and defence experiments show that detection accuracy alone is insufficient for safe routing intervention.</a:t>
            </a:r>
          </a:p>
        </p:txBody>
      </p:sp>
      <p:sp>
        <p:nvSpPr>
          <p:cNvPr id="25" name="">
            <a:extLst xmlns:a="http://schemas.openxmlformats.org/drawingml/2006/main">
              <a:ext uri="{FF2B5EF4-FFF2-40B4-BE49-F238E27FC236}">
                <a16:creationId xmlns:a16="http://schemas.microsoft.com/office/drawing/2014/main" id="{92A02B64-4056-4D4C-A495-5AB72C6B2122}"/>
              </a:ext>
            </a:extLst>
          </p:cNvPr>
          <p:cNvSpPr>
            <a:spLocks xmlns:a="http://schemas.openxmlformats.org/drawingml/2006/main" noGrp="1"/>
          </p:cNvSpPr>
          <p:nvPr/>
        </p:nvSpPr>
        <p:spPr>
          <a:xfrm xmlns:a="http://schemas.openxmlformats.org/drawingml/2006/main">
            <a:off x="666750" y="1885950"/>
            <a:ext cx="10096500" cy="3867150"/>
          </a:xfrm>
          <a:prstGeom xmlns:a="http://schemas.openxmlformats.org/drawingml/2006/main" prst="rect">
            <a:avLst/>
          </a:prstGeom>
          <a:noFill xmlns:a="http://schemas.openxmlformats.org/drawingml/2006/main"/>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ACC36167-98FA-4ED2-8D32-AB0F83F374CE}"/>
              </a:ext>
            </a:extLst>
          </p:cNvPr>
          <p:cNvSpPr>
            <a:spLocks xmlns:a="http://schemas.openxmlformats.org/drawingml/2006/main" noGrp="1"/>
          </p:cNvSpPr>
          <p:nvPr/>
        </p:nvSpPr>
        <p:spPr>
          <a:xfrm xmlns:a="http://schemas.openxmlformats.org/drawingml/2006/main">
            <a:off x="666750" y="58864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9FE3E5"/>
                </a:solidFill>
              </a:defRPr>
            </a:pPr>
            <a:r>
              <a:rPr sz="2100" b="1">
                <a:solidFill>
                  <a:srgbClr val="9FE3E5"/>
                </a:solidFill>
              </a:rPr>
              <a:t>Questions</a:t>
            </a:r>
          </a:p>
        </p:txBody>
      </p:sp>
      <p:sp>
        <p:nvSpPr>
          <p:cNvPr id="27" name="">
            <a:extLst xmlns:a="http://schemas.openxmlformats.org/drawingml/2006/main">
              <a:ext uri="{FF2B5EF4-FFF2-40B4-BE49-F238E27FC236}">
                <a16:creationId xmlns:a16="http://schemas.microsoft.com/office/drawing/2014/main" id="{5FE1957E-D6EB-404A-82DF-08782AF8AEAE}"/>
              </a:ext>
            </a:extLst>
          </p:cNvPr>
          <p:cNvSpPr>
            <a:spLocks xmlns:a="http://schemas.openxmlformats.org/drawingml/2006/main" noGrp="1"/>
          </p:cNvSpPr>
          <p:nvPr/>
        </p:nvSpPr>
        <p:spPr>
          <a:xfrm xmlns:a="http://schemas.openxmlformats.org/drawingml/2006/main">
            <a:off x="8572500" y="59626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a:solidFill>
                  <a:srgbClr val="CBD5E1"/>
                </a:solidFill>
              </a:defRPr>
            </a:pPr>
            <a:r>
              <a:rPr sz="1200" b="1">
                <a:solidFill>
                  <a:srgbClr val="CBD5E1"/>
                </a:solidFill>
              </a:rPr>
              <a:t>AL-MIZAAN JAMAL</a:t>
            </a:r>
          </a:p>
        </p:txBody>
      </p:sp>
    </p:spTree>
    <p:extLst>
      <p:ext uri="{BB962C8B-B14F-4D97-AF65-F5344CB8AC3E}">
        <p14:creationId xmlns:p14="http://schemas.microsoft.com/office/powerpoint/2010/main" val="133262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2026-08-29T22:15:33.7310000Z</dcterms:created>
  <dcterms:modified xsi:type="dcterms:W3CDTF">2026-08-29T22:15:33.7310000Z</dcterms:modified>
</coreProperties>
</file>